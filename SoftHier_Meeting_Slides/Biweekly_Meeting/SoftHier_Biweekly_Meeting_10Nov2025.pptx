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3" r:id="rId2"/>
    <p:sldMasterId id="2147483659" r:id="rId3"/>
  </p:sldMasterIdLst>
  <p:notesMasterIdLst>
    <p:notesMasterId r:id="rId19"/>
  </p:notesMasterIdLst>
  <p:sldIdLst>
    <p:sldId id="256" r:id="rId4"/>
    <p:sldId id="709" r:id="rId5"/>
    <p:sldId id="727" r:id="rId6"/>
    <p:sldId id="725" r:id="rId7"/>
    <p:sldId id="728" r:id="rId8"/>
    <p:sldId id="729" r:id="rId9"/>
    <p:sldId id="730" r:id="rId10"/>
    <p:sldId id="257" r:id="rId11"/>
    <p:sldId id="719" r:id="rId12"/>
    <p:sldId id="732" r:id="rId13"/>
    <p:sldId id="733" r:id="rId14"/>
    <p:sldId id="734" r:id="rId15"/>
    <p:sldId id="738" r:id="rId16"/>
    <p:sldId id="714" r:id="rId17"/>
    <p:sldId id="294" r:id="rId18"/>
  </p:sldIdLst>
  <p:sldSz cx="12192000" cy="6858000"/>
  <p:notesSz cx="6858000" cy="9144000"/>
  <p:embeddedFontLst>
    <p:embeddedFont>
      <p:font typeface="等线" panose="02010600030101010101" pitchFamily="2" charset="-122"/>
      <p:regular r:id="rId20"/>
      <p:bold r:id="rId21"/>
    </p:embeddedFont>
    <p:embeddedFont>
      <p:font typeface="等线 Light" panose="02010600030101010101" pitchFamily="2" charset="-122"/>
      <p:regular r:id="rId22"/>
    </p:embeddedFont>
    <p:embeddedFont>
      <p:font typeface="Arial Narrow" panose="020B0606020202030204" pitchFamily="34" charset="0"/>
      <p:regular r:id="rId23"/>
      <p:bold r:id="rId24"/>
      <p:italic r:id="rId25"/>
      <p:boldItalic r:id="rId26"/>
    </p:embeddedFont>
    <p:embeddedFont>
      <p:font typeface="Consolas" panose="020B0609020204030204" pitchFamily="49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9" roundtripDataSignature="AMtx7mhFXiedstfEP1KnXxiq2oxvixI1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8322C"/>
    <a:srgbClr val="DA7671"/>
    <a:srgbClr val="F29545"/>
    <a:srgbClr val="168638"/>
    <a:srgbClr val="9105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03" autoAdjust="0"/>
    <p:restoredTop sz="94404" autoAdjust="0"/>
  </p:normalViewPr>
  <p:slideViewPr>
    <p:cSldViewPr snapToGrid="0">
      <p:cViewPr varScale="1">
        <p:scale>
          <a:sx n="70" d="100"/>
          <a:sy n="70" d="100"/>
        </p:scale>
        <p:origin x="664" y="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7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2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6.fntdata"/><Relationship Id="rId10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5.fntdata"/><Relationship Id="rId10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99" Type="http://customschemas.google.com/relationships/presentationmetadata" Target="metadata"/><Relationship Id="rId10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10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Calibration: Row-wise Red.Sum on NoC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RTL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Sheet1!$A$2:$A$11</c:f>
              <c:numCache>
                <c:formatCode>General</c:formatCode>
                <c:ptCount val="10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8</c:v>
                </c:pt>
                <c:pt idx="4">
                  <c:v>12</c:v>
                </c:pt>
                <c:pt idx="5">
                  <c:v>16</c:v>
                </c:pt>
                <c:pt idx="6">
                  <c:v>20</c:v>
                </c:pt>
                <c:pt idx="7">
                  <c:v>24</c:v>
                </c:pt>
                <c:pt idx="8">
                  <c:v>28</c:v>
                </c:pt>
                <c:pt idx="9">
                  <c:v>32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86</c:v>
                </c:pt>
                <c:pt idx="1">
                  <c:v>107</c:v>
                </c:pt>
                <c:pt idx="2">
                  <c:v>125</c:v>
                </c:pt>
                <c:pt idx="3">
                  <c:v>189</c:v>
                </c:pt>
                <c:pt idx="4">
                  <c:v>261</c:v>
                </c:pt>
                <c:pt idx="5">
                  <c:v>331</c:v>
                </c:pt>
                <c:pt idx="6">
                  <c:v>403</c:v>
                </c:pt>
                <c:pt idx="7">
                  <c:v>467</c:v>
                </c:pt>
                <c:pt idx="8">
                  <c:v>539</c:v>
                </c:pt>
                <c:pt idx="9">
                  <c:v>613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43-4500-B5F8-561638CA7A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GVSoC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Sheet1!$A$2:$A$11</c:f>
              <c:numCache>
                <c:formatCode>General</c:formatCode>
                <c:ptCount val="10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8</c:v>
                </c:pt>
                <c:pt idx="4">
                  <c:v>12</c:v>
                </c:pt>
                <c:pt idx="5">
                  <c:v>16</c:v>
                </c:pt>
                <c:pt idx="6">
                  <c:v>20</c:v>
                </c:pt>
                <c:pt idx="7">
                  <c:v>24</c:v>
                </c:pt>
                <c:pt idx="8">
                  <c:v>28</c:v>
                </c:pt>
                <c:pt idx="9">
                  <c:v>32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61</c:v>
                </c:pt>
                <c:pt idx="1">
                  <c:v>79</c:v>
                </c:pt>
                <c:pt idx="2">
                  <c:v>97</c:v>
                </c:pt>
                <c:pt idx="3">
                  <c:v>161</c:v>
                </c:pt>
                <c:pt idx="4">
                  <c:v>225</c:v>
                </c:pt>
                <c:pt idx="5">
                  <c:v>289</c:v>
                </c:pt>
                <c:pt idx="6">
                  <c:v>353</c:v>
                </c:pt>
                <c:pt idx="7">
                  <c:v>417</c:v>
                </c:pt>
                <c:pt idx="8">
                  <c:v>481</c:v>
                </c:pt>
                <c:pt idx="9">
                  <c:v>545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43-4500-B5F8-561638CA7A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962033743"/>
        <c:axId val="1962044783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Deviation(%)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Sheet1!$A$2:$A$11</c:f>
              <c:numCache>
                <c:formatCode>General</c:formatCode>
                <c:ptCount val="10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8</c:v>
                </c:pt>
                <c:pt idx="4">
                  <c:v>12</c:v>
                </c:pt>
                <c:pt idx="5">
                  <c:v>16</c:v>
                </c:pt>
                <c:pt idx="6">
                  <c:v>20</c:v>
                </c:pt>
                <c:pt idx="7">
                  <c:v>24</c:v>
                </c:pt>
                <c:pt idx="8">
                  <c:v>28</c:v>
                </c:pt>
                <c:pt idx="9">
                  <c:v>32</c:v>
                </c:pt>
              </c:numCache>
            </c:numRef>
          </c:cat>
          <c:val>
            <c:numRef>
              <c:f>Sheet1!$D$2:$D$11</c:f>
              <c:numCache>
                <c:formatCode>0%</c:formatCode>
                <c:ptCount val="10"/>
                <c:pt idx="0">
                  <c:v>0.29069767441860467</c:v>
                </c:pt>
                <c:pt idx="1">
                  <c:v>0.26168224299065418</c:v>
                </c:pt>
                <c:pt idx="2">
                  <c:v>0.224</c:v>
                </c:pt>
                <c:pt idx="3">
                  <c:v>0.14814814814814814</c:v>
                </c:pt>
                <c:pt idx="4">
                  <c:v>0.13793103448275862</c:v>
                </c:pt>
                <c:pt idx="5">
                  <c:v>0.12688821752265861</c:v>
                </c:pt>
                <c:pt idx="6">
                  <c:v>0.12406947890818859</c:v>
                </c:pt>
                <c:pt idx="7">
                  <c:v>0.10706638115631692</c:v>
                </c:pt>
                <c:pt idx="8">
                  <c:v>0.10760667903525047</c:v>
                </c:pt>
                <c:pt idx="9">
                  <c:v>0.11092985318107668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043-4500-B5F8-561638CA7A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61993903"/>
        <c:axId val="1961988623"/>
      </c:lineChart>
      <c:catAx>
        <c:axId val="196203374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Transfer Size (KiB)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H"/>
          </a:p>
        </c:txPr>
        <c:crossAx val="1962044783"/>
        <c:crosses val="autoZero"/>
        <c:auto val="1"/>
        <c:lblAlgn val="ctr"/>
        <c:lblOffset val="100"/>
        <c:noMultiLvlLbl val="0"/>
      </c:catAx>
      <c:valAx>
        <c:axId val="1962044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Runtime Cycle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H"/>
          </a:p>
        </c:txPr>
        <c:crossAx val="1962033743"/>
        <c:crosses val="autoZero"/>
        <c:crossBetween val="between"/>
      </c:valAx>
      <c:valAx>
        <c:axId val="1961988623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Cycle Deviation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H"/>
          </a:p>
        </c:txPr>
        <c:crossAx val="1961993903"/>
        <c:crosses val="max"/>
        <c:crossBetween val="between"/>
      </c:valAx>
      <c:catAx>
        <c:axId val="19619939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96198862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H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en-CH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EFCEC7ED-0FC3-7237-F44F-94EAC0EDC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>
            <a:extLst>
              <a:ext uri="{FF2B5EF4-FFF2-40B4-BE49-F238E27FC236}">
                <a16:creationId xmlns:a16="http://schemas.microsoft.com/office/drawing/2014/main" id="{49192757-8867-0D60-C55C-EA3755B7B8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524F3A89-1465-F437-8021-579884D68D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1092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EB1DC7CC-65D6-4FB5-8D73-7AA4C0F3C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>
            <a:extLst>
              <a:ext uri="{FF2B5EF4-FFF2-40B4-BE49-F238E27FC236}">
                <a16:creationId xmlns:a16="http://schemas.microsoft.com/office/drawing/2014/main" id="{B63B133B-42A4-5E08-A6A2-17ED00BC81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B8772143-391F-365A-1D57-DDC2CCC3B3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8899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73406919-0169-57BD-8A14-A2253E945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>
            <a:extLst>
              <a:ext uri="{FF2B5EF4-FFF2-40B4-BE49-F238E27FC236}">
                <a16:creationId xmlns:a16="http://schemas.microsoft.com/office/drawing/2014/main" id="{B2C61877-DA92-6391-8850-BAB2FEADE3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973B20BE-2EDD-1EB1-A994-80FE52B0F7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5902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2CBA575A-CE15-1120-FA84-B6F45309E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>
            <a:extLst>
              <a:ext uri="{FF2B5EF4-FFF2-40B4-BE49-F238E27FC236}">
                <a16:creationId xmlns:a16="http://schemas.microsoft.com/office/drawing/2014/main" id="{6A4BC3C7-8AB4-26DF-0091-1DE60AD896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D9D5E201-B080-7959-C144-B5AB83DFCB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3250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9BD1999E-C7BD-7DDD-F2D2-6584FCA61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>
            <a:extLst>
              <a:ext uri="{FF2B5EF4-FFF2-40B4-BE49-F238E27FC236}">
                <a16:creationId xmlns:a16="http://schemas.microsoft.com/office/drawing/2014/main" id="{30E96CFC-A646-9B81-A05C-B7279C9768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0F137C0A-1F0F-C197-C761-DAEA04F297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5678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2FE002AC-DDB9-A8A3-DAF5-31ACDBDAE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>
            <a:extLst>
              <a:ext uri="{FF2B5EF4-FFF2-40B4-BE49-F238E27FC236}">
                <a16:creationId xmlns:a16="http://schemas.microsoft.com/office/drawing/2014/main" id="{33E9DC08-7989-16F7-59DE-C7D6E8A79A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D2E4838D-BCD9-D06B-A1CF-52ACAF5104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41896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87342286-F712-A292-AD23-C0D4FD41D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>
            <a:extLst>
              <a:ext uri="{FF2B5EF4-FFF2-40B4-BE49-F238E27FC236}">
                <a16:creationId xmlns:a16="http://schemas.microsoft.com/office/drawing/2014/main" id="{3AFBF1CC-9700-1067-B497-75375A5927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63572A71-E4B9-F97C-8156-C247DD981E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82594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4970944F-86FD-F97B-D2C5-1ED91639E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>
            <a:extLst>
              <a:ext uri="{FF2B5EF4-FFF2-40B4-BE49-F238E27FC236}">
                <a16:creationId xmlns:a16="http://schemas.microsoft.com/office/drawing/2014/main" id="{920808EF-2B1F-3A36-3117-84A631E1E3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666DDD31-0A9C-5E34-9D61-0FFBC19B14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98932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4A956351-6892-4CDA-C818-7DB41A15A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>
            <a:extLst>
              <a:ext uri="{FF2B5EF4-FFF2-40B4-BE49-F238E27FC236}">
                <a16:creationId xmlns:a16="http://schemas.microsoft.com/office/drawing/2014/main" id="{9F9CE2C4-8898-3589-60E4-BC328D26F3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C1EC7833-FDD7-58D4-BD7D-368D297A21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24932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7417BC1D-8176-0E24-7936-B05DDE1DD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>
            <a:extLst>
              <a:ext uri="{FF2B5EF4-FFF2-40B4-BE49-F238E27FC236}">
                <a16:creationId xmlns:a16="http://schemas.microsoft.com/office/drawing/2014/main" id="{51EB2ADC-3F9B-823F-A85B-DADBD1E1CC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C52C829A-FB68-BDEB-7A97-414EC53B98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63950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3BFD7858-9805-666B-E9A5-3BA23D345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>
            <a:extLst>
              <a:ext uri="{FF2B5EF4-FFF2-40B4-BE49-F238E27FC236}">
                <a16:creationId xmlns:a16="http://schemas.microsoft.com/office/drawing/2014/main" id="{53E464C4-F13F-AF15-852A-EE28CB3522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AC909A65-0EE5-F828-9631-DCBCC0AEFE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15082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E915381F-1171-EB8A-F00F-61874A9F0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>
            <a:extLst>
              <a:ext uri="{FF2B5EF4-FFF2-40B4-BE49-F238E27FC236}">
                <a16:creationId xmlns:a16="http://schemas.microsoft.com/office/drawing/2014/main" id="{98CC72A4-3E76-1BCB-996E-685595677F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C0EC8F40-F767-36FC-FFD1-A22F6C302B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1710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7.sv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316503" y="180326"/>
            <a:ext cx="10667548" cy="65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316503" y="991347"/>
            <a:ext cx="5333774" cy="5524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800" rIns="0" bIns="457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SzPts val="1620"/>
              <a:buChar char="•"/>
              <a:defRPr/>
            </a:lvl1pPr>
            <a:lvl2pPr marL="914400" lvl="1" indent="-331469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SzPts val="1620"/>
              <a:buChar char="•"/>
              <a:defRPr/>
            </a:lvl3pPr>
            <a:lvl4pPr marL="1828800" lvl="3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dt" idx="10"/>
          </p:nvPr>
        </p:nvSpPr>
        <p:spPr>
          <a:xfrm>
            <a:off x="3151021" y="6473766"/>
            <a:ext cx="6857709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sldNum" idx="12"/>
          </p:nvPr>
        </p:nvSpPr>
        <p:spPr>
          <a:xfrm>
            <a:off x="11400183" y="6583096"/>
            <a:ext cx="846138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lide 1">
  <p:cSld name="Code Slide 1">
    <p:bg>
      <p:bgPr>
        <a:solidFill>
          <a:schemeClr val="accent3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316503" y="180326"/>
            <a:ext cx="10667548" cy="65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81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1"/>
          </p:nvPr>
        </p:nvSpPr>
        <p:spPr>
          <a:xfrm>
            <a:off x="316500" y="990573"/>
            <a:ext cx="5333774" cy="5524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800" rIns="0" bIns="45700" anchor="t" anchorCtr="0">
            <a:noAutofit/>
          </a:bodyPr>
          <a:lstStyle>
            <a:lvl1pPr marL="457200" lvl="0" indent="-373761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Clr>
                <a:schemeClr val="dk1"/>
              </a:buClr>
              <a:buSzPts val="2286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400" lvl="1" indent="-349586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1905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600" lvl="2" indent="-337470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1714"/>
              <a:buFont typeface="Arial"/>
              <a:buChar char="•"/>
              <a:defRPr sz="1904">
                <a:solidFill>
                  <a:schemeClr val="dk1"/>
                </a:solidFill>
              </a:defRPr>
            </a:lvl3pPr>
            <a:lvl4pPr marL="1828800" lvl="3" indent="-301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3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6000" lvl="4" indent="-29512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8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2"/>
          </p:nvPr>
        </p:nvSpPr>
        <p:spPr>
          <a:xfrm>
            <a:off x="6096000" y="990573"/>
            <a:ext cx="6102077" cy="5524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0" tIns="252000" rIns="0" bIns="45700" anchor="t" anchorCtr="0">
            <a:noAutofit/>
          </a:bodyPr>
          <a:lstStyle>
            <a:lvl1pPr marL="457200" lvl="0" indent="-228600" algn="l">
              <a:lnSpc>
                <a:spcPct val="55538"/>
              </a:lnSpc>
              <a:spcBef>
                <a:spcPts val="1270"/>
              </a:spcBef>
              <a:spcAft>
                <a:spcPts val="0"/>
              </a:spcAft>
              <a:buSzPts val="1714"/>
              <a:buNone/>
              <a:defRPr sz="1904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31469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SzPts val="1620"/>
              <a:buChar char="•"/>
              <a:defRPr/>
            </a:lvl3pPr>
            <a:lvl4pPr marL="1828800" lvl="3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3151021" y="6473766"/>
            <a:ext cx="6857709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sldNum" idx="12"/>
          </p:nvPr>
        </p:nvSpPr>
        <p:spPr>
          <a:xfrm>
            <a:off x="10385676" y="6473766"/>
            <a:ext cx="598375" cy="308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lide 2">
  <p:cSld name="Code Slide 2">
    <p:bg>
      <p:bgPr>
        <a:solidFill>
          <a:schemeClr val="dk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316503" y="180326"/>
            <a:ext cx="10667548" cy="65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81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body" idx="1"/>
          </p:nvPr>
        </p:nvSpPr>
        <p:spPr>
          <a:xfrm>
            <a:off x="316500" y="990573"/>
            <a:ext cx="5333774" cy="5524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800" rIns="0" bIns="45700" anchor="t" anchorCtr="0">
            <a:noAutofit/>
          </a:bodyPr>
          <a:lstStyle>
            <a:lvl1pPr marL="457200" lvl="0" indent="-373761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Clr>
                <a:schemeClr val="dk1"/>
              </a:buClr>
              <a:buSzPts val="2286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400" lvl="1" indent="-349586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1905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600" lvl="2" indent="-337470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1714"/>
              <a:buFont typeface="Arial"/>
              <a:buChar char="•"/>
              <a:defRPr sz="1904">
                <a:solidFill>
                  <a:schemeClr val="dk1"/>
                </a:solidFill>
              </a:defRPr>
            </a:lvl3pPr>
            <a:lvl4pPr marL="1828800" lvl="3" indent="-301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3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6000" lvl="4" indent="-29512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8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2"/>
          </p:nvPr>
        </p:nvSpPr>
        <p:spPr>
          <a:xfrm>
            <a:off x="6096000" y="990573"/>
            <a:ext cx="6102077" cy="5524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0" tIns="252000" rIns="0" bIns="45700" anchor="t" anchorCtr="0">
            <a:noAutofit/>
          </a:bodyPr>
          <a:lstStyle>
            <a:lvl1pPr marL="457200" lvl="0" indent="-228600" algn="l">
              <a:lnSpc>
                <a:spcPct val="55538"/>
              </a:lnSpc>
              <a:spcBef>
                <a:spcPts val="1270"/>
              </a:spcBef>
              <a:spcAft>
                <a:spcPts val="0"/>
              </a:spcAft>
              <a:buSzPts val="1714"/>
              <a:buNone/>
              <a:defRPr sz="1904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31469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SzPts val="1620"/>
              <a:buChar char="•"/>
              <a:defRPr/>
            </a:lvl3pPr>
            <a:lvl4pPr marL="1828800" lvl="3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3151021" y="6473766"/>
            <a:ext cx="6857709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ldNum" idx="12"/>
          </p:nvPr>
        </p:nvSpPr>
        <p:spPr>
          <a:xfrm>
            <a:off x="10385676" y="6473766"/>
            <a:ext cx="598375" cy="308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标题幻灯片">
  <p:cSld name="标题幻灯片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6"/>
          <p:cNvGrpSpPr/>
          <p:nvPr/>
        </p:nvGrpSpPr>
        <p:grpSpPr>
          <a:xfrm>
            <a:off x="2431284" y="217607"/>
            <a:ext cx="2109071" cy="456122"/>
            <a:chOff x="3645356" y="188193"/>
            <a:chExt cx="5677387" cy="1227805"/>
          </a:xfrm>
        </p:grpSpPr>
        <p:pic>
          <p:nvPicPr>
            <p:cNvPr id="24" name="Google Shape;24;p6"/>
            <p:cNvPicPr preferRelativeResize="0"/>
            <p:nvPr/>
          </p:nvPicPr>
          <p:blipFill rotWithShape="1">
            <a:blip r:embed="rId2">
              <a:alphaModFix/>
            </a:blip>
            <a:srcRect l="25667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;p6"/>
            <p:cNvPicPr preferRelativeResize="0"/>
            <p:nvPr/>
          </p:nvPicPr>
          <p:blipFill rotWithShape="1">
            <a:blip r:embed="rId2">
              <a:alphaModFix/>
            </a:blip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" name="Google Shape;26;p6"/>
          <p:cNvSpPr/>
          <p:nvPr/>
        </p:nvSpPr>
        <p:spPr>
          <a:xfrm>
            <a:off x="7538308" y="2204236"/>
            <a:ext cx="4653692" cy="4653764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4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27" name="Google Shape;2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489" y="282948"/>
            <a:ext cx="1767831" cy="294643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subTitle" idx="1"/>
          </p:nvPr>
        </p:nvSpPr>
        <p:spPr>
          <a:xfrm>
            <a:off x="381487" y="3115708"/>
            <a:ext cx="6095742" cy="380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SzPts val="2286"/>
              <a:buNone/>
              <a:defRPr sz="254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81486" y="1854817"/>
            <a:ext cx="10667548" cy="114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810"/>
              <a:buFont typeface="Calibri"/>
              <a:buNone/>
              <a:defRPr sz="3809" b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/>
          <p:nvPr/>
        </p:nvSpPr>
        <p:spPr>
          <a:xfrm rot="2700000">
            <a:off x="9949083" y="3485624"/>
            <a:ext cx="1617442" cy="1617417"/>
          </a:xfrm>
          <a:prstGeom prst="roundRect">
            <a:avLst>
              <a:gd name="adj" fmla="val 415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4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6"/>
          <p:cNvSpPr/>
          <p:nvPr/>
        </p:nvSpPr>
        <p:spPr>
          <a:xfrm rot="2700000">
            <a:off x="9473177" y="3855327"/>
            <a:ext cx="861773" cy="883471"/>
          </a:xfrm>
          <a:prstGeom prst="roundRect">
            <a:avLst>
              <a:gd name="adj" fmla="val 838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4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" name="Google Shape;3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61787" y="3246606"/>
            <a:ext cx="2448726" cy="2101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61186" y="6005221"/>
            <a:ext cx="347027" cy="297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6" descr="A picture containing ax, vector graphics, tool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97284" y="5678622"/>
            <a:ext cx="297421" cy="244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75152" y="6374731"/>
            <a:ext cx="341685" cy="236387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 txBox="1"/>
          <p:nvPr/>
        </p:nvSpPr>
        <p:spPr>
          <a:xfrm>
            <a:off x="9265347" y="5973623"/>
            <a:ext cx="2209804" cy="336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87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pulp-platform.org</a:t>
            </a:r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9813515" y="5645227"/>
            <a:ext cx="1661636" cy="336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87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@pulp_platform</a:t>
            </a:r>
            <a:endParaRPr/>
          </a:p>
        </p:txBody>
      </p:sp>
      <p:sp>
        <p:nvSpPr>
          <p:cNvPr id="38" name="Google Shape;38;p6"/>
          <p:cNvSpPr txBox="1"/>
          <p:nvPr/>
        </p:nvSpPr>
        <p:spPr>
          <a:xfrm>
            <a:off x="8765175" y="6302018"/>
            <a:ext cx="2709976" cy="336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87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youtube.com/pulp_platform</a:t>
            </a:r>
            <a:endParaRPr/>
          </a:p>
        </p:txBody>
      </p:sp>
      <p:sp>
        <p:nvSpPr>
          <p:cNvPr id="39" name="Google Shape;39;p6"/>
          <p:cNvSpPr txBox="1"/>
          <p:nvPr/>
        </p:nvSpPr>
        <p:spPr>
          <a:xfrm>
            <a:off x="381487" y="5882743"/>
            <a:ext cx="6051407" cy="718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4"/>
              <a:buFont typeface="Calibri"/>
              <a:buNone/>
            </a:pPr>
            <a:r>
              <a:rPr lang="en-US" sz="190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PULP Platform</a:t>
            </a:r>
            <a:br>
              <a:rPr lang="en-US"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Source Hardware, the way it should be!</a:t>
            </a:r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381487" y="3884883"/>
            <a:ext cx="6095742" cy="1713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800" rIns="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SzPts val="1905"/>
              <a:buNone/>
              <a:defRPr sz="2117">
                <a:solidFill>
                  <a:schemeClr val="accent3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SzPts val="1620"/>
              <a:buChar char="•"/>
              <a:defRPr/>
            </a:lvl3pPr>
            <a:lvl4pPr marL="1828800" lvl="3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15221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458CA-A1BF-D6AB-4593-70AA8BA7A18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effectLst/>
        </p:spPr>
        <p:txBody>
          <a:bodyPr/>
          <a:lstStyle>
            <a:lvl1pPr>
              <a:defRPr>
                <a:ln w="15875" cmpd="sng">
                  <a:noFill/>
                  <a:round/>
                </a:ln>
                <a:solidFill>
                  <a:schemeClr val="accent3"/>
                </a:solidFill>
                <a:effectLst/>
              </a:defRPr>
            </a:lvl1pPr>
          </a:lstStyle>
          <a:p>
            <a:r>
              <a:rPr lang="en-US" dirty="0"/>
              <a:t>Click to edit Master title style</a:t>
            </a:r>
            <a:endParaRPr lang="de-CH" dirty="0"/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F2B96F6E-6763-388C-C56C-A5F6DDF7C21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6500" y="990573"/>
            <a:ext cx="5333774" cy="5524351"/>
          </a:xfrm>
        </p:spPr>
        <p:txBody>
          <a:bodyPr lIns="0"/>
          <a:lstStyle>
            <a:lvl1pPr marL="304795" indent="-304795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533383" indent="-228597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761976" indent="-228597">
              <a:buClrTx/>
              <a:buFont typeface="Arial" panose="020B0604020202020204" pitchFamily="34" charset="0"/>
              <a:buChar char="•"/>
              <a:defRPr sz="1905">
                <a:solidFill>
                  <a:schemeClr val="tx1"/>
                </a:solidFill>
              </a:defRPr>
            </a:lvl3pPr>
            <a:lvl4pPr marL="990569" indent="-228597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219162" indent="-228597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4BB9895-C16D-8D3B-6B99-94C506A0DDD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0" y="990573"/>
            <a:ext cx="6102077" cy="5524351"/>
          </a:xfrm>
        </p:spPr>
        <p:txBody>
          <a:bodyPr lIns="468000" tIns="252000"/>
          <a:lstStyle>
            <a:lvl1pPr marL="0" indent="0">
              <a:lnSpc>
                <a:spcPts val="1058"/>
              </a:lnSpc>
              <a:buNone/>
              <a:defRPr sz="1905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dirty="0"/>
              <a:t>Click to edit code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C01239-BAA4-8A00-7636-86EDC75888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E0C66A2-8627-414E-981C-541940719BAF}" type="datetime1">
              <a:rPr lang="zh-CN" altLang="en-US" smtClean="0"/>
              <a:t>2025/11/10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77580FD-90D9-4643-869E-F2DC0D2AC6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02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458CA-A1BF-D6AB-4593-70AA8BA7A18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effectLst/>
        </p:spPr>
        <p:txBody>
          <a:bodyPr/>
          <a:lstStyle>
            <a:lvl1pPr>
              <a:defRPr>
                <a:ln w="15875" cmpd="sng">
                  <a:noFill/>
                  <a:round/>
                </a:ln>
                <a:solidFill>
                  <a:schemeClr val="accent3"/>
                </a:solidFill>
                <a:effectLst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F2B96F6E-6763-388C-C56C-A5F6DDF7C21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6500" y="990573"/>
            <a:ext cx="5333774" cy="5524351"/>
          </a:xfrm>
        </p:spPr>
        <p:txBody>
          <a:bodyPr lIns="0"/>
          <a:lstStyle>
            <a:lvl1pPr marL="304795" indent="-304795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533383" indent="-228597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761976" indent="-228597">
              <a:buClrTx/>
              <a:buFont typeface="Arial" panose="020B0604020202020204" pitchFamily="34" charset="0"/>
              <a:buChar char="•"/>
              <a:defRPr sz="1905">
                <a:solidFill>
                  <a:schemeClr val="tx1"/>
                </a:solidFill>
              </a:defRPr>
            </a:lvl3pPr>
            <a:lvl4pPr marL="990569" indent="-228597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219162" indent="-228597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4BB9895-C16D-8D3B-6B99-94C506A0DDD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0" y="990573"/>
            <a:ext cx="6102077" cy="5524351"/>
          </a:xfrm>
        </p:spPr>
        <p:txBody>
          <a:bodyPr lIns="468000" tIns="252000"/>
          <a:lstStyle>
            <a:lvl1pPr marL="0" indent="0">
              <a:lnSpc>
                <a:spcPts val="1058"/>
              </a:lnSpc>
              <a:buNone/>
              <a:defRPr sz="1905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noProof="0"/>
              <a:t>Click to edit code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008F47-EC5C-3578-1BA2-5D84AD510EF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16A3985-B2B5-4012-9CB4-876599AD6DCA}" type="datetime1">
              <a:rPr lang="zh-CN" altLang="en-US" smtClean="0"/>
              <a:t>2025/11/10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776D19F-CFD6-B7EE-F862-390C4E0962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542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F192FC1B-B3A0-78B7-C079-3AD8A4EDAFEE}"/>
              </a:ext>
            </a:extLst>
          </p:cNvPr>
          <p:cNvGrpSpPr/>
          <p:nvPr userDrawn="1"/>
        </p:nvGrpSpPr>
        <p:grpSpPr>
          <a:xfrm>
            <a:off x="2431284" y="217607"/>
            <a:ext cx="2109071" cy="456122"/>
            <a:chOff x="3645356" y="188193"/>
            <a:chExt cx="5677387" cy="1227805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DFDC3554-F5A8-F2B0-CDD0-9503A1DE3A0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25668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3449E88C-0CCF-054C-1626-D1593E596CF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</p:spPr>
        </p:pic>
      </p:grp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8D234E9D-C054-5674-1BA3-6CDBCAEC8DE6}"/>
              </a:ext>
            </a:extLst>
          </p:cNvPr>
          <p:cNvSpPr/>
          <p:nvPr userDrawn="1"/>
        </p:nvSpPr>
        <p:spPr>
          <a:xfrm>
            <a:off x="7538308" y="2204236"/>
            <a:ext cx="4653692" cy="4653764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05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E74E66C-D0DE-D973-3A0F-2E71084138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489" y="282948"/>
            <a:ext cx="1767831" cy="294643"/>
          </a:xfrm>
          <a:prstGeom prst="rect">
            <a:avLst/>
          </a:prstGeom>
        </p:spPr>
      </p:pic>
      <p:sp>
        <p:nvSpPr>
          <p:cNvPr id="30" name="Subtitle 2">
            <a:extLst>
              <a:ext uri="{FF2B5EF4-FFF2-40B4-BE49-F238E27FC236}">
                <a16:creationId xmlns:a16="http://schemas.microsoft.com/office/drawing/2014/main" id="{D93D6F44-AA10-891D-BF7D-311C32BF0F90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81487" y="3115708"/>
            <a:ext cx="6095742" cy="380990"/>
          </a:xfrm>
        </p:spPr>
        <p:txBody>
          <a:bodyPr lIns="0" tIns="0" rIns="0" bIns="0" anchor="b"/>
          <a:lstStyle>
            <a:lvl1pPr marL="0" indent="0" algn="l">
              <a:buNone/>
              <a:defRPr sz="2540" b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  <a:lvl2pPr marL="457194" indent="0" algn="ctr">
              <a:buNone/>
              <a:defRPr sz="2000"/>
            </a:lvl2pPr>
            <a:lvl3pPr marL="914389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1" indent="0" algn="ctr">
              <a:buNone/>
              <a:defRPr sz="1600"/>
            </a:lvl6pPr>
            <a:lvl7pPr marL="2743167" indent="0" algn="ctr">
              <a:buNone/>
              <a:defRPr sz="1600"/>
            </a:lvl7pPr>
            <a:lvl8pPr marL="3200361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zh-CN" altLang="en-US" noProof="0"/>
              <a:t>单击此处编辑母版副标题样式</a:t>
            </a:r>
            <a:endParaRPr lang="en-US" noProof="0" dirty="0"/>
          </a:p>
        </p:txBody>
      </p:sp>
      <p:sp>
        <p:nvSpPr>
          <p:cNvPr id="31" name="Title 8">
            <a:extLst>
              <a:ext uri="{FF2B5EF4-FFF2-40B4-BE49-F238E27FC236}">
                <a16:creationId xmlns:a16="http://schemas.microsoft.com/office/drawing/2014/main" id="{5D78059F-19FB-CAFA-4937-958597D5C90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81486" y="1854817"/>
            <a:ext cx="10667548" cy="1142969"/>
          </a:xfrm>
        </p:spPr>
        <p:txBody>
          <a:bodyPr anchor="t"/>
          <a:lstStyle>
            <a:lvl1pPr>
              <a:defRPr sz="3810" b="0">
                <a:solidFill>
                  <a:schemeClr val="accent3"/>
                </a:solidFill>
                <a:latin typeface="+mj-lt"/>
                <a:ea typeface="Roboto Condensed" panose="02000000000000000000" pitchFamily="2" charset="0"/>
              </a:defRPr>
            </a:lvl1pPr>
          </a:lstStyle>
          <a:p>
            <a:r>
              <a:rPr lang="en-US" noProof="0" dirty="0"/>
              <a:t>Click to edit Master title style (in case you have a</a:t>
            </a:r>
            <a:br>
              <a:rPr lang="en-US" noProof="0" dirty="0"/>
            </a:br>
            <a:r>
              <a:rPr lang="en-US" noProof="0" dirty="0"/>
              <a:t>very very long title it can also span multiple lines)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C68568A-23B5-DA36-6C0D-2408AF9BED45}"/>
              </a:ext>
            </a:extLst>
          </p:cNvPr>
          <p:cNvSpPr/>
          <p:nvPr userDrawn="1"/>
        </p:nvSpPr>
        <p:spPr>
          <a:xfrm rot="2700000">
            <a:off x="9949083" y="3485624"/>
            <a:ext cx="1617442" cy="1617417"/>
          </a:xfrm>
          <a:prstGeom prst="roundRect">
            <a:avLst>
              <a:gd name="adj" fmla="val 4159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05" noProof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E5778BE-53D9-EBE2-E1E3-9486D873D633}"/>
              </a:ext>
            </a:extLst>
          </p:cNvPr>
          <p:cNvSpPr/>
          <p:nvPr userDrawn="1"/>
        </p:nvSpPr>
        <p:spPr>
          <a:xfrm rot="2700000">
            <a:off x="9473177" y="3855327"/>
            <a:ext cx="861773" cy="883471"/>
          </a:xfrm>
          <a:prstGeom prst="roundRect">
            <a:avLst>
              <a:gd name="adj" fmla="val 838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05" noProof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34F58EB-B7F2-49D6-1DDD-84753A25C0D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61787" y="3246606"/>
            <a:ext cx="2448726" cy="2101406"/>
          </a:xfrm>
          <a:prstGeom prst="rect">
            <a:avLst/>
          </a:prstGeom>
          <a:ln w="66675"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3722F6A-3AA4-BFC3-F572-3A7E83CD6F6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61186" y="6005221"/>
            <a:ext cx="347027" cy="297807"/>
          </a:xfrm>
          <a:prstGeom prst="rect">
            <a:avLst/>
          </a:prstGeom>
        </p:spPr>
      </p:pic>
      <p:pic>
        <p:nvPicPr>
          <p:cNvPr id="22" name="Picture 21" descr="A picture containing ax, vector graphics, tool&#10;&#10;Description automatically generated">
            <a:extLst>
              <a:ext uri="{FF2B5EF4-FFF2-40B4-BE49-F238E27FC236}">
                <a16:creationId xmlns:a16="http://schemas.microsoft.com/office/drawing/2014/main" id="{4DD662A7-2596-572A-621E-FC676E54EA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497284" y="5678622"/>
            <a:ext cx="297421" cy="244678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2FC50372-BF19-6EDB-06B0-B684360D324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alphaModFix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75152" y="6374731"/>
            <a:ext cx="341685" cy="23638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90F954B-C9F2-7811-FBF9-F2B6708CE96A}"/>
              </a:ext>
            </a:extLst>
          </p:cNvPr>
          <p:cNvSpPr txBox="1"/>
          <p:nvPr userDrawn="1"/>
        </p:nvSpPr>
        <p:spPr>
          <a:xfrm>
            <a:off x="9265347" y="5973623"/>
            <a:ext cx="2209804" cy="336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87" b="0" i="0" u="none" noProof="0">
                <a:solidFill>
                  <a:schemeClr val="bg2"/>
                </a:solidFill>
                <a:latin typeface="+mn-lt"/>
                <a:ea typeface="Roboto Condensed Light" panose="02000000000000000000" pitchFamily="2" charset="0"/>
                <a:cs typeface="Arial Narrow" panose="020B0604020202020204" pitchFamily="34" charset="0"/>
              </a:rPr>
              <a:t>pulp-platform.org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E24402-6167-3DAC-15F7-96A8C18DA6C3}"/>
              </a:ext>
            </a:extLst>
          </p:cNvPr>
          <p:cNvSpPr txBox="1"/>
          <p:nvPr userDrawn="1"/>
        </p:nvSpPr>
        <p:spPr>
          <a:xfrm>
            <a:off x="9813515" y="5645227"/>
            <a:ext cx="1661636" cy="336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87" b="0" i="0" u="none" noProof="0">
                <a:solidFill>
                  <a:schemeClr val="bg2"/>
                </a:solidFill>
                <a:latin typeface="+mn-lt"/>
                <a:ea typeface="Roboto Condensed Light" panose="02000000000000000000" pitchFamily="2" charset="0"/>
                <a:cs typeface="Arial Narrow" panose="020B0604020202020204" pitchFamily="34" charset="0"/>
              </a:rPr>
              <a:t>@pulp_platform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70316D-DDCE-8E08-F033-57AFE61CA03C}"/>
              </a:ext>
            </a:extLst>
          </p:cNvPr>
          <p:cNvSpPr txBox="1"/>
          <p:nvPr userDrawn="1"/>
        </p:nvSpPr>
        <p:spPr>
          <a:xfrm>
            <a:off x="8765175" y="6302018"/>
            <a:ext cx="2709976" cy="336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87" b="0" i="0" u="none" noProof="0">
                <a:solidFill>
                  <a:schemeClr val="bg2"/>
                </a:solidFill>
                <a:latin typeface="+mn-lt"/>
                <a:ea typeface="Roboto Condensed Light" panose="02000000000000000000" pitchFamily="2" charset="0"/>
                <a:cs typeface="Arial Narrow" panose="020B0604020202020204" pitchFamily="34" charset="0"/>
              </a:rPr>
              <a:t>youtube.com/pulp_platform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C09BED-6F4B-D060-60EF-CB1FD4E4F544}"/>
              </a:ext>
            </a:extLst>
          </p:cNvPr>
          <p:cNvSpPr txBox="1"/>
          <p:nvPr userDrawn="1"/>
        </p:nvSpPr>
        <p:spPr>
          <a:xfrm>
            <a:off x="381487" y="5882743"/>
            <a:ext cx="6051407" cy="7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7619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905" b="1" i="0" noProof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PULP Platform</a:t>
            </a:r>
            <a:br>
              <a:rPr lang="en-US" sz="1905" b="0" i="0" noProof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</a:br>
            <a:r>
              <a:rPr lang="en-US" sz="1905" b="0" i="0" noProof="0">
                <a:solidFill>
                  <a:schemeClr val="tx1"/>
                </a:solidFill>
                <a:latin typeface="+mn-lt"/>
                <a:ea typeface="Roboto Condensed Light" panose="02000000000000000000" pitchFamily="2" charset="0"/>
                <a:cs typeface="Arial Narrow" panose="020B0604020202020204" pitchFamily="34" charset="0"/>
              </a:rPr>
              <a:t>Open Source Hardware, the way it should be!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1C72157-447E-AAA3-80DA-9A3928C6C6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487" y="3884883"/>
            <a:ext cx="6095742" cy="1713889"/>
          </a:xfrm>
        </p:spPr>
        <p:txBody>
          <a:bodyPr/>
          <a:lstStyle>
            <a:lvl1pPr marL="0" indent="0">
              <a:buNone/>
              <a:defRPr sz="2117">
                <a:solidFill>
                  <a:schemeClr val="accent3"/>
                </a:solidFill>
              </a:defRPr>
            </a:lvl1pPr>
          </a:lstStyle>
          <a:p>
            <a:r>
              <a:rPr lang="en-US" b="1" noProof="0" dirty="0">
                <a:latin typeface="+mj-lt"/>
              </a:rPr>
              <a:t>Author Name 1    </a:t>
            </a:r>
            <a:r>
              <a:rPr lang="en-US" noProof="0" dirty="0">
                <a:solidFill>
                  <a:schemeClr val="tx1"/>
                </a:solidFill>
              </a:rPr>
              <a:t>mail1@iis.ee.ethz.ch</a:t>
            </a:r>
            <a:br>
              <a:rPr lang="en-US" noProof="0" dirty="0">
                <a:solidFill>
                  <a:schemeClr val="tx1"/>
                </a:solidFill>
              </a:rPr>
            </a:br>
            <a:r>
              <a:rPr lang="en-US" b="1" noProof="0" dirty="0">
                <a:latin typeface="+mj-lt"/>
              </a:rPr>
              <a:t>Author Name 2    </a:t>
            </a:r>
            <a:r>
              <a:rPr lang="en-US" noProof="0" dirty="0">
                <a:solidFill>
                  <a:schemeClr val="tx1"/>
                </a:solidFill>
              </a:rPr>
              <a:t>mail2@iis.ee.ethz.ch</a:t>
            </a:r>
            <a:br>
              <a:rPr lang="en-US" b="1" noProof="0" dirty="0">
                <a:latin typeface="+mj-lt"/>
              </a:rPr>
            </a:br>
            <a:r>
              <a:rPr lang="en-US" b="1" noProof="0" dirty="0">
                <a:latin typeface="+mj-lt"/>
              </a:rPr>
              <a:t>Author Name 3    </a:t>
            </a:r>
            <a:r>
              <a:rPr lang="en-US" noProof="0" dirty="0">
                <a:solidFill>
                  <a:schemeClr val="tx1"/>
                </a:solidFill>
              </a:rPr>
              <a:t>mail3@unibo.it</a:t>
            </a:r>
            <a:br>
              <a:rPr lang="en-US" b="1" noProof="0" dirty="0">
                <a:latin typeface="+mj-lt"/>
              </a:rPr>
            </a:br>
            <a:r>
              <a:rPr lang="en-US" b="1" noProof="0" dirty="0">
                <a:latin typeface="+mj-lt"/>
              </a:rPr>
              <a:t>Author Name 4    </a:t>
            </a:r>
            <a:r>
              <a:rPr lang="en-US" noProof="0" dirty="0">
                <a:solidFill>
                  <a:schemeClr val="tx1"/>
                </a:solidFill>
              </a:rPr>
              <a:t>mail4@unibo.it</a:t>
            </a:r>
            <a:endParaRPr lang="en-US" b="1" noProof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80623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769A5E-51FC-1948-9E89-D6ACC7420B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AD18A61-8ABA-DA51-7F3F-6F6CA7DE64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BD8CAB-2C7F-D9E9-0B83-24EA30091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FBC17-72B9-4EF5-8893-24FB2216744B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A79848-311E-E02C-E3A4-473DFE575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3B1C8C-3556-078F-2123-206A7CD22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D8BBF-345E-4024-ADB0-843CB582CC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360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D3FF94-58B5-F00C-068D-4CAB55EC5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4E2F20-6E0A-08A2-8398-719344B8A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D66464-4281-28D3-6D9F-810D455E4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FBC17-72B9-4EF5-8893-24FB2216744B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F902D1-984E-9061-4AC6-94EC723D6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E3B4D7-EAEC-DEC6-774B-C20F96614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D8BBF-345E-4024-ADB0-843CB582CC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388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3222FE-D56B-762B-CCBF-93D7F837B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3A7678-A2C6-498A-F5F4-3964C76DC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391741-66D2-AEB1-7FF5-60D56AAA1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FBC17-72B9-4EF5-8893-24FB2216744B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C375D-D83A-402A-3EB2-918EAEC4D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124D26-CAD8-D58A-2966-D061B355D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D8BBF-345E-4024-ADB0-843CB582CC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185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7680F7-AB84-E094-DEBE-54027962F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5F2555-58C4-7A04-6998-408FE61D2C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CB57F3-EEA0-C5B4-A28D-2448842F9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77810B-321D-1A57-86AB-4BEC27F50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FBC17-72B9-4EF5-8893-24FB2216744B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8C6DF2-5121-AA2C-1EAD-798F25BB1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10DF93-281E-EC26-5AE4-4CF79EE3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D8BBF-345E-4024-ADB0-843CB582CC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2003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1FB607-1E40-BD92-D598-ACEA84A9C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153BD9-AED5-D508-8D23-5047BE910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63E092-9B8C-2262-42E1-5B3FE02E75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E63114E-B720-3B88-3B26-3425CE403F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7D9FC4C-C1DC-83EA-76EC-D04121BD94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BF4CC5D-4EDD-74F3-35BB-1AE5D3647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FBC17-72B9-4EF5-8893-24FB2216744B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F3E1D74-EB0A-3BB8-EB07-4B93F0A36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5684A89-9172-B9BA-EB0D-0AA529B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D8BBF-345E-4024-ADB0-843CB582CC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3357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8FFBC1-424F-FBB1-7E46-793BBD4D9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71E09E8-4B45-72C4-4B09-07AD63DDD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FBC17-72B9-4EF5-8893-24FB2216744B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AC582D8-41A2-AE77-6FDE-1F677B2D1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6DD838D-C428-CAA3-36BC-5511E5295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D8BBF-345E-4024-ADB0-843CB582CC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7286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A42E23D-C62D-4C05-229C-37D091DB9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FBC17-72B9-4EF5-8893-24FB2216744B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6E38272-0395-B7EE-19BB-F32E827F8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4FD634-28CB-FE76-FB0B-B69B540DB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D8BBF-345E-4024-ADB0-843CB582CC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0168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3638A3-B329-27DC-6A8D-5717B2665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5CD71F-5716-D4A8-61EE-CDC1150F2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B84AF19-289C-370F-7593-439240343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11AAA4-7DCF-1848-5B4C-5342FD47E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FBC17-72B9-4EF5-8893-24FB2216744B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DB3055-031B-F239-430B-92216ADB7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DBFE29-0132-B9E8-E5D0-AC89E4515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D8BBF-345E-4024-ADB0-843CB582CC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3766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6FC175-21B4-DFD9-4DC1-0BD16AFD4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501A13B-F168-EA55-3029-F42A0B306E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D12980-3E98-E038-BA86-10CD853AD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FCC39B-C390-B07D-0220-6FD5F653B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FBC17-72B9-4EF5-8893-24FB2216744B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D233A6-0B9B-6D67-5CBD-59B44F6E8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7EC66D-80B7-D3A3-7041-17E613F0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D8BBF-345E-4024-ADB0-843CB582CC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1107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4C6E11-8231-E1EE-D480-823F572BA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6A7A51-09B8-B65B-8F98-D8410F23B7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9284D2-E296-56CD-C200-7836F004C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FBC17-72B9-4EF5-8893-24FB2216744B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2388F3-F05A-360B-4C6D-BF667091F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69D2D9-2373-DDC0-2BBF-40E364511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D8BBF-345E-4024-ADB0-843CB582CC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738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866A43C-6C67-A41A-C2A5-10A548847A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A986CD6-6D9C-FE50-E9E9-C88A33A2B3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BE8363-D861-FD9A-72C0-BA79A2FE0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FBC17-72B9-4EF5-8893-24FB2216744B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BF5DF-1FE3-9096-1595-FCB79963A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04F25C-A1B0-1BA8-5B59-7B69D004A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D8BBF-345E-4024-ADB0-843CB582CC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7510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s QA Slide">
    <p:bg>
      <p:bgPr>
        <a:solidFill>
          <a:srgbClr val="B4B4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8150BE-61A2-B1E2-756A-7134BE7E136A}"/>
              </a:ext>
            </a:extLst>
          </p:cNvPr>
          <p:cNvSpPr txBox="1"/>
          <p:nvPr userDrawn="1"/>
        </p:nvSpPr>
        <p:spPr>
          <a:xfrm>
            <a:off x="2042921" y="2089607"/>
            <a:ext cx="3299901" cy="87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80" b="0" i="0" u="none" dirty="0">
                <a:solidFill>
                  <a:schemeClr val="bg2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Thank you!</a:t>
            </a:r>
          </a:p>
        </p:txBody>
      </p:sp>
      <p:sp>
        <p:nvSpPr>
          <p:cNvPr id="7" name="Google Shape;1096;p28">
            <a:extLst>
              <a:ext uri="{FF2B5EF4-FFF2-40B4-BE49-F238E27FC236}">
                <a16:creationId xmlns:a16="http://schemas.microsoft.com/office/drawing/2014/main" id="{9EB57577-2B72-4910-D401-BBB6EDA09B5E}"/>
              </a:ext>
            </a:extLst>
          </p:cNvPr>
          <p:cNvSpPr/>
          <p:nvPr userDrawn="1"/>
        </p:nvSpPr>
        <p:spPr>
          <a:xfrm>
            <a:off x="6870456" y="1573479"/>
            <a:ext cx="3433291" cy="3433344"/>
          </a:xfrm>
          <a:custGeom>
            <a:avLst/>
            <a:gdLst/>
            <a:ahLst/>
            <a:cxnLst/>
            <a:rect l="l" t="t" r="r" b="b"/>
            <a:pathLst>
              <a:path w="158750" h="158750" extrusionOk="0">
                <a:moveTo>
                  <a:pt x="8255" y="0"/>
                </a:moveTo>
                <a:cubicBezTo>
                  <a:pt x="3810" y="0"/>
                  <a:pt x="0" y="3810"/>
                  <a:pt x="0" y="8255"/>
                </a:cubicBezTo>
                <a:lnTo>
                  <a:pt x="0" y="119380"/>
                </a:lnTo>
                <a:lnTo>
                  <a:pt x="31750" y="87630"/>
                </a:lnTo>
                <a:lnTo>
                  <a:pt x="111125" y="87630"/>
                </a:lnTo>
                <a:cubicBezTo>
                  <a:pt x="115570" y="87630"/>
                  <a:pt x="119380" y="83820"/>
                  <a:pt x="119380" y="79375"/>
                </a:cubicBezTo>
                <a:lnTo>
                  <a:pt x="119380" y="8255"/>
                </a:lnTo>
                <a:cubicBezTo>
                  <a:pt x="119380" y="3810"/>
                  <a:pt x="115570" y="0"/>
                  <a:pt x="111125" y="0"/>
                </a:cubicBezTo>
                <a:close/>
                <a:moveTo>
                  <a:pt x="135255" y="31750"/>
                </a:moveTo>
                <a:lnTo>
                  <a:pt x="135255" y="103505"/>
                </a:lnTo>
                <a:lnTo>
                  <a:pt x="31750" y="103505"/>
                </a:lnTo>
                <a:lnTo>
                  <a:pt x="31750" y="119380"/>
                </a:lnTo>
                <a:cubicBezTo>
                  <a:pt x="31750" y="123190"/>
                  <a:pt x="35560" y="127000"/>
                  <a:pt x="40005" y="127000"/>
                </a:cubicBezTo>
                <a:lnTo>
                  <a:pt x="127000" y="127000"/>
                </a:lnTo>
                <a:lnTo>
                  <a:pt x="158750" y="158750"/>
                </a:lnTo>
                <a:lnTo>
                  <a:pt x="158750" y="40005"/>
                </a:lnTo>
                <a:cubicBezTo>
                  <a:pt x="158750" y="35560"/>
                  <a:pt x="154940" y="31750"/>
                  <a:pt x="151130" y="3175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96754" tIns="96754" rIns="96754" bIns="9675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905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AD5AEE-A9BE-AED9-1997-707BCB05F17E}"/>
              </a:ext>
            </a:extLst>
          </p:cNvPr>
          <p:cNvSpPr txBox="1"/>
          <p:nvPr userDrawn="1"/>
        </p:nvSpPr>
        <p:spPr>
          <a:xfrm>
            <a:off x="7393950" y="2122179"/>
            <a:ext cx="1547401" cy="809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657" b="1" i="0" u="none" dirty="0">
                <a:solidFill>
                  <a:srgbClr val="B4B4B6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666737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sv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/>
        </p:nvSpPr>
        <p:spPr>
          <a:xfrm>
            <a:off x="0" y="3"/>
            <a:ext cx="609574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571475" tIns="1181050" rIns="0" bIns="45700" anchor="t" anchorCtr="0">
            <a:noAutofit/>
          </a:bodyPr>
          <a:lstStyle/>
          <a:p>
            <a:pPr marL="0" marR="0" lvl="0" indent="0" algn="l" rtl="0">
              <a:lnSpc>
                <a:spcPct val="1102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4"/>
              <a:buFont typeface="Arial"/>
              <a:buNone/>
            </a:pPr>
            <a:endParaRPr sz="1904" b="0" i="0" u="none" strike="noStrike" cap="none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11;p5"/>
          <p:cNvSpPr txBox="1">
            <a:spLocks noGrp="1"/>
          </p:cNvSpPr>
          <p:nvPr>
            <p:ph type="title"/>
          </p:nvPr>
        </p:nvSpPr>
        <p:spPr>
          <a:xfrm>
            <a:off x="316503" y="180326"/>
            <a:ext cx="10667548" cy="65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810"/>
              <a:buFont typeface="Calibri"/>
              <a:buNone/>
              <a:defRPr sz="3809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body" idx="1"/>
          </p:nvPr>
        </p:nvSpPr>
        <p:spPr>
          <a:xfrm>
            <a:off x="316503" y="991347"/>
            <a:ext cx="5333774" cy="5524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800" rIns="0" bIns="45700" anchor="t" anchorCtr="0">
            <a:noAutofit/>
          </a:bodyPr>
          <a:lstStyle>
            <a:lvl1pPr marL="457200" marR="0" lvl="0" indent="-373761" algn="l" rtl="0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Clr>
                <a:schemeClr val="dk1"/>
              </a:buClr>
              <a:buSzPts val="2286"/>
              <a:buFont typeface="Arial"/>
              <a:buChar char="•"/>
              <a:defRPr sz="25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9586" algn="l" rtl="0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1905"/>
              <a:buFont typeface="Arial"/>
              <a:buChar char="•"/>
              <a:defRPr sz="21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7470" algn="l" rtl="0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1714"/>
              <a:buFont typeface="Arial"/>
              <a:buChar char="•"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11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3"/>
              <a:buFont typeface="Arial"/>
              <a:buChar char="•"/>
              <a:defRPr sz="127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51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8"/>
              <a:buFont typeface="Arial"/>
              <a:buChar char="•"/>
              <a:defRPr sz="11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/>
          <p:nvPr/>
        </p:nvSpPr>
        <p:spPr>
          <a:xfrm rot="2700000">
            <a:off x="11085905" y="380600"/>
            <a:ext cx="379300" cy="379294"/>
          </a:xfrm>
          <a:prstGeom prst="roundRect">
            <a:avLst>
              <a:gd name="adj" fmla="val 523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4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" name="Google Shape;14;p5"/>
          <p:cNvSpPr/>
          <p:nvPr/>
        </p:nvSpPr>
        <p:spPr>
          <a:xfrm rot="2700000">
            <a:off x="11288321" y="229855"/>
            <a:ext cx="680796" cy="680785"/>
          </a:xfrm>
          <a:prstGeom prst="roundRect">
            <a:avLst>
              <a:gd name="adj" fmla="val 523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4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15" name="Google Shape;15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69708" y="149147"/>
            <a:ext cx="981397" cy="8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5"/>
          <p:cNvSpPr txBox="1">
            <a:spLocks noGrp="1"/>
          </p:cNvSpPr>
          <p:nvPr>
            <p:ph type="dt" idx="10"/>
          </p:nvPr>
        </p:nvSpPr>
        <p:spPr>
          <a:xfrm>
            <a:off x="3151021" y="6473766"/>
            <a:ext cx="6857709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sldNum" idx="12"/>
          </p:nvPr>
        </p:nvSpPr>
        <p:spPr>
          <a:xfrm>
            <a:off x="10385676" y="6473766"/>
            <a:ext cx="598375" cy="308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3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3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3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3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3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3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3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3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" name="Google Shape;18;p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6504" y="6517136"/>
            <a:ext cx="1170551" cy="1950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5"/>
          <p:cNvGrpSpPr/>
          <p:nvPr/>
        </p:nvGrpSpPr>
        <p:grpSpPr>
          <a:xfrm>
            <a:off x="1624922" y="6474583"/>
            <a:ext cx="1418460" cy="306766"/>
            <a:chOff x="3645356" y="188193"/>
            <a:chExt cx="5677387" cy="1227805"/>
          </a:xfrm>
        </p:grpSpPr>
        <p:pic>
          <p:nvPicPr>
            <p:cNvPr id="20" name="Google Shape;20;p5"/>
            <p:cNvPicPr preferRelativeResize="0"/>
            <p:nvPr/>
          </p:nvPicPr>
          <p:blipFill rotWithShape="1">
            <a:blip r:embed="rId8">
              <a:alphaModFix/>
            </a:blip>
            <a:srcRect l="25667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5"/>
            <p:cNvPicPr preferRelativeResize="0"/>
            <p:nvPr/>
          </p:nvPicPr>
          <p:blipFill rotWithShape="1">
            <a:blip r:embed="rId8">
              <a:alphaModFix/>
            </a:blip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8" r:id="rId4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A21F4A92-B526-C0E2-7CA3-0721D7897FD8}"/>
              </a:ext>
            </a:extLst>
          </p:cNvPr>
          <p:cNvSpPr txBox="1">
            <a:spLocks/>
          </p:cNvSpPr>
          <p:nvPr userDrawn="1"/>
        </p:nvSpPr>
        <p:spPr>
          <a:xfrm>
            <a:off x="0" y="3"/>
            <a:ext cx="6095742" cy="6858000"/>
          </a:xfrm>
          <a:prstGeom prst="rect">
            <a:avLst/>
          </a:prstGeom>
          <a:solidFill>
            <a:srgbClr val="FFFFFF"/>
          </a:solidFill>
        </p:spPr>
        <p:txBody>
          <a:bodyPr lIns="571476" tIns="1181050" rIns="0"/>
          <a:lstStyle>
            <a:lvl1pPr marL="0" indent="0" algn="l" defTabSz="720000" rtl="0" eaLnBrk="1" latinLnBrk="0" hangingPunct="1">
              <a:lnSpc>
                <a:spcPts val="2100"/>
              </a:lnSpc>
              <a:spcBef>
                <a:spcPts val="100"/>
              </a:spcBef>
              <a:buClr>
                <a:schemeClr val="tx1"/>
              </a:buClr>
              <a:buSzPct val="90000"/>
              <a:buFont typeface="Arial" panose="020B0604020202020204" pitchFamily="34" charset="0"/>
              <a:buNone/>
              <a:defRPr lang="en-US" sz="1800" b="0" i="0" kern="1200" dirty="0" smtClean="0">
                <a:solidFill>
                  <a:schemeClr val="bg2"/>
                </a:solidFill>
                <a:latin typeface="Consolas" panose="020B0609020204030204" pitchFamily="49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287996" indent="0" algn="l" defTabSz="7200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9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Consolas" panose="020B0609020204030204" pitchFamily="49" charset="0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503996" indent="0" algn="l" defTabSz="86401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90000"/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Consolas" panose="020B0609020204030204" pitchFamily="49" charset="0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719996" indent="0" algn="l" defTabSz="864017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90000"/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Consolas" panose="020B0609020204030204" pitchFamily="49" charset="0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935996" indent="0" algn="l" defTabSz="864017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90000"/>
              <a:buFont typeface="Arial" panose="020B0604020202020204" pitchFamily="34" charset="0"/>
              <a:buNone/>
              <a:defRPr sz="1100" b="0" i="0" kern="1200">
                <a:solidFill>
                  <a:schemeClr val="tx1"/>
                </a:solidFill>
                <a:latin typeface="Consolas" panose="020B0609020204030204" pitchFamily="49" charset="0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376046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8054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40062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070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de-CH" sz="1905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6503" y="180326"/>
            <a:ext cx="10667548" cy="65705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6503" y="991347"/>
            <a:ext cx="5333774" cy="5524351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/>
          <a:p>
            <a:pPr lvl="0"/>
            <a:r>
              <a:rPr lang="en-US" dirty="0"/>
              <a:t>First line of text</a:t>
            </a:r>
          </a:p>
          <a:p>
            <a:pPr lvl="1"/>
            <a:r>
              <a:rPr lang="en-US" dirty="0"/>
              <a:t>Subtitle</a:t>
            </a:r>
          </a:p>
          <a:p>
            <a:pPr lvl="2"/>
            <a:r>
              <a:rPr lang="en-US" dirty="0"/>
              <a:t>Sub-subtitle</a:t>
            </a:r>
          </a:p>
          <a:p>
            <a:pPr lvl="3"/>
            <a:r>
              <a:rPr lang="en-US" dirty="0"/>
              <a:t>Normally this should not be here</a:t>
            </a:r>
          </a:p>
          <a:p>
            <a:pPr lvl="4"/>
            <a:r>
              <a:rPr lang="en-US" dirty="0"/>
              <a:t>This level should not be used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3039F93-7DF2-60D6-16FF-CF97CC82260A}"/>
              </a:ext>
            </a:extLst>
          </p:cNvPr>
          <p:cNvSpPr/>
          <p:nvPr userDrawn="1"/>
        </p:nvSpPr>
        <p:spPr>
          <a:xfrm rot="2700000">
            <a:off x="11085905" y="380600"/>
            <a:ext cx="379300" cy="379294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CH" sz="1905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9CDF760-B7EB-2325-77A0-22D2F750C836}"/>
              </a:ext>
            </a:extLst>
          </p:cNvPr>
          <p:cNvSpPr/>
          <p:nvPr userDrawn="1"/>
        </p:nvSpPr>
        <p:spPr>
          <a:xfrm rot="2700000">
            <a:off x="11288321" y="229855"/>
            <a:ext cx="680796" cy="680785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CH" sz="1905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7EA5A80-7EE5-E82F-A70F-F148FEF3207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69708" y="149147"/>
            <a:ext cx="981397" cy="842200"/>
          </a:xfrm>
          <a:prstGeom prst="rect">
            <a:avLst/>
          </a:prstGeom>
          <a:ln w="66675">
            <a:noFill/>
          </a:ln>
        </p:spPr>
      </p:pic>
      <p:sp>
        <p:nvSpPr>
          <p:cNvPr id="15" name="Date Placeholder 12">
            <a:extLst>
              <a:ext uri="{FF2B5EF4-FFF2-40B4-BE49-F238E27FC236}">
                <a16:creationId xmlns:a16="http://schemas.microsoft.com/office/drawing/2014/main" id="{18D25101-8D3A-4FCE-AD45-EFF7381EEA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151021" y="6473766"/>
            <a:ext cx="6857709" cy="30676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376">
                <a:solidFill>
                  <a:schemeClr val="tx1"/>
                </a:solidFill>
                <a:latin typeface="+mn-lt"/>
                <a:ea typeface="Roboto Condensed Light" panose="02000000000000000000" pitchFamily="2" charset="0"/>
              </a:defRPr>
            </a:lvl1pPr>
          </a:lstStyle>
          <a:p>
            <a:fld id="{10CD0060-CF93-4A5C-B8B0-87FB8F1D783B}" type="datetime1">
              <a:rPr lang="zh-CN" altLang="en-US" smtClean="0"/>
              <a:t>2025/11/10</a:t>
            </a:fld>
            <a:endParaRPr lang="en-US" dirty="0"/>
          </a:p>
        </p:txBody>
      </p:sp>
      <p:sp>
        <p:nvSpPr>
          <p:cNvPr id="16" name="Slide Number Placeholder 13">
            <a:extLst>
              <a:ext uri="{FF2B5EF4-FFF2-40B4-BE49-F238E27FC236}">
                <a16:creationId xmlns:a16="http://schemas.microsoft.com/office/drawing/2014/main" id="{9FD5FD96-2F1C-A83C-31B3-F7A0C195B0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85676" y="6473766"/>
            <a:ext cx="598375" cy="308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376">
                <a:solidFill>
                  <a:schemeClr val="tx1"/>
                </a:solidFill>
                <a:latin typeface="+mn-lt"/>
                <a:ea typeface="Roboto Condensed Light" panose="02000000000000000000" pitchFamily="2" charset="0"/>
              </a:defRPr>
            </a:lvl1pPr>
          </a:lstStyle>
          <a:p>
            <a:fld id="{33867F2A-E750-44E7-A740-D3E09DF683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69038FDA-08BA-A66A-1241-36A63C59580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6504" y="6517136"/>
            <a:ext cx="1170551" cy="195094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C5D4EFA1-A84C-F8AD-9799-5ACEE8E43DC7}"/>
              </a:ext>
            </a:extLst>
          </p:cNvPr>
          <p:cNvGrpSpPr/>
          <p:nvPr userDrawn="1"/>
        </p:nvGrpSpPr>
        <p:grpSpPr>
          <a:xfrm>
            <a:off x="1624922" y="6474583"/>
            <a:ext cx="1418460" cy="306766"/>
            <a:chOff x="3645356" y="188193"/>
            <a:chExt cx="5677387" cy="1227805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7D51C634-BBE7-C8AC-9A88-CD89B5500A4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8"/>
            <a:srcRect l="25668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CA97D5C1-9506-E7FC-7C0D-931DA2D5FC0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8"/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59177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7" r:id="rId3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3810" b="0" i="0" kern="1200" spc="-106" baseline="0">
          <a:ln w="15875" cmpd="sng">
            <a:noFill/>
            <a:round/>
          </a:ln>
          <a:solidFill>
            <a:schemeClr val="accent3"/>
          </a:solidFill>
          <a:latin typeface="+mj-lt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304795" indent="-304795" algn="l" defTabSz="761976" rtl="0" eaLnBrk="1" latinLnBrk="0" hangingPunct="1">
        <a:lnSpc>
          <a:spcPct val="100000"/>
        </a:lnSpc>
        <a:spcBef>
          <a:spcPts val="1270"/>
        </a:spcBef>
        <a:buClr>
          <a:schemeClr val="tx1"/>
        </a:buClr>
        <a:buSzPct val="90000"/>
        <a:buFont typeface="Arial" panose="020B0604020202020204" pitchFamily="34" charset="0"/>
        <a:buChar char="•"/>
        <a:defRPr sz="2540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1pPr>
      <a:lvl2pPr marL="533383" indent="-228597" algn="l" defTabSz="761976" rtl="0" eaLnBrk="1" latinLnBrk="0" hangingPunct="1">
        <a:lnSpc>
          <a:spcPct val="100000"/>
        </a:lnSpc>
        <a:spcBef>
          <a:spcPts val="635"/>
        </a:spcBef>
        <a:buClr>
          <a:schemeClr val="tx1"/>
        </a:buClr>
        <a:buSzPct val="90000"/>
        <a:buFont typeface="Arial" panose="020B0604020202020204" pitchFamily="34" charset="0"/>
        <a:buChar char="•"/>
        <a:defRPr sz="2117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2pPr>
      <a:lvl3pPr marL="761976" indent="-228597" algn="l" defTabSz="914389" rtl="0" eaLnBrk="1" latinLnBrk="0" hangingPunct="1">
        <a:lnSpc>
          <a:spcPct val="100000"/>
        </a:lnSpc>
        <a:spcBef>
          <a:spcPts val="635"/>
        </a:spcBef>
        <a:buClr>
          <a:schemeClr val="tx1"/>
        </a:buClr>
        <a:buSzPct val="90000"/>
        <a:buFont typeface="Arial" panose="020B0604020202020204" pitchFamily="34" charset="0"/>
        <a:buChar char="•"/>
        <a:defRPr sz="1905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3pPr>
      <a:lvl4pPr marL="990569" indent="-228597" algn="l" defTabSz="914389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1270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4pPr>
      <a:lvl5pPr marL="1219162" indent="-228597" algn="l" defTabSz="914389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1164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0185C48-6306-5EC2-5833-798EE3FE2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9E03D6-4E0F-CD5B-65CE-58078E6C4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E9DEC7-9859-D450-EB07-C2E53DA9A9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FBC17-72B9-4EF5-8893-24FB2216744B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F4AC4B-B661-E2FC-4DB3-79722B5E7A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C9F46A-2F87-9023-31D2-586A58359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DD8BBF-345E-4024-ADB0-843CB582CC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0755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hizhang@iis.ee.ethz.ch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hyperlink" Target="mailto:tbenz@iis.ee.ethz.ch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>
            <a:spLocks noGrp="1"/>
          </p:cNvSpPr>
          <p:nvPr>
            <p:ph type="title"/>
          </p:nvPr>
        </p:nvSpPr>
        <p:spPr>
          <a:xfrm>
            <a:off x="381484" y="1723799"/>
            <a:ext cx="10957075" cy="737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800"/>
              <a:buFont typeface="Calibri"/>
              <a:buNone/>
            </a:pPr>
            <a:r>
              <a:rPr lang="en-US" dirty="0"/>
              <a:t>SoftHier Bi-Weekly Meeting</a:t>
            </a:r>
            <a:endParaRPr dirty="0"/>
          </a:p>
        </p:txBody>
      </p:sp>
      <p:sp>
        <p:nvSpPr>
          <p:cNvPr id="64" name="Google Shape;64;p1"/>
          <p:cNvSpPr txBox="1">
            <a:spLocks noGrp="1"/>
          </p:cNvSpPr>
          <p:nvPr>
            <p:ph type="body" idx="2"/>
          </p:nvPr>
        </p:nvSpPr>
        <p:spPr>
          <a:xfrm>
            <a:off x="381487" y="3441348"/>
            <a:ext cx="6095742" cy="2278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8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90"/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Chi Zhang</a:t>
            </a:r>
            <a:r>
              <a:rPr lang="en-US"/>
              <a:t>		</a:t>
            </a:r>
            <a:r>
              <a:rPr lang="en-US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chizhang@iis.ee.ethz.ch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SzPts val="1890"/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Thomas Benz</a:t>
            </a:r>
            <a:r>
              <a:rPr lang="en-US"/>
              <a:t>	 	</a:t>
            </a:r>
            <a:r>
              <a:rPr lang="en-US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tbenz@iis.ee.ethz.ch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SzPts val="1890"/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Luca Colagrande</a:t>
            </a:r>
            <a:r>
              <a:rPr lang="en-US"/>
              <a:t>	</a:t>
            </a:r>
            <a:r>
              <a:rPr lang="en-US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colluca@iis.ee.ethz.ch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SzPts val="1905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SzPts val="1905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29E31E05-EF31-6BC4-1F14-8E49AEF48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>
            <a:extLst>
              <a:ext uri="{FF2B5EF4-FFF2-40B4-BE49-F238E27FC236}">
                <a16:creationId xmlns:a16="http://schemas.microsoft.com/office/drawing/2014/main" id="{602A8F49-5639-813A-AD85-6CA3FEFF3948}"/>
              </a:ext>
            </a:extLst>
          </p:cNvPr>
          <p:cNvSpPr txBox="1"/>
          <p:nvPr/>
        </p:nvSpPr>
        <p:spPr>
          <a:xfrm>
            <a:off x="299070" y="170391"/>
            <a:ext cx="11638929" cy="62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accent3"/>
              </a:buClr>
              <a:buSzPts val="3600"/>
            </a:pPr>
            <a:r>
              <a:rPr lang="en-US" sz="3600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SoftHier Project Overview – PULP Side</a:t>
            </a:r>
            <a:endParaRPr sz="3600" b="0" i="0" u="none" strike="noStrike" cap="none" dirty="0">
              <a:solidFill>
                <a:srgbClr val="1686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22045B38-7C56-9DD5-AC0D-6283C0DE22F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0183" y="6583096"/>
            <a:ext cx="846138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95FB599-C818-B911-98ED-1A1CCECBB29E}"/>
              </a:ext>
            </a:extLst>
          </p:cNvPr>
          <p:cNvSpPr txBox="1">
            <a:spLocks/>
          </p:cNvSpPr>
          <p:nvPr/>
        </p:nvSpPr>
        <p:spPr>
          <a:xfrm>
            <a:off x="316499" y="576073"/>
            <a:ext cx="11621500" cy="6007024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>
            <a:lvl1pPr marL="304795" indent="-304795" algn="l" defTabSz="761976" rtl="0" eaLnBrk="1" latinLnBrk="0" hangingPunct="1">
              <a:lnSpc>
                <a:spcPct val="100000"/>
              </a:lnSpc>
              <a:spcBef>
                <a:spcPts val="1270"/>
              </a:spcBef>
              <a:buClrTx/>
              <a:buSzPct val="90000"/>
              <a:buFont typeface="Arial" panose="020B0604020202020204" pitchFamily="34" charset="0"/>
              <a:buChar char="•"/>
              <a:defRPr sz="254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533383" indent="-228597" algn="l" defTabSz="761976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2117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61976" indent="-228597" algn="l" defTabSz="914389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1905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990569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27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219162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164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514569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6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58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52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Year 2 work package</a:t>
            </a:r>
          </a:p>
          <a:p>
            <a:pPr lvl="1">
              <a:defRPr/>
            </a:pPr>
            <a:r>
              <a:rPr lang="en-US" altLang="zh-CN" sz="2012" dirty="0">
                <a:solidFill>
                  <a:srgbClr val="000000"/>
                </a:solidFill>
                <a:latin typeface="Calibri Light"/>
              </a:rPr>
              <a:t>Architectural Optimization and Tuning (</a:t>
            </a:r>
            <a:r>
              <a:rPr lang="en-US" altLang="zh-CN" sz="2012" b="1" dirty="0">
                <a:solidFill>
                  <a:srgbClr val="000000"/>
                </a:solidFill>
                <a:latin typeface="Calibri Light"/>
              </a:rPr>
              <a:t>WP1</a:t>
            </a:r>
            <a:r>
              <a:rPr lang="en-US" altLang="zh-CN" sz="2012" dirty="0">
                <a:solidFill>
                  <a:srgbClr val="000000"/>
                </a:solidFill>
                <a:latin typeface="Calibri Light"/>
              </a:rPr>
              <a:t>):</a:t>
            </a:r>
          </a:p>
          <a:p>
            <a:pPr lvl="2">
              <a:defRPr/>
            </a:pPr>
            <a:r>
              <a:rPr lang="en-GB" altLang="zh-CN" sz="1800" dirty="0">
                <a:solidFill>
                  <a:srgbClr val="000000"/>
                </a:solidFill>
                <a:latin typeface="Calibri Light"/>
              </a:rPr>
              <a:t>Based on the insight gathered in the first year of work, the data motion engines, the interconnect, and memory endpoints will be </a:t>
            </a:r>
            <a:r>
              <a:rPr lang="en-GB" altLang="zh-CN" sz="1800" b="1" i="1" dirty="0">
                <a:solidFill>
                  <a:srgbClr val="000000"/>
                </a:solidFill>
                <a:latin typeface="Calibri Light"/>
              </a:rPr>
              <a:t>tuned and optimized to facilitate program-ming and boost performance</a:t>
            </a:r>
            <a:r>
              <a:rPr lang="en-GB" altLang="zh-CN" sz="1800" dirty="0">
                <a:solidFill>
                  <a:srgbClr val="000000"/>
                </a:solidFill>
                <a:latin typeface="Calibri Light"/>
              </a:rPr>
              <a:t>. </a:t>
            </a:r>
            <a:r>
              <a:rPr lang="en-GB" altLang="zh-CN" sz="1800" b="1" i="1" dirty="0">
                <a:solidFill>
                  <a:srgbClr val="000000"/>
                </a:solidFill>
                <a:latin typeface="Calibri Light"/>
              </a:rPr>
              <a:t>Hardware costs of the enhancements</a:t>
            </a:r>
            <a:r>
              <a:rPr lang="en-GB" altLang="zh-CN" sz="1800" dirty="0">
                <a:solidFill>
                  <a:srgbClr val="000000"/>
                </a:solidFill>
                <a:latin typeface="Calibri Light"/>
              </a:rPr>
              <a:t> will be closely monitored to ensure that efficiency remains </a:t>
            </a:r>
            <a:r>
              <a:rPr lang="en-GB" altLang="zh-CN" sz="1800" b="1" i="1" dirty="0">
                <a:solidFill>
                  <a:srgbClr val="000000"/>
                </a:solidFill>
                <a:latin typeface="Calibri Light"/>
              </a:rPr>
              <a:t>highly competitive with cache-based tech-</a:t>
            </a:r>
            <a:r>
              <a:rPr lang="en-GB" altLang="zh-CN" sz="1800" b="1" i="1" dirty="0" err="1">
                <a:solidFill>
                  <a:srgbClr val="000000"/>
                </a:solidFill>
                <a:latin typeface="Calibri Light"/>
              </a:rPr>
              <a:t>niques</a:t>
            </a:r>
            <a:r>
              <a:rPr lang="en-GB" altLang="zh-CN" sz="1800" dirty="0">
                <a:solidFill>
                  <a:srgbClr val="000000"/>
                </a:solidFill>
                <a:latin typeface="Calibri Light"/>
              </a:rPr>
              <a:t>, both in terms of system performance and energy efficiency. A specific focus area will be in supporting data-transformations that do not require extensive </a:t>
            </a:r>
            <a:r>
              <a:rPr lang="en-GB" altLang="zh-CN" sz="1800" b="1" i="1" dirty="0">
                <a:solidFill>
                  <a:srgbClr val="000000"/>
                </a:solidFill>
                <a:latin typeface="Calibri Light"/>
              </a:rPr>
              <a:t>computation and can be done “on the fly” during communication</a:t>
            </a:r>
            <a:r>
              <a:rPr lang="en-GB" altLang="zh-CN" sz="1800" dirty="0">
                <a:solidFill>
                  <a:srgbClr val="000000"/>
                </a:solidFill>
                <a:latin typeface="Calibri Light"/>
              </a:rPr>
              <a:t>, aiming at reducing data vol-</a:t>
            </a:r>
            <a:r>
              <a:rPr lang="en-GB" altLang="zh-CN" sz="1800" dirty="0" err="1">
                <a:solidFill>
                  <a:srgbClr val="000000"/>
                </a:solidFill>
                <a:latin typeface="Calibri Light"/>
              </a:rPr>
              <a:t>ume</a:t>
            </a:r>
            <a:r>
              <a:rPr lang="en-GB" altLang="zh-CN" sz="1800" dirty="0">
                <a:solidFill>
                  <a:srgbClr val="000000"/>
                </a:solidFill>
                <a:latin typeface="Calibri Light"/>
              </a:rPr>
              <a:t> and improving bandwidth utilization. </a:t>
            </a:r>
            <a:endParaRPr lang="en-US" altLang="zh-CN" sz="1800" dirty="0">
              <a:solidFill>
                <a:srgbClr val="000000"/>
              </a:solidFill>
              <a:latin typeface="Calibri Light"/>
            </a:endParaRPr>
          </a:p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Milestones</a:t>
            </a:r>
          </a:p>
          <a:p>
            <a:pPr lvl="1">
              <a:defRPr/>
            </a:pPr>
            <a:r>
              <a:rPr lang="en-GB" altLang="zh-CN" sz="2012" dirty="0">
                <a:solidFill>
                  <a:srgbClr val="000000"/>
                </a:solidFill>
                <a:latin typeface="Calibri Light"/>
              </a:rPr>
              <a:t>Specification and preliminary modelling and analysis of optimized architecture (</a:t>
            </a:r>
            <a:r>
              <a:rPr lang="en-GB" altLang="zh-CN" sz="2012" b="1" dirty="0">
                <a:solidFill>
                  <a:srgbClr val="000000"/>
                </a:solidFill>
                <a:latin typeface="Calibri Light"/>
              </a:rPr>
              <a:t>M3-WP1</a:t>
            </a:r>
            <a:r>
              <a:rPr lang="en-GB" altLang="zh-CN" sz="2012" dirty="0">
                <a:solidFill>
                  <a:srgbClr val="000000"/>
                </a:solidFill>
                <a:latin typeface="Calibri Light"/>
              </a:rPr>
              <a:t>)</a:t>
            </a:r>
          </a:p>
          <a:p>
            <a:pPr lvl="2">
              <a:defRPr/>
            </a:pPr>
            <a:r>
              <a:rPr lang="en-GB" altLang="zh-CN" sz="1800" dirty="0">
                <a:solidFill>
                  <a:srgbClr val="000000"/>
                </a:solidFill>
                <a:latin typeface="Calibri Light"/>
              </a:rPr>
              <a:t>The </a:t>
            </a:r>
            <a:r>
              <a:rPr lang="en-GB" altLang="zh-CN" sz="1800" b="1" i="1" dirty="0">
                <a:solidFill>
                  <a:srgbClr val="000000"/>
                </a:solidFill>
                <a:latin typeface="Calibri Light"/>
              </a:rPr>
              <a:t>proposed hardware enhancements will be prototyped </a:t>
            </a:r>
            <a:r>
              <a:rPr lang="en-GB" altLang="zh-CN" sz="1800" dirty="0">
                <a:solidFill>
                  <a:srgbClr val="000000"/>
                </a:solidFill>
                <a:latin typeface="Calibri Light"/>
              </a:rPr>
              <a:t>and their </a:t>
            </a:r>
            <a:r>
              <a:rPr lang="en-GB" altLang="zh-CN" sz="1800" b="1" i="1" dirty="0">
                <a:solidFill>
                  <a:srgbClr val="000000"/>
                </a:solidFill>
                <a:latin typeface="Calibri Light"/>
              </a:rPr>
              <a:t>cost performance benefits will be assessed </a:t>
            </a:r>
            <a:r>
              <a:rPr lang="en-GB" altLang="zh-CN" sz="1800" dirty="0">
                <a:solidFill>
                  <a:srgbClr val="000000"/>
                </a:solidFill>
                <a:latin typeface="Calibri Light"/>
              </a:rPr>
              <a:t>with microkernels. (Report)</a:t>
            </a:r>
          </a:p>
          <a:p>
            <a:pPr lvl="1">
              <a:defRPr/>
            </a:pPr>
            <a:r>
              <a:rPr lang="en-GB" altLang="zh-CN" sz="2012" dirty="0">
                <a:solidFill>
                  <a:srgbClr val="000000"/>
                </a:solidFill>
                <a:latin typeface="Calibri Light"/>
              </a:rPr>
              <a:t>Performance and Energy estimation and benchmarking (</a:t>
            </a:r>
            <a:r>
              <a:rPr lang="en-GB" altLang="zh-CN" sz="2012" b="1" dirty="0">
                <a:solidFill>
                  <a:srgbClr val="000000"/>
                </a:solidFill>
                <a:latin typeface="Calibri Light"/>
              </a:rPr>
              <a:t>M4-WP1-WP2</a:t>
            </a:r>
            <a:r>
              <a:rPr lang="en-GB" altLang="zh-CN" sz="2012" dirty="0">
                <a:solidFill>
                  <a:srgbClr val="000000"/>
                </a:solidFill>
                <a:latin typeface="Calibri Light"/>
              </a:rPr>
              <a:t>)</a:t>
            </a:r>
          </a:p>
          <a:p>
            <a:pPr lvl="2">
              <a:defRPr/>
            </a:pPr>
            <a:r>
              <a:rPr lang="en-GB" altLang="zh-CN" sz="1800" b="1" i="1" dirty="0">
                <a:solidFill>
                  <a:srgbClr val="000000"/>
                </a:solidFill>
                <a:latin typeface="Calibri Light"/>
              </a:rPr>
              <a:t>Benchmarking report on hardware-software integration between the two WPs</a:t>
            </a:r>
            <a:r>
              <a:rPr lang="en-GB" altLang="zh-CN" sz="1800" dirty="0">
                <a:solidFill>
                  <a:srgbClr val="000000"/>
                </a:solidFill>
                <a:latin typeface="Calibri Light"/>
              </a:rPr>
              <a:t>, demon-</a:t>
            </a:r>
            <a:r>
              <a:rPr lang="en-GB" altLang="zh-CN" sz="1800" dirty="0" err="1">
                <a:solidFill>
                  <a:srgbClr val="000000"/>
                </a:solidFill>
                <a:latin typeface="Calibri Light"/>
              </a:rPr>
              <a:t>strating</a:t>
            </a:r>
            <a:r>
              <a:rPr lang="en-GB" altLang="zh-CN" sz="1800" dirty="0">
                <a:solidFill>
                  <a:srgbClr val="000000"/>
                </a:solidFill>
                <a:latin typeface="Calibri Light"/>
              </a:rPr>
              <a:t> targeted transformations to optimize and streamline performance for CLOUDSC cloud microphysics scheme and the LULESH hydrodynamics solver as well as ML applications. </a:t>
            </a:r>
            <a:r>
              <a:rPr lang="en-GB" altLang="zh-CN" sz="1800" b="1" i="1" dirty="0">
                <a:solidFill>
                  <a:srgbClr val="000000"/>
                </a:solidFill>
                <a:latin typeface="Calibri Light"/>
              </a:rPr>
              <a:t>Detailed performance study</a:t>
            </a:r>
            <a:r>
              <a:rPr lang="en-GB" altLang="zh-CN" sz="1800" dirty="0">
                <a:solidFill>
                  <a:srgbClr val="000000"/>
                </a:solidFill>
                <a:latin typeface="Calibri Light"/>
              </a:rPr>
              <a:t> with different application </a:t>
            </a:r>
            <a:r>
              <a:rPr lang="en-GB" altLang="zh-CN" sz="1800" dirty="0" err="1">
                <a:solidFill>
                  <a:srgbClr val="000000"/>
                </a:solidFill>
                <a:latin typeface="Calibri Light"/>
              </a:rPr>
              <a:t>configu</a:t>
            </a:r>
            <a:r>
              <a:rPr lang="en-GB" altLang="zh-CN" sz="1800" dirty="0">
                <a:solidFill>
                  <a:srgbClr val="000000"/>
                </a:solidFill>
                <a:latin typeface="Calibri Light"/>
              </a:rPr>
              <a:t>-rations and comparing various workflow options. For Ascend, we will aim at mapping </a:t>
            </a:r>
            <a:r>
              <a:rPr lang="en-GB" altLang="zh-CN" sz="1800" b="1" i="1" dirty="0" err="1">
                <a:solidFill>
                  <a:srgbClr val="000000"/>
                </a:solidFill>
                <a:latin typeface="Calibri Light"/>
              </a:rPr>
              <a:t>DeepLearning</a:t>
            </a:r>
            <a:r>
              <a:rPr lang="en-GB" altLang="zh-CN" sz="1800" b="1" i="1" dirty="0">
                <a:solidFill>
                  <a:srgbClr val="000000"/>
                </a:solidFill>
                <a:latin typeface="Calibri Light"/>
              </a:rPr>
              <a:t> kernels such as Transformer Decoders</a:t>
            </a:r>
            <a:r>
              <a:rPr lang="en-GB" altLang="zh-CN" sz="1800" dirty="0">
                <a:solidFill>
                  <a:srgbClr val="000000"/>
                </a:solidFill>
                <a:latin typeface="Calibri Light"/>
              </a:rPr>
              <a:t>. (Report &amp; Open-source release)</a:t>
            </a:r>
          </a:p>
          <a:p>
            <a:pPr lvl="2">
              <a:defRPr/>
            </a:pPr>
            <a:endParaRPr lang="en-US" altLang="zh-CN" sz="1800" dirty="0">
              <a:solidFill>
                <a:srgbClr val="000000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347662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E53CE79B-9F59-B9C3-781E-929BBF27D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>
            <a:extLst>
              <a:ext uri="{FF2B5EF4-FFF2-40B4-BE49-F238E27FC236}">
                <a16:creationId xmlns:a16="http://schemas.microsoft.com/office/drawing/2014/main" id="{D8E7FB41-897A-D8B6-95F3-A966A3D8770E}"/>
              </a:ext>
            </a:extLst>
          </p:cNvPr>
          <p:cNvSpPr txBox="1"/>
          <p:nvPr/>
        </p:nvSpPr>
        <p:spPr>
          <a:xfrm>
            <a:off x="299070" y="170391"/>
            <a:ext cx="11638929" cy="62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accent3"/>
              </a:buClr>
              <a:buSzPts val="3600"/>
            </a:pPr>
            <a:r>
              <a:rPr lang="en-US" sz="3600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SoftHier Project Overview – PULP Side</a:t>
            </a:r>
            <a:endParaRPr sz="3600" b="0" i="0" u="none" strike="noStrike" cap="none" dirty="0">
              <a:solidFill>
                <a:srgbClr val="1686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67B184C4-A562-3FFA-9E58-06E283168BF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0183" y="6583096"/>
            <a:ext cx="846138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C38E05B-6263-778A-EB1E-DDB07487188B}"/>
              </a:ext>
            </a:extLst>
          </p:cNvPr>
          <p:cNvSpPr txBox="1">
            <a:spLocks/>
          </p:cNvSpPr>
          <p:nvPr/>
        </p:nvSpPr>
        <p:spPr>
          <a:xfrm>
            <a:off x="316499" y="722375"/>
            <a:ext cx="9732757" cy="3429001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>
            <a:lvl1pPr marL="304795" indent="-304795" algn="l" defTabSz="761976" rtl="0" eaLnBrk="1" latinLnBrk="0" hangingPunct="1">
              <a:lnSpc>
                <a:spcPct val="100000"/>
              </a:lnSpc>
              <a:spcBef>
                <a:spcPts val="1270"/>
              </a:spcBef>
              <a:buClrTx/>
              <a:buSzPct val="90000"/>
              <a:buFont typeface="Arial" panose="020B0604020202020204" pitchFamily="34" charset="0"/>
              <a:buChar char="•"/>
              <a:defRPr sz="254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533383" indent="-228597" algn="l" defTabSz="761976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2117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61976" indent="-228597" algn="l" defTabSz="914389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1905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990569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27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219162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164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514569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6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58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52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For the 2</a:t>
            </a:r>
            <a:r>
              <a:rPr lang="en-US" altLang="zh-CN" sz="2435" baseline="30000" dirty="0">
                <a:solidFill>
                  <a:srgbClr val="000000"/>
                </a:solidFill>
                <a:latin typeface="Calibri Light"/>
              </a:rPr>
              <a:t>nd</a:t>
            </a: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 Year, We have done</a:t>
            </a:r>
          </a:p>
          <a:p>
            <a:pPr lvl="1">
              <a:defRPr/>
            </a:pPr>
            <a:r>
              <a:rPr lang="en-US" altLang="zh-CN" sz="2012" dirty="0">
                <a:solidFill>
                  <a:srgbClr val="000000"/>
                </a:solidFill>
                <a:latin typeface="Calibri Light"/>
              </a:rPr>
              <a:t>Proposed Architectural Optimization (</a:t>
            </a:r>
            <a:r>
              <a:rPr lang="en-GB" altLang="zh-CN" sz="2012" b="1" dirty="0">
                <a:solidFill>
                  <a:srgbClr val="000000"/>
                </a:solidFill>
                <a:latin typeface="Calibri Light"/>
              </a:rPr>
              <a:t>M3-WP1</a:t>
            </a:r>
            <a:r>
              <a:rPr lang="en-US" altLang="zh-CN" sz="2012" dirty="0">
                <a:solidFill>
                  <a:srgbClr val="000000"/>
                </a:solidFill>
                <a:latin typeface="Calibri Light"/>
              </a:rPr>
              <a:t>):</a:t>
            </a:r>
          </a:p>
          <a:p>
            <a:pPr lvl="2">
              <a:defRPr/>
            </a:pPr>
            <a:r>
              <a:rPr lang="en-US" altLang="zh-CN" sz="1800" dirty="0">
                <a:solidFill>
                  <a:srgbClr val="000000"/>
                </a:solidFill>
                <a:latin typeface="Calibri Light"/>
              </a:rPr>
              <a:t>Lightweight high-throughput collective capable NoC</a:t>
            </a:r>
          </a:p>
          <a:p>
            <a:pPr lvl="2">
              <a:defRPr/>
            </a:pPr>
            <a:r>
              <a:rPr lang="en-US" altLang="zh-CN" sz="1800" dirty="0">
                <a:solidFill>
                  <a:srgbClr val="000000"/>
                </a:solidFill>
                <a:latin typeface="Calibri Light"/>
              </a:rPr>
              <a:t>RTL prototyping</a:t>
            </a:r>
          </a:p>
          <a:p>
            <a:pPr lvl="1">
              <a:defRPr/>
            </a:pPr>
            <a:r>
              <a:rPr lang="en-US" altLang="zh-CN" sz="2012" dirty="0">
                <a:solidFill>
                  <a:srgbClr val="000000"/>
                </a:solidFill>
                <a:latin typeface="Calibri Light"/>
              </a:rPr>
              <a:t>Dataflow and NoC collective primitives co-design for key LLM kernels (</a:t>
            </a:r>
            <a:r>
              <a:rPr lang="en-GB" altLang="zh-CN" sz="2012" b="1" dirty="0">
                <a:solidFill>
                  <a:srgbClr val="000000"/>
                </a:solidFill>
                <a:latin typeface="Calibri Light"/>
              </a:rPr>
              <a:t>M4-WP1-WP2</a:t>
            </a:r>
            <a:r>
              <a:rPr lang="en-US" altLang="zh-CN" sz="2012" dirty="0">
                <a:solidFill>
                  <a:srgbClr val="000000"/>
                </a:solidFill>
                <a:latin typeface="Calibri Light"/>
              </a:rPr>
              <a:t>)</a:t>
            </a:r>
          </a:p>
          <a:p>
            <a:pPr lvl="2">
              <a:defRPr/>
            </a:pPr>
            <a:r>
              <a:rPr lang="en-US" altLang="zh-CN" sz="1800" dirty="0">
                <a:solidFill>
                  <a:srgbClr val="000000"/>
                </a:solidFill>
                <a:latin typeface="Calibri Light"/>
              </a:rPr>
              <a:t>FlatAttention for MHA and variants for GQA, MQA, DeepSeek MLA</a:t>
            </a:r>
          </a:p>
          <a:p>
            <a:pPr lvl="2">
              <a:defRPr/>
            </a:pPr>
            <a:r>
              <a:rPr lang="en-US" altLang="zh-CN" sz="1800" dirty="0">
                <a:solidFill>
                  <a:srgbClr val="000000"/>
                </a:solidFill>
                <a:latin typeface="Calibri Light"/>
              </a:rPr>
              <a:t>Summa GEMM variants with NoC collective primitives</a:t>
            </a:r>
          </a:p>
          <a:p>
            <a:pPr lvl="1">
              <a:defRPr/>
            </a:pPr>
            <a:r>
              <a:rPr lang="en-US" altLang="zh-CN" sz="2012" dirty="0">
                <a:solidFill>
                  <a:srgbClr val="000000"/>
                </a:solidFill>
                <a:latin typeface="Calibri Light"/>
              </a:rPr>
              <a:t>End-to-End Performance analysis for DeepSeekV3 inference (</a:t>
            </a:r>
            <a:r>
              <a:rPr lang="en-GB" altLang="zh-CN" sz="2012" b="1" dirty="0">
                <a:solidFill>
                  <a:srgbClr val="000000"/>
                </a:solidFill>
                <a:latin typeface="Calibri Light"/>
              </a:rPr>
              <a:t>M4-WP1-WP2</a:t>
            </a:r>
            <a:r>
              <a:rPr lang="en-US" altLang="zh-CN" sz="2012" dirty="0">
                <a:solidFill>
                  <a:srgbClr val="000000"/>
                </a:solidFill>
                <a:latin typeface="Calibri Light"/>
              </a:rPr>
              <a:t>)</a:t>
            </a:r>
          </a:p>
          <a:p>
            <a:pPr lvl="2">
              <a:defRPr/>
            </a:pPr>
            <a:endParaRPr lang="en-US" altLang="zh-CN" sz="1800" dirty="0">
              <a:solidFill>
                <a:srgbClr val="000000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885597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B105B0F5-E069-A2AA-A31E-3F9ED24A7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>
            <a:extLst>
              <a:ext uri="{FF2B5EF4-FFF2-40B4-BE49-F238E27FC236}">
                <a16:creationId xmlns:a16="http://schemas.microsoft.com/office/drawing/2014/main" id="{22E077D6-2549-974C-0EC3-CE29075434D9}"/>
              </a:ext>
            </a:extLst>
          </p:cNvPr>
          <p:cNvSpPr txBox="1"/>
          <p:nvPr/>
        </p:nvSpPr>
        <p:spPr>
          <a:xfrm>
            <a:off x="299070" y="170391"/>
            <a:ext cx="10829178" cy="62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accent3"/>
              </a:buClr>
              <a:buSzPts val="3600"/>
            </a:pPr>
            <a:r>
              <a:rPr lang="en-GB" sz="3600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Lightweight high-throughput collective capable NoC</a:t>
            </a:r>
            <a:endParaRPr sz="3600" b="0" i="0" u="none" strike="noStrike" cap="none" dirty="0">
              <a:solidFill>
                <a:srgbClr val="1686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931189B0-6279-8225-430D-CBC3FF5E03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0183" y="6583096"/>
            <a:ext cx="846138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382D3BC-28F7-8B3F-B6EB-48191BA10FDB}"/>
              </a:ext>
            </a:extLst>
          </p:cNvPr>
          <p:cNvSpPr txBox="1">
            <a:spLocks/>
          </p:cNvSpPr>
          <p:nvPr/>
        </p:nvSpPr>
        <p:spPr>
          <a:xfrm>
            <a:off x="316499" y="685801"/>
            <a:ext cx="5779501" cy="1883663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>
            <a:lvl1pPr marL="304795" indent="-304795" algn="l" defTabSz="761976" rtl="0" eaLnBrk="1" latinLnBrk="0" hangingPunct="1">
              <a:lnSpc>
                <a:spcPct val="100000"/>
              </a:lnSpc>
              <a:spcBef>
                <a:spcPts val="1270"/>
              </a:spcBef>
              <a:buClrTx/>
              <a:buSzPct val="90000"/>
              <a:buFont typeface="Arial" panose="020B0604020202020204" pitchFamily="34" charset="0"/>
              <a:buChar char="•"/>
              <a:defRPr sz="254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533383" indent="-228597" algn="l" defTabSz="761976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2117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61976" indent="-228597" algn="l" defTabSz="914389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1905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990569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27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219162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164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514569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6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58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52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RTL Extension on NoC</a:t>
            </a:r>
          </a:p>
          <a:p>
            <a:pPr lvl="1">
              <a:defRPr/>
            </a:pPr>
            <a:r>
              <a:rPr lang="en-US" altLang="zh-CN" sz="1589" dirty="0">
                <a:solidFill>
                  <a:srgbClr val="000000"/>
                </a:solidFill>
                <a:latin typeface="Calibri Light"/>
              </a:rPr>
              <a:t>Leverage FPUs in snitch cores for reduction operations</a:t>
            </a:r>
          </a:p>
        </p:txBody>
      </p:sp>
      <p:pic>
        <p:nvPicPr>
          <p:cNvPr id="4" name="图片 5" descr="日历&#10;&#10;AI 生成的内容可能不正确。">
            <a:extLst>
              <a:ext uri="{FF2B5EF4-FFF2-40B4-BE49-F238E27FC236}">
                <a16:creationId xmlns:a16="http://schemas.microsoft.com/office/drawing/2014/main" id="{8BAD9016-9406-79F2-46F8-179F07203A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59" r="17979"/>
          <a:stretch/>
        </p:blipFill>
        <p:spPr>
          <a:xfrm>
            <a:off x="7356162" y="1452446"/>
            <a:ext cx="4662662" cy="4835353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0B012A3F-F9F2-1109-C702-2852E2B065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" r="48550" b="58614"/>
          <a:stretch>
            <a:fillRect/>
          </a:stretch>
        </p:blipFill>
        <p:spPr>
          <a:xfrm>
            <a:off x="507130" y="1452446"/>
            <a:ext cx="5843685" cy="2561355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C928A2FF-98ED-B889-FFF0-F2C6699D60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4358" r="75661" b="4302"/>
          <a:stretch>
            <a:fillRect/>
          </a:stretch>
        </p:blipFill>
        <p:spPr>
          <a:xfrm>
            <a:off x="571314" y="4206240"/>
            <a:ext cx="2291194" cy="2633472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2F740B4E-D129-75B1-AF23-D20E7C94D5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405" t="36077" r="1579" b="4301"/>
          <a:stretch>
            <a:fillRect/>
          </a:stretch>
        </p:blipFill>
        <p:spPr>
          <a:xfrm>
            <a:off x="2862508" y="4159900"/>
            <a:ext cx="3795713" cy="2679812"/>
          </a:xfrm>
          <a:prstGeom prst="rect">
            <a:avLst/>
          </a:prstGeom>
        </p:spPr>
      </p:pic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EE800E53-4151-7BDE-88D0-F74214BC3B8A}"/>
              </a:ext>
            </a:extLst>
          </p:cNvPr>
          <p:cNvCxnSpPr/>
          <p:nvPr/>
        </p:nvCxnSpPr>
        <p:spPr>
          <a:xfrm flipH="1">
            <a:off x="2221992" y="3081528"/>
            <a:ext cx="1728216" cy="13167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C77610D9-0463-155D-7B3B-04F051B20ED2}"/>
              </a:ext>
            </a:extLst>
          </p:cNvPr>
          <p:cNvCxnSpPr/>
          <p:nvPr/>
        </p:nvCxnSpPr>
        <p:spPr>
          <a:xfrm>
            <a:off x="5980176" y="3611880"/>
            <a:ext cx="0" cy="7955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4764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302287D6-28BD-FDD3-AAC2-467C598C0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>
            <a:extLst>
              <a:ext uri="{FF2B5EF4-FFF2-40B4-BE49-F238E27FC236}">
                <a16:creationId xmlns:a16="http://schemas.microsoft.com/office/drawing/2014/main" id="{20146B8E-016A-EE4D-015E-B4A5CC12CA60}"/>
              </a:ext>
            </a:extLst>
          </p:cNvPr>
          <p:cNvSpPr txBox="1"/>
          <p:nvPr/>
        </p:nvSpPr>
        <p:spPr>
          <a:xfrm>
            <a:off x="299070" y="170391"/>
            <a:ext cx="10829178" cy="62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accent3"/>
              </a:buClr>
              <a:buSzPts val="3600"/>
            </a:pPr>
            <a:r>
              <a:rPr lang="en-GB" sz="3600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Lightweight high-throughput collective capable NoC</a:t>
            </a:r>
            <a:endParaRPr sz="3600" b="0" i="0" u="none" strike="noStrike" cap="none" dirty="0">
              <a:solidFill>
                <a:srgbClr val="1686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5987DDCB-CB2C-0904-D81E-4E8BB90EB9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0183" y="6583096"/>
            <a:ext cx="846138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DE9C61B-292A-6D1F-1A79-7736ABCBA11B}"/>
              </a:ext>
            </a:extLst>
          </p:cNvPr>
          <p:cNvSpPr txBox="1">
            <a:spLocks/>
          </p:cNvSpPr>
          <p:nvPr/>
        </p:nvSpPr>
        <p:spPr>
          <a:xfrm>
            <a:off x="316499" y="685801"/>
            <a:ext cx="7986253" cy="1883663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>
            <a:lvl1pPr marL="304795" indent="-304795" algn="l" defTabSz="761976" rtl="0" eaLnBrk="1" latinLnBrk="0" hangingPunct="1">
              <a:lnSpc>
                <a:spcPct val="100000"/>
              </a:lnSpc>
              <a:spcBef>
                <a:spcPts val="1270"/>
              </a:spcBef>
              <a:buClrTx/>
              <a:buSzPct val="90000"/>
              <a:buFont typeface="Arial" panose="020B0604020202020204" pitchFamily="34" charset="0"/>
              <a:buChar char="•"/>
              <a:defRPr sz="254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533383" indent="-228597" algn="l" defTabSz="761976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2117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61976" indent="-228597" algn="l" defTabSz="914389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1905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990569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27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219162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164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514569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6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58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52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Model in GVSoC for SoftHier</a:t>
            </a:r>
          </a:p>
          <a:p>
            <a:pPr lvl="1">
              <a:defRPr/>
            </a:pPr>
            <a:r>
              <a:rPr lang="en-US" altLang="zh-CN" sz="2012" dirty="0">
                <a:solidFill>
                  <a:srgbClr val="000000"/>
                </a:solidFill>
                <a:latin typeface="Calibri Light"/>
              </a:rPr>
              <a:t>Calibration with RTL, </a:t>
            </a:r>
            <a:r>
              <a:rPr lang="en-GB" altLang="zh-CN" sz="2012" dirty="0">
                <a:solidFill>
                  <a:srgbClr val="000000"/>
                </a:solidFill>
                <a:latin typeface="Calibri Light"/>
              </a:rPr>
              <a:t>Average Runtime cycle deviation is around 16%</a:t>
            </a:r>
            <a:endParaRPr lang="en-US" altLang="zh-CN" sz="2012" dirty="0">
              <a:solidFill>
                <a:srgbClr val="000000"/>
              </a:solidFill>
              <a:latin typeface="Calibri Light"/>
            </a:endParaRPr>
          </a:p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RTL Area analysis</a:t>
            </a:r>
          </a:p>
          <a:p>
            <a:pPr lvl="1">
              <a:defRPr/>
            </a:pPr>
            <a:r>
              <a:rPr lang="en-US" altLang="zh-CN" sz="2010" dirty="0">
                <a:solidFill>
                  <a:srgbClr val="000000"/>
                </a:solidFill>
                <a:latin typeface="Calibri Light"/>
              </a:rPr>
              <a:t>Multicast adds 5.8% area overhead on each router</a:t>
            </a:r>
          </a:p>
          <a:p>
            <a:pPr lvl="1">
              <a:defRPr/>
            </a:pPr>
            <a:r>
              <a:rPr lang="en-US" altLang="zh-CN" sz="2010" dirty="0">
                <a:solidFill>
                  <a:srgbClr val="000000"/>
                </a:solidFill>
                <a:latin typeface="Calibri Light"/>
              </a:rPr>
              <a:t>Full Multicast </a:t>
            </a:r>
            <a:r>
              <a:rPr lang="en-GB" altLang="zh-CN" sz="2010" dirty="0">
                <a:solidFill>
                  <a:srgbClr val="000000"/>
                </a:solidFill>
                <a:latin typeface="Calibri Light"/>
              </a:rPr>
              <a:t>+ Reduction adds</a:t>
            </a:r>
            <a:r>
              <a:rPr lang="en-US" altLang="zh-CN" sz="2010" dirty="0">
                <a:solidFill>
                  <a:srgbClr val="000000"/>
                </a:solidFill>
                <a:latin typeface="Calibri Light"/>
              </a:rPr>
              <a:t> 16.9% area overhead on each router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B107CD34-F388-4486-E110-0F15BFA3DF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5408157"/>
              </p:ext>
            </p:extLst>
          </p:nvPr>
        </p:nvGraphicFramePr>
        <p:xfrm>
          <a:off x="316499" y="2972062"/>
          <a:ext cx="4991100" cy="36110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B2A07AE-D535-050D-772B-7F2A1D7C1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4136" y="3328416"/>
            <a:ext cx="4495276" cy="3416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553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E5E2927F-CEA5-8D02-59FA-AF5F92DD0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>
            <a:extLst>
              <a:ext uri="{FF2B5EF4-FFF2-40B4-BE49-F238E27FC236}">
                <a16:creationId xmlns:a16="http://schemas.microsoft.com/office/drawing/2014/main" id="{94CAB6D1-97EA-8309-8789-C05D57AF6CAF}"/>
              </a:ext>
            </a:extLst>
          </p:cNvPr>
          <p:cNvSpPr txBox="1"/>
          <p:nvPr/>
        </p:nvSpPr>
        <p:spPr>
          <a:xfrm>
            <a:off x="299070" y="170391"/>
            <a:ext cx="10829178" cy="62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accent3"/>
              </a:buClr>
              <a:buSzPts val="3600"/>
            </a:pPr>
            <a:r>
              <a:rPr lang="en-GB" sz="3600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Dataflow and NoC Collective Primitives Co-Design</a:t>
            </a:r>
            <a:endParaRPr sz="3600" b="0" i="0" u="none" strike="noStrike" cap="none" dirty="0">
              <a:solidFill>
                <a:srgbClr val="1686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E165E9FB-D60F-D7E5-D551-90885C7324C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0183" y="6583096"/>
            <a:ext cx="846138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48FD4DC-1E19-C0F9-4EE7-06EDDCA0D721}"/>
              </a:ext>
            </a:extLst>
          </p:cNvPr>
          <p:cNvSpPr txBox="1">
            <a:spLocks/>
          </p:cNvSpPr>
          <p:nvPr/>
        </p:nvSpPr>
        <p:spPr>
          <a:xfrm>
            <a:off x="316501" y="671495"/>
            <a:ext cx="7751120" cy="4916505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>
            <a:lvl1pPr marL="304795" indent="-304795" algn="l" defTabSz="761976" rtl="0" eaLnBrk="1" latinLnBrk="0" hangingPunct="1">
              <a:lnSpc>
                <a:spcPct val="100000"/>
              </a:lnSpc>
              <a:spcBef>
                <a:spcPts val="1270"/>
              </a:spcBef>
              <a:buClrTx/>
              <a:buSzPct val="90000"/>
              <a:buFont typeface="Arial" panose="020B0604020202020204" pitchFamily="34" charset="0"/>
              <a:buChar char="•"/>
              <a:defRPr sz="254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533383" indent="-228597" algn="l" defTabSz="761976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2117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61976" indent="-228597" algn="l" defTabSz="914389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1905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990569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27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219162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164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514569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6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58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52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latin typeface="Calibri Light"/>
              </a:rPr>
              <a:t> We propose </a:t>
            </a:r>
            <a:r>
              <a:rPr lang="en-US" altLang="zh-CN" sz="2400" b="1" dirty="0">
                <a:solidFill>
                  <a:srgbClr val="000000"/>
                </a:solidFill>
                <a:latin typeface="Calibri Light"/>
              </a:rPr>
              <a:t>FlatAttention</a:t>
            </a:r>
            <a:endParaRPr lang="en-US" altLang="zh-CN" sz="2400" dirty="0">
              <a:solidFill>
                <a:srgbClr val="000000"/>
              </a:solidFill>
              <a:latin typeface="Calibri Light"/>
            </a:endParaRPr>
          </a:p>
          <a:p>
            <a:pPr lvl="1" indent="-304795">
              <a:spcBef>
                <a:spcPts val="1270"/>
              </a:spcBef>
              <a:defRPr/>
            </a:pPr>
            <a:r>
              <a:rPr lang="en-US" altLang="zh-CN" sz="1977" dirty="0">
                <a:solidFill>
                  <a:srgbClr val="000000"/>
                </a:solidFill>
                <a:latin typeface="Calibri Light"/>
              </a:rPr>
              <a:t>An optimized </a:t>
            </a:r>
            <a:r>
              <a:rPr lang="en-US" altLang="zh-CN" sz="1977" b="1" dirty="0">
                <a:solidFill>
                  <a:srgbClr val="168638"/>
                </a:solidFill>
                <a:latin typeface="Calibri Light"/>
              </a:rPr>
              <a:t>dataflow for MHA on tile-based many-PE accelerators</a:t>
            </a:r>
          </a:p>
          <a:p>
            <a:pPr lvl="2" indent="-304795">
              <a:spcBef>
                <a:spcPts val="1270"/>
              </a:spcBef>
              <a:defRPr/>
            </a:pPr>
            <a:r>
              <a:rPr lang="en-US" altLang="zh-CN" sz="1765" dirty="0">
                <a:solidFill>
                  <a:srgbClr val="000000"/>
                </a:solidFill>
                <a:latin typeface="Calibri Light"/>
              </a:rPr>
              <a:t>Co-designed with </a:t>
            </a:r>
            <a:r>
              <a:rPr lang="en-US" altLang="zh-CN" sz="1765" b="1" dirty="0">
                <a:solidFill>
                  <a:srgbClr val="168638"/>
                </a:solidFill>
                <a:latin typeface="Calibri Light"/>
              </a:rPr>
              <a:t>NoC collective primitives</a:t>
            </a:r>
          </a:p>
          <a:p>
            <a:pPr lvl="1" indent="-304795">
              <a:spcBef>
                <a:spcPts val="1270"/>
              </a:spcBef>
              <a:defRPr/>
            </a:pPr>
            <a:r>
              <a:rPr lang="en-US" altLang="zh-CN" sz="1977" dirty="0">
                <a:solidFill>
                  <a:srgbClr val="000000"/>
                </a:solidFill>
                <a:latin typeface="Calibri Light"/>
              </a:rPr>
              <a:t>FlatAttention vs. FlashAttention-3 on tile-based  accelerator</a:t>
            </a:r>
          </a:p>
          <a:p>
            <a:pPr lvl="2" indent="-304795">
              <a:spcBef>
                <a:spcPts val="1270"/>
              </a:spcBef>
              <a:defRPr/>
            </a:pPr>
            <a:r>
              <a:rPr lang="en-US" altLang="zh-CN" sz="1600" dirty="0">
                <a:solidFill>
                  <a:srgbClr val="000000"/>
                </a:solidFill>
                <a:latin typeface="Calibri Light"/>
              </a:rPr>
              <a:t>Up to </a:t>
            </a:r>
            <a:r>
              <a:rPr lang="en-US" altLang="zh-CN" sz="1600" b="1" dirty="0">
                <a:solidFill>
                  <a:srgbClr val="168638"/>
                </a:solidFill>
                <a:latin typeface="Calibri Light"/>
              </a:rPr>
              <a:t>89.3% utilization, 4.1× performance speedup, 16x HBM traffic reduction</a:t>
            </a:r>
          </a:p>
          <a:p>
            <a:pPr lvl="1" indent="-304795">
              <a:spcBef>
                <a:spcPts val="1270"/>
              </a:spcBef>
              <a:defRPr/>
            </a:pPr>
            <a:r>
              <a:rPr lang="en-US" altLang="zh-CN" sz="1977" dirty="0">
                <a:solidFill>
                  <a:srgbClr val="000000"/>
                </a:solidFill>
                <a:latin typeface="Calibri Light"/>
              </a:rPr>
              <a:t>vs. FlashAttention-3 on H100</a:t>
            </a:r>
          </a:p>
          <a:p>
            <a:pPr lvl="2" indent="-304795">
              <a:spcBef>
                <a:spcPts val="1270"/>
              </a:spcBef>
              <a:defRPr/>
            </a:pPr>
            <a:r>
              <a:rPr lang="en-GB" altLang="zh-CN" sz="1600" dirty="0">
                <a:latin typeface="Calibri Light"/>
              </a:rPr>
              <a:t>Up to 1.3× utilization speedup in MHA , Require 40% less available HBM BW to H100</a:t>
            </a:r>
            <a:endParaRPr lang="en-US" altLang="zh-CN" sz="1600" dirty="0">
              <a:latin typeface="Calibri Light"/>
            </a:endParaRPr>
          </a:p>
          <a:p>
            <a:pPr lvl="1" indent="-304795">
              <a:spcBef>
                <a:spcPts val="1270"/>
              </a:spcBef>
              <a:defRPr/>
            </a:pPr>
            <a:r>
              <a:rPr lang="en-US" altLang="zh-CN" sz="1980" b="1" dirty="0">
                <a:solidFill>
                  <a:srgbClr val="168638"/>
                </a:solidFill>
                <a:latin typeface="Calibri Light"/>
              </a:rPr>
              <a:t>The key idea of FlatAttention is general for other MHA variants</a:t>
            </a:r>
          </a:p>
          <a:p>
            <a:pPr lvl="2" indent="-304795">
              <a:spcBef>
                <a:spcPts val="1270"/>
              </a:spcBef>
              <a:defRPr/>
            </a:pPr>
            <a:r>
              <a:rPr lang="en-US" altLang="zh-CN" sz="1768" b="1" dirty="0">
                <a:solidFill>
                  <a:srgbClr val="168638"/>
                </a:solidFill>
                <a:latin typeface="Calibri Light"/>
              </a:rPr>
              <a:t>Tile groups collectively handle larger MHA Blocks</a:t>
            </a:r>
          </a:p>
          <a:p>
            <a:pPr lvl="2" indent="-304795">
              <a:spcBef>
                <a:spcPts val="1270"/>
              </a:spcBef>
              <a:defRPr/>
            </a:pPr>
            <a:r>
              <a:rPr lang="en-US" altLang="zh-CN" sz="1768" b="1" dirty="0">
                <a:solidFill>
                  <a:srgbClr val="168638"/>
                </a:solidFill>
                <a:latin typeface="Calibri Light"/>
              </a:rPr>
              <a:t>GQA, MQA, and </a:t>
            </a:r>
            <a:r>
              <a:rPr lang="en-US" altLang="zh-CN" sz="1768" b="1" dirty="0" err="1">
                <a:solidFill>
                  <a:srgbClr val="168638"/>
                </a:solidFill>
                <a:latin typeface="Calibri Light"/>
              </a:rPr>
              <a:t>FlashMLA</a:t>
            </a:r>
            <a:r>
              <a:rPr lang="en-US" altLang="zh-CN" sz="1768" b="1" dirty="0">
                <a:solidFill>
                  <a:srgbClr val="168638"/>
                </a:solidFill>
                <a:latin typeface="Calibri Light"/>
              </a:rPr>
              <a:t> in DeepSeek</a:t>
            </a:r>
          </a:p>
          <a:p>
            <a:pPr lvl="2" indent="-304795">
              <a:spcBef>
                <a:spcPts val="1270"/>
              </a:spcBef>
              <a:defRPr/>
            </a:pPr>
            <a:endParaRPr lang="en-US" altLang="zh-CN" sz="1553" dirty="0">
              <a:solidFill>
                <a:srgbClr val="000000"/>
              </a:solidFill>
              <a:latin typeface="Calibri Light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fr-FR" altLang="zh-CN" sz="2400" dirty="0">
              <a:solidFill>
                <a:srgbClr val="000000"/>
              </a:solidFill>
              <a:latin typeface="Calibri Light"/>
            </a:endParaRPr>
          </a:p>
        </p:txBody>
      </p:sp>
      <p:grpSp>
        <p:nvGrpSpPr>
          <p:cNvPr id="7" name="组合 12">
            <a:extLst>
              <a:ext uri="{FF2B5EF4-FFF2-40B4-BE49-F238E27FC236}">
                <a16:creationId xmlns:a16="http://schemas.microsoft.com/office/drawing/2014/main" id="{C23FEAD0-C0AD-C50C-F9AF-0D5E04A318C5}"/>
              </a:ext>
            </a:extLst>
          </p:cNvPr>
          <p:cNvGrpSpPr/>
          <p:nvPr/>
        </p:nvGrpSpPr>
        <p:grpSpPr>
          <a:xfrm>
            <a:off x="7734004" y="1965960"/>
            <a:ext cx="4364577" cy="4485163"/>
            <a:chOff x="7788868" y="0"/>
            <a:chExt cx="4364577" cy="4485163"/>
          </a:xfrm>
        </p:grpSpPr>
        <p:pic>
          <p:nvPicPr>
            <p:cNvPr id="8" name="图片 2">
              <a:extLst>
                <a:ext uri="{FF2B5EF4-FFF2-40B4-BE49-F238E27FC236}">
                  <a16:creationId xmlns:a16="http://schemas.microsoft.com/office/drawing/2014/main" id="{A3D48F83-42EF-7C6D-1DD9-0A234E5D9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788868" y="0"/>
              <a:ext cx="2023692" cy="3265714"/>
            </a:xfrm>
            <a:prstGeom prst="rect">
              <a:avLst/>
            </a:prstGeom>
          </p:spPr>
        </p:pic>
        <p:pic>
          <p:nvPicPr>
            <p:cNvPr id="9" name="图片 5">
              <a:extLst>
                <a:ext uri="{FF2B5EF4-FFF2-40B4-BE49-F238E27FC236}">
                  <a16:creationId xmlns:a16="http://schemas.microsoft.com/office/drawing/2014/main" id="{A99F48E4-FE84-3239-E95E-E06914B589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98061" y="0"/>
              <a:ext cx="2015723" cy="3265714"/>
            </a:xfrm>
            <a:prstGeom prst="rect">
              <a:avLst/>
            </a:prstGeom>
          </p:spPr>
        </p:pic>
        <p:sp>
          <p:nvSpPr>
            <p:cNvPr id="10" name="箭头: 右 6">
              <a:extLst>
                <a:ext uri="{FF2B5EF4-FFF2-40B4-BE49-F238E27FC236}">
                  <a16:creationId xmlns:a16="http://schemas.microsoft.com/office/drawing/2014/main" id="{3D79B04C-240B-571C-AC2F-2B1D068714BA}"/>
                </a:ext>
              </a:extLst>
            </p:cNvPr>
            <p:cNvSpPr/>
            <p:nvPr/>
          </p:nvSpPr>
          <p:spPr>
            <a:xfrm>
              <a:off x="9652658" y="2198915"/>
              <a:ext cx="772886" cy="402771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pic>
          <p:nvPicPr>
            <p:cNvPr id="11" name="图片 7">
              <a:extLst>
                <a:ext uri="{FF2B5EF4-FFF2-40B4-BE49-F238E27FC236}">
                  <a16:creationId xmlns:a16="http://schemas.microsoft.com/office/drawing/2014/main" id="{C1B135DA-6553-3D6E-DE8D-F75BB4937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5339" t="74215" r="15201"/>
            <a:stretch/>
          </p:blipFill>
          <p:spPr>
            <a:xfrm>
              <a:off x="8131629" y="3981444"/>
              <a:ext cx="4021816" cy="503719"/>
            </a:xfrm>
            <a:prstGeom prst="rect">
              <a:avLst/>
            </a:prstGeom>
          </p:spPr>
        </p:pic>
        <p:sp>
          <p:nvSpPr>
            <p:cNvPr id="12" name="文本框 9">
              <a:extLst>
                <a:ext uri="{FF2B5EF4-FFF2-40B4-BE49-F238E27FC236}">
                  <a16:creationId xmlns:a16="http://schemas.microsoft.com/office/drawing/2014/main" id="{5F99413D-2530-BFBA-1C90-9372E1EA99A5}"/>
                </a:ext>
              </a:extLst>
            </p:cNvPr>
            <p:cNvSpPr txBox="1"/>
            <p:nvPr/>
          </p:nvSpPr>
          <p:spPr>
            <a:xfrm>
              <a:off x="9578041" y="2564368"/>
              <a:ext cx="93617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chemeClr val="accent3"/>
                  </a:solidFill>
                </a:rPr>
                <a:t>Flatten</a:t>
              </a:r>
              <a:endParaRPr lang="zh-CN" altLang="en-US" sz="1100" dirty="0"/>
            </a:p>
          </p:txBody>
        </p:sp>
        <p:sp>
          <p:nvSpPr>
            <p:cNvPr id="13" name="箭头: 右 10">
              <a:extLst>
                <a:ext uri="{FF2B5EF4-FFF2-40B4-BE49-F238E27FC236}">
                  <a16:creationId xmlns:a16="http://schemas.microsoft.com/office/drawing/2014/main" id="{1BF5E6B2-DA78-1B07-E384-BBBAED7FFB03}"/>
                </a:ext>
              </a:extLst>
            </p:cNvPr>
            <p:cNvSpPr/>
            <p:nvPr/>
          </p:nvSpPr>
          <p:spPr>
            <a:xfrm rot="5400000">
              <a:off x="10919611" y="3391739"/>
              <a:ext cx="549742" cy="421593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4" name="文本框 11">
              <a:extLst>
                <a:ext uri="{FF2B5EF4-FFF2-40B4-BE49-F238E27FC236}">
                  <a16:creationId xmlns:a16="http://schemas.microsoft.com/office/drawing/2014/main" id="{10F1A55C-FF97-65FB-487B-B81C379443F3}"/>
                </a:ext>
              </a:extLst>
            </p:cNvPr>
            <p:cNvSpPr txBox="1"/>
            <p:nvPr/>
          </p:nvSpPr>
          <p:spPr>
            <a:xfrm>
              <a:off x="9197388" y="3536281"/>
              <a:ext cx="1697476" cy="4770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accent3"/>
                  </a:solidFill>
                </a:rPr>
                <a:t>NoC Collectives</a:t>
              </a:r>
            </a:p>
            <a:p>
              <a:pPr algn="ctr"/>
              <a:r>
                <a:rPr lang="en-US" altLang="zh-CN" sz="1100" b="1" dirty="0">
                  <a:solidFill>
                    <a:schemeClr val="accent3"/>
                  </a:solidFill>
                </a:rPr>
                <a:t>&amp; Async</a:t>
              </a:r>
              <a:endParaRPr lang="zh-CN" altLang="en-US" sz="1100" dirty="0"/>
            </a:p>
          </p:txBody>
        </p:sp>
      </p:grpSp>
      <p:pic>
        <p:nvPicPr>
          <p:cNvPr id="15" name="图片 2">
            <a:extLst>
              <a:ext uri="{FF2B5EF4-FFF2-40B4-BE49-F238E27FC236}">
                <a16:creationId xmlns:a16="http://schemas.microsoft.com/office/drawing/2014/main" id="{35305C02-FBC4-AE39-376B-D3D19F16BC3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1546" t="26138" b="44142"/>
          <a:stretch>
            <a:fillRect/>
          </a:stretch>
        </p:blipFill>
        <p:spPr>
          <a:xfrm>
            <a:off x="5239128" y="4690873"/>
            <a:ext cx="2717967" cy="189222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24ACEFC-B6D0-23E8-4CB0-0B6724CFE055}"/>
              </a:ext>
            </a:extLst>
          </p:cNvPr>
          <p:cNvSpPr/>
          <p:nvPr/>
        </p:nvSpPr>
        <p:spPr>
          <a:xfrm>
            <a:off x="5239128" y="4690872"/>
            <a:ext cx="411864" cy="347471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7095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52D48CE7-A84A-2510-7219-E7A9B00F0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>
            <a:extLst>
              <a:ext uri="{FF2B5EF4-FFF2-40B4-BE49-F238E27FC236}">
                <a16:creationId xmlns:a16="http://schemas.microsoft.com/office/drawing/2014/main" id="{E62665EB-3F89-4D7F-2161-DD53173F8BE2}"/>
              </a:ext>
            </a:extLst>
          </p:cNvPr>
          <p:cNvSpPr txBox="1"/>
          <p:nvPr/>
        </p:nvSpPr>
        <p:spPr>
          <a:xfrm>
            <a:off x="299070" y="170391"/>
            <a:ext cx="10829178" cy="62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accent3"/>
              </a:buClr>
              <a:buSzPts val="3600"/>
            </a:pPr>
            <a:r>
              <a:rPr lang="en-GB" sz="3600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End-to-End Performance Analysis DeepSeekV3 Inference </a:t>
            </a:r>
            <a:endParaRPr sz="3600" b="0" i="0" u="none" strike="noStrike" cap="none" dirty="0">
              <a:solidFill>
                <a:srgbClr val="1686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45583152-1E7A-D9DC-1A54-38707DBEA9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0183" y="6583096"/>
            <a:ext cx="846138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6DC57D-9AE3-72CC-02D7-763672EF364C}"/>
              </a:ext>
            </a:extLst>
          </p:cNvPr>
          <p:cNvSpPr/>
          <p:nvPr/>
        </p:nvSpPr>
        <p:spPr>
          <a:xfrm>
            <a:off x="5239128" y="4690872"/>
            <a:ext cx="411864" cy="347471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84B7-33FB-D612-254D-4997DF5AD3A4}"/>
              </a:ext>
            </a:extLst>
          </p:cNvPr>
          <p:cNvSpPr txBox="1">
            <a:spLocks/>
          </p:cNvSpPr>
          <p:nvPr/>
        </p:nvSpPr>
        <p:spPr>
          <a:xfrm>
            <a:off x="316500" y="690880"/>
            <a:ext cx="6331187" cy="5618480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>
            <a:lvl1pPr marL="304795" indent="-304795" algn="l" defTabSz="761976" rtl="0" eaLnBrk="1" latinLnBrk="0" hangingPunct="1">
              <a:lnSpc>
                <a:spcPct val="100000"/>
              </a:lnSpc>
              <a:spcBef>
                <a:spcPts val="1270"/>
              </a:spcBef>
              <a:buClrTx/>
              <a:buSzPct val="90000"/>
              <a:buFont typeface="Arial" panose="020B0604020202020204" pitchFamily="34" charset="0"/>
              <a:buChar char="•"/>
              <a:defRPr sz="254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533383" indent="-228597" algn="l" defTabSz="761976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2117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61976" indent="-228597" algn="l" defTabSz="914389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1905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990569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27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219162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164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514569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6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58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52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latin typeface="Calibri Light"/>
              </a:rPr>
              <a:t>SoftHier Configuration</a:t>
            </a:r>
          </a:p>
          <a:p>
            <a:pPr lvl="1">
              <a:defRPr/>
            </a:pPr>
            <a:r>
              <a:rPr lang="en-US" altLang="zh-CN" sz="2000" dirty="0">
                <a:solidFill>
                  <a:srgbClr val="000000"/>
                </a:solidFill>
                <a:latin typeface="Calibri Light"/>
              </a:rPr>
              <a:t>32 x 32 Clusters</a:t>
            </a:r>
          </a:p>
          <a:p>
            <a:pPr lvl="1">
              <a:defRPr/>
            </a:pPr>
            <a:r>
              <a:rPr lang="en-US" altLang="zh-CN" sz="2000" dirty="0">
                <a:solidFill>
                  <a:srgbClr val="000000"/>
                </a:solidFill>
                <a:latin typeface="Calibri Light"/>
              </a:rPr>
              <a:t>Cluster Spec:</a:t>
            </a:r>
          </a:p>
          <a:p>
            <a:pPr lvl="2">
              <a:defRPr/>
            </a:pPr>
            <a:r>
              <a:rPr lang="en-US" altLang="zh-CN" sz="1788" dirty="0">
                <a:solidFill>
                  <a:srgbClr val="000000"/>
                </a:solidFill>
                <a:latin typeface="Calibri Light"/>
              </a:rPr>
              <a:t>One RedMule with 32 x 16 CE arrays</a:t>
            </a:r>
          </a:p>
          <a:p>
            <a:pPr lvl="2">
              <a:defRPr/>
            </a:pPr>
            <a:r>
              <a:rPr lang="en-US" altLang="zh-CN" sz="1788" dirty="0">
                <a:solidFill>
                  <a:srgbClr val="000000"/>
                </a:solidFill>
                <a:latin typeface="Calibri Light"/>
              </a:rPr>
              <a:t>4 Spatz Vector Engine each with 4 FPUs</a:t>
            </a:r>
          </a:p>
          <a:p>
            <a:pPr lvl="2">
              <a:defRPr/>
            </a:pPr>
            <a:r>
              <a:rPr lang="en-US" altLang="zh-CN" sz="1788" dirty="0">
                <a:solidFill>
                  <a:srgbClr val="000000"/>
                </a:solidFill>
                <a:latin typeface="Calibri Light"/>
              </a:rPr>
              <a:t>8 snitch cores</a:t>
            </a:r>
          </a:p>
          <a:p>
            <a:pPr lvl="2">
              <a:defRPr/>
            </a:pPr>
            <a:r>
              <a:rPr lang="en-US" altLang="zh-CN" sz="1788" dirty="0">
                <a:solidFill>
                  <a:srgbClr val="000000"/>
                </a:solidFill>
                <a:latin typeface="Calibri Light"/>
              </a:rPr>
              <a:t>L1 memory with 384KB SRAM capacity</a:t>
            </a:r>
          </a:p>
          <a:p>
            <a:pPr lvl="1">
              <a:defRPr/>
            </a:pPr>
            <a:r>
              <a:rPr lang="en-US" altLang="zh-CN" sz="2000" dirty="0">
                <a:solidFill>
                  <a:srgbClr val="000000"/>
                </a:solidFill>
                <a:latin typeface="Calibri Light"/>
              </a:rPr>
              <a:t>Off-Chip HBM </a:t>
            </a:r>
            <a:r>
              <a:rPr lang="en-US" altLang="zh-CN" sz="2000" b="1" i="1" dirty="0">
                <a:solidFill>
                  <a:srgbClr val="000000"/>
                </a:solidFill>
                <a:latin typeface="Calibri Light"/>
              </a:rPr>
              <a:t>bandwidth of 4TB/s, 64GB per Chip</a:t>
            </a:r>
          </a:p>
          <a:p>
            <a:pPr lvl="1">
              <a:defRPr/>
            </a:pPr>
            <a:r>
              <a:rPr lang="en-US" altLang="zh-CN" sz="2000" dirty="0">
                <a:solidFill>
                  <a:srgbClr val="000000"/>
                </a:solidFill>
                <a:latin typeface="Calibri Light"/>
              </a:rPr>
              <a:t>Chip run at 1.9 GHz frequence, </a:t>
            </a:r>
            <a:r>
              <a:rPr lang="en-US" altLang="zh-CN" sz="2000" b="1" i="1" dirty="0">
                <a:solidFill>
                  <a:srgbClr val="000000"/>
                </a:solidFill>
                <a:latin typeface="Calibri Light"/>
              </a:rPr>
              <a:t>1976 TFLOPS @ FP8</a:t>
            </a:r>
          </a:p>
          <a:p>
            <a:pPr lvl="2">
              <a:defRPr/>
            </a:pPr>
            <a:r>
              <a:rPr lang="en-US" altLang="zh-CN" sz="1788" b="1" i="1" dirty="0">
                <a:solidFill>
                  <a:srgbClr val="000000"/>
                </a:solidFill>
                <a:latin typeface="Calibri Light"/>
              </a:rPr>
              <a:t>Same spec with Nvidia H100</a:t>
            </a:r>
            <a:endParaRPr lang="en-US" altLang="zh-CN" sz="2211" b="1" i="1" dirty="0">
              <a:solidFill>
                <a:srgbClr val="000000"/>
              </a:solidFill>
              <a:latin typeface="Calibri Light"/>
            </a:endParaRPr>
          </a:p>
          <a:p>
            <a:pPr>
              <a:defRPr/>
            </a:pPr>
            <a:endParaRPr lang="en-US" altLang="zh-CN" sz="2000" dirty="0">
              <a:solidFill>
                <a:srgbClr val="000000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960367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/>
          <p:nvPr/>
        </p:nvSpPr>
        <p:spPr>
          <a:xfrm>
            <a:off x="299070" y="170391"/>
            <a:ext cx="11638929" cy="62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accent3"/>
              </a:buClr>
              <a:buSzPts val="3600"/>
            </a:pPr>
            <a:r>
              <a:rPr lang="en-US" sz="3600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DeepSeek Flow Automation: Generate Layer Kernel Flow</a:t>
            </a:r>
            <a:endParaRPr sz="3600" b="0" i="0" u="none" strike="noStrike" cap="none" dirty="0">
              <a:solidFill>
                <a:srgbClr val="1686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 txBox="1">
            <a:spLocks noGrp="1"/>
          </p:cNvSpPr>
          <p:nvPr>
            <p:ph type="sldNum" idx="12"/>
          </p:nvPr>
        </p:nvSpPr>
        <p:spPr>
          <a:xfrm>
            <a:off x="11400183" y="6583096"/>
            <a:ext cx="846138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F9791A3-751E-0936-B276-2CA1AF34111C}"/>
              </a:ext>
            </a:extLst>
          </p:cNvPr>
          <p:cNvSpPr txBox="1">
            <a:spLocks/>
          </p:cNvSpPr>
          <p:nvPr/>
        </p:nvSpPr>
        <p:spPr>
          <a:xfrm>
            <a:off x="316499" y="685801"/>
            <a:ext cx="5078461" cy="466343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>
            <a:lvl1pPr marL="304795" indent="-304795" algn="l" defTabSz="761976" rtl="0" eaLnBrk="1" latinLnBrk="0" hangingPunct="1">
              <a:lnSpc>
                <a:spcPct val="100000"/>
              </a:lnSpc>
              <a:spcBef>
                <a:spcPts val="1270"/>
              </a:spcBef>
              <a:buClrTx/>
              <a:buSzPct val="90000"/>
              <a:buFont typeface="Arial" panose="020B0604020202020204" pitchFamily="34" charset="0"/>
              <a:buChar char="•"/>
              <a:defRPr sz="254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533383" indent="-228597" algn="l" defTabSz="761976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2117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61976" indent="-228597" algn="l" defTabSz="914389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1905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990569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27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219162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164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514569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6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58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52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Example of decode </a:t>
            </a:r>
            <a:r>
              <a:rPr lang="en-US" altLang="zh-CN" sz="2435" b="1" i="1" dirty="0" err="1">
                <a:solidFill>
                  <a:srgbClr val="000000"/>
                </a:solidFill>
                <a:latin typeface="Calibri Light"/>
              </a:rPr>
              <a:t>batch_size</a:t>
            </a:r>
            <a:r>
              <a:rPr lang="en-US" altLang="zh-CN" sz="2435" b="1" i="1" dirty="0">
                <a:solidFill>
                  <a:srgbClr val="000000"/>
                </a:solidFill>
                <a:latin typeface="Calibri Light"/>
              </a:rPr>
              <a:t> =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8BA82A-B2EA-1201-4B80-F7B7552EC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44018"/>
            <a:ext cx="12192000" cy="43699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5E26DD-7DC0-97EB-5E5F-5C2B75A2E8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8675"/>
          <a:stretch>
            <a:fillRect/>
          </a:stretch>
        </p:blipFill>
        <p:spPr>
          <a:xfrm>
            <a:off x="82296" y="3523859"/>
            <a:ext cx="8695944" cy="1803673"/>
          </a:xfrm>
          <a:prstGeom prst="rect">
            <a:avLst/>
          </a:prstGeom>
          <a:ln w="38100" cap="sq">
            <a:solidFill>
              <a:srgbClr val="FF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FA2D086-A51F-8AA9-0E53-5DCD86D151B9}"/>
              </a:ext>
            </a:extLst>
          </p:cNvPr>
          <p:cNvSpPr/>
          <p:nvPr/>
        </p:nvSpPr>
        <p:spPr>
          <a:xfrm>
            <a:off x="0" y="1984248"/>
            <a:ext cx="4169664" cy="99669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8133C1C-0E67-94E3-4F0B-A1AE8FC8B074}"/>
              </a:ext>
            </a:extLst>
          </p:cNvPr>
          <p:cNvCxnSpPr/>
          <p:nvPr/>
        </p:nvCxnSpPr>
        <p:spPr>
          <a:xfrm>
            <a:off x="1664208" y="2980944"/>
            <a:ext cx="0" cy="54291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CA9D7CE-2781-AF8A-82D7-5FEFB9710DED}"/>
              </a:ext>
            </a:extLst>
          </p:cNvPr>
          <p:cNvSpPr txBox="1"/>
          <p:nvPr/>
        </p:nvSpPr>
        <p:spPr>
          <a:xfrm>
            <a:off x="6126480" y="968021"/>
            <a:ext cx="12893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i="1" dirty="0">
                <a:solidFill>
                  <a:srgbClr val="FF0000"/>
                </a:solidFill>
                <a:latin typeface="Calibri Light"/>
              </a:rPr>
              <a:t>Shared Experts</a:t>
            </a:r>
            <a:endParaRPr lang="en-CH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464B91-A2D8-DA36-043C-E2F98CCDE974}"/>
              </a:ext>
            </a:extLst>
          </p:cNvPr>
          <p:cNvSpPr txBox="1"/>
          <p:nvPr/>
        </p:nvSpPr>
        <p:spPr>
          <a:xfrm>
            <a:off x="10250424" y="3857525"/>
            <a:ext cx="12893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i="1" dirty="0">
                <a:solidFill>
                  <a:srgbClr val="FF0000"/>
                </a:solidFill>
                <a:latin typeface="Calibri Light"/>
              </a:rPr>
              <a:t>Routed Experts</a:t>
            </a:r>
            <a:endParaRPr lang="en-CH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2EE5B8D1-C6EE-5B3A-BE6A-17278D78D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>
            <a:extLst>
              <a:ext uri="{FF2B5EF4-FFF2-40B4-BE49-F238E27FC236}">
                <a16:creationId xmlns:a16="http://schemas.microsoft.com/office/drawing/2014/main" id="{C8A61CF9-3E21-F227-89A1-FAC20D15AA89}"/>
              </a:ext>
            </a:extLst>
          </p:cNvPr>
          <p:cNvSpPr txBox="1"/>
          <p:nvPr/>
        </p:nvSpPr>
        <p:spPr>
          <a:xfrm>
            <a:off x="299070" y="170391"/>
            <a:ext cx="11638929" cy="62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accent3"/>
              </a:buClr>
              <a:buSzPts val="3600"/>
            </a:pPr>
            <a:r>
              <a:rPr lang="en-US" sz="3600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Decoding Performance Overview – Full DeepSeekv3-671B</a:t>
            </a:r>
            <a:endParaRPr sz="3600" b="0" i="0" u="none" strike="noStrike" cap="none" dirty="0">
              <a:solidFill>
                <a:srgbClr val="1686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D66B2C19-2B37-8266-CB58-66B1138C53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0183" y="6583096"/>
            <a:ext cx="846138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AF138-FE1B-2438-4792-90785E36BE96}"/>
              </a:ext>
            </a:extLst>
          </p:cNvPr>
          <p:cNvSpPr txBox="1">
            <a:spLocks/>
          </p:cNvSpPr>
          <p:nvPr/>
        </p:nvSpPr>
        <p:spPr>
          <a:xfrm>
            <a:off x="316501" y="690880"/>
            <a:ext cx="3688572" cy="2738120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>
            <a:lvl1pPr marL="304795" indent="-304795" algn="l" defTabSz="761976" rtl="0" eaLnBrk="1" latinLnBrk="0" hangingPunct="1">
              <a:lnSpc>
                <a:spcPct val="100000"/>
              </a:lnSpc>
              <a:spcBef>
                <a:spcPts val="1270"/>
              </a:spcBef>
              <a:buClrTx/>
              <a:buSzPct val="90000"/>
              <a:buFont typeface="Arial" panose="020B0604020202020204" pitchFamily="34" charset="0"/>
              <a:buChar char="•"/>
              <a:defRPr sz="254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533383" indent="-228597" algn="l" defTabSz="761976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2117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61976" indent="-228597" algn="l" defTabSz="914389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1905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990569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27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219162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164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514569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6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58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52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latin typeface="Calibri Light"/>
              </a:rPr>
              <a:t>Decode Mode</a:t>
            </a:r>
          </a:p>
          <a:p>
            <a:pPr lvl="1">
              <a:defRPr/>
            </a:pPr>
            <a:r>
              <a:rPr lang="en-US" altLang="zh-CN" sz="1977">
                <a:solidFill>
                  <a:srgbClr val="000000"/>
                </a:solidFill>
                <a:latin typeface="Calibri Light"/>
              </a:rPr>
              <a:t>Discuss </a:t>
            </a:r>
            <a:r>
              <a:rPr lang="en-US" altLang="zh-CN" sz="1977" dirty="0">
                <a:solidFill>
                  <a:srgbClr val="000000"/>
                </a:solidFill>
                <a:latin typeface="Calibri Light"/>
              </a:rPr>
              <a:t>Pipeline parallelism and Expert Parallelism</a:t>
            </a:r>
          </a:p>
          <a:p>
            <a:pPr lvl="1">
              <a:defRPr/>
            </a:pPr>
            <a:r>
              <a:rPr lang="en-US" altLang="zh-CN" sz="1977" dirty="0">
                <a:solidFill>
                  <a:srgbClr val="000000"/>
                </a:solidFill>
                <a:latin typeface="Calibri Light"/>
              </a:rPr>
              <a:t>Collect data with </a:t>
            </a:r>
            <a:r>
              <a:rPr lang="en-US" altLang="zh-CN" sz="1977" dirty="0" err="1">
                <a:solidFill>
                  <a:srgbClr val="000000"/>
                </a:solidFill>
                <a:latin typeface="Calibri Light"/>
              </a:rPr>
              <a:t>varial</a:t>
            </a:r>
            <a:r>
              <a:rPr lang="en-US" altLang="zh-CN" sz="1977" dirty="0">
                <a:solidFill>
                  <a:srgbClr val="000000"/>
                </a:solidFill>
                <a:latin typeface="Calibri Light"/>
              </a:rPr>
              <a:t> batch sizes</a:t>
            </a:r>
          </a:p>
          <a:p>
            <a:pPr>
              <a:defRPr/>
            </a:pPr>
            <a:endParaRPr lang="en-US" altLang="zh-CN" sz="2000" dirty="0">
              <a:solidFill>
                <a:srgbClr val="000000"/>
              </a:solidFill>
              <a:latin typeface="Calibri Ligh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D74851-4CFB-7E53-48CD-662FCC213C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76" t="5728" r="7617" b="2695"/>
          <a:stretch>
            <a:fillRect/>
          </a:stretch>
        </p:blipFill>
        <p:spPr>
          <a:xfrm>
            <a:off x="4297680" y="717156"/>
            <a:ext cx="7347711" cy="5940026"/>
          </a:xfrm>
          <a:prstGeom prst="rect">
            <a:avLst/>
          </a:prstGeom>
        </p:spPr>
      </p:pic>
      <p:sp>
        <p:nvSpPr>
          <p:cNvPr id="10" name="Arrow: Left 9">
            <a:extLst>
              <a:ext uri="{FF2B5EF4-FFF2-40B4-BE49-F238E27FC236}">
                <a16:creationId xmlns:a16="http://schemas.microsoft.com/office/drawing/2014/main" id="{09F2A5F4-1880-11CF-607F-4CC10DBFE330}"/>
              </a:ext>
            </a:extLst>
          </p:cNvPr>
          <p:cNvSpPr/>
          <p:nvPr/>
        </p:nvSpPr>
        <p:spPr>
          <a:xfrm rot="4017494">
            <a:off x="5292872" y="1285797"/>
            <a:ext cx="740664" cy="453084"/>
          </a:xfrm>
          <a:prstGeom prst="leftArrow">
            <a:avLst/>
          </a:prstGeom>
          <a:solidFill>
            <a:schemeClr val="accent3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EB1EEB-28A4-916F-376E-8889FFA62832}"/>
              </a:ext>
            </a:extLst>
          </p:cNvPr>
          <p:cNvSpPr txBox="1"/>
          <p:nvPr/>
        </p:nvSpPr>
        <p:spPr>
          <a:xfrm>
            <a:off x="5744773" y="1338007"/>
            <a:ext cx="7475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accent3"/>
                </a:solidFill>
                <a:latin typeface="Calibri Light"/>
              </a:rPr>
              <a:t>Better</a:t>
            </a:r>
            <a:endParaRPr lang="en-CH" b="1" dirty="0">
              <a:solidFill>
                <a:schemeClr val="accent3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6554A8-5F85-1BEA-7EDF-4CFDAF06C93E}"/>
              </a:ext>
            </a:extLst>
          </p:cNvPr>
          <p:cNvCxnSpPr/>
          <p:nvPr/>
        </p:nvCxnSpPr>
        <p:spPr>
          <a:xfrm flipV="1">
            <a:off x="7671816" y="1179576"/>
            <a:ext cx="0" cy="4956048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721E9EB-4B36-6F7C-AA1A-0B98E5082F88}"/>
              </a:ext>
            </a:extLst>
          </p:cNvPr>
          <p:cNvSpPr txBox="1"/>
          <p:nvPr/>
        </p:nvSpPr>
        <p:spPr>
          <a:xfrm>
            <a:off x="6208646" y="6140844"/>
            <a:ext cx="18323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accent5"/>
                </a:solidFill>
                <a:latin typeface="Calibri Light"/>
              </a:rPr>
              <a:t>Target TPOT = 50ms</a:t>
            </a:r>
            <a:endParaRPr lang="en-CH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227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5038C26C-5F95-80E3-BFA8-CE7197866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>
            <a:extLst>
              <a:ext uri="{FF2B5EF4-FFF2-40B4-BE49-F238E27FC236}">
                <a16:creationId xmlns:a16="http://schemas.microsoft.com/office/drawing/2014/main" id="{71B3BDFC-A266-4B04-EDBB-851FDC8A279C}"/>
              </a:ext>
            </a:extLst>
          </p:cNvPr>
          <p:cNvSpPr txBox="1"/>
          <p:nvPr/>
        </p:nvSpPr>
        <p:spPr>
          <a:xfrm>
            <a:off x="299070" y="170391"/>
            <a:ext cx="11638929" cy="62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accent3"/>
              </a:buClr>
              <a:buSzPts val="3600"/>
            </a:pPr>
            <a:r>
              <a:rPr lang="en-US" sz="3600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Decoding Performance Overview – Full DeepSeekv3-671B</a:t>
            </a:r>
            <a:endParaRPr sz="3600" b="0" i="0" u="none" strike="noStrike" cap="none" dirty="0">
              <a:solidFill>
                <a:srgbClr val="1686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7B4265B2-8CCC-0FC8-C2AA-7E401E71670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0183" y="6583096"/>
            <a:ext cx="846138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3A08A-B4BF-8BCA-9016-9D2B2902D2CA}"/>
              </a:ext>
            </a:extLst>
          </p:cNvPr>
          <p:cNvSpPr txBox="1">
            <a:spLocks/>
          </p:cNvSpPr>
          <p:nvPr/>
        </p:nvSpPr>
        <p:spPr>
          <a:xfrm>
            <a:off x="316501" y="690880"/>
            <a:ext cx="3688572" cy="2738120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>
            <a:lvl1pPr marL="304795" indent="-304795" algn="l" defTabSz="761976" rtl="0" eaLnBrk="1" latinLnBrk="0" hangingPunct="1">
              <a:lnSpc>
                <a:spcPct val="100000"/>
              </a:lnSpc>
              <a:spcBef>
                <a:spcPts val="1270"/>
              </a:spcBef>
              <a:buClrTx/>
              <a:buSzPct val="90000"/>
              <a:buFont typeface="Arial" panose="020B0604020202020204" pitchFamily="34" charset="0"/>
              <a:buChar char="•"/>
              <a:defRPr sz="254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533383" indent="-228597" algn="l" defTabSz="761976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2117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61976" indent="-228597" algn="l" defTabSz="914389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1905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990569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27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219162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164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514569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6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58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52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latin typeface="Calibri Light"/>
              </a:rPr>
              <a:t>Decode Mode</a:t>
            </a:r>
          </a:p>
          <a:p>
            <a:pPr lvl="1">
              <a:defRPr/>
            </a:pPr>
            <a:r>
              <a:rPr lang="en-US" altLang="zh-CN" sz="1977" dirty="0">
                <a:solidFill>
                  <a:srgbClr val="000000"/>
                </a:solidFill>
                <a:latin typeface="Calibri Light"/>
              </a:rPr>
              <a:t>Discuss Pipeline parallelism and Expert Parallelism</a:t>
            </a:r>
          </a:p>
          <a:p>
            <a:pPr lvl="1">
              <a:defRPr/>
            </a:pPr>
            <a:r>
              <a:rPr lang="en-US" altLang="zh-CN" sz="1977" dirty="0">
                <a:solidFill>
                  <a:srgbClr val="000000"/>
                </a:solidFill>
                <a:latin typeface="Calibri Light"/>
              </a:rPr>
              <a:t>Collect data with </a:t>
            </a:r>
            <a:r>
              <a:rPr lang="en-US" altLang="zh-CN" sz="1977" dirty="0" err="1">
                <a:solidFill>
                  <a:srgbClr val="000000"/>
                </a:solidFill>
                <a:latin typeface="Calibri Light"/>
              </a:rPr>
              <a:t>varial</a:t>
            </a:r>
            <a:r>
              <a:rPr lang="en-US" altLang="zh-CN" sz="1977" dirty="0">
                <a:solidFill>
                  <a:srgbClr val="000000"/>
                </a:solidFill>
                <a:latin typeface="Calibri Light"/>
              </a:rPr>
              <a:t> batch sizes</a:t>
            </a:r>
          </a:p>
          <a:p>
            <a:pPr>
              <a:defRPr/>
            </a:pPr>
            <a:endParaRPr lang="en-US" altLang="zh-CN" sz="2000" dirty="0">
              <a:solidFill>
                <a:srgbClr val="000000"/>
              </a:solidFill>
              <a:latin typeface="Calibri Ligh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20863A-30DE-15A4-6610-2E55DE82D7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76" t="5728" r="7617" b="2695"/>
          <a:stretch>
            <a:fillRect/>
          </a:stretch>
        </p:blipFill>
        <p:spPr>
          <a:xfrm>
            <a:off x="4297680" y="717156"/>
            <a:ext cx="7347711" cy="5940026"/>
          </a:xfrm>
          <a:prstGeom prst="rect">
            <a:avLst/>
          </a:prstGeom>
        </p:spPr>
      </p:pic>
      <p:sp>
        <p:nvSpPr>
          <p:cNvPr id="10" name="Arrow: Left 9">
            <a:extLst>
              <a:ext uri="{FF2B5EF4-FFF2-40B4-BE49-F238E27FC236}">
                <a16:creationId xmlns:a16="http://schemas.microsoft.com/office/drawing/2014/main" id="{1D3C58D6-4475-FEAA-6F52-28F91B645A82}"/>
              </a:ext>
            </a:extLst>
          </p:cNvPr>
          <p:cNvSpPr/>
          <p:nvPr/>
        </p:nvSpPr>
        <p:spPr>
          <a:xfrm rot="4017494">
            <a:off x="5292872" y="1285797"/>
            <a:ext cx="740664" cy="453084"/>
          </a:xfrm>
          <a:prstGeom prst="leftArrow">
            <a:avLst/>
          </a:prstGeom>
          <a:solidFill>
            <a:schemeClr val="accent3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D8BAD2-070E-6C16-B998-E13654FF942D}"/>
              </a:ext>
            </a:extLst>
          </p:cNvPr>
          <p:cNvSpPr txBox="1"/>
          <p:nvPr/>
        </p:nvSpPr>
        <p:spPr>
          <a:xfrm>
            <a:off x="5744773" y="1338007"/>
            <a:ext cx="7475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accent3"/>
                </a:solidFill>
                <a:latin typeface="Calibri Light"/>
              </a:rPr>
              <a:t>Better</a:t>
            </a:r>
            <a:endParaRPr lang="en-CH" b="1" dirty="0">
              <a:solidFill>
                <a:schemeClr val="accent3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01E312-D041-2B1C-4EC8-76E5A1F77E92}"/>
              </a:ext>
            </a:extLst>
          </p:cNvPr>
          <p:cNvCxnSpPr/>
          <p:nvPr/>
        </p:nvCxnSpPr>
        <p:spPr>
          <a:xfrm flipV="1">
            <a:off x="7671816" y="1179576"/>
            <a:ext cx="0" cy="4956048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D1E9FA3-D995-AFC2-9A30-920EDCE6B623}"/>
              </a:ext>
            </a:extLst>
          </p:cNvPr>
          <p:cNvSpPr txBox="1"/>
          <p:nvPr/>
        </p:nvSpPr>
        <p:spPr>
          <a:xfrm>
            <a:off x="6208646" y="6140844"/>
            <a:ext cx="18323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accent5"/>
                </a:solidFill>
                <a:latin typeface="Calibri Light"/>
              </a:rPr>
              <a:t>Target TPOT = 50ms</a:t>
            </a:r>
            <a:endParaRPr lang="en-CH" b="1" dirty="0">
              <a:solidFill>
                <a:schemeClr val="accent5"/>
              </a:solidFill>
            </a:endParaRPr>
          </a:p>
        </p:txBody>
      </p:sp>
      <p:sp>
        <p:nvSpPr>
          <p:cNvPr id="2" name="Star: 5 Points 1">
            <a:extLst>
              <a:ext uri="{FF2B5EF4-FFF2-40B4-BE49-F238E27FC236}">
                <a16:creationId xmlns:a16="http://schemas.microsoft.com/office/drawing/2014/main" id="{825D92FF-7559-233B-201A-D0E3A2394ED6}"/>
              </a:ext>
            </a:extLst>
          </p:cNvPr>
          <p:cNvSpPr/>
          <p:nvPr/>
        </p:nvSpPr>
        <p:spPr>
          <a:xfrm>
            <a:off x="6153782" y="5779008"/>
            <a:ext cx="183005" cy="182880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67F7CC-B9FF-66F7-61A8-9CC71648F216}"/>
              </a:ext>
            </a:extLst>
          </p:cNvPr>
          <p:cNvSpPr txBox="1"/>
          <p:nvPr/>
        </p:nvSpPr>
        <p:spPr>
          <a:xfrm>
            <a:off x="5983355" y="5377779"/>
            <a:ext cx="18323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 err="1">
                <a:solidFill>
                  <a:srgbClr val="FF0000"/>
                </a:solidFill>
                <a:latin typeface="Calibri Light"/>
              </a:rPr>
              <a:t>CloudMatrix</a:t>
            </a:r>
            <a:r>
              <a:rPr lang="en-US" altLang="zh-CN" sz="1400" b="1" dirty="0">
                <a:solidFill>
                  <a:srgbClr val="FF0000"/>
                </a:solidFill>
                <a:latin typeface="Calibri Light"/>
              </a:rPr>
              <a:t>-Infer</a:t>
            </a:r>
          </a:p>
          <a:p>
            <a:pPr algn="ctr"/>
            <a:r>
              <a:rPr lang="en-US" b="1" dirty="0">
                <a:solidFill>
                  <a:srgbClr val="FF0000"/>
                </a:solidFill>
                <a:latin typeface="Calibri Light"/>
              </a:rPr>
              <a:t>Best TPOT</a:t>
            </a:r>
            <a:endParaRPr lang="en-CH" b="1" dirty="0">
              <a:solidFill>
                <a:srgbClr val="FF0000"/>
              </a:solidFill>
            </a:endParaRPr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BF67248B-F485-F37F-1A5B-DC440841EA57}"/>
              </a:ext>
            </a:extLst>
          </p:cNvPr>
          <p:cNvSpPr/>
          <p:nvPr/>
        </p:nvSpPr>
        <p:spPr>
          <a:xfrm>
            <a:off x="7395812" y="4503831"/>
            <a:ext cx="183005" cy="182880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FEB262-06F3-2A12-2C09-3F6A2ADAD64D}"/>
              </a:ext>
            </a:extLst>
          </p:cNvPr>
          <p:cNvSpPr txBox="1"/>
          <p:nvPr/>
        </p:nvSpPr>
        <p:spPr>
          <a:xfrm>
            <a:off x="5839506" y="4261627"/>
            <a:ext cx="18323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 err="1">
                <a:solidFill>
                  <a:srgbClr val="FF0000"/>
                </a:solidFill>
                <a:latin typeface="Calibri Light"/>
              </a:rPr>
              <a:t>CloudMatrix</a:t>
            </a:r>
            <a:r>
              <a:rPr lang="en-US" altLang="zh-CN" sz="1400" b="1" dirty="0">
                <a:solidFill>
                  <a:srgbClr val="FF0000"/>
                </a:solidFill>
                <a:latin typeface="Calibri Light"/>
              </a:rPr>
              <a:t>-Infer</a:t>
            </a:r>
          </a:p>
          <a:p>
            <a:pPr algn="ctr"/>
            <a:r>
              <a:rPr lang="en-US" b="1" dirty="0">
                <a:solidFill>
                  <a:srgbClr val="FF0000"/>
                </a:solidFill>
                <a:latin typeface="Calibri Light"/>
              </a:rPr>
              <a:t>Best Throughput</a:t>
            </a:r>
            <a:endParaRPr lang="en-CH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51208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F006887D-15E9-BBCD-50CF-CFB74DD6D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864DFA06-0878-503A-50DE-3344185FEA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912" b="67949"/>
          <a:stretch>
            <a:fillRect/>
          </a:stretch>
        </p:blipFill>
        <p:spPr>
          <a:xfrm>
            <a:off x="2205095" y="5622557"/>
            <a:ext cx="2790825" cy="21291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3D6423A-F11C-62D2-26EA-C1C92A7ED7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461" t="71728" r="2" b="14439"/>
          <a:stretch>
            <a:fillRect/>
          </a:stretch>
        </p:blipFill>
        <p:spPr>
          <a:xfrm>
            <a:off x="3685012" y="5834257"/>
            <a:ext cx="1131346" cy="938249"/>
          </a:xfrm>
          <a:prstGeom prst="rect">
            <a:avLst/>
          </a:prstGeom>
        </p:spPr>
      </p:pic>
      <p:sp>
        <p:nvSpPr>
          <p:cNvPr id="69" name="Google Shape;69;p2">
            <a:extLst>
              <a:ext uri="{FF2B5EF4-FFF2-40B4-BE49-F238E27FC236}">
                <a16:creationId xmlns:a16="http://schemas.microsoft.com/office/drawing/2014/main" id="{8B6D0BE7-3571-DC90-B3EC-C987F3F58A64}"/>
              </a:ext>
            </a:extLst>
          </p:cNvPr>
          <p:cNvSpPr txBox="1"/>
          <p:nvPr/>
        </p:nvSpPr>
        <p:spPr>
          <a:xfrm>
            <a:off x="299070" y="170391"/>
            <a:ext cx="11638929" cy="62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accent3"/>
              </a:buClr>
              <a:buSzPts val="3600"/>
            </a:pPr>
            <a:r>
              <a:rPr lang="en-US" sz="3600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Decoding Performance Overview – Full DeepSeekv3-671B</a:t>
            </a:r>
            <a:endParaRPr sz="3600" b="0" i="0" u="none" strike="noStrike" cap="none" dirty="0">
              <a:solidFill>
                <a:srgbClr val="1686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AC6FEF70-884F-F134-56C2-6DE570FE9C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0183" y="6583096"/>
            <a:ext cx="846138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43E5-0E1D-55D7-0E45-D99CB715D7CE}"/>
              </a:ext>
            </a:extLst>
          </p:cNvPr>
          <p:cNvSpPr txBox="1">
            <a:spLocks/>
          </p:cNvSpPr>
          <p:nvPr/>
        </p:nvSpPr>
        <p:spPr>
          <a:xfrm>
            <a:off x="316500" y="690880"/>
            <a:ext cx="11875499" cy="620851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>
            <a:lvl1pPr marL="304795" indent="-304795" algn="l" defTabSz="761976" rtl="0" eaLnBrk="1" latinLnBrk="0" hangingPunct="1">
              <a:lnSpc>
                <a:spcPct val="100000"/>
              </a:lnSpc>
              <a:spcBef>
                <a:spcPts val="1270"/>
              </a:spcBef>
              <a:buClrTx/>
              <a:buSzPct val="90000"/>
              <a:buFont typeface="Arial" panose="020B0604020202020204" pitchFamily="34" charset="0"/>
              <a:buChar char="•"/>
              <a:defRPr sz="254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533383" indent="-228597" algn="l" defTabSz="761976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2117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61976" indent="-228597" algn="l" defTabSz="914389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1905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990569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27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219162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164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514569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6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58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52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latin typeface="Calibri Light"/>
              </a:rPr>
              <a:t>Expert Parallelism makes Attention more important for decoding</a:t>
            </a:r>
          </a:p>
          <a:p>
            <a:pPr marL="0" indent="0">
              <a:buNone/>
              <a:defRPr/>
            </a:pPr>
            <a:endParaRPr lang="en-US" altLang="zh-CN" sz="2000" dirty="0">
              <a:solidFill>
                <a:srgbClr val="000000"/>
              </a:solidFill>
              <a:latin typeface="Calibri Ligh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DFBDED-E8A4-096D-1FD9-38A2958920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76" t="5728" r="7617" b="2695"/>
          <a:stretch>
            <a:fillRect/>
          </a:stretch>
        </p:blipFill>
        <p:spPr>
          <a:xfrm>
            <a:off x="115829" y="1489993"/>
            <a:ext cx="5040630" cy="40749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1CC0E7-C2B9-5EF5-9C6F-6CAF2FF067A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517"/>
          <a:stretch>
            <a:fillRect/>
          </a:stretch>
        </p:blipFill>
        <p:spPr>
          <a:xfrm>
            <a:off x="5156461" y="1620910"/>
            <a:ext cx="7035538" cy="13918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96615C-7CAE-2795-FA26-5F6FB984A18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9512" b="8568"/>
          <a:stretch>
            <a:fillRect/>
          </a:stretch>
        </p:blipFill>
        <p:spPr>
          <a:xfrm>
            <a:off x="5156461" y="3013013"/>
            <a:ext cx="7035538" cy="126005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AAE5954-FD3E-BB31-6B1A-2DE0D251334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9254" b="11047"/>
          <a:stretch>
            <a:fillRect/>
          </a:stretch>
        </p:blipFill>
        <p:spPr>
          <a:xfrm>
            <a:off x="5156460" y="4292370"/>
            <a:ext cx="7035539" cy="1260057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24692B6-9BE0-0BBB-59BF-EF798F35DAA4}"/>
              </a:ext>
            </a:extLst>
          </p:cNvPr>
          <p:cNvCxnSpPr/>
          <p:nvPr/>
        </p:nvCxnSpPr>
        <p:spPr>
          <a:xfrm>
            <a:off x="2050181" y="2050181"/>
            <a:ext cx="32822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AAF376B-8227-725E-DF8E-4EE80C4C0AE6}"/>
              </a:ext>
            </a:extLst>
          </p:cNvPr>
          <p:cNvCxnSpPr>
            <a:cxnSpLocks/>
          </p:cNvCxnSpPr>
          <p:nvPr/>
        </p:nvCxnSpPr>
        <p:spPr>
          <a:xfrm>
            <a:off x="2406316" y="2704699"/>
            <a:ext cx="2750143" cy="5486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D385F94-05A6-1DCA-38B4-DB85CA8C1B06}"/>
              </a:ext>
            </a:extLst>
          </p:cNvPr>
          <p:cNvCxnSpPr>
            <a:cxnSpLocks/>
          </p:cNvCxnSpPr>
          <p:nvPr/>
        </p:nvCxnSpPr>
        <p:spPr>
          <a:xfrm>
            <a:off x="2926080" y="3859537"/>
            <a:ext cx="2230379" cy="8887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AA905676-197C-403D-9C6F-243A5C98BA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707" t="29600" r="13777" b="67606"/>
          <a:stretch>
            <a:fillRect/>
          </a:stretch>
        </p:blipFill>
        <p:spPr>
          <a:xfrm>
            <a:off x="3956300" y="5856729"/>
            <a:ext cx="684196" cy="18949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A37717B-4F4D-7155-05DA-9F256FF783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707" t="29600" r="13777" b="67606"/>
          <a:stretch>
            <a:fillRect/>
          </a:stretch>
        </p:blipFill>
        <p:spPr>
          <a:xfrm>
            <a:off x="4122637" y="6080180"/>
            <a:ext cx="684196" cy="18949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522E112-BAA0-5C41-719D-2215729126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707" t="29600" r="13777" b="67606"/>
          <a:stretch>
            <a:fillRect/>
          </a:stretch>
        </p:blipFill>
        <p:spPr>
          <a:xfrm>
            <a:off x="4046818" y="6331596"/>
            <a:ext cx="684196" cy="18949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2155A7D-AAB8-7E7C-9B42-8EB63B89AE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707" t="29600" r="13777" b="67606"/>
          <a:stretch>
            <a:fillRect/>
          </a:stretch>
        </p:blipFill>
        <p:spPr>
          <a:xfrm>
            <a:off x="4189312" y="6576987"/>
            <a:ext cx="684196" cy="1894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81CB021-0069-E7AC-9F80-48354B70EC1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72590" r="43295" b="11942"/>
          <a:stretch>
            <a:fillRect/>
          </a:stretch>
        </p:blipFill>
        <p:spPr>
          <a:xfrm>
            <a:off x="2183759" y="5812068"/>
            <a:ext cx="1479917" cy="992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226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7EDBA2D3-82C2-F79F-6B4B-ACD65769C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>
            <a:extLst>
              <a:ext uri="{FF2B5EF4-FFF2-40B4-BE49-F238E27FC236}">
                <a16:creationId xmlns:a16="http://schemas.microsoft.com/office/drawing/2014/main" id="{EE4F4B5C-A327-F644-2D66-C814BAB1B1A0}"/>
              </a:ext>
            </a:extLst>
          </p:cNvPr>
          <p:cNvSpPr txBox="1"/>
          <p:nvPr/>
        </p:nvSpPr>
        <p:spPr>
          <a:xfrm>
            <a:off x="299070" y="170391"/>
            <a:ext cx="11638929" cy="62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accent3"/>
              </a:buClr>
              <a:buSzPts val="3600"/>
            </a:pPr>
            <a:r>
              <a:rPr lang="en-US" sz="3600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Decoding Performance Overview – Full DeepSeekv3-671B</a:t>
            </a:r>
            <a:endParaRPr sz="3600" b="0" i="0" u="none" strike="noStrike" cap="none" dirty="0">
              <a:solidFill>
                <a:srgbClr val="1686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B5DBCD2E-E054-31AC-C93A-6145C50A72C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0183" y="6583096"/>
            <a:ext cx="846138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85F28-9416-BD46-9A43-F2FC9076B038}"/>
              </a:ext>
            </a:extLst>
          </p:cNvPr>
          <p:cNvSpPr txBox="1">
            <a:spLocks/>
          </p:cNvSpPr>
          <p:nvPr/>
        </p:nvSpPr>
        <p:spPr>
          <a:xfrm>
            <a:off x="316500" y="690880"/>
            <a:ext cx="11875499" cy="799113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>
            <a:lvl1pPr marL="304795" indent="-304795" algn="l" defTabSz="761976" rtl="0" eaLnBrk="1" latinLnBrk="0" hangingPunct="1">
              <a:lnSpc>
                <a:spcPct val="100000"/>
              </a:lnSpc>
              <a:spcBef>
                <a:spcPts val="1270"/>
              </a:spcBef>
              <a:buClrTx/>
              <a:buSzPct val="90000"/>
              <a:buFont typeface="Arial" panose="020B0604020202020204" pitchFamily="34" charset="0"/>
              <a:buChar char="•"/>
              <a:defRPr sz="254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533383" indent="-228597" algn="l" defTabSz="761976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2117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61976" indent="-228597" algn="l" defTabSz="914389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1905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990569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27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219162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164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514569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6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58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52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latin typeface="Calibri Light"/>
              </a:rPr>
              <a:t>NoC Collective Co-designed Kernels are the Key to high performance</a:t>
            </a:r>
          </a:p>
          <a:p>
            <a:pPr lvl="1">
              <a:defRPr/>
            </a:pPr>
            <a:r>
              <a:rPr lang="en-US" altLang="zh-CN" sz="1977" dirty="0">
                <a:solidFill>
                  <a:srgbClr val="000000"/>
                </a:solidFill>
                <a:latin typeface="Calibri Light"/>
              </a:rPr>
              <a:t>Close to roofline</a:t>
            </a:r>
            <a:endParaRPr lang="en-US" altLang="zh-CN" sz="2000" dirty="0">
              <a:solidFill>
                <a:srgbClr val="000000"/>
              </a:solidFill>
              <a:latin typeface="Calibri Ligh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1C9DE2-545C-1550-360D-66CD21AE55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88" t="7760" r="7512" b="2695"/>
          <a:stretch>
            <a:fillRect/>
          </a:stretch>
        </p:blipFill>
        <p:spPr>
          <a:xfrm>
            <a:off x="128016" y="1756205"/>
            <a:ext cx="4965442" cy="39298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AC65DB-74B6-88BC-5AD0-1F0504BCB0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469" y="1756205"/>
            <a:ext cx="6093120" cy="392983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A2C4A67-6BDD-FE20-F89D-0FF09C6CDE7D}"/>
              </a:ext>
            </a:extLst>
          </p:cNvPr>
          <p:cNvCxnSpPr/>
          <p:nvPr/>
        </p:nvCxnSpPr>
        <p:spPr>
          <a:xfrm>
            <a:off x="960120" y="4764024"/>
            <a:ext cx="471830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E692F291-4487-D4C5-DC8D-BB3EE885F931}"/>
              </a:ext>
            </a:extLst>
          </p:cNvPr>
          <p:cNvSpPr/>
          <p:nvPr/>
        </p:nvSpPr>
        <p:spPr>
          <a:xfrm>
            <a:off x="667512" y="4626864"/>
            <a:ext cx="256032" cy="256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79415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ACE32ED3-3FDE-3D3C-26A8-23B089EA4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>
            <a:extLst>
              <a:ext uri="{FF2B5EF4-FFF2-40B4-BE49-F238E27FC236}">
                <a16:creationId xmlns:a16="http://schemas.microsoft.com/office/drawing/2014/main" id="{2E441017-4C2A-FA0C-509E-E094ECB20656}"/>
              </a:ext>
            </a:extLst>
          </p:cNvPr>
          <p:cNvSpPr txBox="1"/>
          <p:nvPr/>
        </p:nvSpPr>
        <p:spPr>
          <a:xfrm>
            <a:off x="299070" y="170391"/>
            <a:ext cx="11638929" cy="62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accent3"/>
              </a:buClr>
              <a:buSzPts val="3600"/>
            </a:pPr>
            <a:r>
              <a:rPr lang="en-US" sz="3600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Decoding Performance Overview – Full DeepSeekv3-671B</a:t>
            </a:r>
            <a:endParaRPr sz="3600" b="0" i="0" u="none" strike="noStrike" cap="none" dirty="0">
              <a:solidFill>
                <a:srgbClr val="1686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75E81BBA-D58C-9159-8D25-1D3B65D72AC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0183" y="6583096"/>
            <a:ext cx="846138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F0DC6-6AB7-BEF6-1786-306BF2EFAE66}"/>
              </a:ext>
            </a:extLst>
          </p:cNvPr>
          <p:cNvSpPr txBox="1">
            <a:spLocks/>
          </p:cNvSpPr>
          <p:nvPr/>
        </p:nvSpPr>
        <p:spPr>
          <a:xfrm>
            <a:off x="316500" y="690880"/>
            <a:ext cx="11875499" cy="799113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>
            <a:lvl1pPr marL="304795" indent="-304795" algn="l" defTabSz="761976" rtl="0" eaLnBrk="1" latinLnBrk="0" hangingPunct="1">
              <a:lnSpc>
                <a:spcPct val="100000"/>
              </a:lnSpc>
              <a:spcBef>
                <a:spcPts val="1270"/>
              </a:spcBef>
              <a:buClrTx/>
              <a:buSzPct val="90000"/>
              <a:buFont typeface="Arial" panose="020B0604020202020204" pitchFamily="34" charset="0"/>
              <a:buChar char="•"/>
              <a:defRPr sz="254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533383" indent="-228597" algn="l" defTabSz="761976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2117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61976" indent="-228597" algn="l" defTabSz="914389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1905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990569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27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219162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164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514569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6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58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52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latin typeface="Calibri Light"/>
              </a:rPr>
              <a:t>NoC Collective Co-designed Kernels are the Key to high performance</a:t>
            </a:r>
          </a:p>
          <a:p>
            <a:pPr lvl="1">
              <a:defRPr/>
            </a:pPr>
            <a:r>
              <a:rPr lang="en-US" altLang="zh-CN" sz="1977" dirty="0">
                <a:solidFill>
                  <a:srgbClr val="000000"/>
                </a:solidFill>
                <a:latin typeface="Calibri Light"/>
              </a:rPr>
              <a:t>Close to roofline</a:t>
            </a:r>
            <a:endParaRPr lang="en-US" altLang="zh-CN" sz="2000" dirty="0">
              <a:solidFill>
                <a:srgbClr val="000000"/>
              </a:solidFill>
              <a:latin typeface="Calibri Ligh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DC424A-61C2-DF5A-971F-0A2EDD66A0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88" t="7760" r="7512" b="2695"/>
          <a:stretch>
            <a:fillRect/>
          </a:stretch>
        </p:blipFill>
        <p:spPr>
          <a:xfrm>
            <a:off x="128016" y="1756205"/>
            <a:ext cx="4965442" cy="392983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AF5F389-3E27-9A26-0699-82020D18A60C}"/>
              </a:ext>
            </a:extLst>
          </p:cNvPr>
          <p:cNvCxnSpPr>
            <a:cxnSpLocks/>
          </p:cNvCxnSpPr>
          <p:nvPr/>
        </p:nvCxnSpPr>
        <p:spPr>
          <a:xfrm>
            <a:off x="2478024" y="2084832"/>
            <a:ext cx="345643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69C1D63F-997D-646A-EAE5-3990A524474C}"/>
              </a:ext>
            </a:extLst>
          </p:cNvPr>
          <p:cNvSpPr/>
          <p:nvPr/>
        </p:nvSpPr>
        <p:spPr>
          <a:xfrm>
            <a:off x="2221992" y="1965960"/>
            <a:ext cx="256032" cy="256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AD986B-FFD2-1635-FCF1-25A4658623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456" y="1756204"/>
            <a:ext cx="6134197" cy="3929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535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021D6934-E4B4-0AF6-BA13-F11C03EEC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>
            <a:extLst>
              <a:ext uri="{FF2B5EF4-FFF2-40B4-BE49-F238E27FC236}">
                <a16:creationId xmlns:a16="http://schemas.microsoft.com/office/drawing/2014/main" id="{054235B9-1ECD-A156-7F26-BCE69CDC0587}"/>
              </a:ext>
            </a:extLst>
          </p:cNvPr>
          <p:cNvSpPr txBox="1"/>
          <p:nvPr/>
        </p:nvSpPr>
        <p:spPr>
          <a:xfrm>
            <a:off x="299070" y="170391"/>
            <a:ext cx="11638929" cy="62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accent3"/>
              </a:buClr>
              <a:buSzPts val="3600"/>
            </a:pPr>
            <a:r>
              <a:rPr lang="en-US" sz="3600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For Next</a:t>
            </a:r>
            <a:endParaRPr sz="3600" b="0" i="0" u="none" strike="noStrike" cap="none" dirty="0">
              <a:solidFill>
                <a:srgbClr val="1686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EBCEDC27-B885-1D2D-D64A-7BCB436C45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0183" y="6583096"/>
            <a:ext cx="846138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F4CDF5-3159-22C5-BA82-8AB60BC4D19B}"/>
              </a:ext>
            </a:extLst>
          </p:cNvPr>
          <p:cNvSpPr txBox="1">
            <a:spLocks/>
          </p:cNvSpPr>
          <p:nvPr/>
        </p:nvSpPr>
        <p:spPr>
          <a:xfrm>
            <a:off x="316499" y="685802"/>
            <a:ext cx="11799301" cy="2384658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>
            <a:lvl1pPr marL="304795" indent="-304795" algn="l" defTabSz="761976" rtl="0" eaLnBrk="1" latinLnBrk="0" hangingPunct="1">
              <a:lnSpc>
                <a:spcPct val="100000"/>
              </a:lnSpc>
              <a:spcBef>
                <a:spcPts val="1270"/>
              </a:spcBef>
              <a:buClrTx/>
              <a:buSzPct val="90000"/>
              <a:buFont typeface="Arial" panose="020B0604020202020204" pitchFamily="34" charset="0"/>
              <a:buChar char="•"/>
              <a:defRPr sz="254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533383" indent="-228597" algn="l" defTabSz="761976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2117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61976" indent="-228597" algn="l" defTabSz="914389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1905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990569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27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219162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164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514569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6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58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52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Slides for the final presentation</a:t>
            </a:r>
          </a:p>
          <a:p>
            <a:pPr lvl="1">
              <a:defRPr/>
            </a:pPr>
            <a:r>
              <a:rPr lang="en-US" altLang="zh-CN" sz="2012" dirty="0">
                <a:solidFill>
                  <a:srgbClr val="000000"/>
                </a:solidFill>
                <a:latin typeface="Calibri Light"/>
              </a:rPr>
              <a:t>Revise internally first, The 1</a:t>
            </a:r>
            <a:r>
              <a:rPr lang="en-US" altLang="zh-CN" sz="2012" baseline="30000" dirty="0">
                <a:solidFill>
                  <a:srgbClr val="000000"/>
                </a:solidFill>
                <a:latin typeface="Calibri Light"/>
              </a:rPr>
              <a:t>st</a:t>
            </a:r>
            <a:r>
              <a:rPr lang="en-US" altLang="zh-CN" sz="2012" dirty="0">
                <a:solidFill>
                  <a:srgbClr val="000000"/>
                </a:solidFill>
                <a:latin typeface="Calibri Light"/>
              </a:rPr>
              <a:t> version plan to be ready on next Monday if everything goes well</a:t>
            </a:r>
            <a:endParaRPr lang="en-US" altLang="zh-CN" sz="1800" dirty="0">
              <a:solidFill>
                <a:srgbClr val="000000"/>
              </a:solidFill>
              <a:latin typeface="Calibri Light"/>
            </a:endParaRPr>
          </a:p>
          <a:p>
            <a:pPr marL="0" indent="0">
              <a:buNone/>
              <a:defRPr/>
            </a:pPr>
            <a:endParaRPr lang="en-US" altLang="zh-CN" sz="2012" dirty="0">
              <a:solidFill>
                <a:srgbClr val="000000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942702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993653"/>
      </p:ext>
    </p:extLst>
  </p:cSld>
  <p:clrMapOvr>
    <a:masterClrMapping/>
  </p:clrMapOvr>
</p:sld>
</file>

<file path=ppt/theme/theme1.xml><?xml version="1.0" encoding="utf-8"?>
<a:theme xmlns:a="http://schemas.openxmlformats.org/drawingml/2006/main" name="PULP Cod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ULP Cod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b="1" i="0" cap="none" spc="0" dirty="0" smtClean="0">
            <a:ln>
              <a:noFill/>
            </a:ln>
            <a:solidFill>
              <a:schemeClr val="bg2"/>
            </a:solidFill>
            <a:effectLst/>
            <a:latin typeface="Arial Narrow" panose="020B0604020202020204" pitchFamily="34" charset="0"/>
            <a:cs typeface="Arial Narrow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noAutofit/>
      </a:bodyPr>
      <a:lstStyle>
        <a:defPPr algn="l" defTabSz="720000">
          <a:defRPr sz="2400" b="0" i="0" dirty="0" smtClean="0">
            <a:solidFill>
              <a:schemeClr val="tx2"/>
            </a:solidFill>
            <a:latin typeface="Arial Narrow" panose="020B0604020202020204" pitchFamily="34" charset="0"/>
            <a:cs typeface="Arial Narrow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ulp_2022" id="{3CE89E8F-20E3-B94F-AB91-BF4B5F770EBF}" vid="{D455FB22-247C-394B-86F1-181C25098715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752</Words>
  <Application>Microsoft Office PowerPoint</Application>
  <PresentationFormat>Widescreen</PresentationFormat>
  <Paragraphs>104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Calibri Light</vt:lpstr>
      <vt:lpstr>等线</vt:lpstr>
      <vt:lpstr>Arial Narrow</vt:lpstr>
      <vt:lpstr>Consolas</vt:lpstr>
      <vt:lpstr>Calibri</vt:lpstr>
      <vt:lpstr>Arial</vt:lpstr>
      <vt:lpstr>等线 Light</vt:lpstr>
      <vt:lpstr>PULP Code</vt:lpstr>
      <vt:lpstr>1_PULP Code</vt:lpstr>
      <vt:lpstr>Office 主题​​</vt:lpstr>
      <vt:lpstr>SoftHier Bi-Weekly Meeting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SoftHier Bi-Weekly Meeting</dc:title>
  <dc:creator>Chi Zhang</dc:creator>
  <cp:lastModifiedBy>Zhang  Chi</cp:lastModifiedBy>
  <cp:revision>83</cp:revision>
  <dcterms:created xsi:type="dcterms:W3CDTF">2023-03-05T10:39:52Z</dcterms:created>
  <dcterms:modified xsi:type="dcterms:W3CDTF">2025-11-10T14:13:18Z</dcterms:modified>
</cp:coreProperties>
</file>