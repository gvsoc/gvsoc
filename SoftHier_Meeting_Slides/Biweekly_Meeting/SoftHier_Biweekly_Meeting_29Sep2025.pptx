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11"/>
  </p:notesMasterIdLst>
  <p:sldIdLst>
    <p:sldId id="256" r:id="rId3"/>
    <p:sldId id="257" r:id="rId4"/>
    <p:sldId id="709" r:id="rId5"/>
    <p:sldId id="710" r:id="rId6"/>
    <p:sldId id="711" r:id="rId7"/>
    <p:sldId id="712" r:id="rId8"/>
    <p:sldId id="713" r:id="rId9"/>
    <p:sldId id="714" r:id="rId10"/>
  </p:sldIdLst>
  <p:sldSz cx="12192000" cy="6858000"/>
  <p:notesSz cx="6858000" cy="9144000"/>
  <p:embeddedFontLst>
    <p:embeddedFont>
      <p:font typeface="Arial Narrow" panose="020B0606020202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hFXiedstfEP1KnXxiq2oxvixI1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A7671"/>
    <a:srgbClr val="F29545"/>
    <a:srgbClr val="168638"/>
    <a:srgbClr val="A8322C"/>
    <a:srgbClr val="910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664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0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FCEC7ED-0FC3-7237-F44F-94EAC0ED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49192757-8867-0D60-C55C-EA3755B7B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24F3A89-1465-F437-8021-579884D68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092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A67B1441-0FE8-F861-2190-01AEFA7D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DA401A67-CDC8-D5BF-B31B-73266F5509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BD5C05DB-1D64-73E2-2C11-98916966C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1100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BDAA3A66-962C-5A3C-5E09-F107CB6B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1711B916-47F3-349B-ADA9-CFA23D34A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4C1A3D91-5396-F9EF-E7EF-EF84346A1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7372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1D88E499-8267-2CDE-62DA-3BCDF218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F55042F8-0843-B9B1-6919-A9FF41491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F19B26B-9A0C-013B-E821-3F97F25DA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0640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A1B3A7FF-2484-A36E-8B77-BD0D39E4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84F3FBF2-F6E6-EE6C-7825-2671864F7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6DB55F6-27FC-BD1D-D57F-C445AD48F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45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915381F-1171-EB8A-F00F-61874A9F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>
            <a:extLst>
              <a:ext uri="{FF2B5EF4-FFF2-40B4-BE49-F238E27FC236}">
                <a16:creationId xmlns:a16="http://schemas.microsoft.com/office/drawing/2014/main" id="{98CC72A4-3E76-1BCB-996E-685595677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0EC8F40-F767-36FC-FFD1-A22F6C302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71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620"/>
              <a:buChar char="•"/>
              <a:defRPr/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316500" y="990573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73761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49586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3747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>
                <a:solidFill>
                  <a:schemeClr val="dk1"/>
                </a:solidFill>
              </a:defRPr>
            </a:lvl3pPr>
            <a:lvl4pPr marL="1828800" lvl="3" indent="-301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9512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6096000" y="990573"/>
            <a:ext cx="6102077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0" tIns="252000" rIns="0" bIns="45700" anchor="t" anchorCtr="0">
            <a:noAutofit/>
          </a:bodyPr>
          <a:lstStyle>
            <a:lvl1pPr marL="457200" lvl="0" indent="-228600" algn="l">
              <a:lnSpc>
                <a:spcPct val="55538"/>
              </a:lnSpc>
              <a:spcBef>
                <a:spcPts val="1270"/>
              </a:spcBef>
              <a:spcAft>
                <a:spcPts val="0"/>
              </a:spcAft>
              <a:buSzPts val="1714"/>
              <a:buNone/>
              <a:defRPr sz="1904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316500" y="990573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373761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49586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3747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>
                <a:solidFill>
                  <a:schemeClr val="dk1"/>
                </a:solidFill>
              </a:defRPr>
            </a:lvl3pPr>
            <a:lvl4pPr marL="1828800" lvl="3" indent="-301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9512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6096000" y="990573"/>
            <a:ext cx="6102077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0" tIns="252000" rIns="0" bIns="45700" anchor="t" anchorCtr="0">
            <a:noAutofit/>
          </a:bodyPr>
          <a:lstStyle>
            <a:lvl1pPr marL="457200" lvl="0" indent="-228600" algn="l">
              <a:lnSpc>
                <a:spcPct val="55538"/>
              </a:lnSpc>
              <a:spcBef>
                <a:spcPts val="1270"/>
              </a:spcBef>
              <a:spcAft>
                <a:spcPts val="0"/>
              </a:spcAft>
              <a:buSzPts val="1714"/>
              <a:buNone/>
              <a:defRPr sz="1904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>
  <p:cSld name="标题幻灯片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"/>
          <p:cNvGrpSpPr/>
          <p:nvPr/>
        </p:nvGrpSpPr>
        <p:grpSpPr>
          <a:xfrm>
            <a:off x="2431284" y="217607"/>
            <a:ext cx="2109071" cy="456122"/>
            <a:chOff x="3645356" y="188193"/>
            <a:chExt cx="5677387" cy="1227805"/>
          </a:xfrm>
        </p:grpSpPr>
        <p:pic>
          <p:nvPicPr>
            <p:cNvPr id="24" name="Google Shape;24;p6"/>
            <p:cNvPicPr preferRelativeResize="0"/>
            <p:nvPr/>
          </p:nvPicPr>
          <p:blipFill rotWithShape="1">
            <a:blip r:embed="rId2">
              <a:alphaModFix/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6"/>
            <p:cNvPicPr preferRelativeResize="0"/>
            <p:nvPr/>
          </p:nvPicPr>
          <p:blipFill rotWithShape="1">
            <a:blip r:embed="rId2">
              <a:alphaModFix/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6"/>
          <p:cNvSpPr/>
          <p:nvPr/>
        </p:nvSpPr>
        <p:spPr>
          <a:xfrm>
            <a:off x="7538308" y="2204236"/>
            <a:ext cx="4653692" cy="4653764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489" y="282948"/>
            <a:ext cx="1767831" cy="29464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subTitle" idx="1"/>
          </p:nvPr>
        </p:nvSpPr>
        <p:spPr>
          <a:xfrm>
            <a:off x="381487" y="3115708"/>
            <a:ext cx="6095742" cy="38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2286"/>
              <a:buNone/>
              <a:defRPr sz="254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81486" y="1854817"/>
            <a:ext cx="10667548" cy="114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 sz="3809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/>
          <p:nvPr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61787" y="3246606"/>
            <a:ext cx="2448726" cy="2101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61186" y="6005221"/>
            <a:ext cx="347027" cy="29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6" descr="A picture containing ax, vector graphics, tool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97284" y="5678622"/>
            <a:ext cx="297421" cy="244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75152" y="6374731"/>
            <a:ext cx="341685" cy="23638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/>
        </p:nvSpPr>
        <p:spPr>
          <a:xfrm>
            <a:off x="9265347" y="5973623"/>
            <a:ext cx="2209804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9813515" y="5645227"/>
            <a:ext cx="1661636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8765175" y="6302018"/>
            <a:ext cx="2709976" cy="33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7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/>
          </a:p>
        </p:txBody>
      </p:sp>
      <p:sp>
        <p:nvSpPr>
          <p:cNvPr id="39" name="Google Shape;39;p6"/>
          <p:cNvSpPr txBox="1"/>
          <p:nvPr/>
        </p:nvSpPr>
        <p:spPr>
          <a:xfrm>
            <a:off x="381487" y="5882743"/>
            <a:ext cx="6051407" cy="71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4"/>
              <a:buFont typeface="Calibri"/>
              <a:buNone/>
            </a:pPr>
            <a:r>
              <a:rPr lang="en-US" sz="190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-US"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381487" y="3884883"/>
            <a:ext cx="6095742" cy="171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  <a:defRPr sz="2117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1620"/>
              <a:buChar char="•"/>
              <a:defRPr/>
            </a:lvl3pPr>
            <a:lvl4pPr marL="1828800" lvl="3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522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8CA-A1BF-D6AB-4593-70AA8BA7A18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effectLst/>
        </p:spPr>
        <p:txBody>
          <a:bodyPr/>
          <a:lstStyle>
            <a:lvl1pPr>
              <a:defRPr>
                <a:ln w="15875" cmpd="sng">
                  <a:noFill/>
                  <a:round/>
                </a:ln>
                <a:solidFill>
                  <a:schemeClr val="accent3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2B96F6E-6763-388C-C56C-A5F6DDF7C2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4BB9895-C16D-8D3B-6B99-94C506A0DD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01239-BAA4-8A00-7636-86EDC75888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E0C66A2-8627-414E-981C-541940719BAF}" type="datetime1">
              <a:rPr lang="zh-CN" altLang="en-US" smtClean="0"/>
              <a:t>2025/9/29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7580FD-90D9-4643-869E-F2DC0D2AC6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8CA-A1BF-D6AB-4593-70AA8BA7A18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effectLst/>
        </p:spPr>
        <p:txBody>
          <a:bodyPr/>
          <a:lstStyle>
            <a:lvl1pPr>
              <a:defRPr>
                <a:ln w="15875" cmpd="sng">
                  <a:noFill/>
                  <a:round/>
                </a:ln>
                <a:solidFill>
                  <a:schemeClr val="accent3"/>
                </a:solidFill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2B96F6E-6763-388C-C56C-A5F6DDF7C2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6500" y="990573"/>
            <a:ext cx="5333774" cy="5524351"/>
          </a:xfrm>
        </p:spPr>
        <p:txBody>
          <a:bodyPr lIns="0"/>
          <a:lstStyle>
            <a:lvl1pPr marL="304795" indent="-30479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33383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61976" indent="-228597">
              <a:buClrTx/>
              <a:buFont typeface="Arial" panose="020B0604020202020204" pitchFamily="34" charset="0"/>
              <a:buChar char="•"/>
              <a:defRPr sz="1905">
                <a:solidFill>
                  <a:schemeClr val="tx1"/>
                </a:solidFill>
              </a:defRPr>
            </a:lvl3pPr>
            <a:lvl4pPr marL="990569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219162" indent="-228597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4BB9895-C16D-8D3B-6B99-94C506A0DD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990573"/>
            <a:ext cx="6102077" cy="5524351"/>
          </a:xfrm>
        </p:spPr>
        <p:txBody>
          <a:bodyPr lIns="468000" tIns="252000"/>
          <a:lstStyle>
            <a:lvl1pPr marL="0" indent="0">
              <a:lnSpc>
                <a:spcPts val="1058"/>
              </a:lnSpc>
              <a:buNone/>
              <a:defRPr sz="1905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noProof="0"/>
              <a:t>Click to edit code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08F47-EC5C-3578-1BA2-5D84AD510EF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16A3985-B2B5-4012-9CB4-876599AD6DCA}" type="datetime1">
              <a:rPr lang="zh-CN" altLang="en-US" smtClean="0"/>
              <a:t>2025/9/29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76D19F-CFD6-B7EE-F862-390C4E0962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4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2431284" y="217607"/>
            <a:ext cx="2109071" cy="456122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7538308" y="2204236"/>
            <a:ext cx="4653692" cy="4653764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489" y="282948"/>
            <a:ext cx="1767831" cy="294643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487" y="3115708"/>
            <a:ext cx="6095742" cy="380990"/>
          </a:xfrm>
        </p:spPr>
        <p:txBody>
          <a:bodyPr lIns="0" tIns="0" rIns="0" bIns="0" anchor="b"/>
          <a:lstStyle>
            <a:lvl1pPr marL="0" indent="0" algn="l">
              <a:buNone/>
              <a:defRPr sz="254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1486" y="1854817"/>
            <a:ext cx="10667548" cy="1142969"/>
          </a:xfrm>
        </p:spPr>
        <p:txBody>
          <a:bodyPr anchor="t"/>
          <a:lstStyle>
            <a:lvl1pPr>
              <a:defRPr sz="3810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9949083" y="3485624"/>
            <a:ext cx="1617442" cy="1617417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9473177" y="3855327"/>
            <a:ext cx="861773" cy="883471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05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1787" y="3246606"/>
            <a:ext cx="2448726" cy="2101406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1186" y="6005221"/>
            <a:ext cx="347027" cy="297807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97284" y="5678622"/>
            <a:ext cx="297421" cy="24467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75152" y="6374731"/>
            <a:ext cx="341685" cy="23638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9265347" y="5973623"/>
            <a:ext cx="2209804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9813515" y="5645227"/>
            <a:ext cx="1661636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8765175" y="6302018"/>
            <a:ext cx="2709976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87" b="0" i="0" u="none" noProof="0">
                <a:solidFill>
                  <a:schemeClr val="bg2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381487" y="5882743"/>
            <a:ext cx="6051407" cy="7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7619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5" b="1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905" b="0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905" b="0" i="0" noProof="0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  <a:cs typeface="Arial Narrow" panose="020B060402020202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487" y="3884883"/>
            <a:ext cx="6095742" cy="1713889"/>
          </a:xfrm>
        </p:spPr>
        <p:txBody>
          <a:bodyPr/>
          <a:lstStyle>
            <a:lvl1pPr marL="0" indent="0">
              <a:buNone/>
              <a:defRPr sz="2117">
                <a:solidFill>
                  <a:schemeClr val="accent3"/>
                </a:solidFill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0623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/>
        </p:nvSpPr>
        <p:spPr>
          <a:xfrm>
            <a:off x="0" y="3"/>
            <a:ext cx="609574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71475" tIns="1181050" rIns="0" bIns="45700" anchor="t" anchorCtr="0">
            <a:noAutofit/>
          </a:bodyPr>
          <a:lstStyle/>
          <a:p>
            <a:pPr marL="0" marR="0" lvl="0" indent="0" algn="l" rtl="0">
              <a:lnSpc>
                <a:spcPct val="1102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None/>
            </a:pPr>
            <a:endParaRPr sz="1904" b="0" i="0" u="none" strike="noStrike" cap="none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10"/>
              <a:buFont typeface="Calibri"/>
              <a:buNone/>
              <a:defRPr sz="3809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marL="457200" marR="0" lvl="0" indent="-373761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2286"/>
              <a:buFont typeface="Arial"/>
              <a:buChar char="•"/>
              <a:defRPr sz="25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586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905"/>
              <a:buFont typeface="Arial"/>
              <a:buChar char="•"/>
              <a:defRPr sz="21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7470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•"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11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"/>
              <a:buFont typeface="Arial"/>
              <a:buChar char="•"/>
              <a:defRPr sz="12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1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8"/>
              <a:buFont typeface="Arial"/>
              <a:buChar char="•"/>
              <a:defRPr sz="11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/>
          <p:nvPr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" name="Google Shape;14;p5"/>
          <p:cNvSpPr/>
          <p:nvPr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4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5" name="Google Shape;15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69708" y="149147"/>
            <a:ext cx="981397" cy="8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5"/>
          <p:cNvSpPr txBox="1">
            <a:spLocks noGrp="1"/>
          </p:cNvSpPr>
          <p:nvPr>
            <p:ph type="dt" idx="10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ldNum" idx="12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6504" y="6517136"/>
            <a:ext cx="1170551" cy="195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5"/>
          <p:cNvGrpSpPr/>
          <p:nvPr/>
        </p:nvGrpSpPr>
        <p:grpSpPr>
          <a:xfrm>
            <a:off x="1624922" y="6474583"/>
            <a:ext cx="1418460" cy="306766"/>
            <a:chOff x="3645356" y="188193"/>
            <a:chExt cx="5677387" cy="1227805"/>
          </a:xfrm>
        </p:grpSpPr>
        <p:pic>
          <p:nvPicPr>
            <p:cNvPr id="20" name="Google Shape;20;p5"/>
            <p:cNvPicPr preferRelativeResize="0"/>
            <p:nvPr/>
          </p:nvPicPr>
          <p:blipFill rotWithShape="1">
            <a:blip r:embed="rId8">
              <a:alphaModFix/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5"/>
            <p:cNvPicPr preferRelativeResize="0"/>
            <p:nvPr/>
          </p:nvPicPr>
          <p:blipFill rotWithShape="1">
            <a:blip r:embed="rId8">
              <a:alphaModFix/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8" r:id="rId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A21F4A92-B526-C0E2-7CA3-0721D7897FD8}"/>
              </a:ext>
            </a:extLst>
          </p:cNvPr>
          <p:cNvSpPr txBox="1">
            <a:spLocks/>
          </p:cNvSpPr>
          <p:nvPr userDrawn="1"/>
        </p:nvSpPr>
        <p:spPr>
          <a:xfrm>
            <a:off x="0" y="3"/>
            <a:ext cx="6095742" cy="6858000"/>
          </a:xfrm>
          <a:prstGeom prst="rect">
            <a:avLst/>
          </a:prstGeom>
          <a:solidFill>
            <a:srgbClr val="FFFFFF"/>
          </a:solidFill>
        </p:spPr>
        <p:txBody>
          <a:bodyPr lIns="571476" tIns="1181050" rIns="0"/>
          <a:lstStyle>
            <a:lvl1pPr marL="0" indent="0" algn="l" defTabSz="720000" rtl="0" eaLnBrk="1" latinLnBrk="0" hangingPunct="1">
              <a:lnSpc>
                <a:spcPts val="2100"/>
              </a:lnSpc>
              <a:spcBef>
                <a:spcPts val="1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lang="en-US" sz="1800" b="0" i="0" kern="1200" dirty="0" smtClean="0">
                <a:solidFill>
                  <a:schemeClr val="bg2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287996" indent="0" algn="l" defTabSz="7200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503996" indent="0" algn="l" defTabSz="86401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719996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935996" indent="0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Consolas" panose="020B0609020204030204" pitchFamily="49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CH" sz="1905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503" y="180326"/>
            <a:ext cx="10667548" cy="65705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503" y="991347"/>
            <a:ext cx="5333774" cy="5524351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dirty="0"/>
              <a:t>First line of text</a:t>
            </a:r>
          </a:p>
          <a:p>
            <a:pPr lvl="1"/>
            <a:r>
              <a:rPr lang="en-US" dirty="0"/>
              <a:t>Subtitle</a:t>
            </a:r>
          </a:p>
          <a:p>
            <a:pPr lvl="2"/>
            <a:r>
              <a:rPr lang="en-US" dirty="0"/>
              <a:t>Sub-subtitle</a:t>
            </a:r>
          </a:p>
          <a:p>
            <a:pPr lvl="3"/>
            <a:r>
              <a:rPr lang="en-US" dirty="0"/>
              <a:t>Normally this should not be here</a:t>
            </a:r>
          </a:p>
          <a:p>
            <a:pPr lvl="4"/>
            <a:r>
              <a:rPr lang="en-US" dirty="0"/>
              <a:t>This level should not be used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1085905" y="380600"/>
            <a:ext cx="379300" cy="379294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905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1288321" y="229855"/>
            <a:ext cx="680796" cy="680785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905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9708" y="149147"/>
            <a:ext cx="981397" cy="842200"/>
          </a:xfrm>
          <a:prstGeom prst="rect">
            <a:avLst/>
          </a:prstGeom>
          <a:ln w="66675">
            <a:noFill/>
          </a:ln>
        </p:spPr>
      </p:pic>
      <p:sp>
        <p:nvSpPr>
          <p:cNvPr id="15" name="Date Placeholder 12">
            <a:extLst>
              <a:ext uri="{FF2B5EF4-FFF2-40B4-BE49-F238E27FC236}">
                <a16:creationId xmlns:a16="http://schemas.microsoft.com/office/drawing/2014/main" id="{18D25101-8D3A-4FCE-AD45-EFF7381EE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51021" y="6473766"/>
            <a:ext cx="6857709" cy="3067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76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</a:defRPr>
            </a:lvl1pPr>
          </a:lstStyle>
          <a:p>
            <a:fld id="{10CD0060-CF93-4A5C-B8B0-87FB8F1D783B}" type="datetime1">
              <a:rPr lang="zh-CN" altLang="en-US" smtClean="0"/>
              <a:t>2025/9/29</a:t>
            </a:fld>
            <a:endParaRPr lang="en-US" dirty="0"/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9FD5FD96-2F1C-A83C-31B3-F7A0C195B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85676" y="6473766"/>
            <a:ext cx="598375" cy="30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76">
                <a:solidFill>
                  <a:schemeClr val="tx1"/>
                </a:solidFill>
                <a:latin typeface="+mn-lt"/>
                <a:ea typeface="Roboto Condensed Light" panose="02000000000000000000" pitchFamily="2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69038FDA-08BA-A66A-1241-36A63C59580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504" y="6517136"/>
            <a:ext cx="1170551" cy="19509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5D4EFA1-A84C-F8AD-9799-5ACEE8E43DC7}"/>
              </a:ext>
            </a:extLst>
          </p:cNvPr>
          <p:cNvGrpSpPr/>
          <p:nvPr userDrawn="1"/>
        </p:nvGrpSpPr>
        <p:grpSpPr>
          <a:xfrm>
            <a:off x="1624922" y="6474583"/>
            <a:ext cx="1418460" cy="306766"/>
            <a:chOff x="3645356" y="188193"/>
            <a:chExt cx="5677387" cy="122780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D51C634-BBE7-C8AC-9A88-CD89B5500A4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A97D5C1-9506-E7FC-7C0D-931DA2D5FC0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917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3810" b="0" i="0" kern="1200" spc="-106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04795" indent="-304795" algn="l" defTabSz="761976" rtl="0" eaLnBrk="1" latinLnBrk="0" hangingPunct="1">
        <a:lnSpc>
          <a:spcPct val="100000"/>
        </a:lnSpc>
        <a:spcBef>
          <a:spcPts val="127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54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533383" indent="-228597" algn="l" defTabSz="761976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211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761976" indent="-228597" algn="l" defTabSz="914389" rtl="0" eaLnBrk="1" latinLnBrk="0" hangingPunct="1">
        <a:lnSpc>
          <a:spcPct val="100000"/>
        </a:lnSpc>
        <a:spcBef>
          <a:spcPts val="635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990569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27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219162" indent="-228597" algn="l" defTabSz="914389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164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izhang@iis.ee.ethz.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tbenz@iis.ee.ethz.ch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title"/>
          </p:nvPr>
        </p:nvSpPr>
        <p:spPr>
          <a:xfrm>
            <a:off x="381484" y="1723799"/>
            <a:ext cx="10957075" cy="737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00"/>
              <a:buFont typeface="Calibri"/>
              <a:buNone/>
            </a:pPr>
            <a:r>
              <a:rPr lang="en-US" dirty="0"/>
              <a:t>SoftHier Bi-Weekly Meeting</a:t>
            </a:r>
            <a:endParaRPr dirty="0"/>
          </a:p>
        </p:txBody>
      </p:sp>
      <p:sp>
        <p:nvSpPr>
          <p:cNvPr id="64" name="Google Shape;64;p1"/>
          <p:cNvSpPr txBox="1">
            <a:spLocks noGrp="1"/>
          </p:cNvSpPr>
          <p:nvPr>
            <p:ph type="body" idx="2"/>
          </p:nvPr>
        </p:nvSpPr>
        <p:spPr>
          <a:xfrm>
            <a:off x="381487" y="3441348"/>
            <a:ext cx="6095742" cy="227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Chi Zhang</a:t>
            </a:r>
            <a:r>
              <a:rPr lang="en-US"/>
              <a:t>		</a:t>
            </a:r>
            <a:r>
              <a:rPr lang="en-US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chizhang@iis.ee.ethz.ch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Thomas Benz</a:t>
            </a:r>
            <a:r>
              <a:rPr lang="en-US"/>
              <a:t>	 	</a:t>
            </a: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tbenz@iis.ee.ethz.ch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90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Luca Colagrande</a:t>
            </a:r>
            <a:r>
              <a:rPr lang="en-US"/>
              <a:t>	</a:t>
            </a:r>
            <a:r>
              <a:rPr lang="en-US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colluca@iis.ee.ethz.ch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905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Calibri"/>
              <a:buNone/>
            </a:pPr>
            <a:r>
              <a:rPr lang="en-US" sz="3600" b="0" i="0" u="none" strike="noStrike" cap="none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SoftHier Progress General Updates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9791A3-751E-0936-B276-2CA1AF34111C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9883943" cy="384962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We first show our preliminary Journal plan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Preliminary title: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Dataflow and Fabric Collectives Co-Optimization for Efficiently Serving Modern LLM on Tile-Based Many-PE Accelerators</a:t>
            </a:r>
            <a:endParaRPr lang="en-US" altLang="zh-CN" sz="1800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We then discuss about the requirements for final report for SoftHier Project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29E31E05-EF31-6BC4-1F14-8E49AEF4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602A8F49-5639-813A-AD85-6CA3FEFF3948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Evolution of Mainstream LLM Architectures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22045B38-7C56-9DD5-AC0D-6283C0DE22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5FB599-C818-B911-98ED-1A1CCECBB29E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7513051" cy="5413247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Classical Designs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Multi-Head Attention (MHA) + Multi-Layer Perceptron (MLP):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Found in early models (e.g., GPT, BERT)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Efficient Variants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Multi-Query Attention (MQA)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Group-Query Attention (GQA)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Introduced in the </a:t>
            </a:r>
            <a:r>
              <a:rPr lang="en-GB" altLang="zh-CN" sz="2012" dirty="0" err="1">
                <a:solidFill>
                  <a:srgbClr val="000000"/>
                </a:solidFill>
                <a:latin typeface="Calibri Light"/>
              </a:rPr>
              <a:t>LLaMA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 series</a:t>
            </a: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Advanced Mechanisms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Multi-Latent Attention (MLA)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Mixture-of-Experts (</a:t>
            </a:r>
            <a:r>
              <a:rPr lang="en-US" altLang="zh-CN" sz="2012" dirty="0" err="1">
                <a:solidFill>
                  <a:srgbClr val="000000"/>
                </a:solidFill>
                <a:latin typeface="Calibri Light"/>
              </a:rPr>
              <a:t>MoE</a:t>
            </a: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) integration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Adopted in DeepSeek-v3 and Kimi v2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D85B71-8F4B-A121-8C5B-B63776AFA3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274"/>
          <a:stretch>
            <a:fillRect/>
          </a:stretch>
        </p:blipFill>
        <p:spPr bwMode="auto">
          <a:xfrm>
            <a:off x="8069262" y="685801"/>
            <a:ext cx="2966037" cy="613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66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BE0F5DD4-09AA-C241-70A5-E6B41E13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635C2FA8-193A-498B-B182-8573805EF7D2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Scalable Accelerator Design for LLM Inference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29B2A116-AA65-F6C7-E317-42FE69F4E6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21162F3-640E-8EE4-6CE1-EDC5161BEABD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6002005" cy="5413247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Emerging Inference Trend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Inference as primary workload in reasoning-centric applications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Tile-Based Many-PE Accelerator Architecture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Structured as meshes of compute tiles</a:t>
            </a:r>
          </a:p>
          <a:p>
            <a:pPr lvl="2">
              <a:defRPr/>
            </a:pP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Matrix, vector and scalar engines</a:t>
            </a:r>
          </a:p>
          <a:p>
            <a:pPr lvl="2">
              <a:defRPr/>
            </a:pPr>
            <a:r>
              <a:rPr lang="en-US" altLang="zh-CN" sz="1800" dirty="0">
                <a:solidFill>
                  <a:srgbClr val="000000"/>
                </a:solidFill>
                <a:latin typeface="Calibri Light"/>
              </a:rPr>
              <a:t>Local explicitly managed memories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Interconnect with scalable NoC topology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Main memory positioned at die boundaries</a:t>
            </a: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Favors silicon efficiency and scalability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A dense compute tile placement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Software-controlled partitioned memory hierarchy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Eliminates L2 on-chip cache for area efficiency</a:t>
            </a:r>
          </a:p>
        </p:txBody>
      </p:sp>
      <p:pic>
        <p:nvPicPr>
          <p:cNvPr id="227" name="Picture 10" descr="Tenstorrent details its RISC-V packed Blackhole chips • The Register">
            <a:extLst>
              <a:ext uri="{FF2B5EF4-FFF2-40B4-BE49-F238E27FC236}">
                <a16:creationId xmlns:a16="http://schemas.microsoft.com/office/drawing/2014/main" id="{AEDA83F1-BA79-C08D-DE13-953BCCBB7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7" t="25478" r="10222" b="17296"/>
          <a:stretch/>
        </p:blipFill>
        <p:spPr bwMode="auto">
          <a:xfrm>
            <a:off x="9638316" y="3740612"/>
            <a:ext cx="2038342" cy="142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8" name="组合 2087">
            <a:extLst>
              <a:ext uri="{FF2B5EF4-FFF2-40B4-BE49-F238E27FC236}">
                <a16:creationId xmlns:a16="http://schemas.microsoft.com/office/drawing/2014/main" id="{20CCE082-AE0B-B1D3-B27C-3B30B9B8617F}"/>
              </a:ext>
            </a:extLst>
          </p:cNvPr>
          <p:cNvGrpSpPr/>
          <p:nvPr/>
        </p:nvGrpSpPr>
        <p:grpSpPr>
          <a:xfrm>
            <a:off x="6655553" y="1774529"/>
            <a:ext cx="2185618" cy="2264734"/>
            <a:chOff x="5337254" y="974674"/>
            <a:chExt cx="2185618" cy="2264734"/>
          </a:xfrm>
        </p:grpSpPr>
        <p:grpSp>
          <p:nvGrpSpPr>
            <p:cNvPr id="229" name="组合 15">
              <a:extLst>
                <a:ext uri="{FF2B5EF4-FFF2-40B4-BE49-F238E27FC236}">
                  <a16:creationId xmlns:a16="http://schemas.microsoft.com/office/drawing/2014/main" id="{08F578DC-A18F-47BE-716B-080228623DE7}"/>
                </a:ext>
              </a:extLst>
            </p:cNvPr>
            <p:cNvGrpSpPr/>
            <p:nvPr/>
          </p:nvGrpSpPr>
          <p:grpSpPr>
            <a:xfrm>
              <a:off x="5586362" y="1218461"/>
              <a:ext cx="1691970" cy="1761889"/>
              <a:chOff x="3770120" y="903514"/>
              <a:chExt cx="2304308" cy="2399530"/>
            </a:xfrm>
          </p:grpSpPr>
          <p:sp>
            <p:nvSpPr>
              <p:cNvPr id="338" name="矩形 16">
                <a:extLst>
                  <a:ext uri="{FF2B5EF4-FFF2-40B4-BE49-F238E27FC236}">
                    <a16:creationId xmlns:a16="http://schemas.microsoft.com/office/drawing/2014/main" id="{181ECF66-502F-099C-18DA-86FED5F994C5}"/>
                  </a:ext>
                </a:extLst>
              </p:cNvPr>
              <p:cNvSpPr/>
              <p:nvPr/>
            </p:nvSpPr>
            <p:spPr>
              <a:xfrm>
                <a:off x="3770120" y="903514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39" name="矩形 17">
                <a:extLst>
                  <a:ext uri="{FF2B5EF4-FFF2-40B4-BE49-F238E27FC236}">
                    <a16:creationId xmlns:a16="http://schemas.microsoft.com/office/drawing/2014/main" id="{C4750F23-00EF-A2B9-9D2E-498B4284DA7A}"/>
                  </a:ext>
                </a:extLst>
              </p:cNvPr>
              <p:cNvSpPr/>
              <p:nvPr/>
            </p:nvSpPr>
            <p:spPr>
              <a:xfrm>
                <a:off x="4353001" y="903514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0" name="矩形 18">
                <a:extLst>
                  <a:ext uri="{FF2B5EF4-FFF2-40B4-BE49-F238E27FC236}">
                    <a16:creationId xmlns:a16="http://schemas.microsoft.com/office/drawing/2014/main" id="{5AC97183-48DC-46A6-0F8D-EC679220667E}"/>
                  </a:ext>
                </a:extLst>
              </p:cNvPr>
              <p:cNvSpPr/>
              <p:nvPr/>
            </p:nvSpPr>
            <p:spPr>
              <a:xfrm>
                <a:off x="4942313" y="903514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1" name="矩形 19">
                <a:extLst>
                  <a:ext uri="{FF2B5EF4-FFF2-40B4-BE49-F238E27FC236}">
                    <a16:creationId xmlns:a16="http://schemas.microsoft.com/office/drawing/2014/main" id="{5A706CF9-1860-4EEC-8863-4F7F1C5FAA4B}"/>
                  </a:ext>
                </a:extLst>
              </p:cNvPr>
              <p:cNvSpPr/>
              <p:nvPr/>
            </p:nvSpPr>
            <p:spPr>
              <a:xfrm>
                <a:off x="5525194" y="903514"/>
                <a:ext cx="549234" cy="575389"/>
              </a:xfrm>
              <a:prstGeom prst="rect">
                <a:avLst/>
              </a:prstGeom>
              <a:solidFill>
                <a:srgbClr val="ABABAB">
                  <a:lumMod val="40000"/>
                  <a:lumOff val="60000"/>
                </a:srgbClr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2" name="矩形 20">
                <a:extLst>
                  <a:ext uri="{FF2B5EF4-FFF2-40B4-BE49-F238E27FC236}">
                    <a16:creationId xmlns:a16="http://schemas.microsoft.com/office/drawing/2014/main" id="{0A5213B5-C271-BD26-398C-6443EA03679B}"/>
                  </a:ext>
                </a:extLst>
              </p:cNvPr>
              <p:cNvSpPr/>
              <p:nvPr/>
            </p:nvSpPr>
            <p:spPr>
              <a:xfrm>
                <a:off x="3770120" y="1511561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3" name="矩形 21">
                <a:extLst>
                  <a:ext uri="{FF2B5EF4-FFF2-40B4-BE49-F238E27FC236}">
                    <a16:creationId xmlns:a16="http://schemas.microsoft.com/office/drawing/2014/main" id="{E0F1AB7A-76CA-B514-43D1-4F16C056EE91}"/>
                  </a:ext>
                </a:extLst>
              </p:cNvPr>
              <p:cNvSpPr/>
              <p:nvPr/>
            </p:nvSpPr>
            <p:spPr>
              <a:xfrm>
                <a:off x="4353001" y="1511561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4" name="矩形 22">
                <a:extLst>
                  <a:ext uri="{FF2B5EF4-FFF2-40B4-BE49-F238E27FC236}">
                    <a16:creationId xmlns:a16="http://schemas.microsoft.com/office/drawing/2014/main" id="{42E53E80-B01E-D42B-5073-DFA0D812D776}"/>
                  </a:ext>
                </a:extLst>
              </p:cNvPr>
              <p:cNvSpPr/>
              <p:nvPr/>
            </p:nvSpPr>
            <p:spPr>
              <a:xfrm>
                <a:off x="4942313" y="1511561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5" name="矩形 23">
                <a:extLst>
                  <a:ext uri="{FF2B5EF4-FFF2-40B4-BE49-F238E27FC236}">
                    <a16:creationId xmlns:a16="http://schemas.microsoft.com/office/drawing/2014/main" id="{4A55000E-BD3B-CF32-C836-ACD5AD0B02F0}"/>
                  </a:ext>
                </a:extLst>
              </p:cNvPr>
              <p:cNvSpPr/>
              <p:nvPr/>
            </p:nvSpPr>
            <p:spPr>
              <a:xfrm>
                <a:off x="5525194" y="1511561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6" name="矩形 24">
                <a:extLst>
                  <a:ext uri="{FF2B5EF4-FFF2-40B4-BE49-F238E27FC236}">
                    <a16:creationId xmlns:a16="http://schemas.microsoft.com/office/drawing/2014/main" id="{BA94F920-D0FF-7A9C-38E1-ADA44D72C0DF}"/>
                  </a:ext>
                </a:extLst>
              </p:cNvPr>
              <p:cNvSpPr/>
              <p:nvPr/>
            </p:nvSpPr>
            <p:spPr>
              <a:xfrm>
                <a:off x="3770120" y="2119608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7" name="矩形 25">
                <a:extLst>
                  <a:ext uri="{FF2B5EF4-FFF2-40B4-BE49-F238E27FC236}">
                    <a16:creationId xmlns:a16="http://schemas.microsoft.com/office/drawing/2014/main" id="{327C5E62-FB47-4CD2-8FB8-F693A992B743}"/>
                  </a:ext>
                </a:extLst>
              </p:cNvPr>
              <p:cNvSpPr/>
              <p:nvPr/>
            </p:nvSpPr>
            <p:spPr>
              <a:xfrm>
                <a:off x="4353001" y="2119608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8" name="矩形 26">
                <a:extLst>
                  <a:ext uri="{FF2B5EF4-FFF2-40B4-BE49-F238E27FC236}">
                    <a16:creationId xmlns:a16="http://schemas.microsoft.com/office/drawing/2014/main" id="{085E2FBA-4CEC-331D-BBE5-A250A1605841}"/>
                  </a:ext>
                </a:extLst>
              </p:cNvPr>
              <p:cNvSpPr/>
              <p:nvPr/>
            </p:nvSpPr>
            <p:spPr>
              <a:xfrm>
                <a:off x="4942313" y="2119608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49" name="矩形 27">
                <a:extLst>
                  <a:ext uri="{FF2B5EF4-FFF2-40B4-BE49-F238E27FC236}">
                    <a16:creationId xmlns:a16="http://schemas.microsoft.com/office/drawing/2014/main" id="{03BA2F5D-E690-F8DF-F245-3FD257293549}"/>
                  </a:ext>
                </a:extLst>
              </p:cNvPr>
              <p:cNvSpPr/>
              <p:nvPr/>
            </p:nvSpPr>
            <p:spPr>
              <a:xfrm>
                <a:off x="5525194" y="2119608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50" name="矩形 28">
                <a:extLst>
                  <a:ext uri="{FF2B5EF4-FFF2-40B4-BE49-F238E27FC236}">
                    <a16:creationId xmlns:a16="http://schemas.microsoft.com/office/drawing/2014/main" id="{A1143D3F-D0BB-5F39-9E60-341B7454BFD2}"/>
                  </a:ext>
                </a:extLst>
              </p:cNvPr>
              <p:cNvSpPr/>
              <p:nvPr/>
            </p:nvSpPr>
            <p:spPr>
              <a:xfrm>
                <a:off x="3770120" y="2727655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51" name="矩形 29">
                <a:extLst>
                  <a:ext uri="{FF2B5EF4-FFF2-40B4-BE49-F238E27FC236}">
                    <a16:creationId xmlns:a16="http://schemas.microsoft.com/office/drawing/2014/main" id="{ACD55D08-C512-9283-C92F-295403D0F62F}"/>
                  </a:ext>
                </a:extLst>
              </p:cNvPr>
              <p:cNvSpPr/>
              <p:nvPr/>
            </p:nvSpPr>
            <p:spPr>
              <a:xfrm>
                <a:off x="4353001" y="2727655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52" name="矩形 30">
                <a:extLst>
                  <a:ext uri="{FF2B5EF4-FFF2-40B4-BE49-F238E27FC236}">
                    <a16:creationId xmlns:a16="http://schemas.microsoft.com/office/drawing/2014/main" id="{579C2090-0B7B-27C5-C8B0-1AEE6041FA99}"/>
                  </a:ext>
                </a:extLst>
              </p:cNvPr>
              <p:cNvSpPr/>
              <p:nvPr/>
            </p:nvSpPr>
            <p:spPr>
              <a:xfrm>
                <a:off x="4942313" y="2727655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53" name="矩形 31">
                <a:extLst>
                  <a:ext uri="{FF2B5EF4-FFF2-40B4-BE49-F238E27FC236}">
                    <a16:creationId xmlns:a16="http://schemas.microsoft.com/office/drawing/2014/main" id="{509C2150-93C2-31C8-EF16-C6F78ECCDA9F}"/>
                  </a:ext>
                </a:extLst>
              </p:cNvPr>
              <p:cNvSpPr/>
              <p:nvPr/>
            </p:nvSpPr>
            <p:spPr>
              <a:xfrm>
                <a:off x="5525194" y="2727655"/>
                <a:ext cx="549234" cy="57538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Tile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230" name="矩形 32">
              <a:extLst>
                <a:ext uri="{FF2B5EF4-FFF2-40B4-BE49-F238E27FC236}">
                  <a16:creationId xmlns:a16="http://schemas.microsoft.com/office/drawing/2014/main" id="{B8FF85FF-1E1B-E4C5-32AE-E6B7574F0956}"/>
                </a:ext>
              </a:extLst>
            </p:cNvPr>
            <p:cNvSpPr/>
            <p:nvPr/>
          </p:nvSpPr>
          <p:spPr>
            <a:xfrm>
              <a:off x="5586134" y="1483221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1" name="矩形 33">
              <a:extLst>
                <a:ext uri="{FF2B5EF4-FFF2-40B4-BE49-F238E27FC236}">
                  <a16:creationId xmlns:a16="http://schemas.microsoft.com/office/drawing/2014/main" id="{36BEC2A7-7E2F-4EE7-97CB-D2350F34628A}"/>
                </a:ext>
              </a:extLst>
            </p:cNvPr>
            <p:cNvSpPr/>
            <p:nvPr/>
          </p:nvSpPr>
          <p:spPr>
            <a:xfrm>
              <a:off x="6017270" y="1483221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2" name="矩形 34">
              <a:extLst>
                <a:ext uri="{FF2B5EF4-FFF2-40B4-BE49-F238E27FC236}">
                  <a16:creationId xmlns:a16="http://schemas.microsoft.com/office/drawing/2014/main" id="{EF74316E-ED74-C19C-290F-D7774905EF27}"/>
                </a:ext>
              </a:extLst>
            </p:cNvPr>
            <p:cNvSpPr/>
            <p:nvPr/>
          </p:nvSpPr>
          <p:spPr>
            <a:xfrm>
              <a:off x="6448407" y="1483221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3" name="矩形 35">
              <a:extLst>
                <a:ext uri="{FF2B5EF4-FFF2-40B4-BE49-F238E27FC236}">
                  <a16:creationId xmlns:a16="http://schemas.microsoft.com/office/drawing/2014/main" id="{B1FD0ECB-6A28-5243-521D-191077F7B729}"/>
                </a:ext>
              </a:extLst>
            </p:cNvPr>
            <p:cNvSpPr/>
            <p:nvPr/>
          </p:nvSpPr>
          <p:spPr>
            <a:xfrm>
              <a:off x="6879544" y="1483221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4" name="矩形 36">
              <a:extLst>
                <a:ext uri="{FF2B5EF4-FFF2-40B4-BE49-F238E27FC236}">
                  <a16:creationId xmlns:a16="http://schemas.microsoft.com/office/drawing/2014/main" id="{04D0B427-108F-1D43-461E-993203BCE07E}"/>
                </a:ext>
              </a:extLst>
            </p:cNvPr>
            <p:cNvSpPr/>
            <p:nvPr/>
          </p:nvSpPr>
          <p:spPr>
            <a:xfrm>
              <a:off x="5586134" y="1928219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5" name="矩形 37">
              <a:extLst>
                <a:ext uri="{FF2B5EF4-FFF2-40B4-BE49-F238E27FC236}">
                  <a16:creationId xmlns:a16="http://schemas.microsoft.com/office/drawing/2014/main" id="{F1980B2D-2171-5297-0963-80585415A656}"/>
                </a:ext>
              </a:extLst>
            </p:cNvPr>
            <p:cNvSpPr/>
            <p:nvPr/>
          </p:nvSpPr>
          <p:spPr>
            <a:xfrm>
              <a:off x="6017270" y="1928219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6" name="矩形 38">
              <a:extLst>
                <a:ext uri="{FF2B5EF4-FFF2-40B4-BE49-F238E27FC236}">
                  <a16:creationId xmlns:a16="http://schemas.microsoft.com/office/drawing/2014/main" id="{C7D04C65-6C75-B1A7-7A62-3EE6F18D1110}"/>
                </a:ext>
              </a:extLst>
            </p:cNvPr>
            <p:cNvSpPr/>
            <p:nvPr/>
          </p:nvSpPr>
          <p:spPr>
            <a:xfrm>
              <a:off x="6448407" y="1928219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7" name="矩形 39">
              <a:extLst>
                <a:ext uri="{FF2B5EF4-FFF2-40B4-BE49-F238E27FC236}">
                  <a16:creationId xmlns:a16="http://schemas.microsoft.com/office/drawing/2014/main" id="{98EED3FB-1408-395C-BC1C-2D0C71728D62}"/>
                </a:ext>
              </a:extLst>
            </p:cNvPr>
            <p:cNvSpPr/>
            <p:nvPr/>
          </p:nvSpPr>
          <p:spPr>
            <a:xfrm>
              <a:off x="6879544" y="1928219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8" name="矩形 40">
              <a:extLst>
                <a:ext uri="{FF2B5EF4-FFF2-40B4-BE49-F238E27FC236}">
                  <a16:creationId xmlns:a16="http://schemas.microsoft.com/office/drawing/2014/main" id="{3B6A12DC-59F2-052B-E137-333EACC0374A}"/>
                </a:ext>
              </a:extLst>
            </p:cNvPr>
            <p:cNvSpPr/>
            <p:nvPr/>
          </p:nvSpPr>
          <p:spPr>
            <a:xfrm>
              <a:off x="5586134" y="2373218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39" name="矩形 41">
              <a:extLst>
                <a:ext uri="{FF2B5EF4-FFF2-40B4-BE49-F238E27FC236}">
                  <a16:creationId xmlns:a16="http://schemas.microsoft.com/office/drawing/2014/main" id="{5B18B6B6-45F2-22E0-68C6-6E9DE7319B28}"/>
                </a:ext>
              </a:extLst>
            </p:cNvPr>
            <p:cNvSpPr/>
            <p:nvPr/>
          </p:nvSpPr>
          <p:spPr>
            <a:xfrm>
              <a:off x="6017270" y="2373218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0" name="矩形 42">
              <a:extLst>
                <a:ext uri="{FF2B5EF4-FFF2-40B4-BE49-F238E27FC236}">
                  <a16:creationId xmlns:a16="http://schemas.microsoft.com/office/drawing/2014/main" id="{3D1233AE-6FB2-7B5A-0F48-9E56502A776A}"/>
                </a:ext>
              </a:extLst>
            </p:cNvPr>
            <p:cNvSpPr/>
            <p:nvPr/>
          </p:nvSpPr>
          <p:spPr>
            <a:xfrm>
              <a:off x="6448407" y="2373218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1" name="矩形 43">
              <a:extLst>
                <a:ext uri="{FF2B5EF4-FFF2-40B4-BE49-F238E27FC236}">
                  <a16:creationId xmlns:a16="http://schemas.microsoft.com/office/drawing/2014/main" id="{11BD42C5-BADF-89D5-853E-4706E549F997}"/>
                </a:ext>
              </a:extLst>
            </p:cNvPr>
            <p:cNvSpPr/>
            <p:nvPr/>
          </p:nvSpPr>
          <p:spPr>
            <a:xfrm>
              <a:off x="6879544" y="2373218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2" name="矩形 44">
              <a:extLst>
                <a:ext uri="{FF2B5EF4-FFF2-40B4-BE49-F238E27FC236}">
                  <a16:creationId xmlns:a16="http://schemas.microsoft.com/office/drawing/2014/main" id="{3D47E68B-C172-DE36-18C1-57B509818E9F}"/>
                </a:ext>
              </a:extLst>
            </p:cNvPr>
            <p:cNvSpPr/>
            <p:nvPr/>
          </p:nvSpPr>
          <p:spPr>
            <a:xfrm>
              <a:off x="5586134" y="2818217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3" name="矩形 45">
              <a:extLst>
                <a:ext uri="{FF2B5EF4-FFF2-40B4-BE49-F238E27FC236}">
                  <a16:creationId xmlns:a16="http://schemas.microsoft.com/office/drawing/2014/main" id="{3794BCD9-8332-465D-4361-2E88532BC9E0}"/>
                </a:ext>
              </a:extLst>
            </p:cNvPr>
            <p:cNvSpPr/>
            <p:nvPr/>
          </p:nvSpPr>
          <p:spPr>
            <a:xfrm>
              <a:off x="6017270" y="2818217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4" name="矩形 46">
              <a:extLst>
                <a:ext uri="{FF2B5EF4-FFF2-40B4-BE49-F238E27FC236}">
                  <a16:creationId xmlns:a16="http://schemas.microsoft.com/office/drawing/2014/main" id="{614F471A-A016-2017-237A-769BF8F6280B}"/>
                </a:ext>
              </a:extLst>
            </p:cNvPr>
            <p:cNvSpPr/>
            <p:nvPr/>
          </p:nvSpPr>
          <p:spPr>
            <a:xfrm>
              <a:off x="6448407" y="2818217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5" name="矩形 47">
              <a:extLst>
                <a:ext uri="{FF2B5EF4-FFF2-40B4-BE49-F238E27FC236}">
                  <a16:creationId xmlns:a16="http://schemas.microsoft.com/office/drawing/2014/main" id="{C8D529F4-78D3-58C4-4AAA-1F750956AC20}"/>
                </a:ext>
              </a:extLst>
            </p:cNvPr>
            <p:cNvSpPr/>
            <p:nvPr/>
          </p:nvSpPr>
          <p:spPr>
            <a:xfrm>
              <a:off x="6879544" y="2818217"/>
              <a:ext cx="151087" cy="157528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6" name="箭头: 左右 48">
              <a:extLst>
                <a:ext uri="{FF2B5EF4-FFF2-40B4-BE49-F238E27FC236}">
                  <a16:creationId xmlns:a16="http://schemas.microsoft.com/office/drawing/2014/main" id="{F1469CCC-6C0C-A9D8-B42A-4B93AFF4906A}"/>
                </a:ext>
              </a:extLst>
            </p:cNvPr>
            <p:cNvSpPr/>
            <p:nvPr/>
          </p:nvSpPr>
          <p:spPr>
            <a:xfrm>
              <a:off x="5737221" y="1500830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7" name="箭头: 左右 49">
              <a:extLst>
                <a:ext uri="{FF2B5EF4-FFF2-40B4-BE49-F238E27FC236}">
                  <a16:creationId xmlns:a16="http://schemas.microsoft.com/office/drawing/2014/main" id="{6AA88F92-5188-D7B8-8A89-A8623704DCF8}"/>
                </a:ext>
              </a:extLst>
            </p:cNvPr>
            <p:cNvSpPr/>
            <p:nvPr/>
          </p:nvSpPr>
          <p:spPr>
            <a:xfrm>
              <a:off x="6168357" y="1500830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8" name="箭头: 左右 50">
              <a:extLst>
                <a:ext uri="{FF2B5EF4-FFF2-40B4-BE49-F238E27FC236}">
                  <a16:creationId xmlns:a16="http://schemas.microsoft.com/office/drawing/2014/main" id="{A6C2B1A8-A1BD-DAFA-CECD-4E545B759229}"/>
                </a:ext>
              </a:extLst>
            </p:cNvPr>
            <p:cNvSpPr/>
            <p:nvPr/>
          </p:nvSpPr>
          <p:spPr>
            <a:xfrm>
              <a:off x="6599493" y="1500830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49" name="箭头: 左右 51">
              <a:extLst>
                <a:ext uri="{FF2B5EF4-FFF2-40B4-BE49-F238E27FC236}">
                  <a16:creationId xmlns:a16="http://schemas.microsoft.com/office/drawing/2014/main" id="{9458ABBE-278B-19BB-2188-1BA7EC9E3693}"/>
                </a:ext>
              </a:extLst>
            </p:cNvPr>
            <p:cNvSpPr/>
            <p:nvPr/>
          </p:nvSpPr>
          <p:spPr>
            <a:xfrm>
              <a:off x="5733286" y="1943979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0" name="箭头: 左右 52">
              <a:extLst>
                <a:ext uri="{FF2B5EF4-FFF2-40B4-BE49-F238E27FC236}">
                  <a16:creationId xmlns:a16="http://schemas.microsoft.com/office/drawing/2014/main" id="{9C485450-203E-70BD-A823-F8A3374029D2}"/>
                </a:ext>
              </a:extLst>
            </p:cNvPr>
            <p:cNvSpPr/>
            <p:nvPr/>
          </p:nvSpPr>
          <p:spPr>
            <a:xfrm>
              <a:off x="6164423" y="1943979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1" name="箭头: 左右 53">
              <a:extLst>
                <a:ext uri="{FF2B5EF4-FFF2-40B4-BE49-F238E27FC236}">
                  <a16:creationId xmlns:a16="http://schemas.microsoft.com/office/drawing/2014/main" id="{E15C2A45-5C59-D09A-9AF6-5A9828BAFA91}"/>
                </a:ext>
              </a:extLst>
            </p:cNvPr>
            <p:cNvSpPr/>
            <p:nvPr/>
          </p:nvSpPr>
          <p:spPr>
            <a:xfrm>
              <a:off x="6595559" y="1943979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2" name="箭头: 左右 54">
              <a:extLst>
                <a:ext uri="{FF2B5EF4-FFF2-40B4-BE49-F238E27FC236}">
                  <a16:creationId xmlns:a16="http://schemas.microsoft.com/office/drawing/2014/main" id="{77ACB982-B599-7915-1F9F-17D956B98F4E}"/>
                </a:ext>
              </a:extLst>
            </p:cNvPr>
            <p:cNvSpPr/>
            <p:nvPr/>
          </p:nvSpPr>
          <p:spPr>
            <a:xfrm>
              <a:off x="5733286" y="2388903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3" name="箭头: 左右 55">
              <a:extLst>
                <a:ext uri="{FF2B5EF4-FFF2-40B4-BE49-F238E27FC236}">
                  <a16:creationId xmlns:a16="http://schemas.microsoft.com/office/drawing/2014/main" id="{E4289A32-0713-3205-B063-9692F402711D}"/>
                </a:ext>
              </a:extLst>
            </p:cNvPr>
            <p:cNvSpPr/>
            <p:nvPr/>
          </p:nvSpPr>
          <p:spPr>
            <a:xfrm>
              <a:off x="6164423" y="2388903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4" name="箭头: 左右 56">
              <a:extLst>
                <a:ext uri="{FF2B5EF4-FFF2-40B4-BE49-F238E27FC236}">
                  <a16:creationId xmlns:a16="http://schemas.microsoft.com/office/drawing/2014/main" id="{2C9C1826-15FA-AEE3-0440-49E8C769DA6C}"/>
                </a:ext>
              </a:extLst>
            </p:cNvPr>
            <p:cNvSpPr/>
            <p:nvPr/>
          </p:nvSpPr>
          <p:spPr>
            <a:xfrm>
              <a:off x="6595559" y="2388903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5" name="箭头: 左右 57">
              <a:extLst>
                <a:ext uri="{FF2B5EF4-FFF2-40B4-BE49-F238E27FC236}">
                  <a16:creationId xmlns:a16="http://schemas.microsoft.com/office/drawing/2014/main" id="{6277AD82-DB94-D83E-5329-0E09850D6E2C}"/>
                </a:ext>
              </a:extLst>
            </p:cNvPr>
            <p:cNvSpPr/>
            <p:nvPr/>
          </p:nvSpPr>
          <p:spPr>
            <a:xfrm>
              <a:off x="5733286" y="2834956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6" name="箭头: 左右 58">
              <a:extLst>
                <a:ext uri="{FF2B5EF4-FFF2-40B4-BE49-F238E27FC236}">
                  <a16:creationId xmlns:a16="http://schemas.microsoft.com/office/drawing/2014/main" id="{41632D81-8950-132B-9416-4BF82CCC4A06}"/>
                </a:ext>
              </a:extLst>
            </p:cNvPr>
            <p:cNvSpPr/>
            <p:nvPr/>
          </p:nvSpPr>
          <p:spPr>
            <a:xfrm>
              <a:off x="6164423" y="2834956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7" name="箭头: 左右 59">
              <a:extLst>
                <a:ext uri="{FF2B5EF4-FFF2-40B4-BE49-F238E27FC236}">
                  <a16:creationId xmlns:a16="http://schemas.microsoft.com/office/drawing/2014/main" id="{0D718AF7-1629-BF8E-48E6-D07329C4FDE5}"/>
                </a:ext>
              </a:extLst>
            </p:cNvPr>
            <p:cNvSpPr/>
            <p:nvPr/>
          </p:nvSpPr>
          <p:spPr>
            <a:xfrm>
              <a:off x="6595559" y="2834956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8" name="箭头: 左右 60">
              <a:extLst>
                <a:ext uri="{FF2B5EF4-FFF2-40B4-BE49-F238E27FC236}">
                  <a16:creationId xmlns:a16="http://schemas.microsoft.com/office/drawing/2014/main" id="{C3E821D7-63C8-CF6D-0795-6F9DF0317581}"/>
                </a:ext>
              </a:extLst>
            </p:cNvPr>
            <p:cNvSpPr/>
            <p:nvPr/>
          </p:nvSpPr>
          <p:spPr>
            <a:xfrm rot="5400000">
              <a:off x="5483346" y="1729119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59" name="箭头: 左右 61">
              <a:extLst>
                <a:ext uri="{FF2B5EF4-FFF2-40B4-BE49-F238E27FC236}">
                  <a16:creationId xmlns:a16="http://schemas.microsoft.com/office/drawing/2014/main" id="{BC50A604-4615-89B0-2C82-C76AF8D496F9}"/>
                </a:ext>
              </a:extLst>
            </p:cNvPr>
            <p:cNvSpPr/>
            <p:nvPr/>
          </p:nvSpPr>
          <p:spPr>
            <a:xfrm rot="5400000">
              <a:off x="5483346" y="2180835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0" name="箭头: 左右 62">
              <a:extLst>
                <a:ext uri="{FF2B5EF4-FFF2-40B4-BE49-F238E27FC236}">
                  <a16:creationId xmlns:a16="http://schemas.microsoft.com/office/drawing/2014/main" id="{16AA8298-028C-F7F5-6C07-03446A3C9F39}"/>
                </a:ext>
              </a:extLst>
            </p:cNvPr>
            <p:cNvSpPr/>
            <p:nvPr/>
          </p:nvSpPr>
          <p:spPr>
            <a:xfrm rot="5400000">
              <a:off x="5483346" y="2625833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1" name="箭头: 左右 4095">
              <a:extLst>
                <a:ext uri="{FF2B5EF4-FFF2-40B4-BE49-F238E27FC236}">
                  <a16:creationId xmlns:a16="http://schemas.microsoft.com/office/drawing/2014/main" id="{04E21CA4-C140-396D-9E1E-9B4F98FAD7EC}"/>
                </a:ext>
              </a:extLst>
            </p:cNvPr>
            <p:cNvSpPr/>
            <p:nvPr/>
          </p:nvSpPr>
          <p:spPr>
            <a:xfrm rot="5400000">
              <a:off x="5919607" y="1729119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2" name="箭头: 左右 4096">
              <a:extLst>
                <a:ext uri="{FF2B5EF4-FFF2-40B4-BE49-F238E27FC236}">
                  <a16:creationId xmlns:a16="http://schemas.microsoft.com/office/drawing/2014/main" id="{AB6476A8-9995-436D-100D-586E094ACA77}"/>
                </a:ext>
              </a:extLst>
            </p:cNvPr>
            <p:cNvSpPr/>
            <p:nvPr/>
          </p:nvSpPr>
          <p:spPr>
            <a:xfrm rot="5400000">
              <a:off x="5919607" y="2180835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3" name="箭头: 左右 4098">
              <a:extLst>
                <a:ext uri="{FF2B5EF4-FFF2-40B4-BE49-F238E27FC236}">
                  <a16:creationId xmlns:a16="http://schemas.microsoft.com/office/drawing/2014/main" id="{53822068-15EF-23C1-B23A-CFD9CB143F6D}"/>
                </a:ext>
              </a:extLst>
            </p:cNvPr>
            <p:cNvSpPr/>
            <p:nvPr/>
          </p:nvSpPr>
          <p:spPr>
            <a:xfrm rot="5400000">
              <a:off x="5919607" y="2625833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4" name="箭头: 左右 4099">
              <a:extLst>
                <a:ext uri="{FF2B5EF4-FFF2-40B4-BE49-F238E27FC236}">
                  <a16:creationId xmlns:a16="http://schemas.microsoft.com/office/drawing/2014/main" id="{1E079783-A7D6-AF38-7E7C-4AE5E3FA1B32}"/>
                </a:ext>
              </a:extLst>
            </p:cNvPr>
            <p:cNvSpPr/>
            <p:nvPr/>
          </p:nvSpPr>
          <p:spPr>
            <a:xfrm rot="5400000">
              <a:off x="6349348" y="1729119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5" name="箭头: 左右 4100">
              <a:extLst>
                <a:ext uri="{FF2B5EF4-FFF2-40B4-BE49-F238E27FC236}">
                  <a16:creationId xmlns:a16="http://schemas.microsoft.com/office/drawing/2014/main" id="{1644AA1D-6199-D94F-971F-8C77100B3798}"/>
                </a:ext>
              </a:extLst>
            </p:cNvPr>
            <p:cNvSpPr/>
            <p:nvPr/>
          </p:nvSpPr>
          <p:spPr>
            <a:xfrm rot="5400000">
              <a:off x="6349348" y="2180835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6" name="箭头: 左右 4101">
              <a:extLst>
                <a:ext uri="{FF2B5EF4-FFF2-40B4-BE49-F238E27FC236}">
                  <a16:creationId xmlns:a16="http://schemas.microsoft.com/office/drawing/2014/main" id="{47A2615F-3AC0-F039-C78C-D724F60CF9E5}"/>
                </a:ext>
              </a:extLst>
            </p:cNvPr>
            <p:cNvSpPr/>
            <p:nvPr/>
          </p:nvSpPr>
          <p:spPr>
            <a:xfrm rot="5400000">
              <a:off x="6349348" y="2625833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7" name="箭头: 左右 4102">
              <a:extLst>
                <a:ext uri="{FF2B5EF4-FFF2-40B4-BE49-F238E27FC236}">
                  <a16:creationId xmlns:a16="http://schemas.microsoft.com/office/drawing/2014/main" id="{D2EC4712-F5D7-2551-8443-432186570A00}"/>
                </a:ext>
              </a:extLst>
            </p:cNvPr>
            <p:cNvSpPr/>
            <p:nvPr/>
          </p:nvSpPr>
          <p:spPr>
            <a:xfrm rot="5400000">
              <a:off x="6784652" y="1729119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8" name="箭头: 左右 4103">
              <a:extLst>
                <a:ext uri="{FF2B5EF4-FFF2-40B4-BE49-F238E27FC236}">
                  <a16:creationId xmlns:a16="http://schemas.microsoft.com/office/drawing/2014/main" id="{D635BFF4-20E6-1BAF-8881-0771A74A02B7}"/>
                </a:ext>
              </a:extLst>
            </p:cNvPr>
            <p:cNvSpPr/>
            <p:nvPr/>
          </p:nvSpPr>
          <p:spPr>
            <a:xfrm rot="5400000">
              <a:off x="6784652" y="2174118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69" name="箭头: 左右 4104">
              <a:extLst>
                <a:ext uri="{FF2B5EF4-FFF2-40B4-BE49-F238E27FC236}">
                  <a16:creationId xmlns:a16="http://schemas.microsoft.com/office/drawing/2014/main" id="{190746DC-898B-54C7-F1FF-BA93A5D7902C}"/>
                </a:ext>
              </a:extLst>
            </p:cNvPr>
            <p:cNvSpPr/>
            <p:nvPr/>
          </p:nvSpPr>
          <p:spPr>
            <a:xfrm rot="5400000">
              <a:off x="6784652" y="2625833"/>
              <a:ext cx="281624" cy="94331"/>
            </a:xfrm>
            <a:prstGeom prst="leftRightArrow">
              <a:avLst/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0" name="箭头: 左右 4105">
              <a:extLst>
                <a:ext uri="{FF2B5EF4-FFF2-40B4-BE49-F238E27FC236}">
                  <a16:creationId xmlns:a16="http://schemas.microsoft.com/office/drawing/2014/main" id="{48A57399-116D-791E-50E8-F779BB4D41E2}"/>
                </a:ext>
              </a:extLst>
            </p:cNvPr>
            <p:cNvSpPr/>
            <p:nvPr/>
          </p:nvSpPr>
          <p:spPr>
            <a:xfrm>
              <a:off x="5737221" y="1593062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1" name="箭头: 左右 4106">
              <a:extLst>
                <a:ext uri="{FF2B5EF4-FFF2-40B4-BE49-F238E27FC236}">
                  <a16:creationId xmlns:a16="http://schemas.microsoft.com/office/drawing/2014/main" id="{BE920F18-BBE1-1EDB-8480-3541961C832A}"/>
                </a:ext>
              </a:extLst>
            </p:cNvPr>
            <p:cNvSpPr/>
            <p:nvPr/>
          </p:nvSpPr>
          <p:spPr>
            <a:xfrm>
              <a:off x="6169286" y="1593062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2" name="箭头: 左右 4107">
              <a:extLst>
                <a:ext uri="{FF2B5EF4-FFF2-40B4-BE49-F238E27FC236}">
                  <a16:creationId xmlns:a16="http://schemas.microsoft.com/office/drawing/2014/main" id="{5D04DE27-17F9-A804-542E-2EB403C71FCC}"/>
                </a:ext>
              </a:extLst>
            </p:cNvPr>
            <p:cNvSpPr/>
            <p:nvPr/>
          </p:nvSpPr>
          <p:spPr>
            <a:xfrm>
              <a:off x="6601351" y="1593062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3" name="箭头: 左右 4108">
              <a:extLst>
                <a:ext uri="{FF2B5EF4-FFF2-40B4-BE49-F238E27FC236}">
                  <a16:creationId xmlns:a16="http://schemas.microsoft.com/office/drawing/2014/main" id="{82DD8DE8-8BAB-B554-0CC1-7F94DBCC9647}"/>
                </a:ext>
              </a:extLst>
            </p:cNvPr>
            <p:cNvSpPr/>
            <p:nvPr/>
          </p:nvSpPr>
          <p:spPr>
            <a:xfrm>
              <a:off x="5737221" y="2034156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4" name="箭头: 左右 4109">
              <a:extLst>
                <a:ext uri="{FF2B5EF4-FFF2-40B4-BE49-F238E27FC236}">
                  <a16:creationId xmlns:a16="http://schemas.microsoft.com/office/drawing/2014/main" id="{5E85C580-BA98-8DA3-744A-447E5400A26A}"/>
                </a:ext>
              </a:extLst>
            </p:cNvPr>
            <p:cNvSpPr/>
            <p:nvPr/>
          </p:nvSpPr>
          <p:spPr>
            <a:xfrm>
              <a:off x="6169286" y="2034156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5" name="箭头: 左右 4110">
              <a:extLst>
                <a:ext uri="{FF2B5EF4-FFF2-40B4-BE49-F238E27FC236}">
                  <a16:creationId xmlns:a16="http://schemas.microsoft.com/office/drawing/2014/main" id="{5FC7EAD2-840B-A6D0-F65D-4495918F2F63}"/>
                </a:ext>
              </a:extLst>
            </p:cNvPr>
            <p:cNvSpPr/>
            <p:nvPr/>
          </p:nvSpPr>
          <p:spPr>
            <a:xfrm>
              <a:off x="6601351" y="2034156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6" name="箭头: 左右 4111">
              <a:extLst>
                <a:ext uri="{FF2B5EF4-FFF2-40B4-BE49-F238E27FC236}">
                  <a16:creationId xmlns:a16="http://schemas.microsoft.com/office/drawing/2014/main" id="{EDB025FB-18AE-303B-7861-4B089BE6077E}"/>
                </a:ext>
              </a:extLst>
            </p:cNvPr>
            <p:cNvSpPr/>
            <p:nvPr/>
          </p:nvSpPr>
          <p:spPr>
            <a:xfrm>
              <a:off x="5737221" y="2479910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7" name="箭头: 左右 4112">
              <a:extLst>
                <a:ext uri="{FF2B5EF4-FFF2-40B4-BE49-F238E27FC236}">
                  <a16:creationId xmlns:a16="http://schemas.microsoft.com/office/drawing/2014/main" id="{E55FF23A-6FEE-93EC-529D-E1F89F02B549}"/>
                </a:ext>
              </a:extLst>
            </p:cNvPr>
            <p:cNvSpPr/>
            <p:nvPr/>
          </p:nvSpPr>
          <p:spPr>
            <a:xfrm>
              <a:off x="6169286" y="2479910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8" name="箭头: 左右 4113">
              <a:extLst>
                <a:ext uri="{FF2B5EF4-FFF2-40B4-BE49-F238E27FC236}">
                  <a16:creationId xmlns:a16="http://schemas.microsoft.com/office/drawing/2014/main" id="{88908DDD-D861-925B-BA6B-3F775543A011}"/>
                </a:ext>
              </a:extLst>
            </p:cNvPr>
            <p:cNvSpPr/>
            <p:nvPr/>
          </p:nvSpPr>
          <p:spPr>
            <a:xfrm>
              <a:off x="6601351" y="2479910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79" name="箭头: 左右 4114">
              <a:extLst>
                <a:ext uri="{FF2B5EF4-FFF2-40B4-BE49-F238E27FC236}">
                  <a16:creationId xmlns:a16="http://schemas.microsoft.com/office/drawing/2014/main" id="{B15795AF-8226-E554-034D-179E72A420BF}"/>
                </a:ext>
              </a:extLst>
            </p:cNvPr>
            <p:cNvSpPr/>
            <p:nvPr/>
          </p:nvSpPr>
          <p:spPr>
            <a:xfrm>
              <a:off x="5737221" y="2922557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0" name="箭头: 左右 4115">
              <a:extLst>
                <a:ext uri="{FF2B5EF4-FFF2-40B4-BE49-F238E27FC236}">
                  <a16:creationId xmlns:a16="http://schemas.microsoft.com/office/drawing/2014/main" id="{98DE54FA-02DB-B5BD-CB39-5D11F1DBB783}"/>
                </a:ext>
              </a:extLst>
            </p:cNvPr>
            <p:cNvSpPr/>
            <p:nvPr/>
          </p:nvSpPr>
          <p:spPr>
            <a:xfrm>
              <a:off x="6169286" y="2922557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1" name="箭头: 左右 4116">
              <a:extLst>
                <a:ext uri="{FF2B5EF4-FFF2-40B4-BE49-F238E27FC236}">
                  <a16:creationId xmlns:a16="http://schemas.microsoft.com/office/drawing/2014/main" id="{F612C73E-E415-7AF7-41F0-4441BE520C9B}"/>
                </a:ext>
              </a:extLst>
            </p:cNvPr>
            <p:cNvSpPr/>
            <p:nvPr/>
          </p:nvSpPr>
          <p:spPr>
            <a:xfrm>
              <a:off x="6601351" y="2922557"/>
              <a:ext cx="281624" cy="33570"/>
            </a:xfrm>
            <a:prstGeom prst="leftRightArrow">
              <a:avLst>
                <a:gd name="adj1" fmla="val 50000"/>
                <a:gd name="adj2" fmla="val 133336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2" name="箭头: 左右 4117">
              <a:extLst>
                <a:ext uri="{FF2B5EF4-FFF2-40B4-BE49-F238E27FC236}">
                  <a16:creationId xmlns:a16="http://schemas.microsoft.com/office/drawing/2014/main" id="{2EE0BE50-AE18-9C7E-1DE8-E9228164D869}"/>
                </a:ext>
              </a:extLst>
            </p:cNvPr>
            <p:cNvSpPr/>
            <p:nvPr/>
          </p:nvSpPr>
          <p:spPr>
            <a:xfrm rot="5400000">
              <a:off x="5552284" y="1755764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3" name="箭头: 左右 4118">
              <a:extLst>
                <a:ext uri="{FF2B5EF4-FFF2-40B4-BE49-F238E27FC236}">
                  <a16:creationId xmlns:a16="http://schemas.microsoft.com/office/drawing/2014/main" id="{51113F92-869E-2789-EE54-BDEC4319C08F}"/>
                </a:ext>
              </a:extLst>
            </p:cNvPr>
            <p:cNvSpPr/>
            <p:nvPr/>
          </p:nvSpPr>
          <p:spPr>
            <a:xfrm rot="5400000">
              <a:off x="5982795" y="1755765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4" name="箭头: 左右 4119">
              <a:extLst>
                <a:ext uri="{FF2B5EF4-FFF2-40B4-BE49-F238E27FC236}">
                  <a16:creationId xmlns:a16="http://schemas.microsoft.com/office/drawing/2014/main" id="{EC1F302D-2D6A-0A77-ED91-2404F846AA4A}"/>
                </a:ext>
              </a:extLst>
            </p:cNvPr>
            <p:cNvSpPr/>
            <p:nvPr/>
          </p:nvSpPr>
          <p:spPr>
            <a:xfrm rot="5400000">
              <a:off x="6413306" y="1755766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5" name="箭头: 左右 4120">
              <a:extLst>
                <a:ext uri="{FF2B5EF4-FFF2-40B4-BE49-F238E27FC236}">
                  <a16:creationId xmlns:a16="http://schemas.microsoft.com/office/drawing/2014/main" id="{A2905A6D-F362-9AE4-1616-A85CF2B2F43B}"/>
                </a:ext>
              </a:extLst>
            </p:cNvPr>
            <p:cNvSpPr/>
            <p:nvPr/>
          </p:nvSpPr>
          <p:spPr>
            <a:xfrm rot="5400000">
              <a:off x="6843818" y="1755767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6" name="箭头: 左右 4121">
              <a:extLst>
                <a:ext uri="{FF2B5EF4-FFF2-40B4-BE49-F238E27FC236}">
                  <a16:creationId xmlns:a16="http://schemas.microsoft.com/office/drawing/2014/main" id="{9AB559CF-40FD-D0DC-9534-29FDCEAD59D3}"/>
                </a:ext>
              </a:extLst>
            </p:cNvPr>
            <p:cNvSpPr/>
            <p:nvPr/>
          </p:nvSpPr>
          <p:spPr>
            <a:xfrm rot="5400000">
              <a:off x="5552284" y="2203092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7" name="箭头: 左右 4122">
              <a:extLst>
                <a:ext uri="{FF2B5EF4-FFF2-40B4-BE49-F238E27FC236}">
                  <a16:creationId xmlns:a16="http://schemas.microsoft.com/office/drawing/2014/main" id="{196ADDFD-CAA2-685C-01A4-A6AA79E93E7E}"/>
                </a:ext>
              </a:extLst>
            </p:cNvPr>
            <p:cNvSpPr/>
            <p:nvPr/>
          </p:nvSpPr>
          <p:spPr>
            <a:xfrm rot="5400000">
              <a:off x="5982795" y="2203093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8" name="箭头: 左右 4123">
              <a:extLst>
                <a:ext uri="{FF2B5EF4-FFF2-40B4-BE49-F238E27FC236}">
                  <a16:creationId xmlns:a16="http://schemas.microsoft.com/office/drawing/2014/main" id="{C54031EF-E8B5-F885-E72C-ACFC94422BDF}"/>
                </a:ext>
              </a:extLst>
            </p:cNvPr>
            <p:cNvSpPr/>
            <p:nvPr/>
          </p:nvSpPr>
          <p:spPr>
            <a:xfrm rot="5400000">
              <a:off x="6413306" y="2203093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89" name="箭头: 左右 4124">
              <a:extLst>
                <a:ext uri="{FF2B5EF4-FFF2-40B4-BE49-F238E27FC236}">
                  <a16:creationId xmlns:a16="http://schemas.microsoft.com/office/drawing/2014/main" id="{4760968E-FD49-6BFE-3BC5-FC5790B4EC7A}"/>
                </a:ext>
              </a:extLst>
            </p:cNvPr>
            <p:cNvSpPr/>
            <p:nvPr/>
          </p:nvSpPr>
          <p:spPr>
            <a:xfrm rot="5400000">
              <a:off x="6843818" y="2200763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90" name="箭头: 左右 4125">
              <a:extLst>
                <a:ext uri="{FF2B5EF4-FFF2-40B4-BE49-F238E27FC236}">
                  <a16:creationId xmlns:a16="http://schemas.microsoft.com/office/drawing/2014/main" id="{94200DF3-7D13-FF14-3C0A-2A6FCF0ECC7E}"/>
                </a:ext>
              </a:extLst>
            </p:cNvPr>
            <p:cNvSpPr/>
            <p:nvPr/>
          </p:nvSpPr>
          <p:spPr>
            <a:xfrm rot="5400000">
              <a:off x="5552284" y="2650420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91" name="箭头: 左右 4126">
              <a:extLst>
                <a:ext uri="{FF2B5EF4-FFF2-40B4-BE49-F238E27FC236}">
                  <a16:creationId xmlns:a16="http://schemas.microsoft.com/office/drawing/2014/main" id="{4555CF0C-F227-67D2-75D4-4BEC313D7ED5}"/>
                </a:ext>
              </a:extLst>
            </p:cNvPr>
            <p:cNvSpPr/>
            <p:nvPr/>
          </p:nvSpPr>
          <p:spPr>
            <a:xfrm rot="5400000">
              <a:off x="5982795" y="2650420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92" name="箭头: 左右 4127">
              <a:extLst>
                <a:ext uri="{FF2B5EF4-FFF2-40B4-BE49-F238E27FC236}">
                  <a16:creationId xmlns:a16="http://schemas.microsoft.com/office/drawing/2014/main" id="{4FC1215B-DC1A-9D42-8925-7C4FA78E8381}"/>
                </a:ext>
              </a:extLst>
            </p:cNvPr>
            <p:cNvSpPr/>
            <p:nvPr/>
          </p:nvSpPr>
          <p:spPr>
            <a:xfrm rot="5400000">
              <a:off x="6413306" y="2650421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293" name="箭头: 左右 4128">
              <a:extLst>
                <a:ext uri="{FF2B5EF4-FFF2-40B4-BE49-F238E27FC236}">
                  <a16:creationId xmlns:a16="http://schemas.microsoft.com/office/drawing/2014/main" id="{B43103E3-1EAB-5F1D-0A28-8E4D98B0553C}"/>
                </a:ext>
              </a:extLst>
            </p:cNvPr>
            <p:cNvSpPr/>
            <p:nvPr/>
          </p:nvSpPr>
          <p:spPr>
            <a:xfrm rot="5400000">
              <a:off x="6843818" y="2650422"/>
              <a:ext cx="281624" cy="41042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grpSp>
          <p:nvGrpSpPr>
            <p:cNvPr id="294" name="组合 4129">
              <a:extLst>
                <a:ext uri="{FF2B5EF4-FFF2-40B4-BE49-F238E27FC236}">
                  <a16:creationId xmlns:a16="http://schemas.microsoft.com/office/drawing/2014/main" id="{9811E6A9-5C30-BF8D-167C-9601408CDE27}"/>
                </a:ext>
              </a:extLst>
            </p:cNvPr>
            <p:cNvGrpSpPr/>
            <p:nvPr/>
          </p:nvGrpSpPr>
          <p:grpSpPr>
            <a:xfrm>
              <a:off x="5603371" y="1180604"/>
              <a:ext cx="1371877" cy="315250"/>
              <a:chOff x="6685631" y="835025"/>
              <a:chExt cx="1868370" cy="429342"/>
            </a:xfrm>
          </p:grpSpPr>
          <p:sp>
            <p:nvSpPr>
              <p:cNvPr id="334" name="箭头: 左右 4130">
                <a:extLst>
                  <a:ext uri="{FF2B5EF4-FFF2-40B4-BE49-F238E27FC236}">
                    <a16:creationId xmlns:a16="http://schemas.microsoft.com/office/drawing/2014/main" id="{AD1DBE4B-40EB-7A9A-9868-C615B1D0FB8C}"/>
                  </a:ext>
                </a:extLst>
              </p:cNvPr>
              <p:cNvSpPr/>
              <p:nvPr/>
            </p:nvSpPr>
            <p:spPr>
              <a:xfrm rot="5400000">
                <a:off x="6535196" y="985460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35" name="箭头: 左右 4131">
                <a:extLst>
                  <a:ext uri="{FF2B5EF4-FFF2-40B4-BE49-F238E27FC236}">
                    <a16:creationId xmlns:a16="http://schemas.microsoft.com/office/drawing/2014/main" id="{157878FE-55F4-645E-877D-DAAEF1966A22}"/>
                  </a:ext>
                </a:extLst>
              </p:cNvPr>
              <p:cNvSpPr/>
              <p:nvPr/>
            </p:nvSpPr>
            <p:spPr>
              <a:xfrm rot="5400000">
                <a:off x="7097171" y="985461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36" name="箭头: 左右 4132">
                <a:extLst>
                  <a:ext uri="{FF2B5EF4-FFF2-40B4-BE49-F238E27FC236}">
                    <a16:creationId xmlns:a16="http://schemas.microsoft.com/office/drawing/2014/main" id="{82C198E6-9B68-CC0E-A66C-F60D6AF1C5FD}"/>
                  </a:ext>
                </a:extLst>
              </p:cNvPr>
              <p:cNvSpPr/>
              <p:nvPr/>
            </p:nvSpPr>
            <p:spPr>
              <a:xfrm rot="5400000">
                <a:off x="7681371" y="985462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37" name="箭头: 左右 4133">
                <a:extLst>
                  <a:ext uri="{FF2B5EF4-FFF2-40B4-BE49-F238E27FC236}">
                    <a16:creationId xmlns:a16="http://schemas.microsoft.com/office/drawing/2014/main" id="{420CE434-864D-5AD5-6C41-F323EE2D3CCC}"/>
                  </a:ext>
                </a:extLst>
              </p:cNvPr>
              <p:cNvSpPr/>
              <p:nvPr/>
            </p:nvSpPr>
            <p:spPr>
              <a:xfrm rot="5400000">
                <a:off x="8275096" y="985463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295" name="组合 4134">
              <a:extLst>
                <a:ext uri="{FF2B5EF4-FFF2-40B4-BE49-F238E27FC236}">
                  <a16:creationId xmlns:a16="http://schemas.microsoft.com/office/drawing/2014/main" id="{4DAC2D76-389F-3E3C-6E93-DBC202517C18}"/>
                </a:ext>
              </a:extLst>
            </p:cNvPr>
            <p:cNvGrpSpPr/>
            <p:nvPr/>
          </p:nvGrpSpPr>
          <p:grpSpPr>
            <a:xfrm>
              <a:off x="5603371" y="2945802"/>
              <a:ext cx="1371877" cy="95490"/>
              <a:chOff x="6685631" y="3273987"/>
              <a:chExt cx="1868370" cy="429342"/>
            </a:xfrm>
          </p:grpSpPr>
          <p:sp>
            <p:nvSpPr>
              <p:cNvPr id="330" name="箭头: 左右 4135">
                <a:extLst>
                  <a:ext uri="{FF2B5EF4-FFF2-40B4-BE49-F238E27FC236}">
                    <a16:creationId xmlns:a16="http://schemas.microsoft.com/office/drawing/2014/main" id="{48F90228-4D59-7910-3C96-86D318267779}"/>
                  </a:ext>
                </a:extLst>
              </p:cNvPr>
              <p:cNvSpPr/>
              <p:nvPr/>
            </p:nvSpPr>
            <p:spPr>
              <a:xfrm rot="5400000">
                <a:off x="6535196" y="3424422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31" name="箭头: 左右 4136">
                <a:extLst>
                  <a:ext uri="{FF2B5EF4-FFF2-40B4-BE49-F238E27FC236}">
                    <a16:creationId xmlns:a16="http://schemas.microsoft.com/office/drawing/2014/main" id="{4353400A-3589-2DA6-52A8-CF7DCC60AE23}"/>
                  </a:ext>
                </a:extLst>
              </p:cNvPr>
              <p:cNvSpPr/>
              <p:nvPr/>
            </p:nvSpPr>
            <p:spPr>
              <a:xfrm rot="5400000">
                <a:off x="7097171" y="3424423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32" name="箭头: 左右 4137">
                <a:extLst>
                  <a:ext uri="{FF2B5EF4-FFF2-40B4-BE49-F238E27FC236}">
                    <a16:creationId xmlns:a16="http://schemas.microsoft.com/office/drawing/2014/main" id="{A6868019-4E2E-6CF9-19AD-ADFCE6320E1A}"/>
                  </a:ext>
                </a:extLst>
              </p:cNvPr>
              <p:cNvSpPr/>
              <p:nvPr/>
            </p:nvSpPr>
            <p:spPr>
              <a:xfrm rot="5400000">
                <a:off x="7681371" y="3424424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33" name="箭头: 左右 4138">
                <a:extLst>
                  <a:ext uri="{FF2B5EF4-FFF2-40B4-BE49-F238E27FC236}">
                    <a16:creationId xmlns:a16="http://schemas.microsoft.com/office/drawing/2014/main" id="{C22BF7FD-7F42-D5B5-B6E7-DB7626314622}"/>
                  </a:ext>
                </a:extLst>
              </p:cNvPr>
              <p:cNvSpPr/>
              <p:nvPr/>
            </p:nvSpPr>
            <p:spPr>
              <a:xfrm rot="5400000">
                <a:off x="8275096" y="3424425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296" name="组合 4139">
              <a:extLst>
                <a:ext uri="{FF2B5EF4-FFF2-40B4-BE49-F238E27FC236}">
                  <a16:creationId xmlns:a16="http://schemas.microsoft.com/office/drawing/2014/main" id="{EB5CAC32-88F3-9F50-678B-862EC10E543A}"/>
                </a:ext>
              </a:extLst>
            </p:cNvPr>
            <p:cNvGrpSpPr/>
            <p:nvPr/>
          </p:nvGrpSpPr>
          <p:grpSpPr>
            <a:xfrm>
              <a:off x="5585394" y="974674"/>
              <a:ext cx="1692517" cy="203747"/>
              <a:chOff x="6661148" y="554567"/>
              <a:chExt cx="2305052" cy="277484"/>
            </a:xfrm>
          </p:grpSpPr>
          <p:sp>
            <p:nvSpPr>
              <p:cNvPr id="325" name="矩形 4140">
                <a:extLst>
                  <a:ext uri="{FF2B5EF4-FFF2-40B4-BE49-F238E27FC236}">
                    <a16:creationId xmlns:a16="http://schemas.microsoft.com/office/drawing/2014/main" id="{2BAB492C-4707-C786-870E-396B8F9FA53C}"/>
                  </a:ext>
                </a:extLst>
              </p:cNvPr>
              <p:cNvSpPr/>
              <p:nvPr/>
            </p:nvSpPr>
            <p:spPr>
              <a:xfrm>
                <a:off x="6661148" y="692150"/>
                <a:ext cx="2305052" cy="13990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HBM CTRL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6" name="矩形 4141">
                <a:extLst>
                  <a:ext uri="{FF2B5EF4-FFF2-40B4-BE49-F238E27FC236}">
                    <a16:creationId xmlns:a16="http://schemas.microsoft.com/office/drawing/2014/main" id="{07A26131-FC41-62E6-EBC2-2D8550753D16}"/>
                  </a:ext>
                </a:extLst>
              </p:cNvPr>
              <p:cNvSpPr/>
              <p:nvPr/>
            </p:nvSpPr>
            <p:spPr>
              <a:xfrm>
                <a:off x="6919381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CH0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7" name="矩形 4142">
                <a:extLst>
                  <a:ext uri="{FF2B5EF4-FFF2-40B4-BE49-F238E27FC236}">
                    <a16:creationId xmlns:a16="http://schemas.microsoft.com/office/drawing/2014/main" id="{137F5572-D11D-AE1B-0A65-EFD458451F2F}"/>
                  </a:ext>
                </a:extLst>
              </p:cNvPr>
              <p:cNvSpPr/>
              <p:nvPr/>
            </p:nvSpPr>
            <p:spPr>
              <a:xfrm>
                <a:off x="7346948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CH1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8" name="矩形 4143">
                <a:extLst>
                  <a:ext uri="{FF2B5EF4-FFF2-40B4-BE49-F238E27FC236}">
                    <a16:creationId xmlns:a16="http://schemas.microsoft.com/office/drawing/2014/main" id="{21BD0457-FD22-F7D5-3188-D6F9EF51C950}"/>
                  </a:ext>
                </a:extLst>
              </p:cNvPr>
              <p:cNvSpPr/>
              <p:nvPr/>
            </p:nvSpPr>
            <p:spPr>
              <a:xfrm>
                <a:off x="7774515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…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9" name="矩形 4144">
                <a:extLst>
                  <a:ext uri="{FF2B5EF4-FFF2-40B4-BE49-F238E27FC236}">
                    <a16:creationId xmlns:a16="http://schemas.microsoft.com/office/drawing/2014/main" id="{2BD0667C-FE3B-F335-5069-5779ED34859D}"/>
                  </a:ext>
                </a:extLst>
              </p:cNvPr>
              <p:cNvSpPr/>
              <p:nvPr/>
            </p:nvSpPr>
            <p:spPr>
              <a:xfrm>
                <a:off x="8202082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CHn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297" name="组合 4145">
              <a:extLst>
                <a:ext uri="{FF2B5EF4-FFF2-40B4-BE49-F238E27FC236}">
                  <a16:creationId xmlns:a16="http://schemas.microsoft.com/office/drawing/2014/main" id="{E7DC6D08-6F4F-CD77-34D3-7862FD32D1A4}"/>
                </a:ext>
              </a:extLst>
            </p:cNvPr>
            <p:cNvGrpSpPr/>
            <p:nvPr/>
          </p:nvGrpSpPr>
          <p:grpSpPr>
            <a:xfrm>
              <a:off x="5585394" y="3033904"/>
              <a:ext cx="1692517" cy="205504"/>
              <a:chOff x="6661148" y="3359049"/>
              <a:chExt cx="2305052" cy="279877"/>
            </a:xfrm>
          </p:grpSpPr>
          <p:sp>
            <p:nvSpPr>
              <p:cNvPr id="320" name="矩形 4146">
                <a:extLst>
                  <a:ext uri="{FF2B5EF4-FFF2-40B4-BE49-F238E27FC236}">
                    <a16:creationId xmlns:a16="http://schemas.microsoft.com/office/drawing/2014/main" id="{D7750619-CE14-8B2E-2223-BF177F08D965}"/>
                  </a:ext>
                </a:extLst>
              </p:cNvPr>
              <p:cNvSpPr/>
              <p:nvPr/>
            </p:nvSpPr>
            <p:spPr>
              <a:xfrm>
                <a:off x="6661148" y="3359049"/>
                <a:ext cx="2305052" cy="13990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HBM CTRL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1" name="矩形 4147">
                <a:extLst>
                  <a:ext uri="{FF2B5EF4-FFF2-40B4-BE49-F238E27FC236}">
                    <a16:creationId xmlns:a16="http://schemas.microsoft.com/office/drawing/2014/main" id="{95407834-19F6-1729-4258-DE8389028E53}"/>
                  </a:ext>
                </a:extLst>
              </p:cNvPr>
              <p:cNvSpPr/>
              <p:nvPr/>
            </p:nvSpPr>
            <p:spPr>
              <a:xfrm>
                <a:off x="6919381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CH0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2" name="矩形 4148">
                <a:extLst>
                  <a:ext uri="{FF2B5EF4-FFF2-40B4-BE49-F238E27FC236}">
                    <a16:creationId xmlns:a16="http://schemas.microsoft.com/office/drawing/2014/main" id="{1F77F0C7-6F6E-6C8C-0724-9B8645037830}"/>
                  </a:ext>
                </a:extLst>
              </p:cNvPr>
              <p:cNvSpPr/>
              <p:nvPr/>
            </p:nvSpPr>
            <p:spPr>
              <a:xfrm>
                <a:off x="7346948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CH1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3" name="矩形 4149">
                <a:extLst>
                  <a:ext uri="{FF2B5EF4-FFF2-40B4-BE49-F238E27FC236}">
                    <a16:creationId xmlns:a16="http://schemas.microsoft.com/office/drawing/2014/main" id="{70058E02-F321-4BA9-CC20-77DD9BFAF592}"/>
                  </a:ext>
                </a:extLst>
              </p:cNvPr>
              <p:cNvSpPr/>
              <p:nvPr/>
            </p:nvSpPr>
            <p:spPr>
              <a:xfrm>
                <a:off x="7774515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…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24" name="矩形 4150">
                <a:extLst>
                  <a:ext uri="{FF2B5EF4-FFF2-40B4-BE49-F238E27FC236}">
                    <a16:creationId xmlns:a16="http://schemas.microsoft.com/office/drawing/2014/main" id="{1FCDA36E-B8F7-122F-E537-44ABBB29C8F2}"/>
                  </a:ext>
                </a:extLst>
              </p:cNvPr>
              <p:cNvSpPr/>
              <p:nvPr/>
            </p:nvSpPr>
            <p:spPr>
              <a:xfrm>
                <a:off x="8202082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CHn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298" name="组合 4151">
              <a:extLst>
                <a:ext uri="{FF2B5EF4-FFF2-40B4-BE49-F238E27FC236}">
                  <a16:creationId xmlns:a16="http://schemas.microsoft.com/office/drawing/2014/main" id="{B8B52568-1BEA-096E-2853-ED27144C0BE1}"/>
                </a:ext>
              </a:extLst>
            </p:cNvPr>
            <p:cNvGrpSpPr/>
            <p:nvPr/>
          </p:nvGrpSpPr>
          <p:grpSpPr>
            <a:xfrm rot="16200000">
              <a:off x="4553391" y="2000768"/>
              <a:ext cx="1771471" cy="203746"/>
              <a:chOff x="6661148" y="554567"/>
              <a:chExt cx="2305052" cy="277484"/>
            </a:xfrm>
          </p:grpSpPr>
          <p:sp>
            <p:nvSpPr>
              <p:cNvPr id="315" name="矩形 4152">
                <a:extLst>
                  <a:ext uri="{FF2B5EF4-FFF2-40B4-BE49-F238E27FC236}">
                    <a16:creationId xmlns:a16="http://schemas.microsoft.com/office/drawing/2014/main" id="{A203B4F2-7E87-5DB3-21F3-AB4F341BFC45}"/>
                  </a:ext>
                </a:extLst>
              </p:cNvPr>
              <p:cNvSpPr/>
              <p:nvPr/>
            </p:nvSpPr>
            <p:spPr>
              <a:xfrm>
                <a:off x="6661148" y="692150"/>
                <a:ext cx="2305052" cy="13990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HBM CTRL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6" name="矩形 4153">
                <a:extLst>
                  <a:ext uri="{FF2B5EF4-FFF2-40B4-BE49-F238E27FC236}">
                    <a16:creationId xmlns:a16="http://schemas.microsoft.com/office/drawing/2014/main" id="{9120C6A4-CDF4-2029-9FAE-9351F5869CCF}"/>
                  </a:ext>
                </a:extLst>
              </p:cNvPr>
              <p:cNvSpPr/>
              <p:nvPr/>
            </p:nvSpPr>
            <p:spPr>
              <a:xfrm>
                <a:off x="6919381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CH0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7" name="矩形 4154">
                <a:extLst>
                  <a:ext uri="{FF2B5EF4-FFF2-40B4-BE49-F238E27FC236}">
                    <a16:creationId xmlns:a16="http://schemas.microsoft.com/office/drawing/2014/main" id="{A6A0711E-A2EF-F027-FB41-AD752C839D3C}"/>
                  </a:ext>
                </a:extLst>
              </p:cNvPr>
              <p:cNvSpPr/>
              <p:nvPr/>
            </p:nvSpPr>
            <p:spPr>
              <a:xfrm>
                <a:off x="7346948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CH1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8" name="矩形 4155">
                <a:extLst>
                  <a:ext uri="{FF2B5EF4-FFF2-40B4-BE49-F238E27FC236}">
                    <a16:creationId xmlns:a16="http://schemas.microsoft.com/office/drawing/2014/main" id="{5CB38998-14D6-2F97-088B-BCDE9C526630}"/>
                  </a:ext>
                </a:extLst>
              </p:cNvPr>
              <p:cNvSpPr/>
              <p:nvPr/>
            </p:nvSpPr>
            <p:spPr>
              <a:xfrm>
                <a:off x="7774515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…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9" name="矩形 4156">
                <a:extLst>
                  <a:ext uri="{FF2B5EF4-FFF2-40B4-BE49-F238E27FC236}">
                    <a16:creationId xmlns:a16="http://schemas.microsoft.com/office/drawing/2014/main" id="{D7EFE41E-9F16-DBF8-D87D-D4D4C2BF5AF6}"/>
                  </a:ext>
                </a:extLst>
              </p:cNvPr>
              <p:cNvSpPr/>
              <p:nvPr/>
            </p:nvSpPr>
            <p:spPr>
              <a:xfrm>
                <a:off x="8202082" y="554567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CHn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299" name="组合 4157">
              <a:extLst>
                <a:ext uri="{FF2B5EF4-FFF2-40B4-BE49-F238E27FC236}">
                  <a16:creationId xmlns:a16="http://schemas.microsoft.com/office/drawing/2014/main" id="{1DFD0EA6-CE3A-4C5E-AAAD-1749B3D3B7E1}"/>
                </a:ext>
              </a:extLst>
            </p:cNvPr>
            <p:cNvGrpSpPr/>
            <p:nvPr/>
          </p:nvGrpSpPr>
          <p:grpSpPr>
            <a:xfrm rot="5400000">
              <a:off x="4856954" y="2183623"/>
              <a:ext cx="1419042" cy="106700"/>
              <a:chOff x="6685631" y="3273987"/>
              <a:chExt cx="1868370" cy="429342"/>
            </a:xfrm>
          </p:grpSpPr>
          <p:sp>
            <p:nvSpPr>
              <p:cNvPr id="311" name="箭头: 左右 4158">
                <a:extLst>
                  <a:ext uri="{FF2B5EF4-FFF2-40B4-BE49-F238E27FC236}">
                    <a16:creationId xmlns:a16="http://schemas.microsoft.com/office/drawing/2014/main" id="{F33012CF-16BD-DFD7-CB23-04080143E7CD}"/>
                  </a:ext>
                </a:extLst>
              </p:cNvPr>
              <p:cNvSpPr/>
              <p:nvPr/>
            </p:nvSpPr>
            <p:spPr>
              <a:xfrm rot="5400000">
                <a:off x="6535196" y="3424422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2" name="箭头: 左右 127">
                <a:extLst>
                  <a:ext uri="{FF2B5EF4-FFF2-40B4-BE49-F238E27FC236}">
                    <a16:creationId xmlns:a16="http://schemas.microsoft.com/office/drawing/2014/main" id="{CFFE860F-DA17-6BC9-9B9E-6BD5E9E2E2EB}"/>
                  </a:ext>
                </a:extLst>
              </p:cNvPr>
              <p:cNvSpPr/>
              <p:nvPr/>
            </p:nvSpPr>
            <p:spPr>
              <a:xfrm rot="5400000">
                <a:off x="7097171" y="3424423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3" name="箭头: 左右 128">
                <a:extLst>
                  <a:ext uri="{FF2B5EF4-FFF2-40B4-BE49-F238E27FC236}">
                    <a16:creationId xmlns:a16="http://schemas.microsoft.com/office/drawing/2014/main" id="{8FECFD71-DD1E-31E0-D586-147389DE893A}"/>
                  </a:ext>
                </a:extLst>
              </p:cNvPr>
              <p:cNvSpPr/>
              <p:nvPr/>
            </p:nvSpPr>
            <p:spPr>
              <a:xfrm rot="5400000">
                <a:off x="7681371" y="3424424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4" name="箭头: 左右 129">
                <a:extLst>
                  <a:ext uri="{FF2B5EF4-FFF2-40B4-BE49-F238E27FC236}">
                    <a16:creationId xmlns:a16="http://schemas.microsoft.com/office/drawing/2014/main" id="{E0851DC5-4496-240B-80B6-DE5B0A31F1E1}"/>
                  </a:ext>
                </a:extLst>
              </p:cNvPr>
              <p:cNvSpPr/>
              <p:nvPr/>
            </p:nvSpPr>
            <p:spPr>
              <a:xfrm rot="5400000">
                <a:off x="8275096" y="3424425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300" name="组合 130">
              <a:extLst>
                <a:ext uri="{FF2B5EF4-FFF2-40B4-BE49-F238E27FC236}">
                  <a16:creationId xmlns:a16="http://schemas.microsoft.com/office/drawing/2014/main" id="{6AFDE8CB-98DD-B8F5-DB5D-7FAB0B6988CE}"/>
                </a:ext>
              </a:extLst>
            </p:cNvPr>
            <p:cNvGrpSpPr/>
            <p:nvPr/>
          </p:nvGrpSpPr>
          <p:grpSpPr>
            <a:xfrm rot="16200000">
              <a:off x="6535703" y="1994907"/>
              <a:ext cx="1768833" cy="205504"/>
              <a:chOff x="6661148" y="3359049"/>
              <a:chExt cx="2305052" cy="279877"/>
            </a:xfrm>
          </p:grpSpPr>
          <p:sp>
            <p:nvSpPr>
              <p:cNvPr id="306" name="矩形 131">
                <a:extLst>
                  <a:ext uri="{FF2B5EF4-FFF2-40B4-BE49-F238E27FC236}">
                    <a16:creationId xmlns:a16="http://schemas.microsoft.com/office/drawing/2014/main" id="{5E915ADE-747E-E871-F5B2-6A9D00C43FDC}"/>
                  </a:ext>
                </a:extLst>
              </p:cNvPr>
              <p:cNvSpPr/>
              <p:nvPr/>
            </p:nvSpPr>
            <p:spPr>
              <a:xfrm>
                <a:off x="6661148" y="3359049"/>
                <a:ext cx="2305052" cy="13990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HBM CTRL</a:t>
                </a:r>
                <a:endPara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07" name="矩形 132">
                <a:extLst>
                  <a:ext uri="{FF2B5EF4-FFF2-40B4-BE49-F238E27FC236}">
                    <a16:creationId xmlns:a16="http://schemas.microsoft.com/office/drawing/2014/main" id="{376A1838-1357-3A24-F51F-7ABFEE57A971}"/>
                  </a:ext>
                </a:extLst>
              </p:cNvPr>
              <p:cNvSpPr/>
              <p:nvPr/>
            </p:nvSpPr>
            <p:spPr>
              <a:xfrm>
                <a:off x="6919381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CH0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08" name="矩形 133">
                <a:extLst>
                  <a:ext uri="{FF2B5EF4-FFF2-40B4-BE49-F238E27FC236}">
                    <a16:creationId xmlns:a16="http://schemas.microsoft.com/office/drawing/2014/main" id="{2AEBA42A-9CBF-6EBE-77A7-F4C0874D32DF}"/>
                  </a:ext>
                </a:extLst>
              </p:cNvPr>
              <p:cNvSpPr/>
              <p:nvPr/>
            </p:nvSpPr>
            <p:spPr>
              <a:xfrm>
                <a:off x="7346948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CH1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09" name="矩形 134">
                <a:extLst>
                  <a:ext uri="{FF2B5EF4-FFF2-40B4-BE49-F238E27FC236}">
                    <a16:creationId xmlns:a16="http://schemas.microsoft.com/office/drawing/2014/main" id="{844B4B75-EFF5-5F1B-625B-9591A989C46D}"/>
                  </a:ext>
                </a:extLst>
              </p:cNvPr>
              <p:cNvSpPr/>
              <p:nvPr/>
            </p:nvSpPr>
            <p:spPr>
              <a:xfrm>
                <a:off x="7774515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…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10" name="矩形 135">
                <a:extLst>
                  <a:ext uri="{FF2B5EF4-FFF2-40B4-BE49-F238E27FC236}">
                    <a16:creationId xmlns:a16="http://schemas.microsoft.com/office/drawing/2014/main" id="{1FE134BB-5049-46BF-F3EA-C941DE50F50C}"/>
                  </a:ext>
                </a:extLst>
              </p:cNvPr>
              <p:cNvSpPr/>
              <p:nvPr/>
            </p:nvSpPr>
            <p:spPr>
              <a:xfrm>
                <a:off x="8202082" y="3518075"/>
                <a:ext cx="421219" cy="120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+mn-ea"/>
                    <a:cs typeface="Arial Narrow" panose="020B0604020202020204" pitchFamily="34" charset="0"/>
                  </a:rPr>
                  <a:t>CHn</a:t>
                </a:r>
                <a:endParaRPr kumimoji="0" lang="zh-CN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301" name="组合 136">
              <a:extLst>
                <a:ext uri="{FF2B5EF4-FFF2-40B4-BE49-F238E27FC236}">
                  <a16:creationId xmlns:a16="http://schemas.microsoft.com/office/drawing/2014/main" id="{1D31B450-C7BD-5D22-6905-FBC64A6C52F5}"/>
                </a:ext>
              </a:extLst>
            </p:cNvPr>
            <p:cNvGrpSpPr/>
            <p:nvPr/>
          </p:nvGrpSpPr>
          <p:grpSpPr>
            <a:xfrm rot="5400000">
              <a:off x="6447138" y="2091825"/>
              <a:ext cx="1443998" cy="315250"/>
              <a:chOff x="6685631" y="835025"/>
              <a:chExt cx="1868370" cy="429342"/>
            </a:xfrm>
          </p:grpSpPr>
          <p:sp>
            <p:nvSpPr>
              <p:cNvPr id="302" name="箭头: 左右 137">
                <a:extLst>
                  <a:ext uri="{FF2B5EF4-FFF2-40B4-BE49-F238E27FC236}">
                    <a16:creationId xmlns:a16="http://schemas.microsoft.com/office/drawing/2014/main" id="{84BE8F02-7525-10A3-CB4C-F15362492274}"/>
                  </a:ext>
                </a:extLst>
              </p:cNvPr>
              <p:cNvSpPr/>
              <p:nvPr/>
            </p:nvSpPr>
            <p:spPr>
              <a:xfrm rot="5400000">
                <a:off x="6535196" y="985460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03" name="箭头: 左右 138">
                <a:extLst>
                  <a:ext uri="{FF2B5EF4-FFF2-40B4-BE49-F238E27FC236}">
                    <a16:creationId xmlns:a16="http://schemas.microsoft.com/office/drawing/2014/main" id="{1C647D5C-A8B0-EF63-9D57-74F57F092B50}"/>
                  </a:ext>
                </a:extLst>
              </p:cNvPr>
              <p:cNvSpPr/>
              <p:nvPr/>
            </p:nvSpPr>
            <p:spPr>
              <a:xfrm rot="5400000">
                <a:off x="7097171" y="985461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04" name="箭头: 左右 139">
                <a:extLst>
                  <a:ext uri="{FF2B5EF4-FFF2-40B4-BE49-F238E27FC236}">
                    <a16:creationId xmlns:a16="http://schemas.microsoft.com/office/drawing/2014/main" id="{743B2443-1523-538B-98E2-5507ADE0A60B}"/>
                  </a:ext>
                </a:extLst>
              </p:cNvPr>
              <p:cNvSpPr/>
              <p:nvPr/>
            </p:nvSpPr>
            <p:spPr>
              <a:xfrm rot="5400000">
                <a:off x="7681371" y="985462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  <p:sp>
            <p:nvSpPr>
              <p:cNvPr id="305" name="箭头: 左右 140">
                <a:extLst>
                  <a:ext uri="{FF2B5EF4-FFF2-40B4-BE49-F238E27FC236}">
                    <a16:creationId xmlns:a16="http://schemas.microsoft.com/office/drawing/2014/main" id="{B2EC6A65-64C8-F601-402C-3BFDE77B4227}"/>
                  </a:ext>
                </a:extLst>
              </p:cNvPr>
              <p:cNvSpPr/>
              <p:nvPr/>
            </p:nvSpPr>
            <p:spPr>
              <a:xfrm rot="5400000">
                <a:off x="8275096" y="985463"/>
                <a:ext cx="429339" cy="128470"/>
              </a:xfrm>
              <a:prstGeom prst="leftRightArrow">
                <a:avLst/>
              </a:prstGeom>
              <a:solidFill>
                <a:srgbClr val="97B468">
                  <a:alpha val="69804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endParaRPr>
              </a:p>
            </p:txBody>
          </p:sp>
        </p:grpSp>
      </p:grpSp>
      <p:grpSp>
        <p:nvGrpSpPr>
          <p:cNvPr id="354" name="组合 2086">
            <a:extLst>
              <a:ext uri="{FF2B5EF4-FFF2-40B4-BE49-F238E27FC236}">
                <a16:creationId xmlns:a16="http://schemas.microsoft.com/office/drawing/2014/main" id="{053C98FE-A245-C75B-F55F-4456130388C4}"/>
              </a:ext>
            </a:extLst>
          </p:cNvPr>
          <p:cNvGrpSpPr/>
          <p:nvPr/>
        </p:nvGrpSpPr>
        <p:grpSpPr>
          <a:xfrm>
            <a:off x="6712484" y="767592"/>
            <a:ext cx="2082266" cy="918177"/>
            <a:chOff x="7661307" y="1744343"/>
            <a:chExt cx="1982227" cy="1382937"/>
          </a:xfrm>
        </p:grpSpPr>
        <p:sp>
          <p:nvSpPr>
            <p:cNvPr id="355" name="矩形 10">
              <a:extLst>
                <a:ext uri="{FF2B5EF4-FFF2-40B4-BE49-F238E27FC236}">
                  <a16:creationId xmlns:a16="http://schemas.microsoft.com/office/drawing/2014/main" id="{54B74928-2762-0650-55A1-7F408A142E82}"/>
                </a:ext>
              </a:extLst>
            </p:cNvPr>
            <p:cNvSpPr/>
            <p:nvPr/>
          </p:nvSpPr>
          <p:spPr>
            <a:xfrm>
              <a:off x="7661307" y="1744343"/>
              <a:ext cx="1982227" cy="1268762"/>
            </a:xfrm>
            <a:prstGeom prst="rect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56" name="矩形 12">
              <a:extLst>
                <a:ext uri="{FF2B5EF4-FFF2-40B4-BE49-F238E27FC236}">
                  <a16:creationId xmlns:a16="http://schemas.microsoft.com/office/drawing/2014/main" id="{A9503B24-70AE-2B84-D9CC-1C35149F2095}"/>
                </a:ext>
              </a:extLst>
            </p:cNvPr>
            <p:cNvSpPr/>
            <p:nvPr/>
          </p:nvSpPr>
          <p:spPr>
            <a:xfrm>
              <a:off x="7712598" y="2456168"/>
              <a:ext cx="107235" cy="496642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I$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57" name="矩形 13">
              <a:extLst>
                <a:ext uri="{FF2B5EF4-FFF2-40B4-BE49-F238E27FC236}">
                  <a16:creationId xmlns:a16="http://schemas.microsoft.com/office/drawing/2014/main" id="{5DDFE7AF-751D-3F7A-3828-16345E5AB04B}"/>
                </a:ext>
              </a:extLst>
            </p:cNvPr>
            <p:cNvSpPr/>
            <p:nvPr/>
          </p:nvSpPr>
          <p:spPr>
            <a:xfrm>
              <a:off x="7715705" y="1818466"/>
              <a:ext cx="900405" cy="304083"/>
            </a:xfrm>
            <a:prstGeom prst="rect">
              <a:avLst/>
            </a:prstGeom>
            <a:solidFill>
              <a:srgbClr val="A8322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Matrix engine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cxnSp>
          <p:nvCxnSpPr>
            <p:cNvPr id="358" name="直接箭头连接符 14">
              <a:extLst>
                <a:ext uri="{FF2B5EF4-FFF2-40B4-BE49-F238E27FC236}">
                  <a16:creationId xmlns:a16="http://schemas.microsoft.com/office/drawing/2014/main" id="{CE986F22-5C59-DD19-E9F3-C13A0286B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1693" y="2021691"/>
              <a:ext cx="0" cy="435012"/>
            </a:xfrm>
            <a:prstGeom prst="straightConnector1">
              <a:avLst/>
            </a:prstGeom>
            <a:noFill/>
            <a:ln w="19050" cap="flat" cmpd="sng" algn="ctr">
              <a:solidFill>
                <a:srgbClr val="A8322C">
                  <a:lumMod val="60000"/>
                  <a:lumOff val="4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59" name="矩形 141">
              <a:extLst>
                <a:ext uri="{FF2B5EF4-FFF2-40B4-BE49-F238E27FC236}">
                  <a16:creationId xmlns:a16="http://schemas.microsoft.com/office/drawing/2014/main" id="{8459B448-089D-F738-141D-C64BC6905084}"/>
                </a:ext>
              </a:extLst>
            </p:cNvPr>
            <p:cNvSpPr/>
            <p:nvPr/>
          </p:nvSpPr>
          <p:spPr>
            <a:xfrm>
              <a:off x="8827792" y="1811292"/>
              <a:ext cx="796224" cy="114151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 local memory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0" name="矩形 142">
              <a:extLst>
                <a:ext uri="{FF2B5EF4-FFF2-40B4-BE49-F238E27FC236}">
                  <a16:creationId xmlns:a16="http://schemas.microsoft.com/office/drawing/2014/main" id="{56F56B17-E200-9D2B-09E8-0E0DAE9EA58C}"/>
                </a:ext>
              </a:extLst>
            </p:cNvPr>
            <p:cNvSpPr/>
            <p:nvPr/>
          </p:nvSpPr>
          <p:spPr>
            <a:xfrm>
              <a:off x="7846785" y="2630876"/>
              <a:ext cx="764662" cy="321934"/>
            </a:xfrm>
            <a:prstGeom prst="rect">
              <a:avLst/>
            </a:prstGeom>
            <a:solidFill>
              <a:srgbClr val="F295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DMA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1" name="矩形 143">
              <a:extLst>
                <a:ext uri="{FF2B5EF4-FFF2-40B4-BE49-F238E27FC236}">
                  <a16:creationId xmlns:a16="http://schemas.microsoft.com/office/drawing/2014/main" id="{89411D98-2101-1D08-8E45-478FE4B401EB}"/>
                </a:ext>
              </a:extLst>
            </p:cNvPr>
            <p:cNvSpPr/>
            <p:nvPr/>
          </p:nvSpPr>
          <p:spPr>
            <a:xfrm>
              <a:off x="7846785" y="2456703"/>
              <a:ext cx="769324" cy="144875"/>
            </a:xfrm>
            <a:prstGeom prst="rect">
              <a:avLst/>
            </a:prstGeom>
            <a:solidFill>
              <a:srgbClr val="A8322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Scalar core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2" name="矩形 144">
              <a:extLst>
                <a:ext uri="{FF2B5EF4-FFF2-40B4-BE49-F238E27FC236}">
                  <a16:creationId xmlns:a16="http://schemas.microsoft.com/office/drawing/2014/main" id="{C19D4227-A69E-AF90-2F24-B89D31494917}"/>
                </a:ext>
              </a:extLst>
            </p:cNvPr>
            <p:cNvSpPr/>
            <p:nvPr/>
          </p:nvSpPr>
          <p:spPr>
            <a:xfrm>
              <a:off x="7715704" y="2145097"/>
              <a:ext cx="900406" cy="281624"/>
            </a:xfrm>
            <a:prstGeom prst="rect">
              <a:avLst/>
            </a:prstGeom>
            <a:solidFill>
              <a:srgbClr val="A8322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Vector engine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3" name="矩形 145">
              <a:extLst>
                <a:ext uri="{FF2B5EF4-FFF2-40B4-BE49-F238E27FC236}">
                  <a16:creationId xmlns:a16="http://schemas.microsoft.com/office/drawing/2014/main" id="{FFC4E054-2249-836C-C5F6-8CB99CCFC0BE}"/>
                </a:ext>
              </a:extLst>
            </p:cNvPr>
            <p:cNvSpPr/>
            <p:nvPr/>
          </p:nvSpPr>
          <p:spPr>
            <a:xfrm rot="16200000">
              <a:off x="8155613" y="2310095"/>
              <a:ext cx="1134345" cy="151084"/>
            </a:xfrm>
            <a:prstGeom prst="rect">
              <a:avLst/>
            </a:prstGeom>
            <a:solidFill>
              <a:srgbClr val="16863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interconnect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4" name="箭头: 左右 146">
              <a:extLst>
                <a:ext uri="{FF2B5EF4-FFF2-40B4-BE49-F238E27FC236}">
                  <a16:creationId xmlns:a16="http://schemas.microsoft.com/office/drawing/2014/main" id="{2D35198E-D0C3-5E7F-07AE-88CE27F1CDDD}"/>
                </a:ext>
              </a:extLst>
            </p:cNvPr>
            <p:cNvSpPr/>
            <p:nvPr/>
          </p:nvSpPr>
          <p:spPr>
            <a:xfrm rot="10800000">
              <a:off x="8500472" y="1826223"/>
              <a:ext cx="219792" cy="256660"/>
            </a:xfrm>
            <a:prstGeom prst="leftRightArrow">
              <a:avLst>
                <a:gd name="adj1" fmla="val 66955"/>
                <a:gd name="adj2" fmla="val 29411"/>
              </a:avLst>
            </a:prstGeom>
            <a:solidFill>
              <a:srgbClr val="97B468">
                <a:alpha val="6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5" name="箭头: 左右 147">
              <a:extLst>
                <a:ext uri="{FF2B5EF4-FFF2-40B4-BE49-F238E27FC236}">
                  <a16:creationId xmlns:a16="http://schemas.microsoft.com/office/drawing/2014/main" id="{72C2EA24-9AB9-BD71-F00E-DD1EC5DA3392}"/>
                </a:ext>
              </a:extLst>
            </p:cNvPr>
            <p:cNvSpPr/>
            <p:nvPr/>
          </p:nvSpPr>
          <p:spPr>
            <a:xfrm rot="10800000">
              <a:off x="8500472" y="2134396"/>
              <a:ext cx="219792" cy="256660"/>
            </a:xfrm>
            <a:prstGeom prst="leftRightArrow">
              <a:avLst>
                <a:gd name="adj1" fmla="val 66955"/>
                <a:gd name="adj2" fmla="val 29411"/>
              </a:avLst>
            </a:prstGeom>
            <a:solidFill>
              <a:srgbClr val="97B468">
                <a:alpha val="6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6" name="箭头: 左右 148">
              <a:extLst>
                <a:ext uri="{FF2B5EF4-FFF2-40B4-BE49-F238E27FC236}">
                  <a16:creationId xmlns:a16="http://schemas.microsoft.com/office/drawing/2014/main" id="{E4A332C9-FD5F-9457-2360-2702360F6876}"/>
                </a:ext>
              </a:extLst>
            </p:cNvPr>
            <p:cNvSpPr/>
            <p:nvPr/>
          </p:nvSpPr>
          <p:spPr>
            <a:xfrm rot="10800000">
              <a:off x="8500472" y="2669985"/>
              <a:ext cx="219792" cy="256660"/>
            </a:xfrm>
            <a:prstGeom prst="leftRightArrow">
              <a:avLst>
                <a:gd name="adj1" fmla="val 66955"/>
                <a:gd name="adj2" fmla="val 29411"/>
              </a:avLst>
            </a:prstGeom>
            <a:solidFill>
              <a:srgbClr val="97B468">
                <a:alpha val="6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67" name="箭头: 左右 149">
              <a:extLst>
                <a:ext uri="{FF2B5EF4-FFF2-40B4-BE49-F238E27FC236}">
                  <a16:creationId xmlns:a16="http://schemas.microsoft.com/office/drawing/2014/main" id="{C94E1D51-D49F-A196-C0F2-5D8D61CD4AA0}"/>
                </a:ext>
              </a:extLst>
            </p:cNvPr>
            <p:cNvSpPr/>
            <p:nvPr/>
          </p:nvSpPr>
          <p:spPr>
            <a:xfrm rot="10800000">
              <a:off x="8767396" y="1959288"/>
              <a:ext cx="219792" cy="281625"/>
            </a:xfrm>
            <a:prstGeom prst="leftRightArrow">
              <a:avLst>
                <a:gd name="adj1" fmla="val 66955"/>
                <a:gd name="adj2" fmla="val 29411"/>
              </a:avLst>
            </a:prstGeom>
            <a:solidFill>
              <a:srgbClr val="97B468">
                <a:alpha val="6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cxnSp>
          <p:nvCxnSpPr>
            <p:cNvPr id="368" name="直接箭头连接符 150">
              <a:extLst>
                <a:ext uri="{FF2B5EF4-FFF2-40B4-BE49-F238E27FC236}">
                  <a16:creationId xmlns:a16="http://schemas.microsoft.com/office/drawing/2014/main" id="{CE7B2796-F69C-ADF0-C993-03E03B032C38}"/>
                </a:ext>
              </a:extLst>
            </p:cNvPr>
            <p:cNvCxnSpPr>
              <a:cxnSpLocks/>
            </p:cNvCxnSpPr>
            <p:nvPr/>
          </p:nvCxnSpPr>
          <p:spPr>
            <a:xfrm>
              <a:off x="8566375" y="2533796"/>
              <a:ext cx="117589" cy="1855"/>
            </a:xfrm>
            <a:prstGeom prst="straightConnector1">
              <a:avLst/>
            </a:prstGeom>
            <a:noFill/>
            <a:ln w="19050" cap="flat" cmpd="sng" algn="ctr">
              <a:solidFill>
                <a:srgbClr val="48592C">
                  <a:lumMod val="60000"/>
                  <a:lumOff val="4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69" name="直接箭头连接符 151">
              <a:extLst>
                <a:ext uri="{FF2B5EF4-FFF2-40B4-BE49-F238E27FC236}">
                  <a16:creationId xmlns:a16="http://schemas.microsoft.com/office/drawing/2014/main" id="{D4A00197-BD3F-5B5F-F531-0CCB966F42F4}"/>
                </a:ext>
              </a:extLst>
            </p:cNvPr>
            <p:cNvCxnSpPr>
              <a:cxnSpLocks/>
              <a:stCxn id="361" idx="0"/>
            </p:cNvCxnSpPr>
            <p:nvPr/>
          </p:nvCxnSpPr>
          <p:spPr>
            <a:xfrm flipV="1">
              <a:off x="8231448" y="2333922"/>
              <a:ext cx="0" cy="122781"/>
            </a:xfrm>
            <a:prstGeom prst="straightConnector1">
              <a:avLst/>
            </a:prstGeom>
            <a:noFill/>
            <a:ln w="19050" cap="flat" cmpd="sng" algn="ctr">
              <a:solidFill>
                <a:srgbClr val="A8322C">
                  <a:lumMod val="60000"/>
                  <a:lumOff val="4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70" name="直接箭头连接符 152">
              <a:extLst>
                <a:ext uri="{FF2B5EF4-FFF2-40B4-BE49-F238E27FC236}">
                  <a16:creationId xmlns:a16="http://schemas.microsoft.com/office/drawing/2014/main" id="{8416CD7E-E206-5F9D-3EAD-F746C54E1565}"/>
                </a:ext>
              </a:extLst>
            </p:cNvPr>
            <p:cNvCxnSpPr>
              <a:cxnSpLocks/>
            </p:cNvCxnSpPr>
            <p:nvPr/>
          </p:nvCxnSpPr>
          <p:spPr>
            <a:xfrm>
              <a:off x="7787725" y="2533796"/>
              <a:ext cx="117589" cy="1855"/>
            </a:xfrm>
            <a:prstGeom prst="straightConnector1">
              <a:avLst/>
            </a:prstGeom>
            <a:noFill/>
            <a:ln w="19050" cap="flat" cmpd="sng" algn="ctr">
              <a:solidFill>
                <a:srgbClr val="1269B0">
                  <a:lumMod val="60000"/>
                  <a:lumOff val="4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71" name="直接箭头连接符 153">
              <a:extLst>
                <a:ext uri="{FF2B5EF4-FFF2-40B4-BE49-F238E27FC236}">
                  <a16:creationId xmlns:a16="http://schemas.microsoft.com/office/drawing/2014/main" id="{531292B0-B8D9-B9C4-5D67-44A984B9A231}"/>
                </a:ext>
              </a:extLst>
            </p:cNvPr>
            <p:cNvCxnSpPr>
              <a:cxnSpLocks/>
            </p:cNvCxnSpPr>
            <p:nvPr/>
          </p:nvCxnSpPr>
          <p:spPr>
            <a:xfrm>
              <a:off x="7951939" y="2589201"/>
              <a:ext cx="0" cy="105788"/>
            </a:xfrm>
            <a:prstGeom prst="straightConnector1">
              <a:avLst/>
            </a:prstGeom>
            <a:noFill/>
            <a:ln w="19050" cap="flat" cmpd="sng" algn="ctr">
              <a:solidFill>
                <a:srgbClr val="F29545">
                  <a:lumMod val="60000"/>
                  <a:lumOff val="4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72" name="箭头: 左右 154">
              <a:extLst>
                <a:ext uri="{FF2B5EF4-FFF2-40B4-BE49-F238E27FC236}">
                  <a16:creationId xmlns:a16="http://schemas.microsoft.com/office/drawing/2014/main" id="{EE93E623-65E8-658B-7199-BDFA40D709C8}"/>
                </a:ext>
              </a:extLst>
            </p:cNvPr>
            <p:cNvSpPr/>
            <p:nvPr/>
          </p:nvSpPr>
          <p:spPr>
            <a:xfrm rot="5400000">
              <a:off x="7764098" y="2891651"/>
              <a:ext cx="201409" cy="250969"/>
            </a:xfrm>
            <a:prstGeom prst="leftRightArrow">
              <a:avLst>
                <a:gd name="adj1" fmla="val 72578"/>
                <a:gd name="adj2" fmla="val 20278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73" name="箭头: 左右 155">
              <a:extLst>
                <a:ext uri="{FF2B5EF4-FFF2-40B4-BE49-F238E27FC236}">
                  <a16:creationId xmlns:a16="http://schemas.microsoft.com/office/drawing/2014/main" id="{D4D22C34-435C-CAF8-2AF0-DE5CA8E32E1E}"/>
                </a:ext>
              </a:extLst>
            </p:cNvPr>
            <p:cNvSpPr/>
            <p:nvPr/>
          </p:nvSpPr>
          <p:spPr>
            <a:xfrm rot="5400000">
              <a:off x="8616244" y="2993391"/>
              <a:ext cx="205007" cy="43888"/>
            </a:xfrm>
            <a:prstGeom prst="leftRightArrow">
              <a:avLst>
                <a:gd name="adj1" fmla="val 50000"/>
                <a:gd name="adj2" fmla="val 121005"/>
              </a:avLst>
            </a:prstGeom>
            <a:solidFill>
              <a:srgbClr val="F2954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74" name="文本框 157">
              <a:extLst>
                <a:ext uri="{FF2B5EF4-FFF2-40B4-BE49-F238E27FC236}">
                  <a16:creationId xmlns:a16="http://schemas.microsoft.com/office/drawing/2014/main" id="{BA3EEE99-5D36-20BA-BC46-A052862B369B}"/>
                </a:ext>
              </a:extLst>
            </p:cNvPr>
            <p:cNvSpPr txBox="1"/>
            <p:nvPr/>
          </p:nvSpPr>
          <p:spPr>
            <a:xfrm>
              <a:off x="7951693" y="2896448"/>
              <a:ext cx="6644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29545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To </a:t>
              </a: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highlight>
                    <a:srgbClr val="F5AE73"/>
                  </a:highlight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R</a:t>
              </a: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29545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outer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29545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pic>
        <p:nvPicPr>
          <p:cNvPr id="375" name="Picture 4" descr="Inside Tesla's Innovative And Homegrown “Dojo” AI Supercomputer">
            <a:extLst>
              <a:ext uri="{FF2B5EF4-FFF2-40B4-BE49-F238E27FC236}">
                <a16:creationId xmlns:a16="http://schemas.microsoft.com/office/drawing/2014/main" id="{00F2567C-DD9C-ADA6-E53E-FFC950BB8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588" y="1433662"/>
            <a:ext cx="2033706" cy="214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6" name="组合 161">
            <a:extLst>
              <a:ext uri="{FF2B5EF4-FFF2-40B4-BE49-F238E27FC236}">
                <a16:creationId xmlns:a16="http://schemas.microsoft.com/office/drawing/2014/main" id="{1CF19EA1-4DEE-F7EB-0807-D5071405A60A}"/>
              </a:ext>
            </a:extLst>
          </p:cNvPr>
          <p:cNvGrpSpPr/>
          <p:nvPr/>
        </p:nvGrpSpPr>
        <p:grpSpPr>
          <a:xfrm>
            <a:off x="6687862" y="4562605"/>
            <a:ext cx="2252937" cy="2246007"/>
            <a:chOff x="7169931" y="1775480"/>
            <a:chExt cx="3019816" cy="3010527"/>
          </a:xfrm>
        </p:grpSpPr>
        <p:sp>
          <p:nvSpPr>
            <p:cNvPr id="377" name="矩形 162">
              <a:extLst>
                <a:ext uri="{FF2B5EF4-FFF2-40B4-BE49-F238E27FC236}">
                  <a16:creationId xmlns:a16="http://schemas.microsoft.com/office/drawing/2014/main" id="{4E26F067-FA72-BDB6-5E05-3D1EB53040CD}"/>
                </a:ext>
              </a:extLst>
            </p:cNvPr>
            <p:cNvSpPr/>
            <p:nvPr/>
          </p:nvSpPr>
          <p:spPr>
            <a:xfrm>
              <a:off x="9189085" y="2083510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78" name="矩形 163">
              <a:extLst>
                <a:ext uri="{FF2B5EF4-FFF2-40B4-BE49-F238E27FC236}">
                  <a16:creationId xmlns:a16="http://schemas.microsoft.com/office/drawing/2014/main" id="{0EFCB4A8-80A7-CC30-1EC8-E24BC7C30906}"/>
                </a:ext>
              </a:extLst>
            </p:cNvPr>
            <p:cNvSpPr/>
            <p:nvPr/>
          </p:nvSpPr>
          <p:spPr>
            <a:xfrm>
              <a:off x="7308665" y="1775480"/>
              <a:ext cx="878602" cy="21418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HBM CTRL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79" name="矩形 164">
              <a:extLst>
                <a:ext uri="{FF2B5EF4-FFF2-40B4-BE49-F238E27FC236}">
                  <a16:creationId xmlns:a16="http://schemas.microsoft.com/office/drawing/2014/main" id="{02760125-44E1-F2CD-2104-72C6A86CFFBC}"/>
                </a:ext>
              </a:extLst>
            </p:cNvPr>
            <p:cNvSpPr/>
            <p:nvPr/>
          </p:nvSpPr>
          <p:spPr>
            <a:xfrm>
              <a:off x="8248465" y="1775480"/>
              <a:ext cx="878602" cy="21418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HBM CTRL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0" name="矩形 165">
              <a:extLst>
                <a:ext uri="{FF2B5EF4-FFF2-40B4-BE49-F238E27FC236}">
                  <a16:creationId xmlns:a16="http://schemas.microsoft.com/office/drawing/2014/main" id="{99F27893-74F9-2990-085C-E6F0A3F44D01}"/>
                </a:ext>
              </a:extLst>
            </p:cNvPr>
            <p:cNvSpPr/>
            <p:nvPr/>
          </p:nvSpPr>
          <p:spPr>
            <a:xfrm>
              <a:off x="9188265" y="1775480"/>
              <a:ext cx="878602" cy="21418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HBM CTRL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1" name="矩形 166">
              <a:extLst>
                <a:ext uri="{FF2B5EF4-FFF2-40B4-BE49-F238E27FC236}">
                  <a16:creationId xmlns:a16="http://schemas.microsoft.com/office/drawing/2014/main" id="{03D40780-55C9-E926-D6D4-DD09F75466DC}"/>
                </a:ext>
              </a:extLst>
            </p:cNvPr>
            <p:cNvSpPr/>
            <p:nvPr/>
          </p:nvSpPr>
          <p:spPr>
            <a:xfrm>
              <a:off x="8242095" y="2070593"/>
              <a:ext cx="910372" cy="2441081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L2 Cache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2" name="矩形 167">
              <a:extLst>
                <a:ext uri="{FF2B5EF4-FFF2-40B4-BE49-F238E27FC236}">
                  <a16:creationId xmlns:a16="http://schemas.microsoft.com/office/drawing/2014/main" id="{A2788570-9733-DA16-1C37-7BF2D9F30DF8}"/>
                </a:ext>
              </a:extLst>
            </p:cNvPr>
            <p:cNvSpPr/>
            <p:nvPr/>
          </p:nvSpPr>
          <p:spPr>
            <a:xfrm>
              <a:off x="7705725" y="2083510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3" name="矩形 169">
              <a:extLst>
                <a:ext uri="{FF2B5EF4-FFF2-40B4-BE49-F238E27FC236}">
                  <a16:creationId xmlns:a16="http://schemas.microsoft.com/office/drawing/2014/main" id="{07777860-074B-68DE-7588-0978CF7E38E2}"/>
                </a:ext>
              </a:extLst>
            </p:cNvPr>
            <p:cNvSpPr/>
            <p:nvPr/>
          </p:nvSpPr>
          <p:spPr>
            <a:xfrm>
              <a:off x="7954990" y="2139167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4" name="矩形 170">
              <a:extLst>
                <a:ext uri="{FF2B5EF4-FFF2-40B4-BE49-F238E27FC236}">
                  <a16:creationId xmlns:a16="http://schemas.microsoft.com/office/drawing/2014/main" id="{7EE336B3-8ECF-385E-1237-403EEC712091}"/>
                </a:ext>
              </a:extLst>
            </p:cNvPr>
            <p:cNvSpPr/>
            <p:nvPr/>
          </p:nvSpPr>
          <p:spPr>
            <a:xfrm>
              <a:off x="7169931" y="2083510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5" name="矩形 171">
              <a:extLst>
                <a:ext uri="{FF2B5EF4-FFF2-40B4-BE49-F238E27FC236}">
                  <a16:creationId xmlns:a16="http://schemas.microsoft.com/office/drawing/2014/main" id="{80E2864A-98D5-4C05-1374-469CC5780B8D}"/>
                </a:ext>
              </a:extLst>
            </p:cNvPr>
            <p:cNvSpPr/>
            <p:nvPr/>
          </p:nvSpPr>
          <p:spPr>
            <a:xfrm>
              <a:off x="7419196" y="2139167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6" name="矩形 172">
              <a:extLst>
                <a:ext uri="{FF2B5EF4-FFF2-40B4-BE49-F238E27FC236}">
                  <a16:creationId xmlns:a16="http://schemas.microsoft.com/office/drawing/2014/main" id="{B4B3B1C7-A979-8C29-B388-77EF33D809CD}"/>
                </a:ext>
              </a:extLst>
            </p:cNvPr>
            <p:cNvSpPr/>
            <p:nvPr/>
          </p:nvSpPr>
          <p:spPr>
            <a:xfrm>
              <a:off x="7705725" y="2700373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7" name="矩形 173">
              <a:extLst>
                <a:ext uri="{FF2B5EF4-FFF2-40B4-BE49-F238E27FC236}">
                  <a16:creationId xmlns:a16="http://schemas.microsoft.com/office/drawing/2014/main" id="{EB1C3B2F-B9DC-3C60-41C0-89CBEFD9C0EA}"/>
                </a:ext>
              </a:extLst>
            </p:cNvPr>
            <p:cNvSpPr/>
            <p:nvPr/>
          </p:nvSpPr>
          <p:spPr>
            <a:xfrm>
              <a:off x="7954990" y="2756030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8" name="矩形 174">
              <a:extLst>
                <a:ext uri="{FF2B5EF4-FFF2-40B4-BE49-F238E27FC236}">
                  <a16:creationId xmlns:a16="http://schemas.microsoft.com/office/drawing/2014/main" id="{D0F82322-E30E-2BEE-A97A-3E93AE46A3B5}"/>
                </a:ext>
              </a:extLst>
            </p:cNvPr>
            <p:cNvSpPr/>
            <p:nvPr/>
          </p:nvSpPr>
          <p:spPr>
            <a:xfrm>
              <a:off x="7169931" y="2700373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89" name="矩形 175">
              <a:extLst>
                <a:ext uri="{FF2B5EF4-FFF2-40B4-BE49-F238E27FC236}">
                  <a16:creationId xmlns:a16="http://schemas.microsoft.com/office/drawing/2014/main" id="{02B11AF8-710C-76D2-6029-C072327C9AB5}"/>
                </a:ext>
              </a:extLst>
            </p:cNvPr>
            <p:cNvSpPr/>
            <p:nvPr/>
          </p:nvSpPr>
          <p:spPr>
            <a:xfrm>
              <a:off x="7419196" y="2756030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0" name="矩形 176">
              <a:extLst>
                <a:ext uri="{FF2B5EF4-FFF2-40B4-BE49-F238E27FC236}">
                  <a16:creationId xmlns:a16="http://schemas.microsoft.com/office/drawing/2014/main" id="{C3BF862D-5C8F-5B48-49D5-3C578C504671}"/>
                </a:ext>
              </a:extLst>
            </p:cNvPr>
            <p:cNvSpPr/>
            <p:nvPr/>
          </p:nvSpPr>
          <p:spPr>
            <a:xfrm>
              <a:off x="7705725" y="3317236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1" name="矩形 177">
              <a:extLst>
                <a:ext uri="{FF2B5EF4-FFF2-40B4-BE49-F238E27FC236}">
                  <a16:creationId xmlns:a16="http://schemas.microsoft.com/office/drawing/2014/main" id="{94F94733-EF0F-E8D1-7DC0-DD8F9CDC0FA7}"/>
                </a:ext>
              </a:extLst>
            </p:cNvPr>
            <p:cNvSpPr/>
            <p:nvPr/>
          </p:nvSpPr>
          <p:spPr>
            <a:xfrm>
              <a:off x="7954990" y="3372893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2" name="矩形 178">
              <a:extLst>
                <a:ext uri="{FF2B5EF4-FFF2-40B4-BE49-F238E27FC236}">
                  <a16:creationId xmlns:a16="http://schemas.microsoft.com/office/drawing/2014/main" id="{1DA882D0-ACB9-D933-515E-3DED80F7B839}"/>
                </a:ext>
              </a:extLst>
            </p:cNvPr>
            <p:cNvSpPr/>
            <p:nvPr/>
          </p:nvSpPr>
          <p:spPr>
            <a:xfrm>
              <a:off x="7169931" y="3317236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3" name="矩形 179">
              <a:extLst>
                <a:ext uri="{FF2B5EF4-FFF2-40B4-BE49-F238E27FC236}">
                  <a16:creationId xmlns:a16="http://schemas.microsoft.com/office/drawing/2014/main" id="{4F232187-4BF7-4CF1-E7E2-C9FA91D34D50}"/>
                </a:ext>
              </a:extLst>
            </p:cNvPr>
            <p:cNvSpPr/>
            <p:nvPr/>
          </p:nvSpPr>
          <p:spPr>
            <a:xfrm>
              <a:off x="7419196" y="3372893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4" name="矩形 180">
              <a:extLst>
                <a:ext uri="{FF2B5EF4-FFF2-40B4-BE49-F238E27FC236}">
                  <a16:creationId xmlns:a16="http://schemas.microsoft.com/office/drawing/2014/main" id="{B8A3BCBB-7172-1673-8D36-B910848C01D8}"/>
                </a:ext>
              </a:extLst>
            </p:cNvPr>
            <p:cNvSpPr/>
            <p:nvPr/>
          </p:nvSpPr>
          <p:spPr>
            <a:xfrm>
              <a:off x="7705725" y="3934099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5" name="矩形 181">
              <a:extLst>
                <a:ext uri="{FF2B5EF4-FFF2-40B4-BE49-F238E27FC236}">
                  <a16:creationId xmlns:a16="http://schemas.microsoft.com/office/drawing/2014/main" id="{E4674943-5307-48BB-5A8A-BD0DB47E20C5}"/>
                </a:ext>
              </a:extLst>
            </p:cNvPr>
            <p:cNvSpPr/>
            <p:nvPr/>
          </p:nvSpPr>
          <p:spPr>
            <a:xfrm>
              <a:off x="7954990" y="3989756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6" name="矩形 182">
              <a:extLst>
                <a:ext uri="{FF2B5EF4-FFF2-40B4-BE49-F238E27FC236}">
                  <a16:creationId xmlns:a16="http://schemas.microsoft.com/office/drawing/2014/main" id="{FFF6D10A-FE80-9BEC-4749-3383039764A6}"/>
                </a:ext>
              </a:extLst>
            </p:cNvPr>
            <p:cNvSpPr/>
            <p:nvPr/>
          </p:nvSpPr>
          <p:spPr>
            <a:xfrm>
              <a:off x="7169931" y="3934099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7" name="矩形 183">
              <a:extLst>
                <a:ext uri="{FF2B5EF4-FFF2-40B4-BE49-F238E27FC236}">
                  <a16:creationId xmlns:a16="http://schemas.microsoft.com/office/drawing/2014/main" id="{08E53BE5-E5A6-6613-E44D-61D5351D3CA7}"/>
                </a:ext>
              </a:extLst>
            </p:cNvPr>
            <p:cNvSpPr/>
            <p:nvPr/>
          </p:nvSpPr>
          <p:spPr>
            <a:xfrm>
              <a:off x="7419196" y="3989756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8" name="矩形 184">
              <a:extLst>
                <a:ext uri="{FF2B5EF4-FFF2-40B4-BE49-F238E27FC236}">
                  <a16:creationId xmlns:a16="http://schemas.microsoft.com/office/drawing/2014/main" id="{40AE51B4-D4E7-3944-BAC2-35945E725044}"/>
                </a:ext>
              </a:extLst>
            </p:cNvPr>
            <p:cNvSpPr/>
            <p:nvPr/>
          </p:nvSpPr>
          <p:spPr>
            <a:xfrm>
              <a:off x="9209750" y="2139167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399" name="矩形 185">
              <a:extLst>
                <a:ext uri="{FF2B5EF4-FFF2-40B4-BE49-F238E27FC236}">
                  <a16:creationId xmlns:a16="http://schemas.microsoft.com/office/drawing/2014/main" id="{CBB498A4-4F6B-7E70-E076-467A31E7F077}"/>
                </a:ext>
              </a:extLst>
            </p:cNvPr>
            <p:cNvSpPr/>
            <p:nvPr/>
          </p:nvSpPr>
          <p:spPr>
            <a:xfrm>
              <a:off x="9713818" y="2083510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0" name="矩形 186">
              <a:extLst>
                <a:ext uri="{FF2B5EF4-FFF2-40B4-BE49-F238E27FC236}">
                  <a16:creationId xmlns:a16="http://schemas.microsoft.com/office/drawing/2014/main" id="{C7C09523-D047-E459-E72C-69ECF456E18E}"/>
                </a:ext>
              </a:extLst>
            </p:cNvPr>
            <p:cNvSpPr/>
            <p:nvPr/>
          </p:nvSpPr>
          <p:spPr>
            <a:xfrm>
              <a:off x="9734483" y="2139167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1" name="矩形 187">
              <a:extLst>
                <a:ext uri="{FF2B5EF4-FFF2-40B4-BE49-F238E27FC236}">
                  <a16:creationId xmlns:a16="http://schemas.microsoft.com/office/drawing/2014/main" id="{98FF146C-DA38-F19A-4B75-EC0341FDDB2C}"/>
                </a:ext>
              </a:extLst>
            </p:cNvPr>
            <p:cNvSpPr/>
            <p:nvPr/>
          </p:nvSpPr>
          <p:spPr>
            <a:xfrm>
              <a:off x="9189085" y="2702432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2" name="矩形 188">
              <a:extLst>
                <a:ext uri="{FF2B5EF4-FFF2-40B4-BE49-F238E27FC236}">
                  <a16:creationId xmlns:a16="http://schemas.microsoft.com/office/drawing/2014/main" id="{A70414A3-40BB-E758-5D23-6536BFA8F9A2}"/>
                </a:ext>
              </a:extLst>
            </p:cNvPr>
            <p:cNvSpPr/>
            <p:nvPr/>
          </p:nvSpPr>
          <p:spPr>
            <a:xfrm>
              <a:off x="9209750" y="2758089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3" name="矩形 189">
              <a:extLst>
                <a:ext uri="{FF2B5EF4-FFF2-40B4-BE49-F238E27FC236}">
                  <a16:creationId xmlns:a16="http://schemas.microsoft.com/office/drawing/2014/main" id="{A1C8FADA-7BCA-4273-7AD7-E3BFEF02A5CC}"/>
                </a:ext>
              </a:extLst>
            </p:cNvPr>
            <p:cNvSpPr/>
            <p:nvPr/>
          </p:nvSpPr>
          <p:spPr>
            <a:xfrm>
              <a:off x="9713818" y="2702432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4" name="矩形 190">
              <a:extLst>
                <a:ext uri="{FF2B5EF4-FFF2-40B4-BE49-F238E27FC236}">
                  <a16:creationId xmlns:a16="http://schemas.microsoft.com/office/drawing/2014/main" id="{64275070-A602-B74B-007C-AE093DF08972}"/>
                </a:ext>
              </a:extLst>
            </p:cNvPr>
            <p:cNvSpPr/>
            <p:nvPr/>
          </p:nvSpPr>
          <p:spPr>
            <a:xfrm>
              <a:off x="9734483" y="2758089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5" name="矩形 2047">
              <a:extLst>
                <a:ext uri="{FF2B5EF4-FFF2-40B4-BE49-F238E27FC236}">
                  <a16:creationId xmlns:a16="http://schemas.microsoft.com/office/drawing/2014/main" id="{637E6C6A-ABF6-185A-29F7-DCF43AEB9643}"/>
                </a:ext>
              </a:extLst>
            </p:cNvPr>
            <p:cNvSpPr/>
            <p:nvPr/>
          </p:nvSpPr>
          <p:spPr>
            <a:xfrm>
              <a:off x="9189085" y="3321354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6" name="矩形 2048">
              <a:extLst>
                <a:ext uri="{FF2B5EF4-FFF2-40B4-BE49-F238E27FC236}">
                  <a16:creationId xmlns:a16="http://schemas.microsoft.com/office/drawing/2014/main" id="{E02473B4-2699-2A62-098F-466818E8B89E}"/>
                </a:ext>
              </a:extLst>
            </p:cNvPr>
            <p:cNvSpPr/>
            <p:nvPr/>
          </p:nvSpPr>
          <p:spPr>
            <a:xfrm>
              <a:off x="9209750" y="3377011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7" name="矩形 2050">
              <a:extLst>
                <a:ext uri="{FF2B5EF4-FFF2-40B4-BE49-F238E27FC236}">
                  <a16:creationId xmlns:a16="http://schemas.microsoft.com/office/drawing/2014/main" id="{3D8BF648-B8D4-DE4B-7A60-100C630CF727}"/>
                </a:ext>
              </a:extLst>
            </p:cNvPr>
            <p:cNvSpPr/>
            <p:nvPr/>
          </p:nvSpPr>
          <p:spPr>
            <a:xfrm>
              <a:off x="9713818" y="3321354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8" name="矩形 2052">
              <a:extLst>
                <a:ext uri="{FF2B5EF4-FFF2-40B4-BE49-F238E27FC236}">
                  <a16:creationId xmlns:a16="http://schemas.microsoft.com/office/drawing/2014/main" id="{47EF3DBE-16AC-5616-78B3-A32986BBAAD3}"/>
                </a:ext>
              </a:extLst>
            </p:cNvPr>
            <p:cNvSpPr/>
            <p:nvPr/>
          </p:nvSpPr>
          <p:spPr>
            <a:xfrm>
              <a:off x="9734483" y="3377011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09" name="矩形 2053">
              <a:extLst>
                <a:ext uri="{FF2B5EF4-FFF2-40B4-BE49-F238E27FC236}">
                  <a16:creationId xmlns:a16="http://schemas.microsoft.com/office/drawing/2014/main" id="{3858A502-9064-5E19-F5FD-3536B1E0C8C4}"/>
                </a:ext>
              </a:extLst>
            </p:cNvPr>
            <p:cNvSpPr/>
            <p:nvPr/>
          </p:nvSpPr>
          <p:spPr>
            <a:xfrm>
              <a:off x="9189085" y="3940276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10" name="矩形 2054">
              <a:extLst>
                <a:ext uri="{FF2B5EF4-FFF2-40B4-BE49-F238E27FC236}">
                  <a16:creationId xmlns:a16="http://schemas.microsoft.com/office/drawing/2014/main" id="{7D52DBA0-8655-EED3-5278-2E1977C1B2D5}"/>
                </a:ext>
              </a:extLst>
            </p:cNvPr>
            <p:cNvSpPr/>
            <p:nvPr/>
          </p:nvSpPr>
          <p:spPr>
            <a:xfrm>
              <a:off x="9209750" y="3995933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11" name="矩形 2055">
              <a:extLst>
                <a:ext uri="{FF2B5EF4-FFF2-40B4-BE49-F238E27FC236}">
                  <a16:creationId xmlns:a16="http://schemas.microsoft.com/office/drawing/2014/main" id="{B22177FA-EE16-D982-60A4-8B7BBE24D3D5}"/>
                </a:ext>
              </a:extLst>
            </p:cNvPr>
            <p:cNvSpPr/>
            <p:nvPr/>
          </p:nvSpPr>
          <p:spPr>
            <a:xfrm>
              <a:off x="9713818" y="3940276"/>
              <a:ext cx="475929" cy="57538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SM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12" name="矩形 2056">
              <a:extLst>
                <a:ext uri="{FF2B5EF4-FFF2-40B4-BE49-F238E27FC236}">
                  <a16:creationId xmlns:a16="http://schemas.microsoft.com/office/drawing/2014/main" id="{281F6D19-55CF-FBDD-27C9-DD0786C373A3}"/>
                </a:ext>
              </a:extLst>
            </p:cNvPr>
            <p:cNvSpPr/>
            <p:nvPr/>
          </p:nvSpPr>
          <p:spPr>
            <a:xfrm>
              <a:off x="9734483" y="3995933"/>
              <a:ext cx="205766" cy="464076"/>
            </a:xfrm>
            <a:prstGeom prst="rect">
              <a:avLst/>
            </a:prstGeom>
            <a:solidFill>
              <a:srgbClr val="1269B0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L1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13" name="矩形 2057">
              <a:extLst>
                <a:ext uri="{FF2B5EF4-FFF2-40B4-BE49-F238E27FC236}">
                  <a16:creationId xmlns:a16="http://schemas.microsoft.com/office/drawing/2014/main" id="{3DF58E4C-373A-08A0-AFDC-89D8BA2C260E}"/>
                </a:ext>
              </a:extLst>
            </p:cNvPr>
            <p:cNvSpPr/>
            <p:nvPr/>
          </p:nvSpPr>
          <p:spPr>
            <a:xfrm>
              <a:off x="7308665" y="4571820"/>
              <a:ext cx="878602" cy="21418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HBM CTRL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14" name="矩形 2058">
              <a:extLst>
                <a:ext uri="{FF2B5EF4-FFF2-40B4-BE49-F238E27FC236}">
                  <a16:creationId xmlns:a16="http://schemas.microsoft.com/office/drawing/2014/main" id="{F26A1CE0-3C09-DA2D-22BB-6BABA2D3304E}"/>
                </a:ext>
              </a:extLst>
            </p:cNvPr>
            <p:cNvSpPr/>
            <p:nvPr/>
          </p:nvSpPr>
          <p:spPr>
            <a:xfrm>
              <a:off x="8248465" y="4571820"/>
              <a:ext cx="878602" cy="21418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HBM CTRL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sp>
          <p:nvSpPr>
            <p:cNvPr id="415" name="矩形 2059">
              <a:extLst>
                <a:ext uri="{FF2B5EF4-FFF2-40B4-BE49-F238E27FC236}">
                  <a16:creationId xmlns:a16="http://schemas.microsoft.com/office/drawing/2014/main" id="{AB305103-7C93-5F91-6ABF-6930EE4F1610}"/>
                </a:ext>
              </a:extLst>
            </p:cNvPr>
            <p:cNvSpPr/>
            <p:nvPr/>
          </p:nvSpPr>
          <p:spPr>
            <a:xfrm>
              <a:off x="9188265" y="4571820"/>
              <a:ext cx="878602" cy="21418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+mn-ea"/>
                  <a:cs typeface="Arial Narrow" panose="020B0604020202020204" pitchFamily="34" charset="0"/>
                </a:rPr>
                <a:t>HBM CTRL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endParaRPr>
            </a:p>
          </p:txBody>
        </p:sp>
        <p:cxnSp>
          <p:nvCxnSpPr>
            <p:cNvPr id="416" name="直接箭头连接符 2060">
              <a:extLst>
                <a:ext uri="{FF2B5EF4-FFF2-40B4-BE49-F238E27FC236}">
                  <a16:creationId xmlns:a16="http://schemas.microsoft.com/office/drawing/2014/main" id="{6A6818C3-F25B-834E-B0D6-C57B24AED9A8}"/>
                </a:ext>
              </a:extLst>
            </p:cNvPr>
            <p:cNvCxnSpPr>
              <a:cxnSpLocks/>
            </p:cNvCxnSpPr>
            <p:nvPr/>
          </p:nvCxnSpPr>
          <p:spPr>
            <a:xfrm>
              <a:off x="8056880" y="1989667"/>
              <a:ext cx="350520" cy="93843"/>
            </a:xfrm>
            <a:prstGeom prst="straightConnector1">
              <a:avLst/>
            </a:prstGeom>
            <a:noFill/>
            <a:ln w="38100" cap="flat" cmpd="sng" algn="ctr">
              <a:solidFill>
                <a:srgbClr val="ACC18C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17" name="直接箭头连接符 2061">
              <a:extLst>
                <a:ext uri="{FF2B5EF4-FFF2-40B4-BE49-F238E27FC236}">
                  <a16:creationId xmlns:a16="http://schemas.microsoft.com/office/drawing/2014/main" id="{4ECFB6BB-7517-9A86-3F64-49E6D63A3887}"/>
                </a:ext>
              </a:extLst>
            </p:cNvPr>
            <p:cNvCxnSpPr>
              <a:cxnSpLocks/>
            </p:cNvCxnSpPr>
            <p:nvPr/>
          </p:nvCxnSpPr>
          <p:spPr>
            <a:xfrm>
              <a:off x="8681416" y="1962331"/>
              <a:ext cx="1151" cy="154336"/>
            </a:xfrm>
            <a:prstGeom prst="straightConnector1">
              <a:avLst/>
            </a:prstGeom>
            <a:noFill/>
            <a:ln w="38100" cap="flat" cmpd="sng" algn="ctr">
              <a:solidFill>
                <a:srgbClr val="ACC18C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18" name="直接箭头连接符 2062">
              <a:extLst>
                <a:ext uri="{FF2B5EF4-FFF2-40B4-BE49-F238E27FC236}">
                  <a16:creationId xmlns:a16="http://schemas.microsoft.com/office/drawing/2014/main" id="{7F505781-21F2-2846-11BD-C492FB3DB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0960" y="1989667"/>
              <a:ext cx="365760" cy="93843"/>
            </a:xfrm>
            <a:prstGeom prst="straightConnector1">
              <a:avLst/>
            </a:prstGeom>
            <a:noFill/>
            <a:ln w="38100" cap="flat" cmpd="sng" algn="ctr">
              <a:solidFill>
                <a:srgbClr val="ACC18C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19" name="直接箭头连接符 2063">
              <a:extLst>
                <a:ext uri="{FF2B5EF4-FFF2-40B4-BE49-F238E27FC236}">
                  <a16:creationId xmlns:a16="http://schemas.microsoft.com/office/drawing/2014/main" id="{CC13367B-F9C1-D11C-29F1-323D3E12AC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2038" y="4440238"/>
              <a:ext cx="529" cy="170916"/>
            </a:xfrm>
            <a:prstGeom prst="straightConnector1">
              <a:avLst/>
            </a:prstGeom>
            <a:noFill/>
            <a:ln w="38100" cap="flat" cmpd="sng" algn="ctr">
              <a:solidFill>
                <a:srgbClr val="ACC18C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20" name="直接箭头连接符 2064">
              <a:extLst>
                <a:ext uri="{FF2B5EF4-FFF2-40B4-BE49-F238E27FC236}">
                  <a16:creationId xmlns:a16="http://schemas.microsoft.com/office/drawing/2014/main" id="{675096A5-1F66-5C62-D0AE-91BF7264B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725" y="4476750"/>
              <a:ext cx="290513" cy="100013"/>
            </a:xfrm>
            <a:prstGeom prst="straightConnector1">
              <a:avLst/>
            </a:prstGeom>
            <a:noFill/>
            <a:ln w="38100" cap="flat" cmpd="sng" algn="ctr">
              <a:solidFill>
                <a:srgbClr val="ACC18C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21" name="直接箭头连接符 2065">
              <a:extLst>
                <a:ext uri="{FF2B5EF4-FFF2-40B4-BE49-F238E27FC236}">
                  <a16:creationId xmlns:a16="http://schemas.microsoft.com/office/drawing/2014/main" id="{27533A84-D7B8-05B6-DE7B-7E9A98C1A3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7312" y="4470401"/>
              <a:ext cx="285751" cy="106362"/>
            </a:xfrm>
            <a:prstGeom prst="straightConnector1">
              <a:avLst/>
            </a:prstGeom>
            <a:noFill/>
            <a:ln w="38100" cap="flat" cmpd="sng" algn="ctr">
              <a:solidFill>
                <a:srgbClr val="ACC18C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422" name="组合 2066">
              <a:extLst>
                <a:ext uri="{FF2B5EF4-FFF2-40B4-BE49-F238E27FC236}">
                  <a16:creationId xmlns:a16="http://schemas.microsoft.com/office/drawing/2014/main" id="{AF5638BE-DAD1-51F3-9ABB-035B091210E2}"/>
                </a:ext>
              </a:extLst>
            </p:cNvPr>
            <p:cNvGrpSpPr/>
            <p:nvPr/>
          </p:nvGrpSpPr>
          <p:grpSpPr>
            <a:xfrm>
              <a:off x="7604033" y="2271183"/>
              <a:ext cx="2168244" cy="248493"/>
              <a:chOff x="7604033" y="2271183"/>
              <a:chExt cx="2168244" cy="248493"/>
            </a:xfrm>
          </p:grpSpPr>
          <p:cxnSp>
            <p:nvCxnSpPr>
              <p:cNvPr id="438" name="直接箭头连接符 2082">
                <a:extLst>
                  <a:ext uri="{FF2B5EF4-FFF2-40B4-BE49-F238E27FC236}">
                    <a16:creationId xmlns:a16="http://schemas.microsoft.com/office/drawing/2014/main" id="{5160ABFC-29E5-F313-E05F-F70E2736C4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3917" y="2277533"/>
                <a:ext cx="237066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9" name="直接箭头连接符 2083">
                <a:extLst>
                  <a:ext uri="{FF2B5EF4-FFF2-40B4-BE49-F238E27FC236}">
                    <a16:creationId xmlns:a16="http://schemas.microsoft.com/office/drawing/2014/main" id="{C12F7203-8E0B-49B0-6143-F69964F853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04033" y="2519676"/>
                <a:ext cx="682717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40" name="直接箭头连接符 2084">
                <a:extLst>
                  <a:ext uri="{FF2B5EF4-FFF2-40B4-BE49-F238E27FC236}">
                    <a16:creationId xmlns:a16="http://schemas.microsoft.com/office/drawing/2014/main" id="{8115D9E3-FB14-3D50-843D-3ADE31C0BC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0500" y="2271183"/>
                <a:ext cx="207433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41" name="直接箭头连接符 2085">
                <a:extLst>
                  <a:ext uri="{FF2B5EF4-FFF2-40B4-BE49-F238E27FC236}">
                    <a16:creationId xmlns:a16="http://schemas.microsoft.com/office/drawing/2014/main" id="{F3359436-F555-CD3E-1C4E-50558783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81820" y="2515920"/>
                <a:ext cx="690457" cy="248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423" name="组合 2067">
              <a:extLst>
                <a:ext uri="{FF2B5EF4-FFF2-40B4-BE49-F238E27FC236}">
                  <a16:creationId xmlns:a16="http://schemas.microsoft.com/office/drawing/2014/main" id="{14CEA60F-8DA8-DC16-EE81-0E527CDDCA85}"/>
                </a:ext>
              </a:extLst>
            </p:cNvPr>
            <p:cNvGrpSpPr/>
            <p:nvPr/>
          </p:nvGrpSpPr>
          <p:grpSpPr>
            <a:xfrm>
              <a:off x="7604033" y="2864288"/>
              <a:ext cx="2168244" cy="248493"/>
              <a:chOff x="7604033" y="2271183"/>
              <a:chExt cx="2168244" cy="248493"/>
            </a:xfrm>
          </p:grpSpPr>
          <p:cxnSp>
            <p:nvCxnSpPr>
              <p:cNvPr id="434" name="直接箭头连接符 2078">
                <a:extLst>
                  <a:ext uri="{FF2B5EF4-FFF2-40B4-BE49-F238E27FC236}">
                    <a16:creationId xmlns:a16="http://schemas.microsoft.com/office/drawing/2014/main" id="{E2D6B280-5342-86F0-AC71-FAE9467E6D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3917" y="2277533"/>
                <a:ext cx="237066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5" name="直接箭头连接符 2079">
                <a:extLst>
                  <a:ext uri="{FF2B5EF4-FFF2-40B4-BE49-F238E27FC236}">
                    <a16:creationId xmlns:a16="http://schemas.microsoft.com/office/drawing/2014/main" id="{DDDE86D5-61DF-495B-BFEC-27402A7CFE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04033" y="2519676"/>
                <a:ext cx="682717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6" name="直接箭头连接符 2080">
                <a:extLst>
                  <a:ext uri="{FF2B5EF4-FFF2-40B4-BE49-F238E27FC236}">
                    <a16:creationId xmlns:a16="http://schemas.microsoft.com/office/drawing/2014/main" id="{83E8D2A9-DFD6-FF03-A1A6-104340014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0500" y="2271183"/>
                <a:ext cx="207433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7" name="直接箭头连接符 2081">
                <a:extLst>
                  <a:ext uri="{FF2B5EF4-FFF2-40B4-BE49-F238E27FC236}">
                    <a16:creationId xmlns:a16="http://schemas.microsoft.com/office/drawing/2014/main" id="{6E31CC68-0304-64D1-FEE0-6A88FD0AEF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81820" y="2515920"/>
                <a:ext cx="690457" cy="248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424" name="组合 2068">
              <a:extLst>
                <a:ext uri="{FF2B5EF4-FFF2-40B4-BE49-F238E27FC236}">
                  <a16:creationId xmlns:a16="http://schemas.microsoft.com/office/drawing/2014/main" id="{207E30EA-A1C6-263C-A039-F7BA0E172F89}"/>
                </a:ext>
              </a:extLst>
            </p:cNvPr>
            <p:cNvGrpSpPr/>
            <p:nvPr/>
          </p:nvGrpSpPr>
          <p:grpSpPr>
            <a:xfrm>
              <a:off x="7601916" y="3485369"/>
              <a:ext cx="2168244" cy="248493"/>
              <a:chOff x="7604033" y="2271183"/>
              <a:chExt cx="2168244" cy="248493"/>
            </a:xfrm>
          </p:grpSpPr>
          <p:cxnSp>
            <p:nvCxnSpPr>
              <p:cNvPr id="430" name="直接箭头连接符 2074">
                <a:extLst>
                  <a:ext uri="{FF2B5EF4-FFF2-40B4-BE49-F238E27FC236}">
                    <a16:creationId xmlns:a16="http://schemas.microsoft.com/office/drawing/2014/main" id="{F901DF5E-7A0F-1E4E-69BD-39A1648012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3917" y="2277533"/>
                <a:ext cx="237066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1" name="直接箭头连接符 2075">
                <a:extLst>
                  <a:ext uri="{FF2B5EF4-FFF2-40B4-BE49-F238E27FC236}">
                    <a16:creationId xmlns:a16="http://schemas.microsoft.com/office/drawing/2014/main" id="{DF740931-EF7E-74CB-2652-F559EF7EB9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04033" y="2519676"/>
                <a:ext cx="682717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2" name="直接箭头连接符 2076">
                <a:extLst>
                  <a:ext uri="{FF2B5EF4-FFF2-40B4-BE49-F238E27FC236}">
                    <a16:creationId xmlns:a16="http://schemas.microsoft.com/office/drawing/2014/main" id="{C6A13046-0A87-EAF9-2622-3269937D7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0500" y="2271183"/>
                <a:ext cx="207433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3" name="直接箭头连接符 2077">
                <a:extLst>
                  <a:ext uri="{FF2B5EF4-FFF2-40B4-BE49-F238E27FC236}">
                    <a16:creationId xmlns:a16="http://schemas.microsoft.com/office/drawing/2014/main" id="{4E8A1813-49E1-C73B-7C86-1A5CF4B6FA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81820" y="2515920"/>
                <a:ext cx="690457" cy="248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425" name="组合 2069">
              <a:extLst>
                <a:ext uri="{FF2B5EF4-FFF2-40B4-BE49-F238E27FC236}">
                  <a16:creationId xmlns:a16="http://schemas.microsoft.com/office/drawing/2014/main" id="{0D6E7E65-D74A-0A4F-5C52-5D494DB9EFB4}"/>
                </a:ext>
              </a:extLst>
            </p:cNvPr>
            <p:cNvGrpSpPr/>
            <p:nvPr/>
          </p:nvGrpSpPr>
          <p:grpSpPr>
            <a:xfrm>
              <a:off x="7604033" y="4117441"/>
              <a:ext cx="2168244" cy="248493"/>
              <a:chOff x="7604033" y="2271183"/>
              <a:chExt cx="2168244" cy="248493"/>
            </a:xfrm>
          </p:grpSpPr>
          <p:cxnSp>
            <p:nvCxnSpPr>
              <p:cNvPr id="426" name="直接箭头连接符 2070">
                <a:extLst>
                  <a:ext uri="{FF2B5EF4-FFF2-40B4-BE49-F238E27FC236}">
                    <a16:creationId xmlns:a16="http://schemas.microsoft.com/office/drawing/2014/main" id="{0C1C1548-2F7B-7B78-0B3A-4AB94593A6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3917" y="2277533"/>
                <a:ext cx="237066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27" name="直接箭头连接符 2071">
                <a:extLst>
                  <a:ext uri="{FF2B5EF4-FFF2-40B4-BE49-F238E27FC236}">
                    <a16:creationId xmlns:a16="http://schemas.microsoft.com/office/drawing/2014/main" id="{D9356F99-ED76-B853-7D9A-4D1E3E2CFF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04033" y="2519676"/>
                <a:ext cx="682717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28" name="直接箭头连接符 2072">
                <a:extLst>
                  <a:ext uri="{FF2B5EF4-FFF2-40B4-BE49-F238E27FC236}">
                    <a16:creationId xmlns:a16="http://schemas.microsoft.com/office/drawing/2014/main" id="{0FA2163A-3E4A-EC52-87D8-CC60FDE9EB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0500" y="2271183"/>
                <a:ext cx="207433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29" name="直接箭头连接符 2073">
                <a:extLst>
                  <a:ext uri="{FF2B5EF4-FFF2-40B4-BE49-F238E27FC236}">
                    <a16:creationId xmlns:a16="http://schemas.microsoft.com/office/drawing/2014/main" id="{E07449CD-03E8-9967-B40C-52327945F7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81820" y="2515920"/>
                <a:ext cx="690457" cy="248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CC18C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cxnSp>
        <p:nvCxnSpPr>
          <p:cNvPr id="442" name="直接箭头连接符 11">
            <a:extLst>
              <a:ext uri="{FF2B5EF4-FFF2-40B4-BE49-F238E27FC236}">
                <a16:creationId xmlns:a16="http://schemas.microsoft.com/office/drawing/2014/main" id="{38FB6AB5-E152-F1CC-1BC4-E37DE71B7348}"/>
              </a:ext>
            </a:extLst>
          </p:cNvPr>
          <p:cNvCxnSpPr>
            <a:cxnSpLocks/>
          </p:cNvCxnSpPr>
          <p:nvPr/>
        </p:nvCxnSpPr>
        <p:spPr>
          <a:xfrm flipV="1">
            <a:off x="8508670" y="1603375"/>
            <a:ext cx="0" cy="476250"/>
          </a:xfrm>
          <a:prstGeom prst="straightConnector1">
            <a:avLst/>
          </a:prstGeom>
          <a:noFill/>
          <a:ln w="28575" cap="flat" cmpd="sng" algn="ctr">
            <a:solidFill>
              <a:srgbClr val="ABABAB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443" name="图片 2094">
            <a:extLst>
              <a:ext uri="{FF2B5EF4-FFF2-40B4-BE49-F238E27FC236}">
                <a16:creationId xmlns:a16="http://schemas.microsoft.com/office/drawing/2014/main" id="{932FED05-1784-15E0-BADD-B5DF3DF1AF9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EEFF8"/>
              </a:clrFrom>
              <a:clrTo>
                <a:srgbClr val="EEEF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46595" y="4264683"/>
            <a:ext cx="1635692" cy="308438"/>
          </a:xfrm>
          <a:prstGeom prst="rect">
            <a:avLst/>
          </a:prstGeom>
        </p:spPr>
      </p:pic>
      <p:pic>
        <p:nvPicPr>
          <p:cNvPr id="444" name="Picture 10" descr="Hot Chips 34 – Tesla's Dojo Microarchitecture">
            <a:extLst>
              <a:ext uri="{FF2B5EF4-FFF2-40B4-BE49-F238E27FC236}">
                <a16:creationId xmlns:a16="http://schemas.microsoft.com/office/drawing/2014/main" id="{028B9964-9B11-1E35-5856-39811EB850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1" t="4491" r="44554" b="83939"/>
          <a:stretch/>
        </p:blipFill>
        <p:spPr bwMode="auto">
          <a:xfrm>
            <a:off x="10382183" y="1162183"/>
            <a:ext cx="1294475" cy="27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" name="Picture 10" descr="Hot Chips 34 – Tesla's Dojo Microarchitecture">
            <a:extLst>
              <a:ext uri="{FF2B5EF4-FFF2-40B4-BE49-F238E27FC236}">
                <a16:creationId xmlns:a16="http://schemas.microsoft.com/office/drawing/2014/main" id="{A17BC1B2-D3F6-2E92-9D8A-EA911DC67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4" t="107" r="-62" b="90361"/>
          <a:stretch/>
        </p:blipFill>
        <p:spPr bwMode="auto">
          <a:xfrm>
            <a:off x="9647587" y="1162709"/>
            <a:ext cx="746421" cy="27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6" name="文本框 5">
            <a:extLst>
              <a:ext uri="{FF2B5EF4-FFF2-40B4-BE49-F238E27FC236}">
                <a16:creationId xmlns:a16="http://schemas.microsoft.com/office/drawing/2014/main" id="{62AA12CB-B754-F415-1A70-5967B760C145}"/>
              </a:ext>
            </a:extLst>
          </p:cNvPr>
          <p:cNvSpPr txBox="1"/>
          <p:nvPr/>
        </p:nvSpPr>
        <p:spPr>
          <a:xfrm>
            <a:off x="6768694" y="3988346"/>
            <a:ext cx="19622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FontTx/>
              <a:buNone/>
            </a:pPr>
            <a:r>
              <a:rPr lang="en-US" altLang="zh-CN" sz="1600" b="1" kern="1200" dirty="0">
                <a:solidFill>
                  <a:srgbClr val="168638"/>
                </a:solidFill>
                <a:latin typeface="Calibri Light"/>
                <a:ea typeface="+mn-ea"/>
                <a:cs typeface="+mn-cs"/>
              </a:rPr>
              <a:t>Tile-Based Many-PE </a:t>
            </a:r>
          </a:p>
          <a:p>
            <a:pPr algn="ctr">
              <a:buClrTx/>
              <a:buFontTx/>
              <a:buNone/>
            </a:pPr>
            <a:r>
              <a:rPr lang="en-US" altLang="zh-CN" sz="1600" b="1" kern="1200" dirty="0">
                <a:latin typeface="Calibri Light"/>
                <a:ea typeface="+mn-ea"/>
                <a:cs typeface="+mn-cs"/>
              </a:rPr>
              <a:t>vs </a:t>
            </a:r>
            <a:r>
              <a:rPr lang="en-US" altLang="zh-CN" sz="1600" b="1" kern="1200" dirty="0">
                <a:solidFill>
                  <a:srgbClr val="1269B0"/>
                </a:solidFill>
                <a:latin typeface="Calibri Light"/>
                <a:ea typeface="+mn-ea"/>
                <a:cs typeface="+mn-cs"/>
              </a:rPr>
              <a:t>Nvidia GPU Arch</a:t>
            </a:r>
            <a:endParaRPr lang="zh-CN" altLang="en-US" sz="1200" b="1" kern="1200" dirty="0">
              <a:solidFill>
                <a:srgbClr val="1269B0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447" name="箭头: 下 6">
            <a:extLst>
              <a:ext uri="{FF2B5EF4-FFF2-40B4-BE49-F238E27FC236}">
                <a16:creationId xmlns:a16="http://schemas.microsoft.com/office/drawing/2014/main" id="{D2FCC427-036E-0E63-2C72-18A96BC38EBD}"/>
              </a:ext>
            </a:extLst>
          </p:cNvPr>
          <p:cNvSpPr/>
          <p:nvPr/>
        </p:nvSpPr>
        <p:spPr>
          <a:xfrm>
            <a:off x="8566420" y="4323857"/>
            <a:ext cx="222250" cy="190089"/>
          </a:xfrm>
          <a:prstGeom prst="downArrow">
            <a:avLst/>
          </a:prstGeom>
          <a:solidFill>
            <a:srgbClr val="1269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Arial Narrow" panose="020B0604020202020204" pitchFamily="34" charset="0"/>
            </a:endParaRPr>
          </a:p>
        </p:txBody>
      </p:sp>
      <p:sp>
        <p:nvSpPr>
          <p:cNvPr id="448" name="箭头: 下 7">
            <a:extLst>
              <a:ext uri="{FF2B5EF4-FFF2-40B4-BE49-F238E27FC236}">
                <a16:creationId xmlns:a16="http://schemas.microsoft.com/office/drawing/2014/main" id="{51FBB326-65EC-3156-A437-E2A10F016A80}"/>
              </a:ext>
            </a:extLst>
          </p:cNvPr>
          <p:cNvSpPr/>
          <p:nvPr/>
        </p:nvSpPr>
        <p:spPr>
          <a:xfrm rot="10800000">
            <a:off x="6745066" y="4055051"/>
            <a:ext cx="222250" cy="190089"/>
          </a:xfrm>
          <a:prstGeom prst="downArrow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84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8B1CA241-8318-D113-3839-636868EC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18C71AB0-87DC-6AE5-BBE7-B1E860228FBE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Challenges &amp; Contributions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642B9826-3CAA-7D46-D4DE-703EFC66EE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2063F33-5177-8F99-BFDD-B71B444A5B35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8370301" cy="5413247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Key Challenges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Mapping modern attention variants (GQA, MQA, MLA) efficiently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MLA takes &gt;60% runtime (in </a:t>
            </a:r>
            <a:r>
              <a:rPr lang="en-GB" altLang="zh-CN" sz="1800" dirty="0" err="1">
                <a:solidFill>
                  <a:srgbClr val="000000"/>
                </a:solidFill>
                <a:latin typeface="Calibri Light"/>
              </a:rPr>
              <a:t>CloudMatrix</a:t>
            </a: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 DeepSeek paper)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Balancing inter-tile and tile-to-HBM dataflow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Minimizing costly off-chip accesses</a:t>
            </a: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Proposed Approach</a:t>
            </a:r>
          </a:p>
          <a:p>
            <a:pPr lvl="1">
              <a:defRPr/>
            </a:pPr>
            <a:r>
              <a:rPr lang="en-US" altLang="zh-CN" sz="2012" dirty="0">
                <a:solidFill>
                  <a:srgbClr val="000000"/>
                </a:solidFill>
                <a:latin typeface="Calibri Light"/>
              </a:rPr>
              <a:t>Utilize collective communication primitives in NoC</a:t>
            </a: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Contributions of the Work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Efficient dataflows for MHA and variants (GQA, MQA, MLA)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End-to-end LLM inference dataflow on a single chip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Extension to multi-</a:t>
            </a:r>
            <a:r>
              <a:rPr lang="en-GB" altLang="zh-CN" sz="2012" dirty="0" err="1">
                <a:solidFill>
                  <a:srgbClr val="000000"/>
                </a:solidFill>
                <a:latin typeface="Calibri Light"/>
              </a:rPr>
              <a:t>chiplet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 systems via network-on-interposer</a:t>
            </a: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3918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17ABBF0-B878-9681-5EA8-A23BF332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9CB4DA50-46A5-5A5B-31CD-3B5E3152D753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Detailed Contributions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4D8992FC-DA8C-2BD4-97E1-59DE5D70F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1DCDB35-3F33-C434-5EF2-E647FD60AF5F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11799301" cy="5413247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Contribution 1: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A 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modelling and simulation framework 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that enables both performance estimation across a wide range of tile-based accelerator designs and the co-design of NoC collective communication primitives. 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The framework’s components are calibrated against an RTL reference model, which in turn allows accurate estimation of area and power consumption.</a:t>
            </a:r>
          </a:p>
          <a:p>
            <a:pPr marL="304786" lvl="1" indent="0">
              <a:buNone/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Contribution 2: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An efficient MHA workload allocation and scheduling strategy, termed 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FlatAttention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, which exploits collective communication primitives in the on-chip network fabric to improve compute utilization and reduce HBM traffic. 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By 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generalizing FlatAttention to MQA, GQA, and MLA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, we demonstrate substantial performance speedups and energy savings compared to the widely adopted FlashAttention implementation, both on tile-based accelerators and on state-of-the-art (SoA) NVIDIA H100 GPUs.</a:t>
            </a: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9450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B225189-66EB-7FEE-03FA-7AEA9CFF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D90D0251-0C18-8421-70CF-F91B6D1AD1CE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Detailed Contributions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5EEC998B-06E5-65DD-4A6C-BE0318623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06F24B6-2C49-6938-DCAC-10227D6D29DC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11799301" cy="5413247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Contribution 3: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An 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end-to-end LLM serving dataflow on a single tile-based accelerator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, using a small-scale DeepSeek-v3 model as a case study. We demonstrate the inference speedup achieved by FlatAttention compared to FlashAttention in both the prefill and decode phases.</a:t>
            </a: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Contribution 4: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Modelling of a </a:t>
            </a:r>
            <a:r>
              <a:rPr lang="en-GB" altLang="zh-CN" sz="2012" b="1" dirty="0">
                <a:solidFill>
                  <a:srgbClr val="000000"/>
                </a:solidFill>
                <a:latin typeface="Calibri Light"/>
              </a:rPr>
              <a:t>system-in-package scenario in which multiple chiplets 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are interconnected via a network-on-interposer to support full DeepSeek-v3 serving. Leveraging expert parallelism, we demonstrate up to xx\% and xx\% utilization in the prefill and decode phases, respectively, achieving xx tokens/s/chip throughput in prefill and xx tokens/s/chip in decode under a 50 </a:t>
            </a:r>
            <a:r>
              <a:rPr lang="en-GB" altLang="zh-CN" sz="2012" dirty="0" err="1">
                <a:solidFill>
                  <a:srgbClr val="000000"/>
                </a:solidFill>
                <a:latin typeface="Calibri Light"/>
              </a:rPr>
              <a:t>ms</a:t>
            </a: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 TPOT constraint. This corresponds to a xx× speedup over state-of-the-art (SoA) solutions.</a:t>
            </a:r>
          </a:p>
          <a:p>
            <a:pPr lvl="1">
              <a:defRPr/>
            </a:pPr>
            <a:endParaRPr lang="en-GB" altLang="zh-CN" sz="2012" dirty="0">
              <a:solidFill>
                <a:srgbClr val="000000"/>
              </a:solidFill>
              <a:latin typeface="Calibri Light"/>
            </a:endParaRP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207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21D6934-E4B4-0AF6-BA13-F11C03EEC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>
            <a:extLst>
              <a:ext uri="{FF2B5EF4-FFF2-40B4-BE49-F238E27FC236}">
                <a16:creationId xmlns:a16="http://schemas.microsoft.com/office/drawing/2014/main" id="{054235B9-1ECD-A156-7F26-BCE69CDC0587}"/>
              </a:ext>
            </a:extLst>
          </p:cNvPr>
          <p:cNvSpPr txBox="1"/>
          <p:nvPr/>
        </p:nvSpPr>
        <p:spPr>
          <a:xfrm>
            <a:off x="299070" y="170391"/>
            <a:ext cx="11638929" cy="6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accent3"/>
              </a:buClr>
              <a:buSzPts val="3600"/>
            </a:pPr>
            <a:r>
              <a:rPr lang="en-US" sz="3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Preliminary Timeline</a:t>
            </a:r>
            <a:endParaRPr sz="3600" b="0" i="0" u="none" strike="noStrike" cap="none" dirty="0">
              <a:solidFill>
                <a:srgbClr val="1686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EBCEDC27-B885-1D2D-D64A-7BCB436C45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0183" y="6583096"/>
            <a:ext cx="846138" cy="30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F4CDF5-3159-22C5-BA82-8AB60BC4D19B}"/>
              </a:ext>
            </a:extLst>
          </p:cNvPr>
          <p:cNvSpPr txBox="1">
            <a:spLocks/>
          </p:cNvSpPr>
          <p:nvPr/>
        </p:nvSpPr>
        <p:spPr>
          <a:xfrm>
            <a:off x="316499" y="685801"/>
            <a:ext cx="11799301" cy="5413247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35" dirty="0">
                <a:solidFill>
                  <a:srgbClr val="000000"/>
                </a:solidFill>
                <a:latin typeface="Calibri Light"/>
              </a:rPr>
              <a:t>Till Mid-Oct: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Kernel finalization and validation (FP16 + FP8):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Flat/Flash-MHA/MQA/GQA/MLA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All kernels of DeepSeekv3 dataflow</a:t>
            </a:r>
          </a:p>
          <a:p>
            <a:pPr>
              <a:defRPr/>
            </a:pPr>
            <a:r>
              <a:rPr lang="en-GB" altLang="zh-CN" sz="2435" dirty="0">
                <a:solidFill>
                  <a:srgbClr val="000000"/>
                </a:solidFill>
                <a:latin typeface="Calibri Light"/>
              </a:rPr>
              <a:t>Till Beginning of Nov: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 Finish collecting results of experiments</a:t>
            </a:r>
          </a:p>
          <a:p>
            <a:pPr>
              <a:defRPr/>
            </a:pPr>
            <a:r>
              <a:rPr lang="en-GB" altLang="zh-CN" sz="2435" dirty="0">
                <a:solidFill>
                  <a:srgbClr val="000000"/>
                </a:solidFill>
                <a:latin typeface="Calibri Light"/>
              </a:rPr>
              <a:t>Till End of Nov:</a:t>
            </a:r>
          </a:p>
          <a:p>
            <a:pPr lvl="1">
              <a:defRPr/>
            </a:pPr>
            <a:r>
              <a:rPr lang="en-GB" altLang="zh-CN" sz="2012" dirty="0">
                <a:solidFill>
                  <a:srgbClr val="000000"/>
                </a:solidFill>
                <a:latin typeface="Calibri Light"/>
              </a:rPr>
              <a:t> First draft of journal paper ready: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Results data processing and plotting</a:t>
            </a:r>
          </a:p>
          <a:p>
            <a:pPr lvl="2">
              <a:defRPr/>
            </a:pPr>
            <a:r>
              <a:rPr lang="en-GB" altLang="zh-CN" sz="1800" dirty="0">
                <a:solidFill>
                  <a:srgbClr val="000000"/>
                </a:solidFill>
                <a:latin typeface="Calibri Light"/>
              </a:rPr>
              <a:t>Making figures and writing</a:t>
            </a:r>
          </a:p>
          <a:p>
            <a:pPr lvl="1"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  <a:p>
            <a:pPr marL="0" indent="0">
              <a:buNone/>
              <a:defRPr/>
            </a:pPr>
            <a:endParaRPr lang="en-US" altLang="zh-CN" sz="2012" dirty="0">
              <a:solidFill>
                <a:srgbClr val="000000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4270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PULP Cod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ULP Cod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ulp_2022" id="{3CE89E8F-20E3-B94F-AB91-BF4B5F770EBF}" vid="{D455FB22-247C-394B-86F1-181C25098715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Microsoft Office PowerPoint</Application>
  <PresentationFormat>Widescreen</PresentationFormat>
  <Paragraphs>180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Consolas</vt:lpstr>
      <vt:lpstr>Arial Narrow</vt:lpstr>
      <vt:lpstr>Calibri</vt:lpstr>
      <vt:lpstr>Arial</vt:lpstr>
      <vt:lpstr>Calibri Light</vt:lpstr>
      <vt:lpstr>PULP Code</vt:lpstr>
      <vt:lpstr>1_PULP Code</vt:lpstr>
      <vt:lpstr>SoftHier Bi-Weekly Meeting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SoftHier Bi-Weekly Meeting</dc:title>
  <dc:creator>Chi Zhang</dc:creator>
  <cp:lastModifiedBy>Zhang  Chi</cp:lastModifiedBy>
  <cp:revision>64</cp:revision>
  <dcterms:created xsi:type="dcterms:W3CDTF">2023-03-05T10:39:52Z</dcterms:created>
  <dcterms:modified xsi:type="dcterms:W3CDTF">2025-09-29T10:11:02Z</dcterms:modified>
</cp:coreProperties>
</file>