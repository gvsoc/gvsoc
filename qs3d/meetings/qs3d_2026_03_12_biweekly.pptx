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  <p:sldMasterId id="2147483679" r:id="rId3"/>
  </p:sldMasterIdLst>
  <p:notesMasterIdLst>
    <p:notesMasterId r:id="rId11"/>
  </p:notesMasterIdLst>
  <p:sldIdLst>
    <p:sldId id="256" r:id="rId4"/>
    <p:sldId id="257" r:id="rId5"/>
    <p:sldId id="595" r:id="rId6"/>
    <p:sldId id="604" r:id="rId7"/>
    <p:sldId id="606" r:id="rId8"/>
    <p:sldId id="605" r:id="rId9"/>
    <p:sldId id="607" r:id="rId10"/>
  </p:sldIdLst>
  <p:sldSz cx="9144000" cy="5143500" type="screen16x9"/>
  <p:notesSz cx="6858000" cy="9144000"/>
  <p:embeddedFontLst>
    <p:embeddedFont>
      <p:font typeface="Arial Narrow" panose="020B0604020202020204" pitchFamily="34" charset="0"/>
      <p:regular r:id="rId12"/>
      <p:bold r:id="rId13"/>
      <p:italic r:id="rId14"/>
      <p:boldItalic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865A6A1-EB45-4525-89A6-CB3BD430D531}">
          <p14:sldIdLst>
            <p14:sldId id="256"/>
            <p14:sldId id="257"/>
          </p14:sldIdLst>
        </p14:section>
        <p14:section name="Recap" id="{870E3B29-350E-CE4E-9DFE-3645BAE98000}">
          <p14:sldIdLst>
            <p14:sldId id="595"/>
            <p14:sldId id="604"/>
            <p14:sldId id="606"/>
            <p14:sldId id="605"/>
            <p14:sldId id="6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AB9F"/>
    <a:srgbClr val="A7127A"/>
    <a:srgbClr val="037491"/>
    <a:srgbClr val="168638"/>
    <a:srgbClr val="A6CAEC"/>
    <a:srgbClr val="BA362D"/>
    <a:srgbClr val="BBA471"/>
    <a:srgbClr val="C45D57"/>
    <a:srgbClr val="4C7CBD"/>
    <a:srgbClr val="B735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EF3602-E09C-4FB3-88FD-0AF07CCC1424}">
  <a:tblStyle styleId="{90EF3602-E09C-4FB3-88FD-0AF07CCC14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36" autoAdjust="0"/>
    <p:restoredTop sz="94658"/>
  </p:normalViewPr>
  <p:slideViewPr>
    <p:cSldViewPr snapToGrid="0">
      <p:cViewPr varScale="1">
        <p:scale>
          <a:sx n="160" d="100"/>
          <a:sy n="160" d="100"/>
        </p:scale>
        <p:origin x="1040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font" Target="fonts/font8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9ca6226cd_2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39ca6226cd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9ca6226cd_2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g339ca6226cd_2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2.svg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4"/>
          <p:cNvGrpSpPr/>
          <p:nvPr/>
        </p:nvGrpSpPr>
        <p:grpSpPr>
          <a:xfrm>
            <a:off x="1823465" y="163205"/>
            <a:ext cx="1581805" cy="342091"/>
            <a:chOff x="3645356" y="188193"/>
            <a:chExt cx="5677387" cy="1227805"/>
          </a:xfrm>
        </p:grpSpPr>
        <p:pic>
          <p:nvPicPr>
            <p:cNvPr id="66" name="Google Shape;66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14"/>
          <p:cNvSpPr/>
          <p:nvPr/>
        </p:nvSpPr>
        <p:spPr>
          <a:xfrm>
            <a:off x="5653737" y="1653177"/>
            <a:ext cx="3490273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6117" y="212211"/>
            <a:ext cx="1325875" cy="22097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>
            <a:spLocks noGrp="1"/>
          </p:cNvSpPr>
          <p:nvPr>
            <p:ph type="subTitle" idx="1"/>
          </p:nvPr>
        </p:nvSpPr>
        <p:spPr>
          <a:xfrm>
            <a:off x="286116" y="2336781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  <a:defRPr sz="19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286114" y="1391112"/>
            <a:ext cx="8000670" cy="857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/>
          <p:nvPr/>
        </p:nvSpPr>
        <p:spPr>
          <a:xfrm rot="2700024">
            <a:off x="7461825" y="2614213"/>
            <a:ext cx="1213073" cy="1213073"/>
          </a:xfrm>
          <a:prstGeom prst="roundRect">
            <a:avLst>
              <a:gd name="adj" fmla="val 415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 rot="2700024">
            <a:off x="7104894" y="2891492"/>
            <a:ext cx="646325" cy="662609"/>
          </a:xfrm>
          <a:prstGeom prst="roundRect">
            <a:avLst>
              <a:gd name="adj" fmla="val 838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1348" y="2434954"/>
            <a:ext cx="1836547" cy="157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95899" y="4503916"/>
            <a:ext cx="260270" cy="223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 descr="A picture containing ax, vector graphics, tool&#10;&#10;Description automatically generated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22972" y="4258967"/>
            <a:ext cx="223066" cy="183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 rotWithShape="1"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06373" y="4781048"/>
            <a:ext cx="256264" cy="17728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6949019" y="4480217"/>
            <a:ext cx="165735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pulp-platform.org</a:t>
            </a:r>
            <a:endParaRPr sz="1100"/>
          </a:p>
        </p:txBody>
      </p:sp>
      <p:sp>
        <p:nvSpPr>
          <p:cNvPr id="79" name="Google Shape;79;p14"/>
          <p:cNvSpPr txBox="1"/>
          <p:nvPr/>
        </p:nvSpPr>
        <p:spPr>
          <a:xfrm>
            <a:off x="7360145" y="4233920"/>
            <a:ext cx="1246228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@pulp_platform</a:t>
            </a:r>
            <a:endParaRPr sz="1100"/>
          </a:p>
        </p:txBody>
      </p:sp>
      <p:sp>
        <p:nvSpPr>
          <p:cNvPr id="80" name="Google Shape;80;p14"/>
          <p:cNvSpPr txBox="1"/>
          <p:nvPr/>
        </p:nvSpPr>
        <p:spPr>
          <a:xfrm>
            <a:off x="6573889" y="4726513"/>
            <a:ext cx="203248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youtube.com/pulp_platform</a:t>
            </a:r>
            <a:endParaRPr sz="1100"/>
          </a:p>
        </p:txBody>
      </p:sp>
      <p:sp>
        <p:nvSpPr>
          <p:cNvPr id="81" name="Google Shape;81;p14"/>
          <p:cNvSpPr txBox="1"/>
          <p:nvPr/>
        </p:nvSpPr>
        <p:spPr>
          <a:xfrm>
            <a:off x="286115" y="4412057"/>
            <a:ext cx="4538560" cy="53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PULP Platform</a:t>
            </a:r>
            <a:b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 Hardware, the way it should be!</a:t>
            </a:r>
            <a:endParaRPr sz="1100"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2"/>
          </p:nvPr>
        </p:nvSpPr>
        <p:spPr>
          <a:xfrm>
            <a:off x="286116" y="291366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>
                <a:solidFill>
                  <a:schemeClr val="accent3"/>
                </a:solidFill>
              </a:defRPr>
            </a:lvl1pPr>
            <a:lvl2pPr lvl="1">
              <a:buNone/>
              <a:defRPr sz="1300">
                <a:solidFill>
                  <a:schemeClr val="accent3"/>
                </a:solidFill>
              </a:defRPr>
            </a:lvl2pPr>
            <a:lvl3pPr lvl="2">
              <a:buNone/>
              <a:defRPr sz="1300">
                <a:solidFill>
                  <a:schemeClr val="accent3"/>
                </a:solidFill>
              </a:defRPr>
            </a:lvl3pPr>
            <a:lvl4pPr lvl="3">
              <a:buNone/>
              <a:defRPr sz="1300">
                <a:solidFill>
                  <a:schemeClr val="accent3"/>
                </a:solidFill>
              </a:defRPr>
            </a:lvl4pPr>
            <a:lvl5pPr lvl="4">
              <a:buNone/>
              <a:defRPr sz="1300">
                <a:solidFill>
                  <a:schemeClr val="accent3"/>
                </a:solidFill>
              </a:defRPr>
            </a:lvl5pPr>
            <a:lvl6pPr lvl="5">
              <a:buNone/>
              <a:defRPr sz="1300">
                <a:solidFill>
                  <a:schemeClr val="accent3"/>
                </a:solidFill>
              </a:defRPr>
            </a:lvl6pPr>
            <a:lvl7pPr lvl="6">
              <a:buNone/>
              <a:defRPr sz="1300">
                <a:solidFill>
                  <a:schemeClr val="accent3"/>
                </a:solidFill>
              </a:defRPr>
            </a:lvl7pPr>
            <a:lvl8pPr lvl="7">
              <a:buNone/>
              <a:defRPr sz="1300">
                <a:solidFill>
                  <a:schemeClr val="accent3"/>
                </a:solidFill>
              </a:defRPr>
            </a:lvl8pPr>
            <a:lvl9pPr lvl="8">
              <a:buNone/>
              <a:defRPr sz="13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by-side">
  <p:cSld name="Two-by-sid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2"/>
          </p:nvPr>
        </p:nvSpPr>
        <p:spPr>
          <a:xfrm>
            <a:off x="4237713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plus two">
  <p:cSld name="One plus two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8000670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2"/>
          </p:nvPr>
        </p:nvSpPr>
        <p:spPr>
          <a:xfrm>
            <a:off x="237378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3"/>
          </p:nvPr>
        </p:nvSpPr>
        <p:spPr>
          <a:xfrm>
            <a:off x="4237713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n-Thick">
  <p:cSld name="Thin-Thic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3094760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2"/>
          </p:nvPr>
        </p:nvSpPr>
        <p:spPr>
          <a:xfrm>
            <a:off x="237378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ck-Thin">
  <p:cSld name="Thick-Thi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body" idx="2"/>
          </p:nvPr>
        </p:nvSpPr>
        <p:spPr>
          <a:xfrm>
            <a:off x="5380666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by-side">
  <p:cSld name="3-by-sid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body" idx="1"/>
          </p:nvPr>
        </p:nvSpPr>
        <p:spPr>
          <a:xfrm>
            <a:off x="24454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2"/>
          </p:nvPr>
        </p:nvSpPr>
        <p:spPr>
          <a:xfrm>
            <a:off x="2959060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3"/>
          </p:nvPr>
        </p:nvSpPr>
        <p:spPr>
          <a:xfrm>
            <a:off x="567357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box">
  <p:cSld name="4-box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240763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2"/>
          </p:nvPr>
        </p:nvSpPr>
        <p:spPr>
          <a:xfrm>
            <a:off x="4241101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3"/>
          </p:nvPr>
        </p:nvSpPr>
        <p:spPr>
          <a:xfrm>
            <a:off x="240763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4"/>
          </p:nvPr>
        </p:nvSpPr>
        <p:spPr>
          <a:xfrm>
            <a:off x="4241101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Background">
  <p:cSld name="Title Background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Only">
  <p:cSld name="Background 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/>
        </p:nvSpPr>
        <p:spPr>
          <a:xfrm>
            <a:off x="748938" y="392233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5" name="Google Shape;135;p2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o Background">
  <p:cSld name="No Background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Only">
  <p:cSld name="Body Onl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244839" y="284195"/>
            <a:ext cx="8000672" cy="471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1">
  <p:cSld name="Code Slide 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52" name="Google Shape;152;p27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53" name="Google Shape;153;p27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55" name="Google Shape;155;p27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27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2">
  <p:cSld name="Code Slide 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62" name="Google Shape;162;p28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63" name="Google Shape;163;p28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64" name="Google Shape;164;p28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65" name="Google Shape;165;p2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28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White">
  <p:cSld name="Empty White">
    <p:bg>
      <p:bgPr>
        <a:solidFill>
          <a:schemeClr val="lt2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Black">
  <p:cSld name="Empty Black">
    <p:bg>
      <p:bgPr>
        <a:solidFill>
          <a:schemeClr val="dk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+ Q&amp;A">
  <p:cSld name="Thank you + Q&amp;A">
    <p:bg>
      <p:bgPr>
        <a:solidFill>
          <a:srgbClr val="B4B4B6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/>
        </p:nvSpPr>
        <p:spPr>
          <a:xfrm>
            <a:off x="1532192" y="1567205"/>
            <a:ext cx="2474929" cy="65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0" i="0" u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1100"/>
          </a:p>
        </p:txBody>
      </p:sp>
      <p:sp>
        <p:nvSpPr>
          <p:cNvPr id="174" name="Google Shape;174;p31"/>
          <p:cNvSpPr/>
          <p:nvPr/>
        </p:nvSpPr>
        <p:spPr>
          <a:xfrm>
            <a:off x="5152847" y="1180109"/>
            <a:ext cx="2574971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72575" tIns="72575" rIns="72575" bIns="72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5545468" y="1591635"/>
            <a:ext cx="1160552" cy="610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i="0" u="none">
                <a:solidFill>
                  <a:srgbClr val="B4B4B6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sz="1100"/>
          </a:p>
        </p:txBody>
      </p:sp>
      <p:sp>
        <p:nvSpPr>
          <p:cNvPr id="176" name="Google Shape;176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192FC1B-B3A0-78B7-C079-3AD8A4EDAFEE}"/>
              </a:ext>
            </a:extLst>
          </p:cNvPr>
          <p:cNvGrpSpPr/>
          <p:nvPr userDrawn="1"/>
        </p:nvGrpSpPr>
        <p:grpSpPr>
          <a:xfrm>
            <a:off x="1823463" y="163206"/>
            <a:ext cx="1581803" cy="342091"/>
            <a:chOff x="3645356" y="188193"/>
            <a:chExt cx="5677387" cy="1227805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FDC3554-F5A8-F2B0-CDD0-9503A1DE3A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449E88C-0CCF-054C-1626-D1593E596CF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8D234E9D-C054-5674-1BA3-6CDBCAEC8DE6}"/>
              </a:ext>
            </a:extLst>
          </p:cNvPr>
          <p:cNvSpPr/>
          <p:nvPr userDrawn="1"/>
        </p:nvSpPr>
        <p:spPr>
          <a:xfrm>
            <a:off x="5653731" y="1653177"/>
            <a:ext cx="3490269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E74E66C-D0DE-D973-3A0F-2E71084138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117" y="212211"/>
            <a:ext cx="1325873" cy="220982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D93D6F44-AA10-891D-BF7D-311C32BF0F9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86116" y="2336781"/>
            <a:ext cx="4571806" cy="285742"/>
          </a:xfrm>
        </p:spPr>
        <p:txBody>
          <a:bodyPr lIns="0" tIns="0" rIns="0" bIns="0" anchor="b"/>
          <a:lstStyle>
            <a:lvl1pPr marL="0" indent="0" algn="l">
              <a:buNone/>
              <a:defRPr sz="1905" b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342885" indent="0" algn="ctr">
              <a:buNone/>
              <a:defRPr sz="1500"/>
            </a:lvl2pPr>
            <a:lvl3pPr marL="685770" indent="0" algn="ctr">
              <a:buNone/>
              <a:defRPr sz="1350"/>
            </a:lvl3pPr>
            <a:lvl4pPr marL="1028655" indent="0" algn="ctr">
              <a:buNone/>
              <a:defRPr sz="1200"/>
            </a:lvl4pPr>
            <a:lvl5pPr marL="1371540" indent="0" algn="ctr">
              <a:buNone/>
              <a:defRPr sz="1200"/>
            </a:lvl5pPr>
            <a:lvl6pPr marL="1714425" indent="0" algn="ctr">
              <a:buNone/>
              <a:defRPr sz="1200"/>
            </a:lvl6pPr>
            <a:lvl7pPr marL="2057310" indent="0" algn="ctr">
              <a:buNone/>
              <a:defRPr sz="1200"/>
            </a:lvl7pPr>
            <a:lvl8pPr marL="2400195" indent="0" algn="ctr">
              <a:buNone/>
              <a:defRPr sz="1200"/>
            </a:lvl8pPr>
            <a:lvl9pPr marL="274308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31" name="Title 8">
            <a:extLst>
              <a:ext uri="{FF2B5EF4-FFF2-40B4-BE49-F238E27FC236}">
                <a16:creationId xmlns:a16="http://schemas.microsoft.com/office/drawing/2014/main" id="{5D78059F-19FB-CAFA-4937-958597D5C90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86114" y="1391112"/>
            <a:ext cx="8000661" cy="857227"/>
          </a:xfrm>
        </p:spPr>
        <p:txBody>
          <a:bodyPr anchor="t"/>
          <a:lstStyle>
            <a:lvl1pPr>
              <a:defRPr sz="2857" b="0">
                <a:solidFill>
                  <a:schemeClr val="accent3"/>
                </a:solidFill>
                <a:latin typeface="+mj-lt"/>
                <a:ea typeface="Roboto Condensed" panose="02000000000000000000" pitchFamily="2" charset="0"/>
              </a:defRPr>
            </a:lvl1pPr>
          </a:lstStyle>
          <a:p>
            <a:r>
              <a:rPr lang="en-US" noProof="0" dirty="0"/>
              <a:t>Click to edit Master title style (in case you have a</a:t>
            </a:r>
            <a:br>
              <a:rPr lang="en-US" noProof="0" dirty="0"/>
            </a:br>
            <a:r>
              <a:rPr lang="en-US" noProof="0" dirty="0"/>
              <a:t>very very long title it can also span multiple lines)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68568A-23B5-DA36-6C0D-2408AF9BED45}"/>
              </a:ext>
            </a:extLst>
          </p:cNvPr>
          <p:cNvSpPr/>
          <p:nvPr userDrawn="1"/>
        </p:nvSpPr>
        <p:spPr>
          <a:xfrm rot="2700000">
            <a:off x="7461812" y="2614218"/>
            <a:ext cx="1213082" cy="1213063"/>
          </a:xfrm>
          <a:prstGeom prst="roundRect">
            <a:avLst>
              <a:gd name="adj" fmla="val 415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E5778BE-53D9-EBE2-E1E3-9486D873D633}"/>
              </a:ext>
            </a:extLst>
          </p:cNvPr>
          <p:cNvSpPr/>
          <p:nvPr userDrawn="1"/>
        </p:nvSpPr>
        <p:spPr>
          <a:xfrm rot="2700000">
            <a:off x="7104883" y="2891495"/>
            <a:ext cx="646330" cy="662603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4F58EB-B7F2-49D6-1DDD-84753A25C0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21340" y="2434955"/>
            <a:ext cx="1836545" cy="1576054"/>
          </a:xfrm>
          <a:prstGeom prst="rect">
            <a:avLst/>
          </a:prstGeom>
          <a:ln w="66675"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722F6A-3AA4-BFC3-F572-3A7E83CD6F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5890" y="4503916"/>
            <a:ext cx="260270" cy="223355"/>
          </a:xfrm>
          <a:prstGeom prst="rect">
            <a:avLst/>
          </a:prstGeom>
        </p:spPr>
      </p:pic>
      <p:pic>
        <p:nvPicPr>
          <p:cNvPr id="22" name="Picture 21" descr="A picture containing ax, vector graphics, tool&#10;&#10;Description automatically generated">
            <a:extLst>
              <a:ext uri="{FF2B5EF4-FFF2-40B4-BE49-F238E27FC236}">
                <a16:creationId xmlns:a16="http://schemas.microsoft.com/office/drawing/2014/main" id="{4DD662A7-2596-572A-621E-FC676E54EA9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22963" y="4258967"/>
            <a:ext cx="223066" cy="183508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FC50372-BF19-6EDB-06B0-B684360D324B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06364" y="4781048"/>
            <a:ext cx="256264" cy="17729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0F954B-C9F2-7811-FBF9-F2B6708CE96A}"/>
              </a:ext>
            </a:extLst>
          </p:cNvPr>
          <p:cNvSpPr txBox="1"/>
          <p:nvPr userDrawn="1"/>
        </p:nvSpPr>
        <p:spPr>
          <a:xfrm>
            <a:off x="6949011" y="4480217"/>
            <a:ext cx="1657353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pulp-platform.org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E24402-6167-3DAC-15F7-96A8C18DA6C3}"/>
              </a:ext>
            </a:extLst>
          </p:cNvPr>
          <p:cNvSpPr txBox="1"/>
          <p:nvPr userDrawn="1"/>
        </p:nvSpPr>
        <p:spPr>
          <a:xfrm>
            <a:off x="7360137" y="4233920"/>
            <a:ext cx="1246227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@pulp_platform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0316D-DDCE-8E08-F033-57AFE61CA03C}"/>
              </a:ext>
            </a:extLst>
          </p:cNvPr>
          <p:cNvSpPr txBox="1"/>
          <p:nvPr userDrawn="1"/>
        </p:nvSpPr>
        <p:spPr>
          <a:xfrm>
            <a:off x="6573881" y="4726513"/>
            <a:ext cx="2032482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youtube.com/pulp_platform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C09BED-6F4B-D060-60EF-CB1FD4E4F544}"/>
              </a:ext>
            </a:extLst>
          </p:cNvPr>
          <p:cNvSpPr txBox="1"/>
          <p:nvPr userDrawn="1"/>
        </p:nvSpPr>
        <p:spPr>
          <a:xfrm>
            <a:off x="286115" y="4412057"/>
            <a:ext cx="4538555" cy="53911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5714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29" b="1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PULP Platform</a:t>
            </a:r>
            <a:br>
              <a:rPr lang="en-US" sz="1429" b="0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</a:br>
            <a:r>
              <a:rPr lang="en-US" sz="1429" b="0" i="0" noProof="0" dirty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Open Source Hardware, the way it should be!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1C72157-447E-AAA3-80DA-9A3928C6C6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6116" y="2913663"/>
            <a:ext cx="4571806" cy="1285416"/>
          </a:xfrm>
        </p:spPr>
        <p:txBody>
          <a:bodyPr/>
          <a:lstStyle>
            <a:lvl1pPr marL="0" indent="0">
              <a:buNone/>
              <a:defRPr sz="1587" b="0">
                <a:solidFill>
                  <a:schemeClr val="accent3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noProof="0" dirty="0">
                <a:latin typeface="+mj-lt"/>
              </a:rPr>
              <a:t>Author Name 1    </a:t>
            </a:r>
            <a:r>
              <a:rPr lang="en-US" noProof="0" dirty="0">
                <a:solidFill>
                  <a:schemeClr val="tx1"/>
                </a:solidFill>
              </a:rPr>
              <a:t>mail1@iis.ee.ethz.ch</a:t>
            </a:r>
            <a:br>
              <a:rPr lang="en-US" noProof="0" dirty="0">
                <a:solidFill>
                  <a:schemeClr val="tx1"/>
                </a:solidFill>
              </a:rPr>
            </a:br>
            <a:r>
              <a:rPr lang="en-US" b="1" noProof="0" dirty="0">
                <a:latin typeface="+mj-lt"/>
              </a:rPr>
              <a:t>Author Name 2    </a:t>
            </a:r>
            <a:r>
              <a:rPr lang="en-US" noProof="0" dirty="0">
                <a:solidFill>
                  <a:schemeClr val="tx1"/>
                </a:solidFill>
              </a:rPr>
              <a:t>mail2@iis.ee.ethz.ch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3    </a:t>
            </a:r>
            <a:r>
              <a:rPr lang="en-US" noProof="0" dirty="0">
                <a:solidFill>
                  <a:schemeClr val="tx1"/>
                </a:solidFill>
              </a:rPr>
              <a:t>mail3@unibo.it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4    </a:t>
            </a:r>
            <a:r>
              <a:rPr lang="en-US" noProof="0" dirty="0">
                <a:solidFill>
                  <a:schemeClr val="tx1"/>
                </a:solidFill>
              </a:rPr>
              <a:t>mail4@unibo.it</a:t>
            </a:r>
            <a:endParaRPr lang="en-US" b="1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199645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E741D-DF86-4A3D-DF9D-A4FFA6F777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87C1C-F0E1-9B48-6BC9-7FFF56ADE9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594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37708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B5078-341C-4154-4064-BE0AD2B3F9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ADA4-720D-7361-338C-106924EF74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204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-Th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4757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BB8B8-3BA4-B4B8-A5C5-6B943984B6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55C4-9751-FC37-00B6-D3B10C1817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849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ck-Th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80660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29531-4266-41D8-C902-18438A77E80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ADBFD-8297-D7FA-8C82-37223A28A9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0749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lus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1930-E256-A84E-8AC4-067EFE37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A658AA-5F13-9145-AA9C-7217BB8AFC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8000661" cy="2000196"/>
          </a:xfrm>
          <a:effectLst/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BBDF1A2-5CF8-E945-BD80-7B75AF0E1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37377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52D67F4-7CD9-7D48-9F3C-897EB7BBCA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37708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C37B2-5C80-94D6-1AEA-FC88E0D7A64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01DA4-BFA2-822A-E2BF-DBC2248BD71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6818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4543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5905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466C897-17D8-464D-80AC-5BEDA0432F9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67356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B2C5F9-4358-A05F-BE1B-DC3232E3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2525F-FE6F-3F2A-87F8-E53C217DF6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30934-A358-D4CE-05CE-858B26903D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6780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0763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241096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A7A6DD52-705F-8C4E-BFBD-BE67BF0FB65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240763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3ED5591-6176-CF4B-A32B-DDE9257B1FB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241096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2C3703-F424-8B60-F39C-21AD97BE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A470E-C584-A4A1-8BE3-D0FEE79024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D1A2-6488-61E8-64DC-5E07F8B192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68455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ECC96-5C3D-1CA7-88A0-A48C5307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98AFC-21DE-CE33-4051-59D40FE7A6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132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950E2-5B08-DE4D-85C1-073281664B68}"/>
              </a:ext>
            </a:extLst>
          </p:cNvPr>
          <p:cNvSpPr txBox="1"/>
          <p:nvPr userDrawn="1"/>
        </p:nvSpPr>
        <p:spPr>
          <a:xfrm>
            <a:off x="748937" y="39223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83599-52C6-66B6-B195-3B42A9179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986D1-30CD-4299-12D8-EE049F90D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8048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511728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6407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956A24-FE4F-CC41-AE52-8BE952BA28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4839" y="284194"/>
            <a:ext cx="8000663" cy="47147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E65FE-2553-922C-9C05-7425A35329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E03E8-F737-F054-80B2-299F72A034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423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6085998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38137312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228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07033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+ Q&amp;A">
    <p:bg>
      <p:bgPr>
        <a:solidFill>
          <a:srgbClr val="B4B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150BE-61A2-B1E2-756A-7134BE7E136A}"/>
              </a:ext>
            </a:extLst>
          </p:cNvPr>
          <p:cNvSpPr txBox="1"/>
          <p:nvPr userDrawn="1"/>
        </p:nvSpPr>
        <p:spPr>
          <a:xfrm>
            <a:off x="1532190" y="1567205"/>
            <a:ext cx="2474926" cy="678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10" b="0" i="0" u="none" dirty="0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Thank you!</a:t>
            </a:r>
          </a:p>
        </p:txBody>
      </p:sp>
      <p:sp>
        <p:nvSpPr>
          <p:cNvPr id="7" name="Google Shape;1096;p28">
            <a:extLst>
              <a:ext uri="{FF2B5EF4-FFF2-40B4-BE49-F238E27FC236}">
                <a16:creationId xmlns:a16="http://schemas.microsoft.com/office/drawing/2014/main" id="{9EB57577-2B72-4910-D401-BBB6EDA09B5E}"/>
              </a:ext>
            </a:extLst>
          </p:cNvPr>
          <p:cNvSpPr/>
          <p:nvPr userDrawn="1"/>
        </p:nvSpPr>
        <p:spPr>
          <a:xfrm>
            <a:off x="5152842" y="1180109"/>
            <a:ext cx="2574968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72566" tIns="72566" rIns="72566" bIns="7256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1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D5AEE-A9BE-AED9-1997-707BCB05F17E}"/>
              </a:ext>
            </a:extLst>
          </p:cNvPr>
          <p:cNvSpPr txBox="1"/>
          <p:nvPr userDrawn="1"/>
        </p:nvSpPr>
        <p:spPr>
          <a:xfrm>
            <a:off x="5545462" y="1591634"/>
            <a:ext cx="1160551" cy="629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92" b="1" i="0" u="none" dirty="0">
                <a:solidFill>
                  <a:srgbClr val="B4B4B6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8895371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1_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9" y="135245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1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192" lvl="0" indent="-33654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384" lvl="1" indent="-31749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576" lvl="2" indent="-31114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768" lvl="3" indent="-28574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5960" lvl="4" indent="-27939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153" lvl="5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344" lvl="6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536" lvl="7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729" lvl="8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1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7273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image" Target="../media/image11.png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image" Target="../media/image10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 rot="-5400000">
            <a:off x="8255518" y="5"/>
            <a:ext cx="888498" cy="888486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237378" y="74351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5613176" y="372158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5" name="Google Shape;55;p13"/>
          <p:cNvSpPr/>
          <p:nvPr/>
        </p:nvSpPr>
        <p:spPr>
          <a:xfrm rot="2700024">
            <a:off x="8314439" y="285449"/>
            <a:ext cx="284473" cy="28447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6" name="Google Shape;56;p13"/>
          <p:cNvSpPr/>
          <p:nvPr/>
        </p:nvSpPr>
        <p:spPr>
          <a:xfrm rot="2700024">
            <a:off x="8466252" y="172389"/>
            <a:ext cx="510593" cy="51059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20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2290" y="111860"/>
            <a:ext cx="736049" cy="631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21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378" y="4887852"/>
            <a:ext cx="877914" cy="1463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3"/>
          <p:cNvGrpSpPr/>
          <p:nvPr/>
        </p:nvGrpSpPr>
        <p:grpSpPr>
          <a:xfrm>
            <a:off x="1218693" y="4855937"/>
            <a:ext cx="1063846" cy="230074"/>
            <a:chOff x="3645356" y="188193"/>
            <a:chExt cx="5677387" cy="1227805"/>
          </a:xfrm>
        </p:grpSpPr>
        <p:pic>
          <p:nvPicPr>
            <p:cNvPr id="60" name="Google Shape;60;p13"/>
            <p:cNvPicPr preferRelativeResize="0"/>
            <p:nvPr/>
          </p:nvPicPr>
          <p:blipFill rotWithShape="1">
            <a:blip r:embed="rId2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13"/>
            <p:cNvPicPr preferRelativeResize="0"/>
            <p:nvPr/>
          </p:nvPicPr>
          <p:blipFill rotWithShape="1">
            <a:blip r:embed="rId2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1A68F4BE-4FA3-A584-7D5F-A0B5C00AA917}"/>
              </a:ext>
            </a:extLst>
          </p:cNvPr>
          <p:cNvSpPr/>
          <p:nvPr userDrawn="1"/>
        </p:nvSpPr>
        <p:spPr>
          <a:xfrm rot="16200000">
            <a:off x="8255509" y="5"/>
            <a:ext cx="888498" cy="888485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7378" y="135245"/>
            <a:ext cx="8000661" cy="492787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377" y="743510"/>
            <a:ext cx="8000663" cy="414326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/>
          <a:p>
            <a:pPr lvl="0"/>
            <a:r>
              <a:rPr lang="en-US" noProof="0" dirty="0"/>
              <a:t>First line of text</a:t>
            </a:r>
          </a:p>
          <a:p>
            <a:pPr lvl="1"/>
            <a:r>
              <a:rPr lang="en-US" noProof="0" dirty="0"/>
              <a:t>Subtitle</a:t>
            </a:r>
          </a:p>
          <a:p>
            <a:pPr lvl="2"/>
            <a:r>
              <a:rPr lang="en-US" noProof="0" dirty="0"/>
              <a:t>Sub-subtitle</a:t>
            </a:r>
          </a:p>
          <a:p>
            <a:pPr lvl="3"/>
            <a:r>
              <a:rPr lang="en-US" noProof="0" dirty="0"/>
              <a:t>This level should not be used</a:t>
            </a:r>
          </a:p>
          <a:p>
            <a:pPr lvl="4"/>
            <a:r>
              <a:rPr lang="en-US" noProof="0" dirty="0"/>
              <a:t>This level should not be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254CD-0FE2-BE4E-B26C-04DE1C684BCF}"/>
              </a:ext>
            </a:extLst>
          </p:cNvPr>
          <p:cNvSpPr txBox="1"/>
          <p:nvPr userDrawn="1"/>
        </p:nvSpPr>
        <p:spPr>
          <a:xfrm>
            <a:off x="5613169" y="372158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noProof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039F93-7DF2-60D6-16FF-CF97CC82260A}"/>
              </a:ext>
            </a:extLst>
          </p:cNvPr>
          <p:cNvSpPr/>
          <p:nvPr userDrawn="1"/>
        </p:nvSpPr>
        <p:spPr>
          <a:xfrm rot="2700000">
            <a:off x="8314429" y="285451"/>
            <a:ext cx="284475" cy="284470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CDF760-B7EB-2325-77A0-22D2F750C836}"/>
              </a:ext>
            </a:extLst>
          </p:cNvPr>
          <p:cNvSpPr/>
          <p:nvPr userDrawn="1"/>
        </p:nvSpPr>
        <p:spPr>
          <a:xfrm rot="2700000">
            <a:off x="8466240" y="172391"/>
            <a:ext cx="510597" cy="510589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EA5A80-7EE5-E82F-A70F-F148FEF32070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302281" y="111861"/>
            <a:ext cx="736048" cy="631650"/>
          </a:xfrm>
          <a:prstGeom prst="rect">
            <a:avLst/>
          </a:prstGeom>
          <a:ln w="66675">
            <a:noFill/>
          </a:ln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CE150080-BAE7-649E-4121-028FCE97E9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37378" y="4887852"/>
            <a:ext cx="877913" cy="146321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131B79E-8CB6-5631-3915-CC4CDC568AD6}"/>
              </a:ext>
            </a:extLst>
          </p:cNvPr>
          <p:cNvGrpSpPr/>
          <p:nvPr userDrawn="1"/>
        </p:nvGrpSpPr>
        <p:grpSpPr>
          <a:xfrm>
            <a:off x="1218691" y="4855937"/>
            <a:ext cx="1063845" cy="230074"/>
            <a:chOff x="3645356" y="188193"/>
            <a:chExt cx="5677387" cy="1227805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FF2B1B9-AABB-9441-96A8-CE0074DD28E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3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0E9E285-4AAB-8031-4F60-6404016D57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3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B8319E33-4883-AE4B-34D5-D48A9C68F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82696" y="4871789"/>
            <a:ext cx="5429020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QuantSparse 3D - Bowen Wang, Paul Scheffler</a:t>
            </a:r>
            <a:endParaRPr lang="en-US" dirty="0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9C8C412-C6D2-5E89-86AA-4DBE57662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9781" y="4871177"/>
            <a:ext cx="428607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1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</p:sldLayoutIdLst>
  <p:hf hdr="0" ftr="0"/>
  <p:txStyles>
    <p:titleStyle>
      <a:lvl1pPr algn="l" defTabSz="685770" rtl="0" eaLnBrk="1" latinLnBrk="0" hangingPunct="1">
        <a:lnSpc>
          <a:spcPct val="90000"/>
        </a:lnSpc>
        <a:spcBef>
          <a:spcPct val="0"/>
        </a:spcBef>
        <a:buNone/>
        <a:defRPr sz="2857" b="0" i="0" kern="1200" spc="-79" baseline="0">
          <a:ln w="15875" cmpd="sng">
            <a:noFill/>
            <a:round/>
          </a:ln>
          <a:solidFill>
            <a:schemeClr val="accent3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589" indent="-228589" algn="l" defTabSz="571464" rtl="0" eaLnBrk="1" latinLnBrk="0" hangingPunct="1">
        <a:lnSpc>
          <a:spcPct val="100000"/>
        </a:lnSpc>
        <a:spcBef>
          <a:spcPts val="952"/>
        </a:spcBef>
        <a:buClr>
          <a:schemeClr val="tx1"/>
        </a:buClr>
        <a:buSzPct val="90000"/>
        <a:buFont typeface="Arial" panose="020B0604020202020204" pitchFamily="34" charset="0"/>
        <a:buChar char="•"/>
        <a:defRPr sz="1905" b="1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400025" indent="-171442" algn="l" defTabSz="571464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587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571464" indent="-171442" algn="l" defTabSz="685770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429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742903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952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914342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873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1885868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37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8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subTitle" idx="1"/>
          </p:nvPr>
        </p:nvSpPr>
        <p:spPr>
          <a:xfrm>
            <a:off x="286116" y="2364675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Integrated Systems Laboratory (ETH Zürich)</a:t>
            </a:r>
            <a:endParaRPr/>
          </a:p>
        </p:txBody>
      </p:sp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286116" y="1382921"/>
            <a:ext cx="8000670" cy="830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" dirty="0"/>
              <a:t>QuantSparse 3D Biweekly 2026-03-</a:t>
            </a:r>
            <a:r>
              <a:rPr lang="en-US" dirty="0"/>
              <a:t>12</a:t>
            </a:r>
            <a:endParaRPr dirty="0"/>
          </a:p>
        </p:txBody>
      </p:sp>
      <p:sp>
        <p:nvSpPr>
          <p:cNvPr id="183" name="Google Shape;183;p32"/>
          <p:cNvSpPr txBox="1">
            <a:spLocks noGrp="1"/>
          </p:cNvSpPr>
          <p:nvPr>
            <p:ph type="body" idx="2"/>
          </p:nvPr>
        </p:nvSpPr>
        <p:spPr>
          <a:xfrm>
            <a:off x="286116" y="295254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 dirty="0">
                <a:solidFill>
                  <a:srgbClr val="168638"/>
                </a:solidFill>
                <a:latin typeface="Calibri"/>
                <a:ea typeface="Calibri"/>
                <a:cs typeface="Calibri"/>
                <a:sym typeface="Calibri"/>
              </a:rPr>
              <a:t>Bowen Wang</a:t>
            </a:r>
            <a:r>
              <a:rPr lang="en" dirty="0">
                <a:solidFill>
                  <a:srgbClr val="168638"/>
                </a:solidFill>
              </a:rPr>
              <a:t>          </a:t>
            </a:r>
            <a:r>
              <a:rPr lang="en" dirty="0" err="1">
                <a:solidFill>
                  <a:srgbClr val="000000"/>
                </a:solidFill>
              </a:rPr>
              <a:t>bowwang@iis.ee.ethz.ch</a:t>
            </a:r>
            <a:endParaRPr lang="en" dirty="0">
              <a:solidFill>
                <a:schemeClr val="dk1"/>
              </a:solidFill>
            </a:endParaRPr>
          </a:p>
          <a:p>
            <a:pPr marL="0" lvl="0" indent="0">
              <a:spcBef>
                <a:spcPts val="0"/>
              </a:spcBef>
            </a:pPr>
            <a:r>
              <a:rPr lang="en" b="1" dirty="0">
                <a:solidFill>
                  <a:srgbClr val="168638"/>
                </a:solidFill>
              </a:rPr>
              <a:t>Chi Zhang      </a:t>
            </a:r>
            <a:r>
              <a:rPr lang="en" dirty="0">
                <a:solidFill>
                  <a:srgbClr val="168638"/>
                </a:solidFill>
              </a:rPr>
              <a:t>          </a:t>
            </a:r>
            <a:r>
              <a:rPr lang="en" dirty="0" err="1">
                <a:solidFill>
                  <a:srgbClr val="000000"/>
                </a:solidFill>
              </a:rPr>
              <a:t>chizhang@iis.ee.ethz.ch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" b="1" dirty="0">
                <a:latin typeface="Calibri"/>
                <a:ea typeface="Calibri"/>
                <a:cs typeface="Calibri"/>
                <a:sym typeface="Calibri"/>
              </a:rPr>
              <a:t>Luca Benini</a:t>
            </a:r>
            <a:r>
              <a:rPr lang="en" b="1" dirty="0"/>
              <a:t>             </a:t>
            </a:r>
            <a:r>
              <a:rPr lang="en" dirty="0" err="1">
                <a:solidFill>
                  <a:schemeClr val="dk1"/>
                </a:solidFill>
              </a:rPr>
              <a:t>lbenini@iis.ee.ethz.ch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84" name="Google Shape;184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190" name="Google Shape;190;p33"/>
          <p:cNvSpPr txBox="1">
            <a:spLocks noGrp="1"/>
          </p:cNvSpPr>
          <p:nvPr>
            <p:ph type="body" idx="1"/>
          </p:nvPr>
        </p:nvSpPr>
        <p:spPr>
          <a:xfrm>
            <a:off x="237376" y="2165447"/>
            <a:ext cx="8000672" cy="2705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Progress Update</a:t>
            </a:r>
          </a:p>
          <a:p>
            <a:pPr lvl="1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b="1" dirty="0"/>
              <a:t>Ventaglio – </a:t>
            </a:r>
            <a:r>
              <a:rPr lang="en" dirty="0"/>
              <a:t>Integrated post-increment to Ventaglio, perf. </a:t>
            </a:r>
            <a:r>
              <a:rPr lang="en-US" dirty="0"/>
              <a:t>benchmark</a:t>
            </a:r>
            <a:endParaRPr lang="en" dirty="0"/>
          </a:p>
          <a:p>
            <a:pPr lvl="1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b="1" dirty="0"/>
              <a:t>3D System – </a:t>
            </a:r>
            <a:r>
              <a:rPr lang="en" dirty="0"/>
              <a:t>Discussion on </a:t>
            </a:r>
            <a:r>
              <a:rPr lang="en-GB" dirty="0"/>
              <a:t>architecture and dataflow exploration</a:t>
            </a:r>
            <a:endParaRPr lang="en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dirty="0"/>
              <a:t>Timeline</a:t>
            </a: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Discussion</a:t>
            </a:r>
            <a:endParaRPr dirty="0"/>
          </a:p>
        </p:txBody>
      </p:sp>
      <p:sp>
        <p:nvSpPr>
          <p:cNvPr id="191" name="Google Shape;191;p3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QuantSparse 3D - Bowen Wang, Paul Scheffler</a:t>
            </a:r>
            <a:endParaRPr/>
          </a:p>
        </p:txBody>
      </p:sp>
      <p:sp>
        <p:nvSpPr>
          <p:cNvPr id="192" name="Google Shape;192;p3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2" name="图片 5">
            <a:extLst>
              <a:ext uri="{FF2B5EF4-FFF2-40B4-BE49-F238E27FC236}">
                <a16:creationId xmlns:a16="http://schemas.microsoft.com/office/drawing/2014/main" id="{9FC1C4D1-DFD0-711B-F068-3F3A837693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6077" y="905715"/>
            <a:ext cx="8571843" cy="12594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A538F-34EE-0D14-526D-6787133EC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BF845-470D-67BE-1BA6-AE27539C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Recap: Post-increment instruction extension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C5034-073D-0B38-B1FB-731A1EC25D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3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1F49A-35BF-DBAD-60F9-326261702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4958835" cy="4243145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Ventaglio for high sparse ratio MatMul</a:t>
            </a:r>
          </a:p>
          <a:p>
            <a:pPr lvl="1"/>
            <a:r>
              <a:rPr lang="en-US" altLang="zh-CN" sz="1400" b="1" dirty="0">
                <a:solidFill>
                  <a:schemeClr val="tx1"/>
                </a:solidFill>
                <a:sym typeface="Wingdings" pitchFamily="2" charset="2"/>
              </a:rPr>
              <a:t>Objective: 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Eliminate explicit pointer updates </a:t>
            </a:r>
            <a:b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</a:b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  Improving VPU utilization when LMUL is small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The post-increment semantics should be added to </a:t>
            </a:r>
          </a:p>
          <a:p>
            <a:pPr lvl="2"/>
            <a:r>
              <a:rPr lang="en-US" altLang="zh-CN" sz="11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vle</a:t>
            </a:r>
            <a:r>
              <a:rPr lang="en-US" altLang="zh-CN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*.v</a:t>
            </a:r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: weight vectors</a:t>
            </a:r>
          </a:p>
          <a:p>
            <a:pPr lvl="2"/>
            <a:r>
              <a:rPr lang="en-US" altLang="zh-CN" sz="11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fl</a:t>
            </a:r>
            <a:r>
              <a:rPr lang="en-US" altLang="zh-CN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*</a:t>
            </a:r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: scalar activations</a:t>
            </a:r>
          </a:p>
          <a:p>
            <a:pPr lvl="2"/>
            <a:r>
              <a:rPr lang="en-US" altLang="zh-CN" sz="11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vlx</a:t>
            </a:r>
            <a:r>
              <a:rPr lang="en-US" altLang="zh-CN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*.v</a:t>
            </a:r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: index vectors</a:t>
            </a:r>
          </a:p>
          <a:p>
            <a:pPr lvl="1"/>
            <a:r>
              <a:rPr lang="en-US" altLang="zh-CN" sz="1400" b="1" dirty="0">
                <a:solidFill>
                  <a:schemeClr val="accent3"/>
                </a:solidFill>
                <a:sym typeface="Wingdings" pitchFamily="2" charset="2"/>
              </a:rPr>
              <a:t>Strip the post-increment semantics in Snitch</a:t>
            </a:r>
            <a:b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</a:b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 Forward </a:t>
            </a:r>
            <a:r>
              <a:rPr lang="en-US" altLang="zh-CN" sz="1400" i="1" dirty="0">
                <a:solidFill>
                  <a:schemeClr val="tx1"/>
                </a:solidFill>
                <a:sym typeface="Wingdings" pitchFamily="2" charset="2"/>
              </a:rPr>
              <a:t>bare load requests 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to Spatz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In vanilla Spatz cluster:</a:t>
            </a:r>
          </a:p>
          <a:p>
            <a:pPr lvl="2"/>
            <a:r>
              <a:rPr lang="en-US" altLang="zh-CN" sz="11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vle</a:t>
            </a:r>
            <a:r>
              <a:rPr lang="en-US" altLang="zh-CN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*.v</a:t>
            </a:r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: weight vectors</a:t>
            </a:r>
          </a:p>
          <a:p>
            <a:pPr lvl="2"/>
            <a:r>
              <a:rPr lang="en-US" altLang="zh-CN" sz="11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fl</a:t>
            </a:r>
            <a:r>
              <a:rPr lang="en-US" altLang="zh-CN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*</a:t>
            </a:r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: scalar activations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012277A-C2D4-C855-0D15-A4985344696E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6" name="Picture 5" descr="A diagram of a computer code&#10;&#10;AI-generated content may be incorrect.">
            <a:extLst>
              <a:ext uri="{FF2B5EF4-FFF2-40B4-BE49-F238E27FC236}">
                <a16:creationId xmlns:a16="http://schemas.microsoft.com/office/drawing/2014/main" id="{708FCF08-D875-0D8F-DB0F-987177694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235" y="1258928"/>
            <a:ext cx="3162556" cy="201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358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386D2-43BE-D86B-FBBA-D42C87E5D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B73AC-59EA-6E89-3259-FF1DDA2A5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Post-increment instruction extension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1F7BD-B689-DF96-8092-16A2C9772C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4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6F5B5-92B5-3158-4EBD-1E3504B81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4958835" cy="4243145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Implementation finished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Integrated post-increment extension with Ventaglio</a:t>
            </a:r>
          </a:p>
          <a:p>
            <a:pPr lvl="2"/>
            <a:r>
              <a:rPr lang="en-US" altLang="zh-CN" sz="11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vle</a:t>
            </a:r>
            <a:r>
              <a:rPr lang="en-US" altLang="zh-CN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*.v</a:t>
            </a:r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: weight vectors</a:t>
            </a:r>
          </a:p>
          <a:p>
            <a:pPr lvl="2"/>
            <a:r>
              <a:rPr lang="en-US" altLang="zh-CN" sz="11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fl</a:t>
            </a:r>
            <a:r>
              <a:rPr lang="en-US" altLang="zh-CN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*</a:t>
            </a:r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: scalar activations</a:t>
            </a:r>
          </a:p>
          <a:p>
            <a:pPr lvl="2"/>
            <a:r>
              <a:rPr lang="en-US" altLang="zh-CN" sz="1100" b="1" dirty="0" err="1">
                <a:solidFill>
                  <a:schemeClr val="tx1"/>
                </a:solidFill>
                <a:sym typeface="Wingdings" pitchFamily="2" charset="2"/>
              </a:rPr>
              <a:t>vlx</a:t>
            </a:r>
            <a:r>
              <a:rPr lang="en-US" altLang="zh-CN" sz="1100" b="1" dirty="0">
                <a:solidFill>
                  <a:schemeClr val="tx1"/>
                </a:solidFill>
                <a:sym typeface="Wingdings" pitchFamily="2" charset="2"/>
              </a:rPr>
              <a:t>*.v</a:t>
            </a:r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: index vectors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Passed functional verification. Adapted the single-precision SpMM, </a:t>
            </a:r>
            <a:r>
              <a:rPr lang="en-US" altLang="zh-CN" sz="1400" dirty="0" err="1">
                <a:solidFill>
                  <a:schemeClr val="tx1"/>
                </a:solidFill>
                <a:sym typeface="Wingdings" pitchFamily="2" charset="2"/>
              </a:rPr>
              <a:t>SpMV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 kernels that uses the new instructions.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7706E28-B63D-0737-2660-FEEE92C288DA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8EBACF-ECE0-4FBF-FE13-B69FD1601C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30652" y="928653"/>
            <a:ext cx="4313348" cy="31631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A2D03D-C4CF-6333-AEB4-20D79D28833B}"/>
              </a:ext>
            </a:extLst>
          </p:cNvPr>
          <p:cNvSpPr txBox="1"/>
          <p:nvPr/>
        </p:nvSpPr>
        <p:spPr>
          <a:xfrm>
            <a:off x="7586786" y="1893899"/>
            <a:ext cx="605214" cy="309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2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60.1%</a:t>
            </a:r>
            <a:endParaRPr lang="en-US" sz="2000" b="1" i="0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85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F2494-D1B7-EAE0-0B71-100B56425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8048D-D4D6-AB14-C11E-FA13480A0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Post-increment instruction extension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1014A-3B37-258F-409C-7DF307FEE3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5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2D3BBB-338A-9085-6BE8-FB23C9280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4958835" cy="4243145"/>
          </a:xfrm>
        </p:spPr>
        <p:txBody>
          <a:bodyPr/>
          <a:lstStyle/>
          <a:p>
            <a:r>
              <a:rPr lang="en-US" altLang="zh-CN" sz="16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Implementation status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Integrated post-increment extension with Ventaglio</a:t>
            </a:r>
          </a:p>
          <a:p>
            <a:pPr lvl="2"/>
            <a:r>
              <a:rPr lang="en-US" altLang="zh-CN" sz="11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vle</a:t>
            </a:r>
            <a:r>
              <a:rPr lang="en-US" altLang="zh-CN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*.v</a:t>
            </a:r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: weight vectors</a:t>
            </a:r>
          </a:p>
          <a:p>
            <a:pPr lvl="2"/>
            <a:r>
              <a:rPr lang="en-US" altLang="zh-CN" sz="11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fl</a:t>
            </a:r>
            <a:r>
              <a:rPr lang="en-US" altLang="zh-CN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*</a:t>
            </a:r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: scalar activations</a:t>
            </a:r>
          </a:p>
          <a:p>
            <a:pPr lvl="2"/>
            <a:r>
              <a:rPr lang="en-US" altLang="zh-CN" sz="1100" b="1" dirty="0" err="1">
                <a:solidFill>
                  <a:schemeClr val="tx1"/>
                </a:solidFill>
                <a:sym typeface="Wingdings" pitchFamily="2" charset="2"/>
              </a:rPr>
              <a:t>vlx</a:t>
            </a:r>
            <a:r>
              <a:rPr lang="en-US" altLang="zh-CN" sz="1100" b="1" dirty="0">
                <a:solidFill>
                  <a:schemeClr val="tx1"/>
                </a:solidFill>
                <a:sym typeface="Wingdings" pitchFamily="2" charset="2"/>
              </a:rPr>
              <a:t>*.v</a:t>
            </a:r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: index vectors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Passed functional verification. Adapted the single-precision SpMM, </a:t>
            </a:r>
            <a:r>
              <a:rPr lang="en-US" altLang="zh-CN" sz="1400" dirty="0" err="1">
                <a:solidFill>
                  <a:schemeClr val="tx1"/>
                </a:solidFill>
                <a:sym typeface="Wingdings" pitchFamily="2" charset="2"/>
              </a:rPr>
              <a:t>SpMV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 kernels that uses the new instructions.</a:t>
            </a:r>
          </a:p>
          <a:p>
            <a:pPr lvl="2"/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Removed explicit pointer updates</a:t>
            </a:r>
          </a:p>
          <a:p>
            <a:pPr lvl="2"/>
            <a:r>
              <a:rPr lang="en-US" altLang="zh-CN" sz="1213" dirty="0">
                <a:solidFill>
                  <a:schemeClr val="tx1"/>
                </a:solidFill>
                <a:sym typeface="Wingdings" pitchFamily="2" charset="2"/>
              </a:rPr>
              <a:t>VPU achieves maximum utilization in each inner-loop,   no gap between MACC operations.</a:t>
            </a:r>
          </a:p>
          <a:p>
            <a:pPr lvl="1"/>
            <a:r>
              <a:rPr lang="en-US" altLang="zh-CN" sz="1400" b="1" dirty="0">
                <a:solidFill>
                  <a:schemeClr val="accent2"/>
                </a:solidFill>
                <a:sym typeface="Wingdings" pitchFamily="2" charset="2"/>
              </a:rPr>
              <a:t>Finished SpMM and </a:t>
            </a:r>
            <a:r>
              <a:rPr lang="en-US" altLang="zh-CN" sz="1400" b="1" dirty="0" err="1">
                <a:solidFill>
                  <a:schemeClr val="accent2"/>
                </a:solidFill>
                <a:sym typeface="Wingdings" pitchFamily="2" charset="2"/>
              </a:rPr>
              <a:t>SpMV</a:t>
            </a:r>
            <a:r>
              <a:rPr lang="en-US" altLang="zh-CN" sz="1400" b="1" dirty="0">
                <a:solidFill>
                  <a:schemeClr val="accent2"/>
                </a:solidFill>
                <a:sym typeface="Wingdings" pitchFamily="2" charset="2"/>
              </a:rPr>
              <a:t> HW-SW optimizations</a:t>
            </a:r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.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D608451-BFFF-FA7C-3AAC-724911CFC619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863278-421A-2F41-3E43-27930B9253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30653" y="928653"/>
            <a:ext cx="4313346" cy="31631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698469-EA39-A648-2461-CF81FA6B8B96}"/>
              </a:ext>
            </a:extLst>
          </p:cNvPr>
          <p:cNvSpPr txBox="1"/>
          <p:nvPr/>
        </p:nvSpPr>
        <p:spPr>
          <a:xfrm>
            <a:off x="6869738" y="1361047"/>
            <a:ext cx="605214" cy="309187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r>
              <a:rPr lang="en-US" sz="20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93.7%</a:t>
            </a:r>
            <a:endParaRPr lang="en-US" sz="2000" b="1" i="0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364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33BA5-C9B6-18D1-B7AA-72080B4B7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2F1D7-53CB-8749-981E-1BAC788C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Other Improvements and Next Steps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3B2B7-45EC-0B22-DB91-E5EB74AC63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6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6C412-491D-63AE-C985-F85F27F5E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28031"/>
            <a:ext cx="6891885" cy="4243145"/>
          </a:xfrm>
        </p:spPr>
        <p:txBody>
          <a:bodyPr/>
          <a:lstStyle/>
          <a:p>
            <a:r>
              <a:rPr lang="en-US" altLang="zh-CN" sz="1600" b="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Completed custom instruction extensions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Added </a:t>
            </a:r>
            <a:r>
              <a:rPr lang="en-US" altLang="zh-CN" sz="1100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vfxmul.vf</a:t>
            </a:r>
            <a:r>
              <a:rPr lang="en-US" altLang="zh-CN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</a:t>
            </a:r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instruction, removed explicit Ventaglio memory unit reset;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All custom instructions have LLVM and RISC-V opcodes supports.</a:t>
            </a:r>
          </a:p>
          <a:p>
            <a:r>
              <a:rPr lang="en-US" altLang="zh-CN" sz="1518" b="0" i="1" dirty="0">
                <a:solidFill>
                  <a:schemeClr val="tx1"/>
                </a:solidFill>
                <a:sym typeface="Wingdings" pitchFamily="2" charset="2"/>
              </a:rPr>
              <a:t>New features and fixed bugs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Simplified Ventaglio index-preload logic; removed complex preload FSM;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Improved Ventaglio memory unit to </a:t>
            </a:r>
            <a:r>
              <a:rPr lang="en-US" altLang="zh-CN" sz="11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vid</a:t>
            </a:r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 mapping under loop-unrolling with simple shift logics;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Fixed </a:t>
            </a:r>
            <a:r>
              <a:rPr lang="en-US" altLang="zh-CN" sz="11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beat_counter</a:t>
            </a:r>
            <a:r>
              <a:rPr lang="en-US" altLang="zh-CN" sz="11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</a:t>
            </a:r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in the scatter datapath for proper index refill.</a:t>
            </a:r>
            <a:endParaRPr lang="en-US" altLang="zh-CN" sz="1200" i="1" dirty="0">
              <a:solidFill>
                <a:schemeClr val="tx1"/>
              </a:solidFill>
              <a:sym typeface="Wingdings" pitchFamily="2" charset="2"/>
            </a:endParaRPr>
          </a:p>
          <a:p>
            <a:r>
              <a:rPr lang="en-US" altLang="zh-CN" sz="1518" b="0" i="1" dirty="0">
                <a:solidFill>
                  <a:schemeClr val="tx1"/>
                </a:solidFill>
                <a:sym typeface="Wingdings" pitchFamily="2" charset="2"/>
              </a:rPr>
              <a:t>New project launched</a:t>
            </a:r>
          </a:p>
          <a:p>
            <a:pPr lvl="1"/>
            <a:r>
              <a:rPr lang="en-US" altLang="zh-CN" sz="1200" b="0" dirty="0">
                <a:solidFill>
                  <a:schemeClr val="tx1"/>
                </a:solidFill>
                <a:sym typeface="Wingdings" pitchFamily="2" charset="2"/>
              </a:rPr>
              <a:t>SA – Integrating Ventaglio with VMXDOTP</a:t>
            </a:r>
          </a:p>
          <a:p>
            <a:pPr lvl="2"/>
            <a:r>
              <a:rPr lang="en-US" altLang="zh-CN" sz="1200" b="0" dirty="0">
                <a:solidFill>
                  <a:schemeClr val="tx1"/>
                </a:solidFill>
                <a:sym typeface="Wingdings" pitchFamily="2" charset="2"/>
              </a:rPr>
              <a:t>Inner-product dataflow; </a:t>
            </a:r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B</a:t>
            </a:r>
            <a:r>
              <a:rPr lang="en-US" altLang="zh-CN" sz="1200" b="0" dirty="0">
                <a:solidFill>
                  <a:schemeClr val="tx1"/>
                </a:solidFill>
                <a:sym typeface="Wingdings" pitchFamily="2" charset="2"/>
              </a:rPr>
              <a:t>itmap indices for MX-blocks</a:t>
            </a:r>
          </a:p>
          <a:p>
            <a:r>
              <a:rPr lang="en-US" altLang="zh-CN" sz="1518" b="0" dirty="0">
                <a:solidFill>
                  <a:schemeClr val="tx1"/>
                </a:solidFill>
                <a:sym typeface="Wingdings" pitchFamily="2" charset="2"/>
              </a:rPr>
              <a:t>Next step:</a:t>
            </a:r>
          </a:p>
          <a:p>
            <a:pPr lvl="1"/>
            <a:r>
              <a:rPr lang="en-US" altLang="zh-CN" sz="1200" dirty="0">
                <a:solidFill>
                  <a:schemeClr val="tx1"/>
                </a:solidFill>
                <a:sym typeface="Wingdings" pitchFamily="2" charset="2"/>
              </a:rPr>
              <a:t>Started Ventaglio modeling and calibration  End-to-end benchmark</a:t>
            </a:r>
          </a:p>
          <a:p>
            <a:pPr lvl="1"/>
            <a:endParaRPr lang="en-US" altLang="zh-CN" sz="1200" i="1" dirty="0">
              <a:solidFill>
                <a:schemeClr val="tx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A6A2305-34B6-09B4-E86D-62621C6AAAA6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08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DD9B5-8679-81C3-7182-4508AE9F4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A2E53-DDDA-3E70-5675-9CC58CB46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 3D Architecture and Dataflow Exploration</a:t>
            </a:r>
            <a:endParaRPr lang="de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96BCA-B9A9-90F3-78AE-F511F758E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7374" y="557561"/>
            <a:ext cx="8579523" cy="4328633"/>
          </a:xfrm>
        </p:spPr>
        <p:txBody>
          <a:bodyPr/>
          <a:lstStyle/>
          <a:p>
            <a:r>
              <a:rPr lang="en-US" sz="1700" dirty="0"/>
              <a:t>Current status:</a:t>
            </a:r>
          </a:p>
          <a:p>
            <a:pPr lvl="1"/>
            <a:r>
              <a:rPr lang="en-GB" sz="1400" dirty="0"/>
              <a:t>In previous discussions, we examined the 3D mesh topology for stacking compute clusters in </a:t>
            </a:r>
            <a:r>
              <a:rPr lang="en-GB" sz="1400" dirty="0" err="1"/>
              <a:t>SoftHier</a:t>
            </a:r>
            <a:r>
              <a:rPr lang="en-GB" sz="1400" dirty="0"/>
              <a:t>.</a:t>
            </a:r>
          </a:p>
          <a:p>
            <a:pPr lvl="1"/>
            <a:r>
              <a:rPr lang="en-GB" sz="1400" dirty="0"/>
              <a:t>We also discussed the 3D systolic dataflow for GEMM operations.</a:t>
            </a:r>
            <a:endParaRPr lang="en-US" sz="1400" dirty="0"/>
          </a:p>
          <a:p>
            <a:r>
              <a:rPr lang="en-US" sz="1718" dirty="0"/>
              <a:t>Key questions need more discussion:</a:t>
            </a:r>
          </a:p>
          <a:p>
            <a:pPr lvl="1"/>
            <a:r>
              <a:rPr lang="de-CH" sz="1400" b="1" dirty="0"/>
              <a:t>Network Topology</a:t>
            </a:r>
            <a:r>
              <a:rPr lang="de-CH" sz="1400" dirty="0"/>
              <a:t>: </a:t>
            </a:r>
          </a:p>
          <a:p>
            <a:pPr lvl="2"/>
            <a:r>
              <a:rPr lang="en-GB" sz="1213" dirty="0"/>
              <a:t>Is a </a:t>
            </a:r>
            <a:r>
              <a:rPr lang="en-GB" sz="1213" b="1" i="1" dirty="0"/>
              <a:t>3D mesh</a:t>
            </a:r>
            <a:r>
              <a:rPr lang="en-GB" sz="1213" dirty="0"/>
              <a:t> the optimal topology for this architecture?</a:t>
            </a:r>
          </a:p>
          <a:p>
            <a:pPr lvl="2"/>
            <a:r>
              <a:rPr lang="en-GB" sz="1213" dirty="0"/>
              <a:t>Should we explore </a:t>
            </a:r>
            <a:r>
              <a:rPr lang="en-GB" sz="1213" b="1" i="1" dirty="0"/>
              <a:t>alternative topologies with lower network diameter</a:t>
            </a:r>
            <a:r>
              <a:rPr lang="en-GB" sz="1213" dirty="0"/>
              <a:t>?</a:t>
            </a:r>
          </a:p>
          <a:p>
            <a:pPr lvl="2"/>
            <a:r>
              <a:rPr lang="en-GB" sz="1213" dirty="0"/>
              <a:t>What trade-offs arise in terms of </a:t>
            </a:r>
            <a:r>
              <a:rPr lang="en-GB" sz="1213" b="1" i="1" dirty="0"/>
              <a:t>latency, scalability, routing complexity, and physical layout</a:t>
            </a:r>
            <a:r>
              <a:rPr lang="en-GB" sz="1213" dirty="0"/>
              <a:t>? </a:t>
            </a:r>
          </a:p>
          <a:p>
            <a:pPr lvl="1"/>
            <a:r>
              <a:rPr lang="de-CH" sz="1400" b="1" dirty="0"/>
              <a:t>Architecture Organization</a:t>
            </a:r>
            <a:r>
              <a:rPr lang="de-CH" sz="1400" dirty="0"/>
              <a:t> :</a:t>
            </a:r>
          </a:p>
          <a:p>
            <a:pPr lvl="2"/>
            <a:r>
              <a:rPr lang="en-GB" sz="1213" dirty="0"/>
              <a:t>Is </a:t>
            </a:r>
            <a:r>
              <a:rPr lang="en-GB" sz="1213" b="1" i="1" dirty="0"/>
              <a:t>3D stacking of compute tiles only</a:t>
            </a:r>
            <a:r>
              <a:rPr lang="en-GB" sz="1213" dirty="0"/>
              <a:t> the best architectural approach?</a:t>
            </a:r>
          </a:p>
          <a:p>
            <a:pPr lvl="2"/>
            <a:r>
              <a:rPr lang="en-GB" sz="1213" dirty="0"/>
              <a:t>What is the optimal </a:t>
            </a:r>
            <a:r>
              <a:rPr lang="en-GB" sz="1213" b="1" i="1" dirty="0"/>
              <a:t>compute-to-memory ratio</a:t>
            </a:r>
            <a:r>
              <a:rPr lang="en-GB" sz="1213" dirty="0"/>
              <a:t> for this architecture?</a:t>
            </a:r>
          </a:p>
          <a:p>
            <a:pPr lvl="2"/>
            <a:r>
              <a:rPr lang="en-GB" sz="1213" dirty="0"/>
              <a:t>How should </a:t>
            </a:r>
            <a:r>
              <a:rPr lang="en-GB" sz="1213" b="1" i="1" dirty="0"/>
              <a:t>memory and logic be organized</a:t>
            </a:r>
            <a:r>
              <a:rPr lang="en-GB" sz="1213" dirty="0"/>
              <a:t> to: Reduce </a:t>
            </a:r>
            <a:r>
              <a:rPr lang="en-GB" sz="1213" b="1" i="1" dirty="0"/>
              <a:t>thermal hotspots</a:t>
            </a:r>
            <a:r>
              <a:rPr lang="en-GB" sz="1213" dirty="0"/>
              <a:t>, Improve </a:t>
            </a:r>
            <a:r>
              <a:rPr lang="en-GB" sz="1213" b="1" i="1" dirty="0"/>
              <a:t>bandwidth and locality</a:t>
            </a:r>
            <a:r>
              <a:rPr lang="en-GB" sz="1213" dirty="0"/>
              <a:t>.</a:t>
            </a:r>
            <a:endParaRPr lang="de-CH" sz="1213" b="1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B5507-1581-764C-65EF-FCDDF63AA53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0CE672-F7A8-FA88-082C-F49B13FAC8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7</a:t>
            </a:fld>
            <a:endParaRPr lang="e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526DE83-C671-FA4C-BA0D-D98EC394D875}"/>
              </a:ext>
            </a:extLst>
          </p:cNvPr>
          <p:cNvSpPr/>
          <p:nvPr/>
        </p:nvSpPr>
        <p:spPr>
          <a:xfrm>
            <a:off x="445792" y="2207477"/>
            <a:ext cx="8289329" cy="728546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800" b="1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We Need a More Flexible and Extensible Architecture Description for 3D </a:t>
            </a:r>
            <a:r>
              <a:rPr lang="en-GB" sz="1800" b="1" dirty="0" err="1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SoftHier</a:t>
            </a:r>
            <a:r>
              <a:rPr lang="en-GB" sz="1800" b="1" dirty="0">
                <a:solidFill>
                  <a:schemeClr val="bg2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 !</a:t>
            </a:r>
            <a:endParaRPr lang="en-CH" sz="1800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431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i="0" cap="none" spc="0" dirty="0">
            <a:ln>
              <a:noFill/>
            </a:ln>
            <a:solidFill>
              <a:schemeClr val="bg2"/>
            </a:solidFill>
            <a:effectLst/>
            <a:latin typeface="Arial Narrow" panose="020B0604020202020204" pitchFamily="34" charset="0"/>
            <a:cs typeface="Arial Narrow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algn="l" defTabSz="720000">
          <a:defRPr sz="2400" b="0" i="0" dirty="0" smtClean="0">
            <a:solidFill>
              <a:schemeClr val="tx2"/>
            </a:solidFill>
            <a:latin typeface="Arial Narrow" panose="020B0604020202020204" pitchFamily="34" charset="0"/>
            <a:cs typeface="Arial Narrow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D778353-C828-49F6-8D8D-2AB4582EB5C2}" vid="{5F78B0AA-AA4A-4887-80EB-632809F14C64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10885</TotalTime>
  <Words>519</Words>
  <Application>Microsoft Macintosh PowerPoint</Application>
  <PresentationFormat>On-screen Show (16:9)</PresentationFormat>
  <Paragraphs>76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Wingdings</vt:lpstr>
      <vt:lpstr>Calibri Light</vt:lpstr>
      <vt:lpstr>Calibri</vt:lpstr>
      <vt:lpstr>Arial Narrow</vt:lpstr>
      <vt:lpstr>Arial</vt:lpstr>
      <vt:lpstr>Consolas</vt:lpstr>
      <vt:lpstr>Simple Light</vt:lpstr>
      <vt:lpstr>PULP Triangle</vt:lpstr>
      <vt:lpstr>1_PULP Triangle</vt:lpstr>
      <vt:lpstr>QuantSparse 3D Biweekly 2026-03-12</vt:lpstr>
      <vt:lpstr>Agenda</vt:lpstr>
      <vt:lpstr>Recap: Post-increment instruction extension</vt:lpstr>
      <vt:lpstr>Post-increment instruction extension</vt:lpstr>
      <vt:lpstr>Post-increment instruction extension</vt:lpstr>
      <vt:lpstr>Other Improvements and Next Steps</vt:lpstr>
      <vt:lpstr>On 3D Architecture and Dataflow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QuantSparse 3D Biweekly 2025-03-25</dc:title>
  <dc:creator>paulsc</dc:creator>
  <cp:lastModifiedBy>Wang, Bowen</cp:lastModifiedBy>
  <cp:revision>1276</cp:revision>
  <dcterms:modified xsi:type="dcterms:W3CDTF">2026-03-12T07:47:45Z</dcterms:modified>
</cp:coreProperties>
</file>