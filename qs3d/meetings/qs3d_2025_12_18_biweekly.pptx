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17"/>
  </p:notesMasterIdLst>
  <p:sldIdLst>
    <p:sldId id="256" r:id="rId4"/>
    <p:sldId id="257" r:id="rId5"/>
    <p:sldId id="547" r:id="rId6"/>
    <p:sldId id="548" r:id="rId7"/>
    <p:sldId id="549" r:id="rId8"/>
    <p:sldId id="550" r:id="rId9"/>
    <p:sldId id="551" r:id="rId10"/>
    <p:sldId id="552" r:id="rId11"/>
    <p:sldId id="553" r:id="rId12"/>
    <p:sldId id="554" r:id="rId13"/>
    <p:sldId id="555" r:id="rId14"/>
    <p:sldId id="556" r:id="rId15"/>
    <p:sldId id="586" r:id="rId16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18"/>
      <p:bold r:id="rId19"/>
      <p:italic r:id="rId20"/>
      <p:boldItalic r:id="rId21"/>
    </p:embeddedFont>
    <p:embeddedFont>
      <p:font typeface="Consolas" panose="020B0609020204030204" pitchFamily="49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65A6A1-EB45-4525-89A6-CB3BD430D531}">
          <p14:sldIdLst>
            <p14:sldId id="256"/>
            <p14:sldId id="257"/>
          </p14:sldIdLst>
        </p14:section>
        <p14:section name="Recap" id="{870E3B29-350E-CE4E-9DFE-3645BAE98000}">
          <p14:sldIdLst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5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AB9F"/>
    <a:srgbClr val="A7127A"/>
    <a:srgbClr val="037491"/>
    <a:srgbClr val="168638"/>
    <a:srgbClr val="A6CAEC"/>
    <a:srgbClr val="BA362D"/>
    <a:srgbClr val="BBA471"/>
    <a:srgbClr val="C45D57"/>
    <a:srgbClr val="4C7CBD"/>
    <a:srgbClr val="B735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F3602-E09C-4FB3-88FD-0AF07CCC1424}">
  <a:tblStyle styleId="{90EF3602-E09C-4FB3-88FD-0AF07CCC1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04"/>
    <p:restoredTop sz="94635"/>
  </p:normalViewPr>
  <p:slideViewPr>
    <p:cSldViewPr snapToGrid="0">
      <p:cViewPr>
        <p:scale>
          <a:sx n="202" d="100"/>
          <a:sy n="202" d="100"/>
        </p:scale>
        <p:origin x="320" y="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ca6226cd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g339ca6226cd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11.sv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1823465" y="163205"/>
            <a:ext cx="1581805" cy="342091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5653737" y="1653177"/>
            <a:ext cx="3490273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117" y="212211"/>
            <a:ext cx="1325875" cy="22097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86116" y="2336781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  <a:defRPr sz="1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86114" y="1391112"/>
            <a:ext cx="8000670" cy="85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7461825" y="2614213"/>
            <a:ext cx="1213073" cy="1213073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7104894" y="2891492"/>
            <a:ext cx="646325" cy="662609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1348" y="2434954"/>
            <a:ext cx="1836547" cy="157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5899" y="4503916"/>
            <a:ext cx="260270" cy="22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22972" y="4258967"/>
            <a:ext cx="223066" cy="18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6373" y="4781048"/>
            <a:ext cx="256264" cy="1772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6949019" y="4480217"/>
            <a:ext cx="165735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1100"/>
          </a:p>
        </p:txBody>
      </p:sp>
      <p:sp>
        <p:nvSpPr>
          <p:cNvPr id="79" name="Google Shape;79;p14"/>
          <p:cNvSpPr txBox="1"/>
          <p:nvPr/>
        </p:nvSpPr>
        <p:spPr>
          <a:xfrm>
            <a:off x="7360145" y="4233920"/>
            <a:ext cx="1246228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1100"/>
          </a:p>
        </p:txBody>
      </p:sp>
      <p:sp>
        <p:nvSpPr>
          <p:cNvPr id="80" name="Google Shape;80;p14"/>
          <p:cNvSpPr txBox="1"/>
          <p:nvPr/>
        </p:nvSpPr>
        <p:spPr>
          <a:xfrm>
            <a:off x="6573889" y="4726513"/>
            <a:ext cx="203248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1100"/>
          </a:p>
        </p:txBody>
      </p:sp>
      <p:sp>
        <p:nvSpPr>
          <p:cNvPr id="81" name="Google Shape;81;p14"/>
          <p:cNvSpPr txBox="1"/>
          <p:nvPr/>
        </p:nvSpPr>
        <p:spPr>
          <a:xfrm>
            <a:off x="286115" y="4412057"/>
            <a:ext cx="4538560" cy="53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11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86116" y="291366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</a:defRPr>
            </a:lvl1pPr>
            <a:lvl2pPr lvl="1">
              <a:buNone/>
              <a:defRPr sz="1300">
                <a:solidFill>
                  <a:schemeClr val="accent3"/>
                </a:solidFill>
              </a:defRPr>
            </a:lvl2pPr>
            <a:lvl3pPr lvl="2">
              <a:buNone/>
              <a:defRPr sz="1300">
                <a:solidFill>
                  <a:schemeClr val="accent3"/>
                </a:solidFill>
              </a:defRPr>
            </a:lvl3pPr>
            <a:lvl4pPr lvl="3">
              <a:buNone/>
              <a:defRPr sz="1300">
                <a:solidFill>
                  <a:schemeClr val="accent3"/>
                </a:solidFill>
              </a:defRPr>
            </a:lvl4pPr>
            <a:lvl5pPr lvl="4">
              <a:buNone/>
              <a:defRPr sz="1300">
                <a:solidFill>
                  <a:schemeClr val="accent3"/>
                </a:solidFill>
              </a:defRPr>
            </a:lvl5pPr>
            <a:lvl6pPr lvl="5">
              <a:buNone/>
              <a:defRPr sz="1300">
                <a:solidFill>
                  <a:schemeClr val="accent3"/>
                </a:solidFill>
              </a:defRPr>
            </a:lvl6pPr>
            <a:lvl7pPr lvl="6">
              <a:buNone/>
              <a:defRPr sz="1300">
                <a:solidFill>
                  <a:schemeClr val="accent3"/>
                </a:solidFill>
              </a:defRPr>
            </a:lvl7pPr>
            <a:lvl8pPr lvl="7">
              <a:buNone/>
              <a:defRPr sz="1300">
                <a:solidFill>
                  <a:schemeClr val="accent3"/>
                </a:solidFill>
              </a:defRPr>
            </a:lvl8pPr>
            <a:lvl9pPr lvl="8">
              <a:buNone/>
              <a:defRPr sz="13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y-side">
  <p:cSld name="Two-by-s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237713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lus two">
  <p:cSld name="One plus 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8000670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2"/>
          </p:nvPr>
        </p:nvSpPr>
        <p:spPr>
          <a:xfrm>
            <a:off x="237378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3"/>
          </p:nvPr>
        </p:nvSpPr>
        <p:spPr>
          <a:xfrm>
            <a:off x="4237713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-Thick">
  <p:cSld name="Thin-Thic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094760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7378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ck-Thin">
  <p:cSld name="Thick-Thi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2"/>
          </p:nvPr>
        </p:nvSpPr>
        <p:spPr>
          <a:xfrm>
            <a:off x="5380666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y-side">
  <p:cSld name="3-by-s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4454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2959060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567357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box">
  <p:cSld name="4-box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0763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4241101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3"/>
          </p:nvPr>
        </p:nvSpPr>
        <p:spPr>
          <a:xfrm>
            <a:off x="240763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4"/>
          </p:nvPr>
        </p:nvSpPr>
        <p:spPr>
          <a:xfrm>
            <a:off x="4241101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ackground">
  <p:cSld name="Title Backgroun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Only">
  <p:cSld name="Background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748938" y="392233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o Background">
  <p:cSld name="No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Body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244839" y="284195"/>
            <a:ext cx="8000672" cy="47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53" name="Google Shape;153;p27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63" name="Google Shape;163;p28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65" name="Google Shape;165;p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8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hite">
  <p:cSld name="Empty White">
    <p:bg>
      <p:bgPr>
        <a:solidFill>
          <a:schemeClr val="l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Black">
  <p:cSld name="Empty Black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+ Q&amp;A">
  <p:cSld name="Thank you + Q&amp;A">
    <p:bg>
      <p:bgPr>
        <a:solidFill>
          <a:srgbClr val="B4B4B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532192" y="1567205"/>
            <a:ext cx="2474929" cy="65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0" i="0" u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100"/>
          </a:p>
        </p:txBody>
      </p:sp>
      <p:sp>
        <p:nvSpPr>
          <p:cNvPr id="174" name="Google Shape;174;p31"/>
          <p:cNvSpPr/>
          <p:nvPr/>
        </p:nvSpPr>
        <p:spPr>
          <a:xfrm>
            <a:off x="5152847" y="1180109"/>
            <a:ext cx="2574971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72575" tIns="72575" rIns="72575" bIns="72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545468" y="1591635"/>
            <a:ext cx="1160552" cy="61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>
                <a:solidFill>
                  <a:srgbClr val="B4B4B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10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1823463" y="163206"/>
            <a:ext cx="1581803" cy="342091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5653731" y="1653177"/>
            <a:ext cx="3490269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17" y="212211"/>
            <a:ext cx="1325873" cy="220982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6116" y="2336781"/>
            <a:ext cx="4571806" cy="285742"/>
          </a:xfrm>
        </p:spPr>
        <p:txBody>
          <a:bodyPr lIns="0" tIns="0" rIns="0" bIns="0" anchor="b"/>
          <a:lstStyle>
            <a:lvl1pPr marL="0" indent="0" algn="l">
              <a:buNone/>
              <a:defRPr sz="1905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0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86114" y="1391112"/>
            <a:ext cx="8000661" cy="857227"/>
          </a:xfrm>
        </p:spPr>
        <p:txBody>
          <a:bodyPr anchor="t"/>
          <a:lstStyle>
            <a:lvl1pPr>
              <a:defRPr sz="2857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7461812" y="2614218"/>
            <a:ext cx="1213082" cy="121306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7104883" y="2891495"/>
            <a:ext cx="646330" cy="662603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1340" y="2434955"/>
            <a:ext cx="1836545" cy="157605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5890" y="4503916"/>
            <a:ext cx="260270" cy="223355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2963" y="4258967"/>
            <a:ext cx="223066" cy="18350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06364" y="4781048"/>
            <a:ext cx="256264" cy="1772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6949011" y="4480217"/>
            <a:ext cx="1657353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7360137" y="4233920"/>
            <a:ext cx="1246227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6573881" y="4726513"/>
            <a:ext cx="2032482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286115" y="4412057"/>
            <a:ext cx="4538555" cy="53911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5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29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429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429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116" y="2913663"/>
            <a:ext cx="4571806" cy="1285416"/>
          </a:xfrm>
        </p:spPr>
        <p:txBody>
          <a:bodyPr/>
          <a:lstStyle>
            <a:lvl1pPr marL="0" indent="0">
              <a:buNone/>
              <a:defRPr sz="1587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964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9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708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20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4757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849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80660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8000661" cy="2000196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7377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37708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8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4543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5905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67356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0763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1096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0763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41096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845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32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748937" y="3922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04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1172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07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839" y="284194"/>
            <a:ext cx="8000663" cy="47147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23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608599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813731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22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70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532190" y="1567205"/>
            <a:ext cx="2474926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1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5152842" y="1180109"/>
            <a:ext cx="2574968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72566" tIns="72566" rIns="72566" bIns="7256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1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5545462" y="1591634"/>
            <a:ext cx="1160551" cy="62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2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895371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9" y="135245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1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192" lvl="0" indent="-33654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384" lvl="1" indent="-31749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576" lvl="2" indent="-31114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768" lvl="3" indent="-285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5960" lvl="4" indent="-27939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153" lvl="5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44" lvl="6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36" lvl="7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729" lvl="8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273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image" Target="../media/image11.svg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5400000">
            <a:off x="8255518" y="5"/>
            <a:ext cx="888498" cy="888486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37378" y="74351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613176" y="37215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" name="Google Shape;55;p13"/>
          <p:cNvSpPr/>
          <p:nvPr/>
        </p:nvSpPr>
        <p:spPr>
          <a:xfrm rot="2700024">
            <a:off x="8314439" y="285449"/>
            <a:ext cx="284473" cy="28447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6" name="Google Shape;56;p13"/>
          <p:cNvSpPr/>
          <p:nvPr/>
        </p:nvSpPr>
        <p:spPr>
          <a:xfrm rot="2700024">
            <a:off x="8466252" y="172389"/>
            <a:ext cx="510593" cy="51059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2290" y="111860"/>
            <a:ext cx="736049" cy="63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1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378" y="4887852"/>
            <a:ext cx="877914" cy="146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1218693" y="4855937"/>
            <a:ext cx="1063846" cy="230074"/>
            <a:chOff x="3645356" y="188193"/>
            <a:chExt cx="5677387" cy="1227805"/>
          </a:xfrm>
        </p:grpSpPr>
        <p:pic>
          <p:nvPicPr>
            <p:cNvPr id="60" name="Google Shape;60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8255509" y="5"/>
            <a:ext cx="888498" cy="888485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377" y="743510"/>
            <a:ext cx="8000663" cy="41432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5613169" y="3721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8314429" y="285451"/>
            <a:ext cx="284475" cy="28447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8466240" y="172391"/>
            <a:ext cx="510597" cy="5105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02281" y="111861"/>
            <a:ext cx="736048" cy="63165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37378" y="4887852"/>
            <a:ext cx="877913" cy="1463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1218691" y="4855937"/>
            <a:ext cx="1063845" cy="230074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2696" y="4871789"/>
            <a:ext cx="5429020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QuantSparse 3D - Bowen Wang, Paul Scheffler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781" y="4871177"/>
            <a:ext cx="428607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</p:sldLayoutIdLst>
  <p:hf hdr="0" ftr="0"/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2857" b="0" i="0" kern="1200" spc="-7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589" indent="-228589" algn="l" defTabSz="571464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400025" indent="-171442" algn="l" defTabSz="571464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58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571464" indent="-171442" algn="l" defTabSz="685770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429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742903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952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914342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873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188586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7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286116" y="2364675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286116" y="1382921"/>
            <a:ext cx="8000670" cy="83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QuantSparse 3D Biweekly 2025-12-</a:t>
            </a:r>
            <a:r>
              <a:rPr lang="en-US" dirty="0"/>
              <a:t>18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286116" y="295254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>
                <a:solidFill>
                  <a:srgbClr val="168638"/>
                </a:solidFill>
              </a:rPr>
              <a:t>          </a:t>
            </a:r>
            <a:r>
              <a:rPr lang="en">
                <a:solidFill>
                  <a:srgbClr val="000000"/>
                </a:solidFill>
              </a:rPr>
              <a:t>bowwang@iis.ee.ethz.ch</a:t>
            </a:r>
            <a:br>
              <a:rPr lang="en" b="1">
                <a:latin typeface="Calibri"/>
                <a:ea typeface="Calibri"/>
                <a:cs typeface="Calibri"/>
                <a:sym typeface="Calibri"/>
              </a:rPr>
            </a:br>
            <a:r>
              <a:rPr lang="en" b="1">
                <a:latin typeface="Calibri"/>
                <a:ea typeface="Calibri"/>
                <a:cs typeface="Calibri"/>
                <a:sym typeface="Calibri"/>
              </a:rPr>
              <a:t>Paul Scheffler</a:t>
            </a:r>
            <a:r>
              <a:rPr lang="en"/>
              <a:t>         </a:t>
            </a:r>
            <a:r>
              <a:rPr lang="en">
                <a:solidFill>
                  <a:schemeClr val="dk1"/>
                </a:solidFill>
              </a:rPr>
              <a:t>paulsc@iis.ee.ethz.ch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/>
              <a:t>             </a:t>
            </a:r>
            <a:r>
              <a:rPr lang="en">
                <a:solidFill>
                  <a:schemeClr val="dk1"/>
                </a:solidFill>
              </a:rPr>
              <a:t>lbenini@iis.ee.ethz.ch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237376" y="2165447"/>
            <a:ext cx="8000672" cy="270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Progress Update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Ventaglio – Scatter and gather </a:t>
            </a:r>
            <a:r>
              <a:rPr lang="en" b="1" dirty="0" err="1"/>
              <a:t>datapath</a:t>
            </a:r>
            <a:endParaRPr lang="en" b="1" dirty="0"/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-US" b="1" dirty="0"/>
              <a:t>3D architectural modeling</a:t>
            </a:r>
            <a:endParaRPr lang="en-US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dirty="0"/>
              <a:t>Timeline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QuantSparse 3D - Bowen Wang, Paul Scheffler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图片 5">
            <a:extLst>
              <a:ext uri="{FF2B5EF4-FFF2-40B4-BE49-F238E27FC236}">
                <a16:creationId xmlns:a16="http://schemas.microsoft.com/office/drawing/2014/main" id="{9FC1C4D1-DFD0-711B-F068-3F3A83769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6068" y="905715"/>
            <a:ext cx="8571863" cy="1259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C603-D6C0-1565-E849-5245F12A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5DD3-6824-DB16-0F7B-B1692F0A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Spatz Requests Processing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46B76-4C18-4116-E10E-716239E881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3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032AC-9596-27B3-DBD2-69406D84E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4" y="657736"/>
            <a:ext cx="5155685" cy="4034914"/>
          </a:xfrm>
        </p:spPr>
        <p:txBody>
          <a:bodyPr/>
          <a:lstStyle/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Spatz controller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Maintains a </a:t>
            </a:r>
            <a:r>
              <a:rPr lang="en-US" altLang="zh-CN" sz="1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scoreboard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to track instruction dependencies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Resolves dependencies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between Spatz instructions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Manages instruction 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issuing and retirement</a:t>
            </a:r>
          </a:p>
          <a:p>
            <a:pPr lvl="2"/>
            <a:r>
              <a:rPr lang="en-US" altLang="zh-C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Upon receiving an offload request from Snitch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Decode the request; Enrich it with additional metadata to form a </a:t>
            </a:r>
            <a:r>
              <a:rPr lang="en-US" altLang="zh-CN" sz="12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Spatz request</a:t>
            </a:r>
          </a:p>
          <a:p>
            <a:pPr lvl="2"/>
            <a:r>
              <a:rPr lang="en-US" altLang="zh-C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Check the scoreboard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Register the instruction as in-flight; Update dependency state</a:t>
            </a:r>
          </a:p>
          <a:p>
            <a:pPr lvl="2"/>
            <a:r>
              <a:rPr lang="en-US" altLang="zh-CN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Broadcast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the Spatz request to </a:t>
            </a:r>
            <a:r>
              <a:rPr lang="en-US" altLang="zh-C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all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downstream units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Spatz function units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Filter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incoming Spatz requests based on matching </a:t>
            </a:r>
            <a:r>
              <a:rPr lang="en-US" altLang="zh-CN" sz="1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ex_unit</a:t>
            </a:r>
            <a:endParaRPr lang="en-US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  <a:sym typeface="Wingdings" pitchFamily="2" charset="2"/>
            </a:endParaRP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Process eligible requests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Each function unit exposes multiple memory </a:t>
            </a:r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master ports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to the </a:t>
            </a:r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VRF</a:t>
            </a:r>
            <a:br>
              <a:rPr lang="en-US" altLang="zh-CN" sz="1400" dirty="0">
                <a:solidFill>
                  <a:schemeClr val="accent1"/>
                </a:solidFill>
                <a:sym typeface="Wingdings" pitchFamily="2" charset="2"/>
              </a:rPr>
            </a:br>
            <a:endParaRPr lang="en-US" altLang="zh-CN" sz="1400" dirty="0">
              <a:solidFill>
                <a:schemeClr val="accent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55C2C1-F818-D7F7-30EE-A53E6CA843A8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8E70A2-2B2A-2992-E63E-07ED4B3CB0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92595" y="1274224"/>
            <a:ext cx="3695803" cy="232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6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450BD-A22F-D8F3-FB1B-DB14774FC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73ACD-0331-87A0-75B7-88E84096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Streamline Scatter/Gather Operations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749D3-D953-1625-8B07-E9370786DB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4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9F428-1AB9-ABD6-3C0A-17F4652CC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4" y="657736"/>
            <a:ext cx="5155685" cy="4034914"/>
          </a:xfrm>
        </p:spPr>
        <p:txBody>
          <a:bodyPr/>
          <a:lstStyle/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Bypassing VRF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Operands involved in scatter/gather operations should be accessed directly by the VPU, bypassing the VRF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High-level architectural changes</a:t>
            </a:r>
          </a:p>
          <a:p>
            <a:pPr lvl="2"/>
            <a:r>
              <a:rPr lang="en-US" altLang="zh-C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VTL: </a:t>
            </a:r>
            <a:b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1. 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Add an additional memory </a:t>
            </a:r>
            <a:r>
              <a:rPr lang="en-US" altLang="zh-C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slave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port (1R/1W)</a:t>
            </a:r>
          </a:p>
          <a:p>
            <a:pPr lvl="2"/>
            <a:r>
              <a:rPr lang="en-US" altLang="zh-C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Controller: </a:t>
            </a:r>
            <a:b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1. 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Introduce a </a:t>
            </a:r>
            <a:r>
              <a:rPr lang="en-US" altLang="zh-CN" sz="1200" b="1" dirty="0">
                <a:solidFill>
                  <a:srgbClr val="67AB9F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 table 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to decide whether a memory request should bypass the VRF. </a:t>
            </a:r>
            <a:r>
              <a:rPr lang="en-US" altLang="zh-CN" sz="12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(We configure a vector register that is mapped to the VTL memory unit)</a:t>
            </a:r>
            <a:b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2. 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Attach </a:t>
            </a:r>
            <a:r>
              <a:rPr lang="en-US" altLang="zh-C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 metadata 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to the Spatz request when bypassing is enabled</a:t>
            </a:r>
          </a:p>
          <a:p>
            <a:pPr lvl="2"/>
            <a:r>
              <a:rPr lang="en-US" altLang="zh-C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VRF: </a:t>
            </a:r>
            <a:b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1. 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Add one memory </a:t>
            </a:r>
            <a:r>
              <a:rPr lang="en-US" altLang="zh-C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master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port (1R/1W)</a:t>
            </a:r>
            <a:b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2. 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Forward selected memory requests to VTL</a:t>
            </a:r>
            <a:b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3. 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Enable </a:t>
            </a:r>
            <a:r>
              <a:rPr lang="en-US" altLang="zh-C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VLSU-generated memory requests </a:t>
            </a: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to bypass the VRF Vector load/store instructions can access VTL memory units directly</a:t>
            </a:r>
            <a:br>
              <a:rPr lang="en-US" altLang="zh-CN" sz="1400" dirty="0">
                <a:solidFill>
                  <a:schemeClr val="accent1"/>
                </a:solidFill>
                <a:sym typeface="Wingdings" pitchFamily="2" charset="2"/>
              </a:rPr>
            </a:br>
            <a:endParaRPr lang="en-US" altLang="zh-CN" sz="1400" dirty="0">
              <a:solidFill>
                <a:schemeClr val="accent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5024AB2-92ED-3C0F-9BB4-BFA66EAAA53B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37598E-9BC1-6638-0F85-E7BECE8966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99290" y="1274224"/>
            <a:ext cx="3682412" cy="232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05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D4FD9-D828-C2A1-1920-7F345B68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319B7-70C8-94D3-8FDF-33E051D58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Custom Instructions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6FC4D-A0F1-9B9D-F129-05E4463548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5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D7B38-4076-BD7E-6025-E5C401D7E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4" y="537085"/>
            <a:ext cx="5155685" cy="4213441"/>
          </a:xfrm>
        </p:spPr>
        <p:txBody>
          <a:bodyPr/>
          <a:lstStyle/>
          <a:p>
            <a:pPr marL="120648" indent="0">
              <a:buNone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Vector load index </a:t>
            </a:r>
            <a:r>
              <a:rPr lang="en-US" altLang="zh-CN" sz="14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(</a:t>
            </a:r>
            <a:r>
              <a:rPr lang="en-US" altLang="zh-CN" sz="14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</a:t>
            </a:r>
            <a:r>
              <a:rPr lang="en-US" altLang="zh-CN" sz="1400" b="0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x</a:t>
            </a:r>
            <a:r>
              <a:rPr lang="en-US" altLang="zh-CN" sz="14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.v</a:t>
            </a:r>
            <a:r>
              <a:rPr lang="en-US" altLang="zh-CN" sz="14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altLang="zh-CN" sz="14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vd</a:t>
            </a:r>
            <a:r>
              <a:rPr lang="en-US" altLang="zh-CN" sz="14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)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Reuse a 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vacant VRF slot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to store index vectors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Index element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bitwidth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is configured ahead of execution</a:t>
            </a:r>
            <a:b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No need to specify SEW in the instruction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Vector length </a:t>
            </a:r>
            <a:r>
              <a:rPr lang="en-US" altLang="zh-CN" sz="1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for the load/store is inferred by the controller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 </a:t>
            </a:r>
            <a:r>
              <a:rPr lang="en-US" altLang="zh-CN" sz="1400" b="1" dirty="0">
                <a:solidFill>
                  <a:srgbClr val="67AB9F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 table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always maps </a:t>
            </a:r>
            <a:r>
              <a:rPr lang="en-US" altLang="zh-CN" sz="1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vd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to the VRF</a:t>
            </a:r>
          </a:p>
          <a:p>
            <a:pPr marL="120648" indent="0">
              <a:buNone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Indexed MACC operation </a:t>
            </a:r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</a:t>
            </a:r>
            <a:r>
              <a:rPr lang="en-US" altLang="zh-CN" sz="14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vf</a:t>
            </a:r>
            <a:r>
              <a:rPr lang="en-US" altLang="zh-CN" sz="1400" b="0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x</a:t>
            </a:r>
            <a:r>
              <a:rPr lang="en-US" altLang="zh-CN" sz="14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macc.vf</a:t>
            </a:r>
            <a:r>
              <a:rPr lang="en-US" altLang="zh-CN" sz="14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altLang="zh-CN" sz="14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vd</a:t>
            </a:r>
            <a:r>
              <a:rPr lang="en-US" altLang="zh-CN" sz="14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, rs1, vs2</a:t>
            </a:r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)</a:t>
            </a:r>
          </a:p>
          <a:p>
            <a:pPr lvl="1"/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 index vector </a:t>
            </a:r>
            <a:r>
              <a:rPr lang="en-US" altLang="zh-CN" sz="1387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implicitly shares the same VID </a:t>
            </a:r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as the vector register mapped to VTL</a:t>
            </a:r>
            <a:b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Enables non-intrusive instruction encoding</a:t>
            </a:r>
          </a:p>
          <a:p>
            <a:pPr lvl="1"/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 controller attaches </a:t>
            </a:r>
            <a:r>
              <a:rPr lang="en-US" altLang="zh-CN" sz="1387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 metadata </a:t>
            </a:r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to enable bypass, gather, and scatter logic</a:t>
            </a:r>
          </a:p>
          <a:p>
            <a:pPr lvl="1"/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 generated Spatz request is also </a:t>
            </a:r>
            <a:r>
              <a:rPr lang="en-US" altLang="zh-CN" sz="1387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captured by VTL</a:t>
            </a:r>
          </a:p>
          <a:p>
            <a:pPr lvl="1"/>
            <a:r>
              <a:rPr lang="en-US" altLang="zh-CN" sz="1387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No changes required in the VPU. </a:t>
            </a:r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Still executes standard </a:t>
            </a:r>
            <a:r>
              <a:rPr lang="en-US" altLang="zh-CN" sz="1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vfmacc</a:t>
            </a:r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operations.</a:t>
            </a:r>
            <a:b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endParaRPr lang="en-US" altLang="zh-CN" sz="1400" dirty="0">
              <a:solidFill>
                <a:schemeClr val="accent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254358-0B29-61A4-A10D-024089C3AD58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41D42C-F0BA-D480-2BC8-37A0969B82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99290" y="1274224"/>
            <a:ext cx="3682412" cy="232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82D94-A0FD-DA88-DDD4-E1D72E28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C1787-1E54-6FEB-7A31-0BB70E6B2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VTL Implementation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CAA63-B7E3-7874-47CA-BEB937CF72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6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A689D-326E-2423-3159-400942571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4" y="692150"/>
            <a:ext cx="5155685" cy="4058376"/>
          </a:xfrm>
        </p:spPr>
        <p:txBody>
          <a:bodyPr/>
          <a:lstStyle/>
          <a:p>
            <a:pPr marL="120648" indent="0">
              <a:buNone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Memory Slave Port </a:t>
            </a:r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(Data Side)</a:t>
            </a:r>
            <a:endParaRPr lang="en-US" altLang="zh-CN" sz="1400" b="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  <a:sym typeface="Wingdings" pitchFamily="2" charset="2"/>
            </a:endParaRP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Vector load/store instructions </a:t>
            </a:r>
            <a:r>
              <a:rPr lang="en-US" altLang="zh-CN" sz="1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bypass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the scatter/gather datapath  Access memory units directly</a:t>
            </a:r>
          </a:p>
          <a:p>
            <a:pPr lvl="1"/>
            <a:r>
              <a:rPr lang="en-US" altLang="zh-CN" sz="12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vfxmacc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instruction </a:t>
            </a:r>
            <a:r>
              <a:rPr lang="en-US" altLang="zh-CN" sz="1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enables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the scatter/gather datapath  Supplies effective elements to the VPU</a:t>
            </a:r>
          </a:p>
          <a:p>
            <a:pPr marL="120648" indent="0">
              <a:buNone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Memory Master Port </a:t>
            </a:r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(Index Side) </a:t>
            </a:r>
          </a:p>
          <a:p>
            <a:pPr lvl="1"/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Read index vectors from the corresponding VRF slots</a:t>
            </a:r>
          </a:p>
          <a:p>
            <a:pPr lvl="1"/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Due to </a:t>
            </a:r>
            <a:r>
              <a:rPr lang="en-US" altLang="zh-CN" sz="1387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bitwidth</a:t>
            </a:r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mismatch, the master read port operates at a </a:t>
            </a:r>
            <a:r>
              <a:rPr lang="en-US" altLang="zh-CN" sz="1387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much lower frequency</a:t>
            </a:r>
          </a:p>
          <a:p>
            <a:pPr lvl="1"/>
            <a:r>
              <a:rPr lang="en-US" altLang="zh-CN" sz="1387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Index readback is buffered in a VLEN-bit index buffer</a:t>
            </a:r>
          </a:p>
          <a:p>
            <a:pPr marL="139698" indent="0">
              <a:buNone/>
            </a:pPr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Address Generation &amp; Scheduling</a:t>
            </a:r>
          </a:p>
          <a:p>
            <a:pPr marL="882640" lvl="1" indent="-285750"/>
            <a:r>
              <a:rPr lang="en-US" altLang="zh-CN" sz="1282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Coupled with a beat counter. </a:t>
            </a:r>
            <a:r>
              <a:rPr lang="en-US" altLang="zh-CN" sz="1282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Prefetches</a:t>
            </a:r>
            <a:r>
              <a:rPr lang="en-US" altLang="zh-CN" sz="1282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indices ahead of data consumption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F59C775-2520-8FF5-57BD-D9CFAC2CE55A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DB0D95-C8DC-4761-73C4-A4976788F3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38289" y="1045629"/>
            <a:ext cx="3671847" cy="324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23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893D5-E0FD-666B-6A7F-8FCB84BC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1CFB6-4E77-1004-A44E-DC703E5E2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Walk Through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41A8A-B090-3D9C-42D5-4C4C60A4FC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7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D93E50-F7C4-B9BB-EBB5-1AC3AAAAEC54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4107B5-97A4-B5DB-5F92-B5F7AD3F3D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89040" y="2166346"/>
            <a:ext cx="2992910" cy="26434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4A6861-A18C-09B7-1589-1FC9F055AE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57990" y="456474"/>
            <a:ext cx="2553499" cy="1610893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6903606-7C56-604E-3C79-2B7C87B30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97" y="1116153"/>
            <a:ext cx="3843303" cy="3142967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816B77-976A-8D09-0F84-99DE788EDE71}"/>
              </a:ext>
            </a:extLst>
          </p:cNvPr>
          <p:cNvSpPr/>
          <p:nvPr/>
        </p:nvSpPr>
        <p:spPr>
          <a:xfrm>
            <a:off x="8125114" y="919303"/>
            <a:ext cx="889000" cy="196850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i="0" cap="none" spc="0" dirty="0" err="1">
                <a:ln>
                  <a:noFill/>
                </a:ln>
                <a:solidFill>
                  <a:schemeClr val="bg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et_vtl</a:t>
            </a:r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C04932A-F092-2CC5-451F-1F941C9390A1}"/>
              </a:ext>
            </a:extLst>
          </p:cNvPr>
          <p:cNvSpPr/>
          <p:nvPr/>
        </p:nvSpPr>
        <p:spPr>
          <a:xfrm>
            <a:off x="8125114" y="1200339"/>
            <a:ext cx="889000" cy="19685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b="1" i="0" cap="none" spc="0" dirty="0" err="1">
                <a:ln>
                  <a:noFill/>
                </a:ln>
                <a:solidFill>
                  <a:schemeClr val="bg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lx.v</a:t>
            </a:r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B0E3506-E461-2ACA-807E-056E1E8BF7FD}"/>
              </a:ext>
            </a:extLst>
          </p:cNvPr>
          <p:cNvSpPr/>
          <p:nvPr/>
        </p:nvSpPr>
        <p:spPr>
          <a:xfrm>
            <a:off x="8125114" y="1481375"/>
            <a:ext cx="889000" cy="19685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b="1" i="0" cap="none" spc="0" dirty="0" err="1">
                <a:ln>
                  <a:noFill/>
                </a:ln>
                <a:solidFill>
                  <a:schemeClr val="bg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le.v</a:t>
            </a:r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D9F2CE4-E096-8DA2-B615-D58E0C391DAE}"/>
              </a:ext>
            </a:extLst>
          </p:cNvPr>
          <p:cNvSpPr/>
          <p:nvPr/>
        </p:nvSpPr>
        <p:spPr>
          <a:xfrm>
            <a:off x="8125114" y="1762411"/>
            <a:ext cx="889000" cy="19685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vfxmacc</a:t>
            </a:r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BA1C7B6-9158-CC66-C27D-92607D1A4782}"/>
              </a:ext>
            </a:extLst>
          </p:cNvPr>
          <p:cNvSpPr/>
          <p:nvPr/>
        </p:nvSpPr>
        <p:spPr>
          <a:xfrm>
            <a:off x="6551469" y="1873748"/>
            <a:ext cx="301336" cy="1710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A281E42-5D76-9B87-1766-9F06ED671503}"/>
              </a:ext>
            </a:extLst>
          </p:cNvPr>
          <p:cNvSpPr/>
          <p:nvPr/>
        </p:nvSpPr>
        <p:spPr>
          <a:xfrm>
            <a:off x="8125114" y="2043447"/>
            <a:ext cx="889000" cy="19685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vs</a:t>
            </a:r>
            <a:r>
              <a:rPr lang="en-US" b="1" i="0" cap="none" spc="0" dirty="0" err="1">
                <a:ln>
                  <a:noFill/>
                </a:ln>
                <a:solidFill>
                  <a:schemeClr val="bg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e.v</a:t>
            </a:r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1139C68-6FA7-AA30-1DAF-893CCB10C1A9}"/>
              </a:ext>
            </a:extLst>
          </p:cNvPr>
          <p:cNvSpPr/>
          <p:nvPr/>
        </p:nvSpPr>
        <p:spPr>
          <a:xfrm>
            <a:off x="6551469" y="1872421"/>
            <a:ext cx="301336" cy="17102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9395B420-0250-BE9F-7E33-A3CF0396B8D6}"/>
              </a:ext>
            </a:extLst>
          </p:cNvPr>
          <p:cNvSpPr/>
          <p:nvPr/>
        </p:nvSpPr>
        <p:spPr>
          <a:xfrm>
            <a:off x="267459" y="1761084"/>
            <a:ext cx="336486" cy="19685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5A896A09-0969-5A59-6C20-3B3D8A1969A1}"/>
              </a:ext>
            </a:extLst>
          </p:cNvPr>
          <p:cNvSpPr/>
          <p:nvPr/>
        </p:nvSpPr>
        <p:spPr>
          <a:xfrm>
            <a:off x="267459" y="3007872"/>
            <a:ext cx="336486" cy="19685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DB432EB7-D4E6-D252-E705-40185AC45D7E}"/>
              </a:ext>
            </a:extLst>
          </p:cNvPr>
          <p:cNvSpPr/>
          <p:nvPr/>
        </p:nvSpPr>
        <p:spPr>
          <a:xfrm>
            <a:off x="267459" y="3336846"/>
            <a:ext cx="336486" cy="19685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6646FE33-0383-B4FE-2429-4745B5E59427}"/>
              </a:ext>
            </a:extLst>
          </p:cNvPr>
          <p:cNvSpPr/>
          <p:nvPr/>
        </p:nvSpPr>
        <p:spPr>
          <a:xfrm>
            <a:off x="267459" y="3567395"/>
            <a:ext cx="336486" cy="19685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64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6423 0.0321 L -0.11076 0.03426 L -0.15156 0.03426 " pathEditMode="relative" ptsTypes="AAAA">
                                      <p:cBhvr>
                                        <p:cTn id="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"/>
                                            </p:cond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94 -0.02315 L -0.10798 -0.0213 L -0.10625 0.03333 L -0.14704 0.03518 L -0.146 0.07685 " pathEditMode="relative" ptsTypes="AAAAAA">
                                      <p:cBhvr>
                                        <p:cTn id="2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2"/>
                                            </p:cond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19753E-6 L -0.00278 -0.2324 L 0.025 -0.24876 " pathEditMode="relative" rAng="0" ptsTypes="AAA">
                                      <p:cBhvr>
                                        <p:cTn id="3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1" y="-124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972 -0.07562 L -0.11319 -0.07655 L -0.1092 -0.0213 L -0.14774 -0.02223 L -0.14774 0.00524 " pathEditMode="relative" ptsTypes="AAAAAA">
                                      <p:cBhvr>
                                        <p:cTn id="4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3"/>
                                            </p:cond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73 -0.05864 L -0.00694 -0.13055 L -0.02622 -0.13055 L -0.00799 -0.1287 L -0.00868 -0.22346 L -0.00747 -0.24568 " pathEditMode="relative" ptsTypes="AAAAAAA">
                                      <p:cBhvr>
                                        <p:cTn id="5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5695 -0.12901 L -0.10625 -0.12716 L -0.10486 -0.0716 L -0.27222 -0.07222 L -0.27222 -0.04938 " pathEditMode="relative" ptsTypes="AAAAAA">
                                      <p:cBhvr>
                                        <p:cTn id="6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4"/>
                                            </p:cond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5" grpId="0" animBg="1"/>
      <p:bldP spid="15" grpId="1" animBg="1"/>
      <p:bldP spid="17" grpId="0" animBg="1"/>
      <p:bldP spid="17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B50D3-8BD4-8654-DC1E-5F1D5A29E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F59BC-448E-CA63-8B45-BBE20E837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Walk Through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092EA-7921-D5D8-5EA5-79730AD6BF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8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C3B5DDC-05EB-2A30-F13D-600852D8EA88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959E10-4837-8112-AB16-DB4D29D3F5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89040" y="2166346"/>
            <a:ext cx="2992910" cy="26434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B3957D-380C-245F-D567-52F719A120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57990" y="456474"/>
            <a:ext cx="2553499" cy="1610893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697F2A9-426B-67A8-1077-5ED007F72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97" y="1116153"/>
            <a:ext cx="3843303" cy="3142967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638B692-FF5F-2FC6-34D6-1C4A9A419E53}"/>
              </a:ext>
            </a:extLst>
          </p:cNvPr>
          <p:cNvSpPr/>
          <p:nvPr/>
        </p:nvSpPr>
        <p:spPr>
          <a:xfrm>
            <a:off x="6758281" y="592009"/>
            <a:ext cx="301336" cy="1710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3AE95C1-4628-2751-AAD2-FD9CD301873A}"/>
              </a:ext>
            </a:extLst>
          </p:cNvPr>
          <p:cNvSpPr/>
          <p:nvPr/>
        </p:nvSpPr>
        <p:spPr>
          <a:xfrm>
            <a:off x="8125114" y="2043447"/>
            <a:ext cx="889000" cy="19685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vs</a:t>
            </a:r>
            <a:r>
              <a:rPr lang="en-US" b="1" i="0" cap="none" spc="0" dirty="0" err="1">
                <a:ln>
                  <a:noFill/>
                </a:ln>
                <a:solidFill>
                  <a:schemeClr val="bg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e.v</a:t>
            </a:r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5300918-E9BB-2907-300A-4D9A1D3ADC2B}"/>
              </a:ext>
            </a:extLst>
          </p:cNvPr>
          <p:cNvSpPr/>
          <p:nvPr/>
        </p:nvSpPr>
        <p:spPr>
          <a:xfrm>
            <a:off x="6400801" y="592009"/>
            <a:ext cx="301336" cy="17102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2DD7C0F-C131-9450-EF55-6D502AE44D35}"/>
              </a:ext>
            </a:extLst>
          </p:cNvPr>
          <p:cNvSpPr/>
          <p:nvPr/>
        </p:nvSpPr>
        <p:spPr>
          <a:xfrm>
            <a:off x="6250133" y="1601659"/>
            <a:ext cx="301336" cy="17102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E2C668-4E16-3E6C-D086-64C3BFBC27F1}"/>
              </a:ext>
            </a:extLst>
          </p:cNvPr>
          <p:cNvSpPr/>
          <p:nvPr/>
        </p:nvSpPr>
        <p:spPr>
          <a:xfrm>
            <a:off x="7410153" y="3235361"/>
            <a:ext cx="301336" cy="1710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449DE73-D9FB-DBB7-9F97-05E94696393E}"/>
              </a:ext>
            </a:extLst>
          </p:cNvPr>
          <p:cNvSpPr/>
          <p:nvPr/>
        </p:nvSpPr>
        <p:spPr>
          <a:xfrm>
            <a:off x="5816055" y="2763052"/>
            <a:ext cx="301336" cy="17102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F8DB237C-3AF1-E92A-A720-07AC3CE4F509}"/>
              </a:ext>
            </a:extLst>
          </p:cNvPr>
          <p:cNvSpPr/>
          <p:nvPr/>
        </p:nvSpPr>
        <p:spPr>
          <a:xfrm>
            <a:off x="267459" y="3567395"/>
            <a:ext cx="336486" cy="19685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68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3177 0.03395 L -0.09635 0.04598 C -0.09653 0.09784 -0.0967 0.14969 -0.0967 0.20185 " pathEditMode="relative" ptsTypes="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288 0.00278 C -0.04271 0.02254 -0.04253 0.0426 -0.04236 0.06266 L -0.12847 0.06173 C -0.12882 -0.0145 -0.12917 -0.09043 -0.12934 -0.16635 L -0.10729 -0.16388 C -0.10694 -0.10956 -0.1066 -0.05524 -0.10642 -0.00061 " pathEditMode="relative" ptsTypes="AAAAAAA">
                                      <p:cBhvr>
                                        <p:cTn id="2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1927 0.02901 L -0.12066 0.19321 L -0.08854 0.19228 " pathEditMode="relative" ptsTypes="AAAA">
                                      <p:cBhvr>
                                        <p:cTn id="2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3" grpId="0" animBg="1"/>
      <p:bldP spid="3" grpId="1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5522-DFD9-6946-2566-B4D5C946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1023E-2A56-F499-1117-5491310DE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Walk Through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692F2-9D60-1D02-7A3F-A91C93C18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9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C6B25A7-7C21-41B6-577D-C4B0FBCEB7E1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08A6B6-D818-26A1-EFC0-708F7617F7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89040" y="2166346"/>
            <a:ext cx="2992910" cy="26434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5D5E87-6AD4-4DD0-122E-9C195206EB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57990" y="456474"/>
            <a:ext cx="2553499" cy="1610893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E772ABB-D617-65F2-087C-54F5EFAB3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97" y="1116153"/>
            <a:ext cx="3843303" cy="3142967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0329045-79B7-92EB-AA86-1F4FF2F78845}"/>
              </a:ext>
            </a:extLst>
          </p:cNvPr>
          <p:cNvSpPr/>
          <p:nvPr/>
        </p:nvSpPr>
        <p:spPr>
          <a:xfrm>
            <a:off x="6197889" y="1623640"/>
            <a:ext cx="301336" cy="1710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49DB6D6-0941-3847-0657-717FCF0C0AFB}"/>
              </a:ext>
            </a:extLst>
          </p:cNvPr>
          <p:cNvSpPr/>
          <p:nvPr/>
        </p:nvSpPr>
        <p:spPr>
          <a:xfrm>
            <a:off x="8125114" y="2043447"/>
            <a:ext cx="889000" cy="19685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vs</a:t>
            </a:r>
            <a:r>
              <a:rPr lang="en-US" b="1" i="0" cap="none" spc="0" dirty="0" err="1">
                <a:ln>
                  <a:noFill/>
                </a:ln>
                <a:solidFill>
                  <a:schemeClr val="bg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e.v</a:t>
            </a:r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A1E0216-D858-C647-95F3-B7140B232EF8}"/>
              </a:ext>
            </a:extLst>
          </p:cNvPr>
          <p:cNvSpPr/>
          <p:nvPr/>
        </p:nvSpPr>
        <p:spPr>
          <a:xfrm>
            <a:off x="5482928" y="1623640"/>
            <a:ext cx="301336" cy="17102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15AE40-BFE1-7589-E9B9-1B6DAFE5B822}"/>
              </a:ext>
            </a:extLst>
          </p:cNvPr>
          <p:cNvSpPr/>
          <p:nvPr/>
        </p:nvSpPr>
        <p:spPr>
          <a:xfrm>
            <a:off x="7410153" y="3235361"/>
            <a:ext cx="301336" cy="1710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098D00A-C181-E0AC-A5B4-83B7F7A418B9}"/>
              </a:ext>
            </a:extLst>
          </p:cNvPr>
          <p:cNvSpPr/>
          <p:nvPr/>
        </p:nvSpPr>
        <p:spPr>
          <a:xfrm>
            <a:off x="6284071" y="4304829"/>
            <a:ext cx="301336" cy="17102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66DE8D3F-B81E-CFEB-F34A-6179C0273E5E}"/>
              </a:ext>
            </a:extLst>
          </p:cNvPr>
          <p:cNvSpPr/>
          <p:nvPr/>
        </p:nvSpPr>
        <p:spPr>
          <a:xfrm>
            <a:off x="267459" y="3567395"/>
            <a:ext cx="336486" cy="19685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713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84 -0.02654 C -0.01823 -0.07284 -0.01806 -0.11944 -0.01788 -0.16574 L -0.04149 -0.16821 C -0.04167 -0.09413 -0.04184 -0.01975 -0.04184 0.05463 L 0.04618 0.05988 C 0.04601 0.04043 0.04583 0.02099 0.04566 0.00154 " pathEditMode="relative" ptsTypes="AAA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F22C3-C347-BB42-993F-6240B41E9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E61A7-303D-81D0-E16E-3EC87F81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Walk Through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A90B7-E0FB-12BC-A1DB-8C6E6D4C51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10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8FA116B-A6E1-3A2F-6F42-3759C213B7A1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0FF6E7-69F6-C2AB-FC43-C2D3578D17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89040" y="2166346"/>
            <a:ext cx="2992910" cy="26434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042CA4-8C93-5AB2-38C6-A3CA055AD8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57990" y="456474"/>
            <a:ext cx="2553499" cy="1610893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F685356-5F0B-F475-61D3-5F56FF18A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97" y="1116153"/>
            <a:ext cx="3843303" cy="3142967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3BF0117-0995-7B05-C579-D9B3A7BC66F6}"/>
              </a:ext>
            </a:extLst>
          </p:cNvPr>
          <p:cNvSpPr/>
          <p:nvPr/>
        </p:nvSpPr>
        <p:spPr>
          <a:xfrm>
            <a:off x="6197889" y="1623640"/>
            <a:ext cx="301336" cy="1710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B1B06C6-E6E9-B2E9-145D-D26117AC9E74}"/>
              </a:ext>
            </a:extLst>
          </p:cNvPr>
          <p:cNvSpPr/>
          <p:nvPr/>
        </p:nvSpPr>
        <p:spPr>
          <a:xfrm>
            <a:off x="8125114" y="2043447"/>
            <a:ext cx="889000" cy="19685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vs</a:t>
            </a:r>
            <a:r>
              <a:rPr lang="en-US" b="1" i="0" cap="none" spc="0" dirty="0" err="1">
                <a:ln>
                  <a:noFill/>
                </a:ln>
                <a:solidFill>
                  <a:schemeClr val="bg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e.v</a:t>
            </a:r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6501499-A7C5-C474-8199-5DC117A90AEA}"/>
              </a:ext>
            </a:extLst>
          </p:cNvPr>
          <p:cNvSpPr/>
          <p:nvPr/>
        </p:nvSpPr>
        <p:spPr>
          <a:xfrm>
            <a:off x="5896553" y="1623640"/>
            <a:ext cx="301336" cy="17102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BFE46ED-9E16-D4A7-9C36-8FA4B0D6C3DD}"/>
              </a:ext>
            </a:extLst>
          </p:cNvPr>
          <p:cNvSpPr/>
          <p:nvPr/>
        </p:nvSpPr>
        <p:spPr>
          <a:xfrm>
            <a:off x="267459" y="3567395"/>
            <a:ext cx="336486" cy="19685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F75ACB0F-56ED-87AB-CDBE-3DF16222AD33}"/>
              </a:ext>
            </a:extLst>
          </p:cNvPr>
          <p:cNvSpPr/>
          <p:nvPr/>
        </p:nvSpPr>
        <p:spPr>
          <a:xfrm>
            <a:off x="267459" y="4009880"/>
            <a:ext cx="336486" cy="19685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37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7083 -0.18056 L -0.12031 -0.18056 L -0.11927 -0.12778 L -0.16111 -0.12685 L -0.16111 -0.08827 " pathEditMode="relative" ptsTypes="AAAAAA">
                                      <p:cBhvr>
                                        <p:cTn id="1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E4B5-9A54-9E72-ED3A-DA6A566FA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390B-CC41-74DF-F1A0-4DF0AD86E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Walk Through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65A13-0DC6-0DBE-FC98-8B07046374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11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BADEBE0-BCB7-2FFD-307E-B7D83F9B5F18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A7FEC8-4985-0CD0-18A1-2A56C81537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89040" y="2166346"/>
            <a:ext cx="2992910" cy="26434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2F8892-4E2B-6CE5-9823-944473065C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57990" y="456474"/>
            <a:ext cx="2553499" cy="1610893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2B5557E-C128-68E9-1807-E9561D8F7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97" y="1116153"/>
            <a:ext cx="3843303" cy="3142967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C4F60E4-911C-84E9-5B97-9053BB28D225}"/>
              </a:ext>
            </a:extLst>
          </p:cNvPr>
          <p:cNvSpPr/>
          <p:nvPr/>
        </p:nvSpPr>
        <p:spPr>
          <a:xfrm>
            <a:off x="6197889" y="1623640"/>
            <a:ext cx="301336" cy="1710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A95B960-6323-FB29-D003-BD0A65E60578}"/>
              </a:ext>
            </a:extLst>
          </p:cNvPr>
          <p:cNvSpPr/>
          <p:nvPr/>
        </p:nvSpPr>
        <p:spPr>
          <a:xfrm>
            <a:off x="5896553" y="1623640"/>
            <a:ext cx="301336" cy="17102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</a:t>
            </a:r>
            <a:endParaRPr lang="en-US" sz="1200" b="1" i="0" cap="none" spc="0" dirty="0">
              <a:ln>
                <a:noFill/>
              </a:ln>
              <a:solidFill>
                <a:schemeClr val="bg2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F725E74D-41EF-1CEF-19CD-F30B81121CC6}"/>
              </a:ext>
            </a:extLst>
          </p:cNvPr>
          <p:cNvSpPr/>
          <p:nvPr/>
        </p:nvSpPr>
        <p:spPr>
          <a:xfrm>
            <a:off x="267459" y="4009880"/>
            <a:ext cx="336486" cy="19685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42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156 0.05895 L -0.08698 0.05803 L -0.08698 -0.16759 L 0.06337 -0.17098 C 0.06372 -0.11543 0.06406 -0.05987 0.06441 -0.00432 C 0.06458 0.01821 0.06476 0.04074 0.06493 0.06328 " pathEditMode="relative" ptsTypes="AAA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8071D-8A12-7C61-5404-E3E316A09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DCA0D-B3D7-4704-0159-F6DC6412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Current Progress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70932-C3F3-8EAC-3936-EB47327ACE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12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06ACC-A938-35E8-2478-930A598D2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4" y="692150"/>
            <a:ext cx="5155685" cy="4058376"/>
          </a:xfrm>
        </p:spPr>
        <p:txBody>
          <a:bodyPr/>
          <a:lstStyle/>
          <a:p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First version RTL finished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Ventaglio is integrated in Spatz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Currently supports 2:4 format; more formats will be supported soon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Custom instructions functional verification done</a:t>
            </a:r>
          </a:p>
          <a:p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Baseline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kernel implementation done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Benchmark and performance analysis are ongoing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C96E0CD-41A7-9337-3B37-A781D2391C76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86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6C8D-3241-3176-9785-12B7A234F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Architectural Modeling: NoC Extension</a:t>
            </a:r>
            <a:endParaRPr lang="de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B6614-E564-BD87-1400-E38DC80F6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375" y="742930"/>
            <a:ext cx="4270672" cy="4143263"/>
          </a:xfrm>
        </p:spPr>
        <p:txBody>
          <a:bodyPr/>
          <a:lstStyle/>
          <a:p>
            <a:r>
              <a:rPr lang="en-US" sz="1600" dirty="0"/>
              <a:t>Extended FlooNoC model with z-axis routing</a:t>
            </a:r>
          </a:p>
          <a:p>
            <a:pPr lvl="1"/>
            <a:r>
              <a:rPr lang="en-US" sz="1400" dirty="0"/>
              <a:t>Fully parametric, backward-compatible</a:t>
            </a:r>
          </a:p>
          <a:p>
            <a:pPr lvl="1"/>
            <a:r>
              <a:rPr lang="en-US" sz="1400" dirty="0"/>
              <a:t>For axis-ordered routing: Z first</a:t>
            </a:r>
          </a:p>
          <a:p>
            <a:pPr lvl="1"/>
            <a:r>
              <a:rPr lang="en-US" sz="1400" dirty="0"/>
              <a:t>Verified in vanilla GVSoC</a:t>
            </a:r>
          </a:p>
          <a:p>
            <a:pPr>
              <a:spcBef>
                <a:spcPts val="1200"/>
              </a:spcBef>
            </a:pPr>
            <a:r>
              <a:rPr lang="en-US" sz="1600" dirty="0"/>
              <a:t>Currently: Implementing additional collectives features from SoftHier in 3D</a:t>
            </a:r>
          </a:p>
          <a:p>
            <a:pPr>
              <a:spcBef>
                <a:spcPts val="1200"/>
              </a:spcBef>
            </a:pPr>
            <a:r>
              <a:rPr lang="en-US" sz="1600" dirty="0"/>
              <a:t>Next: Explore heterogeneous 3D links,</a:t>
            </a:r>
            <a:br>
              <a:rPr lang="en-US" sz="1600" dirty="0"/>
            </a:br>
            <a:r>
              <a:rPr lang="en-US" sz="1600" dirty="0"/>
              <a:t>different inter-die topologies </a:t>
            </a:r>
          </a:p>
          <a:p>
            <a:pPr lvl="1"/>
            <a:r>
              <a:rPr lang="en-US" sz="1400" dirty="0"/>
              <a:t>Different Z throughput and bandwidth</a:t>
            </a:r>
          </a:p>
          <a:p>
            <a:pPr lvl="1"/>
            <a:r>
              <a:rPr lang="en-US" sz="1400" dirty="0"/>
              <a:t>Higher Z arity (more links)</a:t>
            </a:r>
          </a:p>
          <a:p>
            <a:pPr lvl="1"/>
            <a:r>
              <a:rPr lang="en-US" sz="1400" dirty="0"/>
              <a:t>Different Z connection topologies</a:t>
            </a:r>
          </a:p>
          <a:p>
            <a:pPr lvl="1"/>
            <a:endParaRPr lang="de-CH" sz="1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317DD-7E7D-618F-7E58-DD747F81D8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BE04668-1C0D-C439-1969-3C4F97C132FB}"/>
              </a:ext>
            </a:extLst>
          </p:cNvPr>
          <p:cNvGrpSpPr/>
          <p:nvPr/>
        </p:nvGrpSpPr>
        <p:grpSpPr>
          <a:xfrm>
            <a:off x="5221138" y="1086765"/>
            <a:ext cx="2958153" cy="1447448"/>
            <a:chOff x="5249005" y="1062083"/>
            <a:chExt cx="2958153" cy="1447448"/>
          </a:xfrm>
        </p:grpSpPr>
        <p:sp>
          <p:nvSpPr>
            <p:cNvPr id="27" name="Arrow: Left-Right 26">
              <a:extLst>
                <a:ext uri="{FF2B5EF4-FFF2-40B4-BE49-F238E27FC236}">
                  <a16:creationId xmlns:a16="http://schemas.microsoft.com/office/drawing/2014/main" id="{D057605C-6DE3-6FE8-E471-AA44830EF369}"/>
                </a:ext>
              </a:extLst>
            </p:cNvPr>
            <p:cNvSpPr/>
            <p:nvPr/>
          </p:nvSpPr>
          <p:spPr>
            <a:xfrm rot="16200000">
              <a:off x="6879245" y="2283883"/>
              <a:ext cx="260350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9" name="Arrow: Left-Right 28">
              <a:extLst>
                <a:ext uri="{FF2B5EF4-FFF2-40B4-BE49-F238E27FC236}">
                  <a16:creationId xmlns:a16="http://schemas.microsoft.com/office/drawing/2014/main" id="{2371D460-9C7B-8D2A-B5EE-AFC0005FC420}"/>
                </a:ext>
              </a:extLst>
            </p:cNvPr>
            <p:cNvSpPr/>
            <p:nvPr/>
          </p:nvSpPr>
          <p:spPr>
            <a:xfrm rot="16200000">
              <a:off x="7407371" y="1658612"/>
              <a:ext cx="260350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1" name="Arrow: Left-Right 30">
              <a:extLst>
                <a:ext uri="{FF2B5EF4-FFF2-40B4-BE49-F238E27FC236}">
                  <a16:creationId xmlns:a16="http://schemas.microsoft.com/office/drawing/2014/main" id="{9E6B1653-730F-3EB4-E132-788279CD8013}"/>
                </a:ext>
              </a:extLst>
            </p:cNvPr>
            <p:cNvSpPr/>
            <p:nvPr/>
          </p:nvSpPr>
          <p:spPr>
            <a:xfrm rot="16200000">
              <a:off x="6344325" y="1658611"/>
              <a:ext cx="260350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BE6124C-AB30-D4DD-3DAD-C44DEDD6070C}"/>
                </a:ext>
              </a:extLst>
            </p:cNvPr>
            <p:cNvSpPr/>
            <p:nvPr/>
          </p:nvSpPr>
          <p:spPr>
            <a:xfrm>
              <a:off x="6467882" y="1890582"/>
              <a:ext cx="1060450" cy="406400"/>
            </a:xfrm>
            <a:prstGeom prst="parallelogram">
              <a:avLst>
                <a:gd name="adj" fmla="val 87224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i="1" dirty="0">
                  <a:solidFill>
                    <a:schemeClr val="tx2"/>
                  </a:solidFill>
                </a:rPr>
                <a:t>R</a:t>
              </a:r>
              <a:endParaRPr lang="de-CH" sz="1200" b="1" i="1" dirty="0">
                <a:solidFill>
                  <a:schemeClr val="tx2"/>
                </a:solidFill>
              </a:endParaRP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F58209-9D06-EBE9-8B5D-713DA93459E5}"/>
                </a:ext>
              </a:extLst>
            </p:cNvPr>
            <p:cNvSpPr/>
            <p:nvPr/>
          </p:nvSpPr>
          <p:spPr>
            <a:xfrm>
              <a:off x="6998107" y="1274632"/>
              <a:ext cx="1060450" cy="406400"/>
            </a:xfrm>
            <a:prstGeom prst="parallelogram">
              <a:avLst>
                <a:gd name="adj" fmla="val 87224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i="1" dirty="0">
                  <a:solidFill>
                    <a:schemeClr val="tx2"/>
                  </a:solidFill>
                </a:rPr>
                <a:t>R</a:t>
              </a:r>
              <a:endParaRPr lang="de-CH" sz="1200" b="1" i="1" dirty="0">
                <a:solidFill>
                  <a:schemeClr val="tx2"/>
                </a:solidFill>
              </a:endParaRP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3492312-2998-1BD1-62C9-34A55C00FD10}"/>
                </a:ext>
              </a:extLst>
            </p:cNvPr>
            <p:cNvSpPr/>
            <p:nvPr/>
          </p:nvSpPr>
          <p:spPr>
            <a:xfrm>
              <a:off x="5937657" y="1274632"/>
              <a:ext cx="1060450" cy="406400"/>
            </a:xfrm>
            <a:prstGeom prst="parallelogram">
              <a:avLst>
                <a:gd name="adj" fmla="val 87224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i="1" dirty="0">
                  <a:solidFill>
                    <a:schemeClr val="tx2"/>
                  </a:solidFill>
                </a:rPr>
                <a:t>R</a:t>
              </a:r>
              <a:endParaRPr lang="de-CH" sz="1200" b="1" i="1" dirty="0">
                <a:solidFill>
                  <a:schemeClr val="tx2"/>
                </a:solidFill>
              </a:endParaRPr>
            </a:p>
          </p:txBody>
        </p:sp>
        <p:sp>
          <p:nvSpPr>
            <p:cNvPr id="13" name="Arrow: Left-Right 12">
              <a:extLst>
                <a:ext uri="{FF2B5EF4-FFF2-40B4-BE49-F238E27FC236}">
                  <a16:creationId xmlns:a16="http://schemas.microsoft.com/office/drawing/2014/main" id="{646514B4-E24D-EA56-593C-3C29C1300F4B}"/>
                </a:ext>
              </a:extLst>
            </p:cNvPr>
            <p:cNvSpPr/>
            <p:nvPr/>
          </p:nvSpPr>
          <p:spPr>
            <a:xfrm>
              <a:off x="6867932" y="1428222"/>
              <a:ext cx="260350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chemeClr val="tx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5" name="Arrow: Left-Right 14">
              <a:extLst>
                <a:ext uri="{FF2B5EF4-FFF2-40B4-BE49-F238E27FC236}">
                  <a16:creationId xmlns:a16="http://schemas.microsoft.com/office/drawing/2014/main" id="{BA82CCD0-AF2C-0733-EC6B-EB17FFA6F1E6}"/>
                </a:ext>
              </a:extLst>
            </p:cNvPr>
            <p:cNvSpPr/>
            <p:nvPr/>
          </p:nvSpPr>
          <p:spPr>
            <a:xfrm rot="18765904">
              <a:off x="7133259" y="1736197"/>
              <a:ext cx="206286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chemeClr val="tx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7" name="Arrow: Left-Right 16">
              <a:extLst>
                <a:ext uri="{FF2B5EF4-FFF2-40B4-BE49-F238E27FC236}">
                  <a16:creationId xmlns:a16="http://schemas.microsoft.com/office/drawing/2014/main" id="{78ECC99F-F438-9783-0CCC-4DB8C682E050}"/>
                </a:ext>
              </a:extLst>
            </p:cNvPr>
            <p:cNvSpPr/>
            <p:nvPr/>
          </p:nvSpPr>
          <p:spPr>
            <a:xfrm rot="18765904">
              <a:off x="7688643" y="1115616"/>
              <a:ext cx="206286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chemeClr val="tx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8" name="Arrow: Left-Right 17">
              <a:extLst>
                <a:ext uri="{FF2B5EF4-FFF2-40B4-BE49-F238E27FC236}">
                  <a16:creationId xmlns:a16="http://schemas.microsoft.com/office/drawing/2014/main" id="{A5998FCC-6D45-7FC0-24C2-39A322428AAF}"/>
                </a:ext>
              </a:extLst>
            </p:cNvPr>
            <p:cNvSpPr/>
            <p:nvPr/>
          </p:nvSpPr>
          <p:spPr>
            <a:xfrm rot="18765904">
              <a:off x="6658242" y="2356778"/>
              <a:ext cx="206286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chemeClr val="tx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0" name="Arrow: Left-Right 19">
              <a:extLst>
                <a:ext uri="{FF2B5EF4-FFF2-40B4-BE49-F238E27FC236}">
                  <a16:creationId xmlns:a16="http://schemas.microsoft.com/office/drawing/2014/main" id="{1571C885-5D5B-564C-B652-2145EDCBF0BF}"/>
                </a:ext>
              </a:extLst>
            </p:cNvPr>
            <p:cNvSpPr/>
            <p:nvPr/>
          </p:nvSpPr>
          <p:spPr>
            <a:xfrm rot="18765904">
              <a:off x="6601369" y="1115616"/>
              <a:ext cx="206286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chemeClr val="tx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1" name="Arrow: Left-Right 20">
              <a:extLst>
                <a:ext uri="{FF2B5EF4-FFF2-40B4-BE49-F238E27FC236}">
                  <a16:creationId xmlns:a16="http://schemas.microsoft.com/office/drawing/2014/main" id="{3FACF3BE-74B3-3F52-9BFB-1C6F9F1F4FF3}"/>
                </a:ext>
              </a:extLst>
            </p:cNvPr>
            <p:cNvSpPr/>
            <p:nvPr/>
          </p:nvSpPr>
          <p:spPr>
            <a:xfrm>
              <a:off x="7946808" y="1428222"/>
              <a:ext cx="260350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chemeClr val="tx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2" name="Arrow: Left-Right 21">
              <a:extLst>
                <a:ext uri="{FF2B5EF4-FFF2-40B4-BE49-F238E27FC236}">
                  <a16:creationId xmlns:a16="http://schemas.microsoft.com/office/drawing/2014/main" id="{0CF9D185-BE74-8202-4E59-EA43841DD316}"/>
                </a:ext>
              </a:extLst>
            </p:cNvPr>
            <p:cNvSpPr/>
            <p:nvPr/>
          </p:nvSpPr>
          <p:spPr>
            <a:xfrm>
              <a:off x="5789056" y="1428221"/>
              <a:ext cx="260350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chemeClr val="tx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4" name="Arrow: Left-Right 23">
              <a:extLst>
                <a:ext uri="{FF2B5EF4-FFF2-40B4-BE49-F238E27FC236}">
                  <a16:creationId xmlns:a16="http://schemas.microsoft.com/office/drawing/2014/main" id="{6ECF6CCC-8093-0756-4D84-7839DDF063B8}"/>
                </a:ext>
              </a:extLst>
            </p:cNvPr>
            <p:cNvSpPr/>
            <p:nvPr/>
          </p:nvSpPr>
          <p:spPr>
            <a:xfrm>
              <a:off x="7424982" y="2044171"/>
              <a:ext cx="260350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chemeClr val="tx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6" name="Arrow: Left-Right 25">
              <a:extLst>
                <a:ext uri="{FF2B5EF4-FFF2-40B4-BE49-F238E27FC236}">
                  <a16:creationId xmlns:a16="http://schemas.microsoft.com/office/drawing/2014/main" id="{0B99FF56-439B-ABD9-187D-3EEC737820B7}"/>
                </a:ext>
              </a:extLst>
            </p:cNvPr>
            <p:cNvSpPr/>
            <p:nvPr/>
          </p:nvSpPr>
          <p:spPr>
            <a:xfrm rot="16200000">
              <a:off x="6879244" y="1840972"/>
              <a:ext cx="260350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28" name="Arrow: Left-Right 27">
              <a:extLst>
                <a:ext uri="{FF2B5EF4-FFF2-40B4-BE49-F238E27FC236}">
                  <a16:creationId xmlns:a16="http://schemas.microsoft.com/office/drawing/2014/main" id="{723DDE55-EB16-BABC-196D-1434C9F76352}"/>
                </a:ext>
              </a:extLst>
            </p:cNvPr>
            <p:cNvSpPr/>
            <p:nvPr/>
          </p:nvSpPr>
          <p:spPr>
            <a:xfrm rot="16200000">
              <a:off x="7407370" y="1215701"/>
              <a:ext cx="260350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30" name="Arrow: Left-Right 29">
              <a:extLst>
                <a:ext uri="{FF2B5EF4-FFF2-40B4-BE49-F238E27FC236}">
                  <a16:creationId xmlns:a16="http://schemas.microsoft.com/office/drawing/2014/main" id="{7AC7B5D3-1D56-18F4-9648-D46310B883D6}"/>
                </a:ext>
              </a:extLst>
            </p:cNvPr>
            <p:cNvSpPr/>
            <p:nvPr/>
          </p:nvSpPr>
          <p:spPr>
            <a:xfrm rot="16200000">
              <a:off x="6344324" y="1215700"/>
              <a:ext cx="260350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8D08587-A471-84EA-748A-6BBBC35DA609}"/>
                </a:ext>
              </a:extLst>
            </p:cNvPr>
            <p:cNvGrpSpPr/>
            <p:nvPr/>
          </p:nvGrpSpPr>
          <p:grpSpPr>
            <a:xfrm>
              <a:off x="5249005" y="1682664"/>
              <a:ext cx="1349052" cy="826867"/>
              <a:chOff x="5279895" y="1620882"/>
              <a:chExt cx="1349052" cy="826867"/>
            </a:xfrm>
          </p:grpSpPr>
          <p:sp>
            <p:nvSpPr>
              <p:cNvPr id="33" name="Arrow: Left-Right 32">
                <a:extLst>
                  <a:ext uri="{FF2B5EF4-FFF2-40B4-BE49-F238E27FC236}">
                    <a16:creationId xmlns:a16="http://schemas.microsoft.com/office/drawing/2014/main" id="{371BBF26-1A19-2856-CDDC-440D944C70F4}"/>
                  </a:ext>
                </a:extLst>
              </p:cNvPr>
              <p:cNvSpPr/>
              <p:nvPr/>
            </p:nvSpPr>
            <p:spPr>
              <a:xfrm rot="16200000">
                <a:off x="5843074" y="2222100"/>
                <a:ext cx="260350" cy="99219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" name="Parallelogram 6">
                <a:extLst>
                  <a:ext uri="{FF2B5EF4-FFF2-40B4-BE49-F238E27FC236}">
                    <a16:creationId xmlns:a16="http://schemas.microsoft.com/office/drawing/2014/main" id="{13363709-2751-912F-A615-2381907A2078}"/>
                  </a:ext>
                </a:extLst>
              </p:cNvPr>
              <p:cNvSpPr/>
              <p:nvPr/>
            </p:nvSpPr>
            <p:spPr>
              <a:xfrm>
                <a:off x="5438322" y="1828800"/>
                <a:ext cx="1060450" cy="406400"/>
              </a:xfrm>
              <a:prstGeom prst="parallelogram">
                <a:avLst>
                  <a:gd name="adj" fmla="val 87224"/>
                </a:avLst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i="1" dirty="0">
                    <a:solidFill>
                      <a:schemeClr val="tx2"/>
                    </a:solidFill>
                  </a:rPr>
                  <a:t>R</a:t>
                </a:r>
                <a:endParaRPr lang="de-CH" sz="1200" b="1" i="1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12" name="Arrow: Left-Right 11">
                <a:extLst>
                  <a:ext uri="{FF2B5EF4-FFF2-40B4-BE49-F238E27FC236}">
                    <a16:creationId xmlns:a16="http://schemas.microsoft.com/office/drawing/2014/main" id="{6D3C7234-EB28-10E3-D5F9-8788B8B267AC}"/>
                  </a:ext>
                </a:extLst>
              </p:cNvPr>
              <p:cNvSpPr/>
              <p:nvPr/>
            </p:nvSpPr>
            <p:spPr>
              <a:xfrm>
                <a:off x="6368597" y="1982390"/>
                <a:ext cx="260350" cy="99219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chemeClr val="tx2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6" name="Arrow: Left-Right 15">
                <a:extLst>
                  <a:ext uri="{FF2B5EF4-FFF2-40B4-BE49-F238E27FC236}">
                    <a16:creationId xmlns:a16="http://schemas.microsoft.com/office/drawing/2014/main" id="{04D1249E-A6FB-31C2-4E54-52262544D077}"/>
                  </a:ext>
                </a:extLst>
              </p:cNvPr>
              <p:cNvSpPr/>
              <p:nvPr/>
            </p:nvSpPr>
            <p:spPr>
              <a:xfrm rot="18765904">
                <a:off x="6132174" y="1674415"/>
                <a:ext cx="206286" cy="99219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chemeClr val="tx2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19" name="Arrow: Left-Right 18">
                <a:extLst>
                  <a:ext uri="{FF2B5EF4-FFF2-40B4-BE49-F238E27FC236}">
                    <a16:creationId xmlns:a16="http://schemas.microsoft.com/office/drawing/2014/main" id="{3762F5A3-5324-E746-6525-AFC53CAD9F2D}"/>
                  </a:ext>
                </a:extLst>
              </p:cNvPr>
              <p:cNvSpPr/>
              <p:nvPr/>
            </p:nvSpPr>
            <p:spPr>
              <a:xfrm rot="18765904">
                <a:off x="5623918" y="2294996"/>
                <a:ext cx="206286" cy="99219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chemeClr val="tx2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23" name="Arrow: Left-Right 22">
                <a:extLst>
                  <a:ext uri="{FF2B5EF4-FFF2-40B4-BE49-F238E27FC236}">
                    <a16:creationId xmlns:a16="http://schemas.microsoft.com/office/drawing/2014/main" id="{5C07CD34-5959-AA0A-2709-9E259F1BF6BB}"/>
                  </a:ext>
                </a:extLst>
              </p:cNvPr>
              <p:cNvSpPr/>
              <p:nvPr/>
            </p:nvSpPr>
            <p:spPr>
              <a:xfrm>
                <a:off x="5279895" y="1982389"/>
                <a:ext cx="260350" cy="99219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chemeClr val="tx2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32" name="Arrow: Left-Right 31">
                <a:extLst>
                  <a:ext uri="{FF2B5EF4-FFF2-40B4-BE49-F238E27FC236}">
                    <a16:creationId xmlns:a16="http://schemas.microsoft.com/office/drawing/2014/main" id="{E0BE4C97-CDCC-0592-D3F4-6E060F734DD8}"/>
                  </a:ext>
                </a:extLst>
              </p:cNvPr>
              <p:cNvSpPr/>
              <p:nvPr/>
            </p:nvSpPr>
            <p:spPr>
              <a:xfrm rot="16200000">
                <a:off x="5843073" y="1779189"/>
                <a:ext cx="260350" cy="99219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F226D58-DFED-C48C-8E90-330F452EFAA0}"/>
              </a:ext>
            </a:extLst>
          </p:cNvPr>
          <p:cNvGrpSpPr/>
          <p:nvPr/>
        </p:nvGrpSpPr>
        <p:grpSpPr>
          <a:xfrm>
            <a:off x="4887324" y="3146536"/>
            <a:ext cx="1349052" cy="826867"/>
            <a:chOff x="5106727" y="3176124"/>
            <a:chExt cx="1349052" cy="826867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DB28D929-B88B-D2CC-D443-7DFA049CCF56}"/>
                </a:ext>
              </a:extLst>
            </p:cNvPr>
            <p:cNvGrpSpPr/>
            <p:nvPr/>
          </p:nvGrpSpPr>
          <p:grpSpPr>
            <a:xfrm>
              <a:off x="5457887" y="3471355"/>
              <a:ext cx="678931" cy="520700"/>
              <a:chOff x="5454712" y="3217357"/>
              <a:chExt cx="678931" cy="520700"/>
            </a:xfrm>
          </p:grpSpPr>
          <p:sp>
            <p:nvSpPr>
              <p:cNvPr id="62" name="Arrow: Left-Right 61">
                <a:extLst>
                  <a:ext uri="{FF2B5EF4-FFF2-40B4-BE49-F238E27FC236}">
                    <a16:creationId xmlns:a16="http://schemas.microsoft.com/office/drawing/2014/main" id="{6F04705A-BAB6-4CE6-CF32-C47806D7D67D}"/>
                  </a:ext>
                </a:extLst>
              </p:cNvPr>
              <p:cNvSpPr/>
              <p:nvPr/>
            </p:nvSpPr>
            <p:spPr>
              <a:xfrm rot="16200000">
                <a:off x="5975177" y="3319241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3" name="Arrow: Left-Right 62">
                <a:extLst>
                  <a:ext uri="{FF2B5EF4-FFF2-40B4-BE49-F238E27FC236}">
                    <a16:creationId xmlns:a16="http://schemas.microsoft.com/office/drawing/2014/main" id="{D3223687-3141-A440-0A2F-FB8986DA0EC5}"/>
                  </a:ext>
                </a:extLst>
              </p:cNvPr>
              <p:cNvSpPr/>
              <p:nvPr/>
            </p:nvSpPr>
            <p:spPr>
              <a:xfrm rot="16200000">
                <a:off x="5865181" y="3430535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4" name="Arrow: Left-Right 63">
                <a:extLst>
                  <a:ext uri="{FF2B5EF4-FFF2-40B4-BE49-F238E27FC236}">
                    <a16:creationId xmlns:a16="http://schemas.microsoft.com/office/drawing/2014/main" id="{97B6841C-575F-615D-FDAE-41015BC2C1C4}"/>
                  </a:ext>
                </a:extLst>
              </p:cNvPr>
              <p:cNvSpPr/>
              <p:nvPr/>
            </p:nvSpPr>
            <p:spPr>
              <a:xfrm rot="16200000">
                <a:off x="5764772" y="3568821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5" name="Arrow: Left-Right 64">
                <a:extLst>
                  <a:ext uri="{FF2B5EF4-FFF2-40B4-BE49-F238E27FC236}">
                    <a16:creationId xmlns:a16="http://schemas.microsoft.com/office/drawing/2014/main" id="{11FB2018-8679-99B1-3AA4-E289B489A361}"/>
                  </a:ext>
                </a:extLst>
              </p:cNvPr>
              <p:cNvSpPr/>
              <p:nvPr/>
            </p:nvSpPr>
            <p:spPr>
              <a:xfrm rot="16200000">
                <a:off x="5766018" y="3330011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6" name="Arrow: Left-Right 65">
                <a:extLst>
                  <a:ext uri="{FF2B5EF4-FFF2-40B4-BE49-F238E27FC236}">
                    <a16:creationId xmlns:a16="http://schemas.microsoft.com/office/drawing/2014/main" id="{A578C8FC-3203-916E-4E92-729C6DB63CC7}"/>
                  </a:ext>
                </a:extLst>
              </p:cNvPr>
              <p:cNvSpPr/>
              <p:nvPr/>
            </p:nvSpPr>
            <p:spPr>
              <a:xfrm rot="16200000">
                <a:off x="5656022" y="3441305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7" name="Arrow: Left-Right 66">
                <a:extLst>
                  <a:ext uri="{FF2B5EF4-FFF2-40B4-BE49-F238E27FC236}">
                    <a16:creationId xmlns:a16="http://schemas.microsoft.com/office/drawing/2014/main" id="{21413BAD-9FB2-4AC4-76EC-6E16045C1983}"/>
                  </a:ext>
                </a:extLst>
              </p:cNvPr>
              <p:cNvSpPr/>
              <p:nvPr/>
            </p:nvSpPr>
            <p:spPr>
              <a:xfrm rot="16200000">
                <a:off x="5555613" y="3579591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8" name="Arrow: Left-Right 67">
                <a:extLst>
                  <a:ext uri="{FF2B5EF4-FFF2-40B4-BE49-F238E27FC236}">
                    <a16:creationId xmlns:a16="http://schemas.microsoft.com/office/drawing/2014/main" id="{87C8785A-77DC-6A30-BA06-4A65BDBAEFA3}"/>
                  </a:ext>
                </a:extLst>
              </p:cNvPr>
              <p:cNvSpPr/>
              <p:nvPr/>
            </p:nvSpPr>
            <p:spPr>
              <a:xfrm rot="16200000">
                <a:off x="5563233" y="3330009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69" name="Arrow: Left-Right 68">
                <a:extLst>
                  <a:ext uri="{FF2B5EF4-FFF2-40B4-BE49-F238E27FC236}">
                    <a16:creationId xmlns:a16="http://schemas.microsoft.com/office/drawing/2014/main" id="{F04AD4A8-0FC5-2FEF-EB00-58E9D50FD2B2}"/>
                  </a:ext>
                </a:extLst>
              </p:cNvPr>
              <p:cNvSpPr/>
              <p:nvPr/>
            </p:nvSpPr>
            <p:spPr>
              <a:xfrm rot="16200000">
                <a:off x="5453237" y="3441303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70" name="Arrow: Left-Right 69">
                <a:extLst>
                  <a:ext uri="{FF2B5EF4-FFF2-40B4-BE49-F238E27FC236}">
                    <a16:creationId xmlns:a16="http://schemas.microsoft.com/office/drawing/2014/main" id="{6AF95750-7FE4-89E5-3FB6-C99DBA6EB343}"/>
                  </a:ext>
                </a:extLst>
              </p:cNvPr>
              <p:cNvSpPr/>
              <p:nvPr/>
            </p:nvSpPr>
            <p:spPr>
              <a:xfrm rot="16200000">
                <a:off x="5352828" y="3579589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CB788DBB-807A-9F09-1D85-B42E2D4B10D2}"/>
                </a:ext>
              </a:extLst>
            </p:cNvPr>
            <p:cNvSpPr/>
            <p:nvPr/>
          </p:nvSpPr>
          <p:spPr>
            <a:xfrm>
              <a:off x="5265154" y="3384042"/>
              <a:ext cx="1060450" cy="406400"/>
            </a:xfrm>
            <a:prstGeom prst="parallelogram">
              <a:avLst>
                <a:gd name="adj" fmla="val 87224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i="1" dirty="0">
                  <a:solidFill>
                    <a:schemeClr val="tx2"/>
                  </a:solidFill>
                </a:rPr>
                <a:t>R</a:t>
              </a:r>
              <a:endParaRPr lang="de-CH" sz="1200" b="1" i="1" dirty="0">
                <a:solidFill>
                  <a:schemeClr val="tx2"/>
                </a:solidFill>
              </a:endParaRPr>
            </a:p>
          </p:txBody>
        </p:sp>
        <p:sp>
          <p:nvSpPr>
            <p:cNvPr id="44" name="Arrow: Left-Right 43">
              <a:extLst>
                <a:ext uri="{FF2B5EF4-FFF2-40B4-BE49-F238E27FC236}">
                  <a16:creationId xmlns:a16="http://schemas.microsoft.com/office/drawing/2014/main" id="{8B210379-9AEE-3A92-1B76-67A3FAEBA992}"/>
                </a:ext>
              </a:extLst>
            </p:cNvPr>
            <p:cNvSpPr/>
            <p:nvPr/>
          </p:nvSpPr>
          <p:spPr>
            <a:xfrm>
              <a:off x="6195429" y="3537632"/>
              <a:ext cx="260350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chemeClr val="tx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5" name="Arrow: Left-Right 44">
              <a:extLst>
                <a:ext uri="{FF2B5EF4-FFF2-40B4-BE49-F238E27FC236}">
                  <a16:creationId xmlns:a16="http://schemas.microsoft.com/office/drawing/2014/main" id="{F5EE1EBA-10A6-6C50-555F-3EB66951A368}"/>
                </a:ext>
              </a:extLst>
            </p:cNvPr>
            <p:cNvSpPr/>
            <p:nvPr/>
          </p:nvSpPr>
          <p:spPr>
            <a:xfrm rot="18765904">
              <a:off x="5959006" y="3229657"/>
              <a:ext cx="206286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chemeClr val="tx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6" name="Arrow: Left-Right 45">
              <a:extLst>
                <a:ext uri="{FF2B5EF4-FFF2-40B4-BE49-F238E27FC236}">
                  <a16:creationId xmlns:a16="http://schemas.microsoft.com/office/drawing/2014/main" id="{E063F039-810B-9E2A-1651-A8F44D943655}"/>
                </a:ext>
              </a:extLst>
            </p:cNvPr>
            <p:cNvSpPr/>
            <p:nvPr/>
          </p:nvSpPr>
          <p:spPr>
            <a:xfrm rot="18765904">
              <a:off x="5450750" y="3850238"/>
              <a:ext cx="206286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chemeClr val="tx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47" name="Arrow: Left-Right 46">
              <a:extLst>
                <a:ext uri="{FF2B5EF4-FFF2-40B4-BE49-F238E27FC236}">
                  <a16:creationId xmlns:a16="http://schemas.microsoft.com/office/drawing/2014/main" id="{A12E94EE-B820-6A69-4464-D446394E788B}"/>
                </a:ext>
              </a:extLst>
            </p:cNvPr>
            <p:cNvSpPr/>
            <p:nvPr/>
          </p:nvSpPr>
          <p:spPr>
            <a:xfrm>
              <a:off x="5106727" y="3537631"/>
              <a:ext cx="260350" cy="99219"/>
            </a:xfrm>
            <a:prstGeom prst="leftRightArrow">
              <a:avLst>
                <a:gd name="adj1" fmla="val 65599"/>
                <a:gd name="adj2" fmla="val 50000"/>
              </a:avLst>
            </a:prstGeom>
            <a:solidFill>
              <a:schemeClr val="tx2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C37AD22-B5E0-1443-7BEB-BC578F6E560D}"/>
                </a:ext>
              </a:extLst>
            </p:cNvPr>
            <p:cNvGrpSpPr/>
            <p:nvPr/>
          </p:nvGrpSpPr>
          <p:grpSpPr>
            <a:xfrm>
              <a:off x="5454712" y="3217357"/>
              <a:ext cx="678931" cy="520700"/>
              <a:chOff x="5454712" y="3217357"/>
              <a:chExt cx="678931" cy="520700"/>
            </a:xfrm>
          </p:grpSpPr>
          <p:sp>
            <p:nvSpPr>
              <p:cNvPr id="50" name="Arrow: Left-Right 49">
                <a:extLst>
                  <a:ext uri="{FF2B5EF4-FFF2-40B4-BE49-F238E27FC236}">
                    <a16:creationId xmlns:a16="http://schemas.microsoft.com/office/drawing/2014/main" id="{8F749E72-4CC0-6EAF-A97F-AF8DE4E62775}"/>
                  </a:ext>
                </a:extLst>
              </p:cNvPr>
              <p:cNvSpPr/>
              <p:nvPr/>
            </p:nvSpPr>
            <p:spPr>
              <a:xfrm rot="16200000">
                <a:off x="5975177" y="3319241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1" name="Arrow: Left-Right 50">
                <a:extLst>
                  <a:ext uri="{FF2B5EF4-FFF2-40B4-BE49-F238E27FC236}">
                    <a16:creationId xmlns:a16="http://schemas.microsoft.com/office/drawing/2014/main" id="{2FEE8D37-FBFB-9440-D801-DF918FB03C68}"/>
                  </a:ext>
                </a:extLst>
              </p:cNvPr>
              <p:cNvSpPr/>
              <p:nvPr/>
            </p:nvSpPr>
            <p:spPr>
              <a:xfrm rot="16200000">
                <a:off x="5865181" y="3430535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2" name="Arrow: Left-Right 51">
                <a:extLst>
                  <a:ext uri="{FF2B5EF4-FFF2-40B4-BE49-F238E27FC236}">
                    <a16:creationId xmlns:a16="http://schemas.microsoft.com/office/drawing/2014/main" id="{F52E1525-1F8C-1E1C-37FD-0F433CA56C83}"/>
                  </a:ext>
                </a:extLst>
              </p:cNvPr>
              <p:cNvSpPr/>
              <p:nvPr/>
            </p:nvSpPr>
            <p:spPr>
              <a:xfrm rot="16200000">
                <a:off x="5764772" y="3568821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3" name="Arrow: Left-Right 52">
                <a:extLst>
                  <a:ext uri="{FF2B5EF4-FFF2-40B4-BE49-F238E27FC236}">
                    <a16:creationId xmlns:a16="http://schemas.microsoft.com/office/drawing/2014/main" id="{5C24D61D-7C7B-EB4B-1E84-AF3BF0C69D2C}"/>
                  </a:ext>
                </a:extLst>
              </p:cNvPr>
              <p:cNvSpPr/>
              <p:nvPr/>
            </p:nvSpPr>
            <p:spPr>
              <a:xfrm rot="16200000">
                <a:off x="5766018" y="3330011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4" name="Arrow: Left-Right 53">
                <a:extLst>
                  <a:ext uri="{FF2B5EF4-FFF2-40B4-BE49-F238E27FC236}">
                    <a16:creationId xmlns:a16="http://schemas.microsoft.com/office/drawing/2014/main" id="{B04F6DDB-554B-D1E0-5007-241F1B7DBD0F}"/>
                  </a:ext>
                </a:extLst>
              </p:cNvPr>
              <p:cNvSpPr/>
              <p:nvPr/>
            </p:nvSpPr>
            <p:spPr>
              <a:xfrm rot="16200000">
                <a:off x="5656022" y="3441305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5" name="Arrow: Left-Right 54">
                <a:extLst>
                  <a:ext uri="{FF2B5EF4-FFF2-40B4-BE49-F238E27FC236}">
                    <a16:creationId xmlns:a16="http://schemas.microsoft.com/office/drawing/2014/main" id="{6C31A97A-2BE0-2A6A-8611-84CCDDB2FEA6}"/>
                  </a:ext>
                </a:extLst>
              </p:cNvPr>
              <p:cNvSpPr/>
              <p:nvPr/>
            </p:nvSpPr>
            <p:spPr>
              <a:xfrm rot="16200000">
                <a:off x="5555613" y="3579591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6" name="Arrow: Left-Right 55">
                <a:extLst>
                  <a:ext uri="{FF2B5EF4-FFF2-40B4-BE49-F238E27FC236}">
                    <a16:creationId xmlns:a16="http://schemas.microsoft.com/office/drawing/2014/main" id="{056DEBAC-54EB-8345-5677-CE03372B19C1}"/>
                  </a:ext>
                </a:extLst>
              </p:cNvPr>
              <p:cNvSpPr/>
              <p:nvPr/>
            </p:nvSpPr>
            <p:spPr>
              <a:xfrm rot="16200000">
                <a:off x="5563233" y="3330009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7" name="Arrow: Left-Right 56">
                <a:extLst>
                  <a:ext uri="{FF2B5EF4-FFF2-40B4-BE49-F238E27FC236}">
                    <a16:creationId xmlns:a16="http://schemas.microsoft.com/office/drawing/2014/main" id="{F8AE5BDB-8DCA-557D-BD43-3529A000BC30}"/>
                  </a:ext>
                </a:extLst>
              </p:cNvPr>
              <p:cNvSpPr/>
              <p:nvPr/>
            </p:nvSpPr>
            <p:spPr>
              <a:xfrm rot="16200000">
                <a:off x="5453237" y="3441303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  <p:sp>
            <p:nvSpPr>
              <p:cNvPr id="58" name="Arrow: Left-Right 57">
                <a:extLst>
                  <a:ext uri="{FF2B5EF4-FFF2-40B4-BE49-F238E27FC236}">
                    <a16:creationId xmlns:a16="http://schemas.microsoft.com/office/drawing/2014/main" id="{0CD4231C-F996-5BA9-148C-4179D26667DF}"/>
                  </a:ext>
                </a:extLst>
              </p:cNvPr>
              <p:cNvSpPr/>
              <p:nvPr/>
            </p:nvSpPr>
            <p:spPr>
              <a:xfrm rot="16200000">
                <a:off x="5352828" y="3579589"/>
                <a:ext cx="260350" cy="56582"/>
              </a:xfrm>
              <a:prstGeom prst="leftRightArrow">
                <a:avLst>
                  <a:gd name="adj1" fmla="val 65599"/>
                  <a:gd name="adj2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E527543-7A78-EDFF-F83D-597CF9F1FDAE}"/>
              </a:ext>
            </a:extLst>
          </p:cNvPr>
          <p:cNvGrpSpPr/>
          <p:nvPr/>
        </p:nvGrpSpPr>
        <p:grpSpPr>
          <a:xfrm>
            <a:off x="6871852" y="2780276"/>
            <a:ext cx="1310876" cy="1545570"/>
            <a:chOff x="6871852" y="2780276"/>
            <a:chExt cx="1310876" cy="1545570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1157AB5B-1EF1-793E-B04C-28A352EA4F1A}"/>
                </a:ext>
              </a:extLst>
            </p:cNvPr>
            <p:cNvGrpSpPr/>
            <p:nvPr/>
          </p:nvGrpSpPr>
          <p:grpSpPr>
            <a:xfrm>
              <a:off x="6871852" y="3092828"/>
              <a:ext cx="1310876" cy="920464"/>
              <a:chOff x="6890777" y="3083663"/>
              <a:chExt cx="1310876" cy="920464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C9758878-85F2-493F-2181-363E08CA59D7}"/>
                  </a:ext>
                </a:extLst>
              </p:cNvPr>
              <p:cNvSpPr/>
              <p:nvPr/>
            </p:nvSpPr>
            <p:spPr>
              <a:xfrm>
                <a:off x="6894975" y="3795337"/>
                <a:ext cx="1306678" cy="20879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2"/>
                    </a:solidFill>
                  </a:rPr>
                  <a:t>logic die</a:t>
                </a:r>
                <a:endParaRPr lang="de-CH" sz="110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D2E6D6E-7B7C-CA3E-E688-8FC020D4F08F}"/>
                  </a:ext>
                </a:extLst>
              </p:cNvPr>
              <p:cNvSpPr/>
              <p:nvPr/>
            </p:nvSpPr>
            <p:spPr>
              <a:xfrm>
                <a:off x="6894975" y="3440867"/>
                <a:ext cx="1306678" cy="20879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A4ACAE2-C06F-0E41-C207-1A74A48F0F19}"/>
                  </a:ext>
                </a:extLst>
              </p:cNvPr>
              <p:cNvSpPr/>
              <p:nvPr/>
            </p:nvSpPr>
            <p:spPr>
              <a:xfrm>
                <a:off x="6890777" y="3083663"/>
                <a:ext cx="1306678" cy="20879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2"/>
                    </a:solidFill>
                  </a:rPr>
                  <a:t>logic die</a:t>
                </a:r>
                <a:endParaRPr lang="de-CH" sz="1100" dirty="0">
                  <a:solidFill>
                    <a:schemeClr val="tx2"/>
                  </a:solidFill>
                </a:endParaRP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B251BD47-D953-4399-9B1D-888906FB4565}"/>
                  </a:ext>
                </a:extLst>
              </p:cNvPr>
              <p:cNvCxnSpPr/>
              <p:nvPr/>
            </p:nvCxnSpPr>
            <p:spPr>
              <a:xfrm flipV="1">
                <a:off x="7029890" y="364965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98CB84F0-6CD0-E1F4-B38A-0C909AD50862}"/>
                  </a:ext>
                </a:extLst>
              </p:cNvPr>
              <p:cNvCxnSpPr/>
              <p:nvPr/>
            </p:nvCxnSpPr>
            <p:spPr>
              <a:xfrm flipV="1">
                <a:off x="7153591" y="364965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6D4233FF-900A-6B5E-41EF-69E75C364E1D}"/>
                  </a:ext>
                </a:extLst>
              </p:cNvPr>
              <p:cNvCxnSpPr/>
              <p:nvPr/>
            </p:nvCxnSpPr>
            <p:spPr>
              <a:xfrm flipV="1">
                <a:off x="7282179" y="364965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F4713B7F-8E65-9FC5-564A-2A211FE3F490}"/>
                  </a:ext>
                </a:extLst>
              </p:cNvPr>
              <p:cNvCxnSpPr/>
              <p:nvPr/>
            </p:nvCxnSpPr>
            <p:spPr>
              <a:xfrm flipV="1">
                <a:off x="7410767" y="364965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FF599DB5-439F-FBFE-2405-5FD79B1CD787}"/>
                  </a:ext>
                </a:extLst>
              </p:cNvPr>
              <p:cNvCxnSpPr/>
              <p:nvPr/>
            </p:nvCxnSpPr>
            <p:spPr>
              <a:xfrm flipV="1">
                <a:off x="7541386" y="364965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98DDC67A-9398-EE64-C475-6CD403AEF6A2}"/>
                  </a:ext>
                </a:extLst>
              </p:cNvPr>
              <p:cNvCxnSpPr/>
              <p:nvPr/>
            </p:nvCxnSpPr>
            <p:spPr>
              <a:xfrm flipV="1">
                <a:off x="7665087" y="364965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4C94F3F2-598A-6129-5A9F-486B0300E762}"/>
                  </a:ext>
                </a:extLst>
              </p:cNvPr>
              <p:cNvCxnSpPr/>
              <p:nvPr/>
            </p:nvCxnSpPr>
            <p:spPr>
              <a:xfrm flipV="1">
                <a:off x="7793675" y="364965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8CC1D4BE-1B03-66E0-15F0-6D16F1A3EBD9}"/>
                  </a:ext>
                </a:extLst>
              </p:cNvPr>
              <p:cNvCxnSpPr/>
              <p:nvPr/>
            </p:nvCxnSpPr>
            <p:spPr>
              <a:xfrm flipV="1">
                <a:off x="7922263" y="364965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61BAFA50-D534-27FA-E1F9-A28D8ABE360B}"/>
                  </a:ext>
                </a:extLst>
              </p:cNvPr>
              <p:cNvCxnSpPr/>
              <p:nvPr/>
            </p:nvCxnSpPr>
            <p:spPr>
              <a:xfrm flipV="1">
                <a:off x="8046684" y="364965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0FC39F5A-C636-3FC0-645D-929C22D7083D}"/>
                  </a:ext>
                </a:extLst>
              </p:cNvPr>
              <p:cNvCxnSpPr/>
              <p:nvPr/>
            </p:nvCxnSpPr>
            <p:spPr>
              <a:xfrm flipV="1">
                <a:off x="7029890" y="329518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E8E13850-B9D3-629E-A08E-C28B082D46DC}"/>
                  </a:ext>
                </a:extLst>
              </p:cNvPr>
              <p:cNvCxnSpPr/>
              <p:nvPr/>
            </p:nvCxnSpPr>
            <p:spPr>
              <a:xfrm flipV="1">
                <a:off x="7153591" y="329518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7CFF8680-AC46-DC4B-EAA5-45C27316A321}"/>
                  </a:ext>
                </a:extLst>
              </p:cNvPr>
              <p:cNvCxnSpPr/>
              <p:nvPr/>
            </p:nvCxnSpPr>
            <p:spPr>
              <a:xfrm flipV="1">
                <a:off x="7282179" y="329518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C2D6E934-AAE7-420D-8598-96C64AE3110A}"/>
                  </a:ext>
                </a:extLst>
              </p:cNvPr>
              <p:cNvCxnSpPr/>
              <p:nvPr/>
            </p:nvCxnSpPr>
            <p:spPr>
              <a:xfrm flipV="1">
                <a:off x="7410767" y="329518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CC90DCE3-D2FE-A52E-B08B-0CCF6CB89D5A}"/>
                  </a:ext>
                </a:extLst>
              </p:cNvPr>
              <p:cNvCxnSpPr/>
              <p:nvPr/>
            </p:nvCxnSpPr>
            <p:spPr>
              <a:xfrm flipV="1">
                <a:off x="7541386" y="329518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D67EE07B-870D-ACD0-40A6-7D1E87D5835A}"/>
                  </a:ext>
                </a:extLst>
              </p:cNvPr>
              <p:cNvCxnSpPr/>
              <p:nvPr/>
            </p:nvCxnSpPr>
            <p:spPr>
              <a:xfrm flipV="1">
                <a:off x="7665087" y="329518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42B5DC82-1B3C-5A11-7BBE-441BDD85350C}"/>
                  </a:ext>
                </a:extLst>
              </p:cNvPr>
              <p:cNvCxnSpPr/>
              <p:nvPr/>
            </p:nvCxnSpPr>
            <p:spPr>
              <a:xfrm flipV="1">
                <a:off x="7793675" y="329518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8C37F9F-5D1E-A674-185B-C8A922529A4A}"/>
                  </a:ext>
                </a:extLst>
              </p:cNvPr>
              <p:cNvCxnSpPr/>
              <p:nvPr/>
            </p:nvCxnSpPr>
            <p:spPr>
              <a:xfrm flipV="1">
                <a:off x="7922263" y="329518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78A3C2B5-CAB0-8BEB-6180-3775C30388B5}"/>
                  </a:ext>
                </a:extLst>
              </p:cNvPr>
              <p:cNvCxnSpPr/>
              <p:nvPr/>
            </p:nvCxnSpPr>
            <p:spPr>
              <a:xfrm flipV="1">
                <a:off x="8046684" y="3295187"/>
                <a:ext cx="0" cy="14568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B7788FE8-8312-093D-53CB-FA5F9BE2CA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25150" y="3485134"/>
                <a:ext cx="1020376" cy="12206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62FBF67A-C00E-202E-5384-78DFA08FFA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25150" y="3478955"/>
                <a:ext cx="1020376" cy="1282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A3D95B1-0DBA-908C-6A54-DA171F5A6B3F}"/>
                </a:ext>
              </a:extLst>
            </p:cNvPr>
            <p:cNvSpPr txBox="1"/>
            <p:nvPr/>
          </p:nvSpPr>
          <p:spPr>
            <a:xfrm rot="5400000">
              <a:off x="7429275" y="2793260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...</a:t>
              </a:r>
              <a:endParaRPr lang="de-CH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6E19D898-3335-9D99-56F3-3915BA520A89}"/>
                </a:ext>
              </a:extLst>
            </p:cNvPr>
            <p:cNvSpPr txBox="1"/>
            <p:nvPr/>
          </p:nvSpPr>
          <p:spPr>
            <a:xfrm rot="5400000">
              <a:off x="7429274" y="4005084"/>
              <a:ext cx="3337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...</a:t>
              </a:r>
              <a:endParaRPr lang="de-CH" dirty="0"/>
            </a:p>
          </p:txBody>
        </p:sp>
      </p:grpSp>
    </p:spTree>
    <p:extLst>
      <p:ext uri="{BB962C8B-B14F-4D97-AF65-F5344CB8AC3E}">
        <p14:creationId xmlns:p14="http://schemas.microsoft.com/office/powerpoint/2010/main" val="122957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8472</TotalTime>
  <Words>706</Words>
  <Application>Microsoft Macintosh PowerPoint</Application>
  <PresentationFormat>On-screen Show (16:9)</PresentationFormat>
  <Paragraphs>118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Wingdings</vt:lpstr>
      <vt:lpstr>Calibri Light</vt:lpstr>
      <vt:lpstr>Arial Narrow</vt:lpstr>
      <vt:lpstr>Calibri</vt:lpstr>
      <vt:lpstr>Consolas</vt:lpstr>
      <vt:lpstr>Arial</vt:lpstr>
      <vt:lpstr>Simple Light</vt:lpstr>
      <vt:lpstr>PULP Triangle</vt:lpstr>
      <vt:lpstr>1_PULP Triangle</vt:lpstr>
      <vt:lpstr>QuantSparse 3D Biweekly 2025-12-18</vt:lpstr>
      <vt:lpstr>Agenda</vt:lpstr>
      <vt:lpstr>Spatz Requests Processing</vt:lpstr>
      <vt:lpstr>Streamline Scatter/Gather Operations</vt:lpstr>
      <vt:lpstr>Custom Instructions</vt:lpstr>
      <vt:lpstr>VTL Implementation</vt:lpstr>
      <vt:lpstr>Example Walk Through</vt:lpstr>
      <vt:lpstr>Example Walk Through</vt:lpstr>
      <vt:lpstr>Example Walk Through</vt:lpstr>
      <vt:lpstr>Example Walk Through</vt:lpstr>
      <vt:lpstr>Example Walk Through</vt:lpstr>
      <vt:lpstr>Current Progress</vt:lpstr>
      <vt:lpstr>3D Architectural Modeling: NoC Extension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QuantSparse 3D Biweekly 2025-03-25</dc:title>
  <dc:creator>paulsc</dc:creator>
  <cp:lastModifiedBy>Wang, Bowen</cp:lastModifiedBy>
  <cp:revision>1063</cp:revision>
  <dcterms:modified xsi:type="dcterms:W3CDTF">2025-12-17T19:20:45Z</dcterms:modified>
</cp:coreProperties>
</file>