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2"/>
  </p:notesMasterIdLst>
  <p:sldIdLst>
    <p:sldId id="256" r:id="rId4"/>
    <p:sldId id="257" r:id="rId5"/>
    <p:sldId id="607" r:id="rId6"/>
    <p:sldId id="615" r:id="rId7"/>
    <p:sldId id="616" r:id="rId8"/>
    <p:sldId id="617" r:id="rId9"/>
    <p:sldId id="618" r:id="rId10"/>
    <p:sldId id="613" r:id="rId11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607"/>
            <p14:sldId id="615"/>
            <p14:sldId id="616"/>
            <p14:sldId id="617"/>
            <p14:sldId id="618"/>
            <p14:sldId id="6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FFA9"/>
    <a:srgbClr val="67AB9F"/>
    <a:srgbClr val="A7127A"/>
    <a:srgbClr val="037491"/>
    <a:srgbClr val="168638"/>
    <a:srgbClr val="A6CAEC"/>
    <a:srgbClr val="BA362D"/>
    <a:srgbClr val="BBA471"/>
    <a:srgbClr val="C45D57"/>
    <a:srgbClr val="4C7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58"/>
  </p:normalViewPr>
  <p:slideViewPr>
    <p:cSldViewPr snapToGrid="0">
      <p:cViewPr varScale="1">
        <p:scale>
          <a:sx n="160" d="100"/>
          <a:sy n="160" d="100"/>
        </p:scale>
        <p:origin x="14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2026-06-</a:t>
            </a:r>
            <a:r>
              <a:rPr lang="en-US" dirty="0"/>
              <a:t>25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dirty="0"/>
              <a:t>Sparsity handling in memory endpoints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dirty="0"/>
              <a:t>Ventaglio open-source release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80" y="905715"/>
            <a:ext cx="8571836" cy="12594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EE44-D9E2-9168-D039-2367A50A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A0770-6DE0-B3B4-F256-283FFA43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Handling Sparsity Beyond Core-level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6B099-9EDD-07C8-F02F-A183D35A83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99271-312B-38C3-FB6B-F2E11DF24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7650462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We handle fine-grained element-wise sparsity at core-level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for dual-sparsity at moderate-sparse regime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Unstructured extreme-sparse regime support under-developed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What is missing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 prefill stage: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matrix-matrix multiplication dominant </a:t>
            </a:r>
          </a:p>
          <a:p>
            <a:pPr lvl="2"/>
            <a:r>
              <a:rPr lang="en-US" altLang="zh-CN" b="1" dirty="0">
                <a:solidFill>
                  <a:schemeClr val="tx1"/>
                </a:solidFill>
                <a:sym typeface="Wingdings" pitchFamily="2" charset="2"/>
              </a:rPr>
              <a:t>compute-bound</a:t>
            </a:r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, sparsity translate to end-to-end speedup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 auto-regressive decoding stage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vector-level tensor contraction</a:t>
            </a:r>
          </a:p>
          <a:p>
            <a:pPr lvl="2"/>
            <a:r>
              <a:rPr lang="en-US" altLang="zh-CN" b="1" dirty="0">
                <a:solidFill>
                  <a:schemeClr val="tx1"/>
                </a:solidFill>
                <a:sym typeface="Wingdings" pitchFamily="2" charset="2"/>
              </a:rPr>
              <a:t>memory-bound</a:t>
            </a:r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, efficient sparsity handling in memory endpoints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Sparse attention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, </a:t>
            </a:r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vector quantization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induced codebook accesses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Vector-level gather from memory endpoint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CBCD94-0F6F-AE66-52F2-1AA4670E5ABF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6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7FC7-DEA8-B60A-FF6B-E83695018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8624-44FE-DC8B-97DA-C6D5799B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Sparse Pattern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620B-DF80-05FE-5724-378FBB2CD8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C36EC-4EAB-0E5D-2E6E-1ABAA6ECE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7650462" cy="275922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Sparse attention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What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to gather: KV cache entries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How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to gather: runtime generated indexing  core side generated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Access granularity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head dimension (128~512 elements) in multiple-GiB range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VQ codebook access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What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to gather: codebook entries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How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to gather: compile-time determined indexing  memory stored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Access granularity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4-16 elements in multiple-MiB range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7B8FB5-BB1D-398C-B843-1C10ED35C0D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59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DA44-5026-918E-610E-0D673EFB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5BB7-1472-BCBC-C2E4-5972F467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Memory-side Controller Extension for Sparsity Handling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D0D62-DD99-9AC6-771F-B5F6CC224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F52D4-24A1-2160-9D74-C66127C7F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438135" cy="275922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Key features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Decoupled core request and data movement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Semantic extension for native index handling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Accept index streams from both core and memory side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Narrow access coalescing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90006C-548B-E229-7B3E-34A35CA0CA4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09547-E5BF-B543-F774-BA84A0D00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269" y="1090372"/>
            <a:ext cx="4663129" cy="18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5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2032-C5E4-2908-8915-0F9BCD44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8819-CB69-3411-C9D7-DE824E38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AXI-Pack: Bus Packing for AXI4 Indirect Accesses</a:t>
            </a:r>
            <a:endParaRPr lang="en-US" i="1" baseline="30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D4945-887E-08C8-6FBC-AF27D83FC2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>
            <a:normAutofit/>
          </a:bodyPr>
          <a:lstStyle/>
          <a:p>
            <a:r>
              <a:rPr lang="en-US" altLang="zh-CN" sz="1400" b="0" dirty="0"/>
              <a:t>Target: memory-side index streams</a:t>
            </a:r>
          </a:p>
          <a:p>
            <a:r>
              <a:rPr lang="en-US" altLang="zh-CN" sz="1400" b="0" dirty="0"/>
              <a:t>Extends the request channels AR and AW with </a:t>
            </a:r>
            <a:r>
              <a:rPr lang="en-US" altLang="zh-CN" sz="1400" dirty="0"/>
              <a:t>user signals </a:t>
            </a:r>
            <a:r>
              <a:rPr lang="en-US" altLang="zh-CN" sz="1400" b="0" dirty="0"/>
              <a:t>to support packed irregular burst</a:t>
            </a:r>
          </a:p>
          <a:p>
            <a:pPr lvl="1"/>
            <a:r>
              <a:rPr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pack</a:t>
            </a:r>
            <a:r>
              <a:rPr lang="en-US" altLang="zh-CN" sz="1400" dirty="0"/>
              <a:t> bit indicates whether extension is enabled</a:t>
            </a:r>
          </a:p>
          <a:p>
            <a:pPr lvl="1"/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index size and base offset for indirect bursts</a:t>
            </a:r>
          </a:p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Controller architecture</a:t>
            </a:r>
          </a:p>
          <a:p>
            <a:pPr lvl="1"/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Adapter translates both regular and irregular bursts to sequences of </a:t>
            </a:r>
            <a:r>
              <a:rPr lang="en-US" altLang="zh-CN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 parallel word accesses</a:t>
            </a:r>
          </a:p>
          <a:p>
            <a:pPr lvl="1"/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Adapter forwards requests to converters for concurrent burst handling</a:t>
            </a:r>
          </a:p>
          <a:p>
            <a:pPr lvl="1"/>
            <a:r>
              <a:rPr lang="en-US" altLang="zh-CN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index stage 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fetches indices from memory </a:t>
            </a:r>
          </a:p>
          <a:p>
            <a:pPr lvl="1"/>
            <a:r>
              <a:rPr lang="en-US" altLang="zh-CN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element stage 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uses these indices to fetch indirect elements and pack them into R beats</a:t>
            </a:r>
          </a:p>
          <a:p>
            <a:pPr lvl="1"/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requested elements packed by a </a:t>
            </a:r>
            <a:r>
              <a:rPr lang="en-US" altLang="zh-CN" sz="1400" i="1" dirty="0">
                <a:latin typeface="Calibri" panose="020F0502020204030204" pitchFamily="34" charset="0"/>
                <a:cs typeface="Calibri" panose="020F0502020204030204" pitchFamily="34" charset="0"/>
              </a:rPr>
              <a:t>beat packer 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as specified by metadata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5A6D9-C9E5-CEA1-B739-E147A332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981" y="1057523"/>
            <a:ext cx="4228407" cy="134251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911D2-10C2-7720-4C87-9A1120CAE1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59781" y="4871177"/>
            <a:ext cx="428607" cy="228594"/>
          </a:xfrm>
        </p:spPr>
        <p:txBody>
          <a:bodyPr anchor="b">
            <a:normAutofit/>
          </a:bodyPr>
          <a:lstStyle/>
          <a:p>
            <a:pPr defTabSz="362880">
              <a:lnSpc>
                <a:spcPct val="90000"/>
              </a:lnSpc>
              <a:spcAft>
                <a:spcPts val="600"/>
              </a:spcAft>
              <a:buClrTx/>
            </a:pPr>
            <a:fld id="{00000000-1234-1234-1234-123412341234}" type="slidenum">
              <a:rPr lang="en" sz="900" kern="1200" smtClean="0"/>
              <a:pPr defTabSz="362880">
                <a:lnSpc>
                  <a:spcPct val="90000"/>
                </a:lnSpc>
                <a:spcAft>
                  <a:spcPts val="600"/>
                </a:spcAft>
                <a:buClrTx/>
              </a:pPr>
              <a:t>6</a:t>
            </a:fld>
            <a:endParaRPr lang="en" sz="900" kern="12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4EF8DF-AB3B-479B-B8C5-C2B9CB2CCE57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0AB830-E858-761C-0252-220C9D32D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273" y="2571750"/>
            <a:ext cx="1670774" cy="2178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F2A4DE-4E1B-C1D3-73CC-9544EFA58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853" y="2571750"/>
            <a:ext cx="1810231" cy="2249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51D575-E367-F268-086A-474CDE5AA4B6}"/>
              </a:ext>
            </a:extLst>
          </p:cNvPr>
          <p:cNvSpPr txBox="1"/>
          <p:nvPr/>
        </p:nvSpPr>
        <p:spPr>
          <a:xfrm>
            <a:off x="4326850" y="4804946"/>
            <a:ext cx="4834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Zhang, Chi, et al. "Axi-pack: Near-memory bus packing for bandwidth-efficient irregular workloads." 2023 Design, Automation &amp; Test in Europe Conference &amp; Exhibition (DATE). IEEE, 2023.</a:t>
            </a:r>
          </a:p>
        </p:txBody>
      </p:sp>
    </p:spTree>
    <p:extLst>
      <p:ext uri="{BB962C8B-B14F-4D97-AF65-F5344CB8AC3E}">
        <p14:creationId xmlns:p14="http://schemas.microsoft.com/office/powerpoint/2010/main" val="293012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6E3B-693F-E3E4-1DBE-D0A66D02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D5D2C23A-548B-1A43-8141-A8759D6747F0}"/>
              </a:ext>
            </a:extLst>
          </p:cNvPr>
          <p:cNvSpPr/>
          <p:nvPr/>
        </p:nvSpPr>
        <p:spPr>
          <a:xfrm>
            <a:off x="5769272" y="1118331"/>
            <a:ext cx="578901" cy="2914239"/>
          </a:xfrm>
          <a:custGeom>
            <a:avLst/>
            <a:gdLst>
              <a:gd name="csX0" fmla="*/ 6578 w 578901"/>
              <a:gd name="csY0" fmla="*/ 1223586 h 2914239"/>
              <a:gd name="csX1" fmla="*/ 0 w 578901"/>
              <a:gd name="csY1" fmla="*/ 2210348 h 2914239"/>
              <a:gd name="csX2" fmla="*/ 565744 w 578901"/>
              <a:gd name="csY2" fmla="*/ 2914239 h 2914239"/>
              <a:gd name="csX3" fmla="*/ 578901 w 578901"/>
              <a:gd name="csY3" fmla="*/ 0 h 2914239"/>
              <a:gd name="csX4" fmla="*/ 6578 w 578901"/>
              <a:gd name="csY4" fmla="*/ 1223586 h 2914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8901" h="2914239">
                <a:moveTo>
                  <a:pt x="6578" y="1223586"/>
                </a:moveTo>
                <a:cubicBezTo>
                  <a:pt x="4385" y="1552507"/>
                  <a:pt x="2193" y="1881427"/>
                  <a:pt x="0" y="2210348"/>
                </a:cubicBezTo>
                <a:lnTo>
                  <a:pt x="565744" y="2914239"/>
                </a:lnTo>
                <a:cubicBezTo>
                  <a:pt x="570130" y="1942826"/>
                  <a:pt x="574515" y="971413"/>
                  <a:pt x="578901" y="0"/>
                </a:cubicBezTo>
                <a:lnTo>
                  <a:pt x="6578" y="1223586"/>
                </a:lnTo>
                <a:close/>
              </a:path>
            </a:pathLst>
          </a:custGeom>
          <a:solidFill>
            <a:srgbClr val="A9FFA9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592975-499E-E054-30C6-70C36F2425F3}"/>
              </a:ext>
            </a:extLst>
          </p:cNvPr>
          <p:cNvSpPr/>
          <p:nvPr/>
        </p:nvSpPr>
        <p:spPr>
          <a:xfrm>
            <a:off x="6337190" y="1105229"/>
            <a:ext cx="2751198" cy="2927039"/>
          </a:xfrm>
          <a:prstGeom prst="rect">
            <a:avLst/>
          </a:prstGeom>
          <a:solidFill>
            <a:srgbClr val="A9FFA9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34436-A83D-6ECE-7303-9425969D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Near-Memory Parallel Indexing and Coalescing</a:t>
            </a:r>
            <a:endParaRPr lang="en-US" i="1" baseline="30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340E1-516C-8A0E-D55A-11D243BEAB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>
            <a:normAutofit/>
          </a:bodyPr>
          <a:lstStyle/>
          <a:p>
            <a:r>
              <a:rPr lang="en-US" altLang="zh-CN" sz="1400" b="0" dirty="0"/>
              <a:t>Target: Index + DRAM access granularity</a:t>
            </a:r>
          </a:p>
          <a:p>
            <a:r>
              <a:rPr lang="en-US" altLang="zh-CN" sz="1400" b="0" i="1" dirty="0"/>
              <a:t>Push AXI-Pack to modern DRAM backend</a:t>
            </a:r>
            <a:r>
              <a:rPr lang="en-US" altLang="zh-CN" sz="1400" b="0" dirty="0"/>
              <a:t>: backing narrow irregular stream elements onto wide memory buses</a:t>
            </a:r>
          </a:p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Controller architecture</a:t>
            </a:r>
          </a:p>
          <a:p>
            <a:pPr lvl="1"/>
            <a:r>
              <a:rPr lang="en-US" altLang="zh-CN" sz="1400" i="1" dirty="0">
                <a:latin typeface="Calibri" panose="020F0502020204030204" pitchFamily="34" charset="0"/>
                <a:cs typeface="Calibri" panose="020F0502020204030204" pitchFamily="34" charset="0"/>
              </a:rPr>
              <a:t>element request generator 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produces </a:t>
            </a:r>
            <a:r>
              <a:rPr lang="en-US" altLang="zh-CN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 parallel narrow element requests based on the index stream</a:t>
            </a:r>
          </a:p>
          <a:p>
            <a:pPr lvl="1"/>
            <a:r>
              <a:rPr lang="en-US" altLang="zh-CN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 parallel requests pass to coalescer to form wide DRAM access </a:t>
            </a:r>
          </a:p>
          <a:p>
            <a:pPr lvl="2"/>
            <a:r>
              <a:rPr lang="en-US" altLang="zh-CN" sz="1242" i="1" dirty="0" err="1">
                <a:latin typeface="Calibri" panose="020F0502020204030204" pitchFamily="34" charset="0"/>
                <a:cs typeface="Calibri" panose="020F0502020204030204" pitchFamily="34" charset="0"/>
              </a:rPr>
              <a:t>Upsizer</a:t>
            </a:r>
            <a:r>
              <a:rPr lang="en-US" altLang="zh-CN" sz="1242" dirty="0">
                <a:latin typeface="Calibri" panose="020F0502020204030204" pitchFamily="34" charset="0"/>
                <a:cs typeface="Calibri" panose="020F0502020204030204" pitchFamily="34" charset="0"/>
              </a:rPr>
              <a:t> widen the request window</a:t>
            </a:r>
          </a:p>
          <a:p>
            <a:pPr lvl="2"/>
            <a:r>
              <a:rPr lang="en-US" altLang="zh-CN" sz="1242" i="1" dirty="0">
                <a:latin typeface="Calibri" panose="020F0502020204030204" pitchFamily="34" charset="0"/>
                <a:cs typeface="Calibri" panose="020F0502020204030204" pitchFamily="34" charset="0"/>
              </a:rPr>
              <a:t>Request watcher </a:t>
            </a:r>
            <a:r>
              <a:rPr lang="en-US" altLang="zh-CN" sz="1242" dirty="0">
                <a:latin typeface="Calibri" panose="020F0502020204030204" pitchFamily="34" charset="0"/>
                <a:cs typeface="Calibri" panose="020F0502020204030204" pitchFamily="34" charset="0"/>
              </a:rPr>
              <a:t>identifies accesses targeting at the same wide DRAM block</a:t>
            </a:r>
          </a:p>
          <a:p>
            <a:pPr lvl="2"/>
            <a:r>
              <a:rPr lang="en-US" altLang="zh-CN" sz="1242" i="1" dirty="0">
                <a:latin typeface="Calibri" panose="020F0502020204030204" pitchFamily="34" charset="0"/>
                <a:cs typeface="Calibri" panose="020F0502020204030204" pitchFamily="34" charset="0"/>
              </a:rPr>
              <a:t>Response splitter </a:t>
            </a:r>
            <a:r>
              <a:rPr lang="en-US" altLang="zh-CN" sz="1242" dirty="0">
                <a:latin typeface="Calibri" panose="020F0502020204030204" pitchFamily="34" charset="0"/>
                <a:cs typeface="Calibri" panose="020F0502020204030204" pitchFamily="34" charset="0"/>
              </a:rPr>
              <a:t>retrieves the parallel narrow elements from the wide downstream data response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7EB44-F15A-55BC-BD17-EF541070C0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59781" y="4871177"/>
            <a:ext cx="428607" cy="228594"/>
          </a:xfrm>
        </p:spPr>
        <p:txBody>
          <a:bodyPr anchor="b">
            <a:normAutofit/>
          </a:bodyPr>
          <a:lstStyle/>
          <a:p>
            <a:pPr defTabSz="362880">
              <a:lnSpc>
                <a:spcPct val="90000"/>
              </a:lnSpc>
              <a:spcAft>
                <a:spcPts val="600"/>
              </a:spcAft>
              <a:buClrTx/>
            </a:pPr>
            <a:fld id="{00000000-1234-1234-1234-123412341234}" type="slidenum">
              <a:rPr lang="en" sz="900" kern="1200" smtClean="0"/>
              <a:pPr defTabSz="362880">
                <a:lnSpc>
                  <a:spcPct val="90000"/>
                </a:lnSpc>
                <a:spcAft>
                  <a:spcPts val="600"/>
                </a:spcAft>
                <a:buClrTx/>
              </a:pPr>
              <a:t>7</a:t>
            </a:fld>
            <a:endParaRPr lang="en" sz="900" kern="12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30DC24-8E84-4C7C-C6C9-E6D5EAB2FD9A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BCEC64-9D3C-75FC-5A88-A2EDE061019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37900" y="1105230"/>
            <a:ext cx="2850488" cy="2812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E03709-4319-3288-98EE-0F606A7495A6}"/>
              </a:ext>
            </a:extLst>
          </p:cNvPr>
          <p:cNvSpPr txBox="1"/>
          <p:nvPr/>
        </p:nvSpPr>
        <p:spPr>
          <a:xfrm>
            <a:off x="4528942" y="4646920"/>
            <a:ext cx="4834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Zhang, Chi, et al. "Near-memory parallel indexing and coalescing: Enabling highly efficient indirect access for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SpMV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." 2024 Design, Automation &amp; Test in Europe Conference &amp; Exhibition (DATE). IEEE, 2024.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0D5DC-C29A-F2B8-74DD-F59F12B7F7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5169" y="1220128"/>
            <a:ext cx="2042731" cy="281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D70A-747C-CA93-EE16-76B1211A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CB04-FB5D-3BC5-DE85-F331879C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Extending Controller for LLM Sparse Workload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E33F0-DD91-20F1-6E68-658E992B16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DF6750-0822-54A2-C5D3-92D69D27B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4" y="557561"/>
            <a:ext cx="8579523" cy="1517729"/>
          </a:xfrm>
        </p:spPr>
        <p:txBody>
          <a:bodyPr/>
          <a:lstStyle/>
          <a:p>
            <a:r>
              <a:rPr lang="en-US" sz="1600" b="0" noProof="0"/>
              <a:t>Missing features</a:t>
            </a:r>
          </a:p>
          <a:p>
            <a:pPr lvl="1"/>
            <a:r>
              <a:rPr lang="en-US" sz="1400" noProof="0"/>
              <a:t>Core-side index stream handling</a:t>
            </a:r>
          </a:p>
          <a:p>
            <a:pPr lvl="1"/>
            <a:r>
              <a:rPr lang="en-US" sz="1400" b="0" noProof="0"/>
              <a:t>Granularity alignment</a:t>
            </a:r>
          </a:p>
          <a:p>
            <a:pPr lvl="1"/>
            <a:r>
              <a:rPr lang="en-US" sz="1400"/>
              <a:t>Multi-node and memory endpoint exploration</a:t>
            </a:r>
            <a:endParaRPr lang="en-US" sz="1400" b="0" noProof="0" dirty="0"/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4A34E6D2-24D9-0539-DF9C-47C470FB7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622" y="1902317"/>
            <a:ext cx="5603167" cy="26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92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11254</TotalTime>
  <Words>515</Words>
  <Application>Microsoft Macintosh PowerPoint</Application>
  <PresentationFormat>On-screen Show (16:9)</PresentationFormat>
  <Paragraphs>75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Arial Narrow</vt:lpstr>
      <vt:lpstr>Calibri Light</vt:lpstr>
      <vt:lpstr>Consolas</vt:lpstr>
      <vt:lpstr>Wingdings</vt:lpstr>
      <vt:lpstr>Simple Light</vt:lpstr>
      <vt:lpstr>PULP Triangle</vt:lpstr>
      <vt:lpstr>1_PULP Triangle</vt:lpstr>
      <vt:lpstr>QuantSparse 3D Biweekly 2026-06-25</vt:lpstr>
      <vt:lpstr>Agenda</vt:lpstr>
      <vt:lpstr>Handling Sparsity Beyond Core-level</vt:lpstr>
      <vt:lpstr>Sparse Pattern Analysis</vt:lpstr>
      <vt:lpstr>Memory-side Controller Extension for Sparsity Handling</vt:lpstr>
      <vt:lpstr>AXI-Pack: Bus Packing for AXI4 Indirect Accesses</vt:lpstr>
      <vt:lpstr>Near-Memory Parallel Indexing and Coalescing</vt:lpstr>
      <vt:lpstr>Extending Controller for LLM Sparse Workload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1303</cp:revision>
  <dcterms:modified xsi:type="dcterms:W3CDTF">2026-06-25T07:33:37Z</dcterms:modified>
</cp:coreProperties>
</file>