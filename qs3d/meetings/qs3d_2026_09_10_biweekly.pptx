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  <p:sldMasterId id="2147483678" r:id="rId2"/>
    <p:sldMasterId id="2147483679" r:id="rId3"/>
  </p:sldMasterIdLst>
  <p:notesMasterIdLst>
    <p:notesMasterId r:id="rId13"/>
  </p:notesMasterIdLst>
  <p:sldIdLst>
    <p:sldId id="256" r:id="rId4"/>
    <p:sldId id="257" r:id="rId5"/>
    <p:sldId id="621" r:id="rId6"/>
    <p:sldId id="625" r:id="rId7"/>
    <p:sldId id="626" r:id="rId8"/>
    <p:sldId id="627" r:id="rId9"/>
    <p:sldId id="628" r:id="rId10"/>
    <p:sldId id="629" r:id="rId11"/>
    <p:sldId id="630" r:id="rId12"/>
  </p:sldIdLst>
  <p:sldSz cx="9144000" cy="5143500" type="screen16x9"/>
  <p:notesSz cx="6858000" cy="9144000"/>
  <p:embeddedFontLst>
    <p:embeddedFont>
      <p:font typeface="Arial Narrow" panose="020B0604020202020204" pitchFamily="34" charset="0"/>
      <p:regular r:id="rId14"/>
      <p:bold r:id="rId15"/>
      <p:italic r:id="rId16"/>
      <p:boldItalic r:id="rId17"/>
    </p:embeddedFont>
    <p:embeddedFont>
      <p:font typeface="Consolas" panose="020B0609020204030204" pitchFamily="49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A865A6A1-EB45-4525-89A6-CB3BD430D531}">
          <p14:sldIdLst>
            <p14:sldId id="256"/>
            <p14:sldId id="257"/>
          </p14:sldIdLst>
        </p14:section>
        <p14:section name="Recap" id="{870E3B29-350E-CE4E-9DFE-3645BAE98000}">
          <p14:sldIdLst>
            <p14:sldId id="621"/>
            <p14:sldId id="625"/>
            <p14:sldId id="626"/>
            <p14:sldId id="627"/>
            <p14:sldId id="628"/>
            <p14:sldId id="629"/>
            <p14:sldId id="63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69B0"/>
    <a:srgbClr val="A9FFA9"/>
    <a:srgbClr val="67AB9F"/>
    <a:srgbClr val="A7127A"/>
    <a:srgbClr val="037491"/>
    <a:srgbClr val="168638"/>
    <a:srgbClr val="A6CAEC"/>
    <a:srgbClr val="BA362D"/>
    <a:srgbClr val="BBA471"/>
    <a:srgbClr val="C45D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EF3602-E09C-4FB3-88FD-0AF07CCC1424}">
  <a:tblStyle styleId="{90EF3602-E09C-4FB3-88FD-0AF07CCC142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4658"/>
  </p:normalViewPr>
  <p:slideViewPr>
    <p:cSldViewPr snapToGrid="0">
      <p:cViewPr varScale="1">
        <p:scale>
          <a:sx n="160" d="100"/>
          <a:sy n="160" d="100"/>
        </p:scale>
        <p:origin x="1440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8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font" Target="fonts/font6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39ca6226cd_2_1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g339ca6226cd_2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39ca6226cd_2_1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7" name="Google Shape;187;g339ca6226cd_2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2.sv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4"/>
          <p:cNvGrpSpPr/>
          <p:nvPr/>
        </p:nvGrpSpPr>
        <p:grpSpPr>
          <a:xfrm>
            <a:off x="1823465" y="163205"/>
            <a:ext cx="1581805" cy="342091"/>
            <a:chOff x="3645356" y="188193"/>
            <a:chExt cx="5677387" cy="1227805"/>
          </a:xfrm>
        </p:grpSpPr>
        <p:pic>
          <p:nvPicPr>
            <p:cNvPr id="66" name="Google Shape;66;p14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5667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Google Shape;67;p14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8" name="Google Shape;68;p14"/>
          <p:cNvSpPr/>
          <p:nvPr/>
        </p:nvSpPr>
        <p:spPr>
          <a:xfrm>
            <a:off x="5653737" y="1653177"/>
            <a:ext cx="3490273" cy="3490323"/>
          </a:xfrm>
          <a:prstGeom prst="triangle">
            <a:avLst>
              <a:gd name="adj" fmla="val 10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69" name="Google Shape;69;p14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6117" y="212211"/>
            <a:ext cx="1325875" cy="22097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>
            <a:spLocks noGrp="1"/>
          </p:cNvSpPr>
          <p:nvPr>
            <p:ph type="subTitle" idx="1"/>
          </p:nvPr>
        </p:nvSpPr>
        <p:spPr>
          <a:xfrm>
            <a:off x="286116" y="2336781"/>
            <a:ext cx="4571811" cy="28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  <a:defRPr sz="19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286114" y="1391112"/>
            <a:ext cx="8000670" cy="857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 sz="2900" b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/>
          <p:nvPr/>
        </p:nvSpPr>
        <p:spPr>
          <a:xfrm rot="2700024">
            <a:off x="7461825" y="2614213"/>
            <a:ext cx="1213073" cy="1213073"/>
          </a:xfrm>
          <a:prstGeom prst="roundRect">
            <a:avLst>
              <a:gd name="adj" fmla="val 4159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4"/>
          <p:cNvSpPr/>
          <p:nvPr/>
        </p:nvSpPr>
        <p:spPr>
          <a:xfrm rot="2700024">
            <a:off x="7104894" y="2891492"/>
            <a:ext cx="646325" cy="662609"/>
          </a:xfrm>
          <a:prstGeom prst="roundRect">
            <a:avLst>
              <a:gd name="adj" fmla="val 838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14"/>
          <p:cNvPicPr preferRelativeResize="0"/>
          <p:nvPr/>
        </p:nvPicPr>
        <p:blipFill rotWithShape="1"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1348" y="2434954"/>
            <a:ext cx="1836547" cy="1576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/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95899" y="4503916"/>
            <a:ext cx="260270" cy="223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 descr="A picture containing ax, vector graphics, tool&#10;&#10;Description automatically generated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22972" y="4258967"/>
            <a:ext cx="223066" cy="183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/>
          <p:cNvPicPr preferRelativeResize="0"/>
          <p:nvPr/>
        </p:nvPicPr>
        <p:blipFill rotWithShape="1">
          <a:blip r:embed="rId7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06373" y="4781048"/>
            <a:ext cx="256264" cy="177288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/>
          <p:nvPr/>
        </p:nvSpPr>
        <p:spPr>
          <a:xfrm>
            <a:off x="6949019" y="4480217"/>
            <a:ext cx="1657355" cy="256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pulp-platform.org</a:t>
            </a:r>
            <a:endParaRPr sz="1100"/>
          </a:p>
        </p:txBody>
      </p:sp>
      <p:sp>
        <p:nvSpPr>
          <p:cNvPr id="79" name="Google Shape;79;p14"/>
          <p:cNvSpPr txBox="1"/>
          <p:nvPr/>
        </p:nvSpPr>
        <p:spPr>
          <a:xfrm>
            <a:off x="7360145" y="4233920"/>
            <a:ext cx="1246228" cy="256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@pulp_platform</a:t>
            </a:r>
            <a:endParaRPr sz="1100"/>
          </a:p>
        </p:txBody>
      </p:sp>
      <p:sp>
        <p:nvSpPr>
          <p:cNvPr id="80" name="Google Shape;80;p14"/>
          <p:cNvSpPr txBox="1"/>
          <p:nvPr/>
        </p:nvSpPr>
        <p:spPr>
          <a:xfrm>
            <a:off x="6573889" y="4726513"/>
            <a:ext cx="2032485" cy="256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youtube.com/pulp_platform</a:t>
            </a:r>
            <a:endParaRPr sz="1100"/>
          </a:p>
        </p:txBody>
      </p:sp>
      <p:sp>
        <p:nvSpPr>
          <p:cNvPr id="81" name="Google Shape;81;p14"/>
          <p:cNvSpPr txBox="1"/>
          <p:nvPr/>
        </p:nvSpPr>
        <p:spPr>
          <a:xfrm>
            <a:off x="286115" y="4412057"/>
            <a:ext cx="4538560" cy="539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PULP Platform</a:t>
            </a:r>
            <a:b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Source Hardware, the way it should be!</a:t>
            </a:r>
            <a:endParaRPr sz="1100"/>
          </a:p>
        </p:txBody>
      </p:sp>
      <p:sp>
        <p:nvSpPr>
          <p:cNvPr id="82" name="Google Shape;82;p14"/>
          <p:cNvSpPr txBox="1">
            <a:spLocks noGrp="1"/>
          </p:cNvSpPr>
          <p:nvPr>
            <p:ph type="body" idx="2"/>
          </p:nvPr>
        </p:nvSpPr>
        <p:spPr>
          <a:xfrm>
            <a:off x="286116" y="2913662"/>
            <a:ext cx="4571811" cy="128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600" b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>
                <a:solidFill>
                  <a:schemeClr val="accent3"/>
                </a:solidFill>
              </a:defRPr>
            </a:lvl1pPr>
            <a:lvl2pPr lvl="1">
              <a:buNone/>
              <a:defRPr sz="1300">
                <a:solidFill>
                  <a:schemeClr val="accent3"/>
                </a:solidFill>
              </a:defRPr>
            </a:lvl2pPr>
            <a:lvl3pPr lvl="2">
              <a:buNone/>
              <a:defRPr sz="1300">
                <a:solidFill>
                  <a:schemeClr val="accent3"/>
                </a:solidFill>
              </a:defRPr>
            </a:lvl3pPr>
            <a:lvl4pPr lvl="3">
              <a:buNone/>
              <a:defRPr sz="1300">
                <a:solidFill>
                  <a:schemeClr val="accent3"/>
                </a:solidFill>
              </a:defRPr>
            </a:lvl4pPr>
            <a:lvl5pPr lvl="4">
              <a:buNone/>
              <a:defRPr sz="1300">
                <a:solidFill>
                  <a:schemeClr val="accent3"/>
                </a:solidFill>
              </a:defRPr>
            </a:lvl5pPr>
            <a:lvl6pPr lvl="5">
              <a:buNone/>
              <a:defRPr sz="1300">
                <a:solidFill>
                  <a:schemeClr val="accent3"/>
                </a:solidFill>
              </a:defRPr>
            </a:lvl6pPr>
            <a:lvl7pPr lvl="6">
              <a:buNone/>
              <a:defRPr sz="1300">
                <a:solidFill>
                  <a:schemeClr val="accent3"/>
                </a:solidFill>
              </a:defRPr>
            </a:lvl7pPr>
            <a:lvl8pPr lvl="7">
              <a:buNone/>
              <a:defRPr sz="1300">
                <a:solidFill>
                  <a:schemeClr val="accent3"/>
                </a:solidFill>
              </a:defRPr>
            </a:lvl8pPr>
            <a:lvl9pPr lvl="8">
              <a:buNone/>
              <a:defRPr sz="1300">
                <a:solidFill>
                  <a:schemeClr val="accent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by-side">
  <p:cSld name="Two-by-side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4000335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6"/>
          <p:cNvSpPr txBox="1">
            <a:spLocks noGrp="1"/>
          </p:cNvSpPr>
          <p:nvPr>
            <p:ph type="body" idx="2"/>
          </p:nvPr>
        </p:nvSpPr>
        <p:spPr>
          <a:xfrm>
            <a:off x="4237713" y="742930"/>
            <a:ext cx="4000335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6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6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plus two">
  <p:cSld name="One plus two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body" idx="1"/>
          </p:nvPr>
        </p:nvSpPr>
        <p:spPr>
          <a:xfrm>
            <a:off x="237378" y="742930"/>
            <a:ext cx="8000670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body" idx="2"/>
          </p:nvPr>
        </p:nvSpPr>
        <p:spPr>
          <a:xfrm>
            <a:off x="237378" y="2745388"/>
            <a:ext cx="4000335" cy="2143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7"/>
          <p:cNvSpPr txBox="1">
            <a:spLocks noGrp="1"/>
          </p:cNvSpPr>
          <p:nvPr>
            <p:ph type="body" idx="3"/>
          </p:nvPr>
        </p:nvSpPr>
        <p:spPr>
          <a:xfrm>
            <a:off x="4237713" y="2745388"/>
            <a:ext cx="4000335" cy="2143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17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7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in-Thick">
  <p:cSld name="Thin-Thic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body" idx="1"/>
          </p:nvPr>
        </p:nvSpPr>
        <p:spPr>
          <a:xfrm>
            <a:off x="3094760" y="742930"/>
            <a:ext cx="5143288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body" idx="2"/>
          </p:nvPr>
        </p:nvSpPr>
        <p:spPr>
          <a:xfrm>
            <a:off x="237378" y="742930"/>
            <a:ext cx="285738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ick-Thin">
  <p:cSld name="Thick-Thin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body" idx="1"/>
          </p:nvPr>
        </p:nvSpPr>
        <p:spPr>
          <a:xfrm>
            <a:off x="237378" y="742930"/>
            <a:ext cx="5143288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body" idx="2"/>
          </p:nvPr>
        </p:nvSpPr>
        <p:spPr>
          <a:xfrm>
            <a:off x="5380666" y="742930"/>
            <a:ext cx="285738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-by-side">
  <p:cSld name="3-by-side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>
            <a:spLocks noGrp="1"/>
          </p:cNvSpPr>
          <p:nvPr>
            <p:ph type="body" idx="1"/>
          </p:nvPr>
        </p:nvSpPr>
        <p:spPr>
          <a:xfrm>
            <a:off x="244543" y="742930"/>
            <a:ext cx="2571644" cy="4000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body" idx="2"/>
          </p:nvPr>
        </p:nvSpPr>
        <p:spPr>
          <a:xfrm>
            <a:off x="2959060" y="742930"/>
            <a:ext cx="2571644" cy="4000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body" idx="3"/>
          </p:nvPr>
        </p:nvSpPr>
        <p:spPr>
          <a:xfrm>
            <a:off x="5673573" y="742930"/>
            <a:ext cx="2571644" cy="4000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0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-box">
  <p:cSld name="4-box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>
            <a:spLocks noGrp="1"/>
          </p:cNvSpPr>
          <p:nvPr>
            <p:ph type="body" idx="1"/>
          </p:nvPr>
        </p:nvSpPr>
        <p:spPr>
          <a:xfrm>
            <a:off x="240763" y="742930"/>
            <a:ext cx="4000335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body" idx="2"/>
          </p:nvPr>
        </p:nvSpPr>
        <p:spPr>
          <a:xfrm>
            <a:off x="4241101" y="742930"/>
            <a:ext cx="4000335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24" name="Google Shape;124;p21"/>
          <p:cNvSpPr txBox="1">
            <a:spLocks noGrp="1"/>
          </p:cNvSpPr>
          <p:nvPr>
            <p:ph type="body" idx="3"/>
          </p:nvPr>
        </p:nvSpPr>
        <p:spPr>
          <a:xfrm>
            <a:off x="240763" y="2743126"/>
            <a:ext cx="4000335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body" idx="4"/>
          </p:nvPr>
        </p:nvSpPr>
        <p:spPr>
          <a:xfrm>
            <a:off x="4241101" y="2743126"/>
            <a:ext cx="4000335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1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Background">
  <p:cSld name="Title Background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2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Only">
  <p:cSld name="Background Only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/>
        </p:nvSpPr>
        <p:spPr>
          <a:xfrm>
            <a:off x="748938" y="392233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b="0" i="0">
              <a:solidFill>
                <a:schemeClr val="dk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35" name="Google Shape;135;p23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o Background">
  <p:cSld name="No Background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4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800067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365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>
                <a:solidFill>
                  <a:schemeClr val="dk1"/>
                </a:solidFill>
              </a:defRPr>
            </a:lvl4pPr>
            <a:lvl5pPr marL="2286000" lvl="4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Only">
  <p:cSld name="Body Only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>
            <a:spLocks noGrp="1"/>
          </p:cNvSpPr>
          <p:nvPr>
            <p:ph type="body" idx="1"/>
          </p:nvPr>
        </p:nvSpPr>
        <p:spPr>
          <a:xfrm>
            <a:off x="244839" y="284195"/>
            <a:ext cx="8000672" cy="471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26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6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Slide 1">
  <p:cSld name="Code Slide 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/>
          <p:nvPr/>
        </p:nvSpPr>
        <p:spPr>
          <a:xfrm>
            <a:off x="4572005" y="0"/>
            <a:ext cx="4572005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0" name="Google Shape;150;p27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7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4000335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grpSp>
        <p:nvGrpSpPr>
          <p:cNvPr id="152" name="Google Shape;152;p27"/>
          <p:cNvGrpSpPr/>
          <p:nvPr/>
        </p:nvGrpSpPr>
        <p:grpSpPr>
          <a:xfrm>
            <a:off x="8255524" y="66639"/>
            <a:ext cx="827065" cy="722093"/>
            <a:chOff x="10401089" y="83956"/>
            <a:chExt cx="1042015" cy="909748"/>
          </a:xfrm>
        </p:grpSpPr>
        <p:sp>
          <p:nvSpPr>
            <p:cNvPr id="153" name="Google Shape;153;p27"/>
            <p:cNvSpPr/>
            <p:nvPr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154" name="Google Shape;154;p27"/>
            <p:cNvSpPr/>
            <p:nvPr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pic>
          <p:nvPicPr>
            <p:cNvPr id="155" name="Google Shape;155;p27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6" name="Google Shape;156;p27"/>
          <p:cNvSpPr txBox="1">
            <a:spLocks noGrp="1"/>
          </p:cNvSpPr>
          <p:nvPr>
            <p:ph type="body" idx="2"/>
          </p:nvPr>
        </p:nvSpPr>
        <p:spPr>
          <a:xfrm>
            <a:off x="4572005" y="742930"/>
            <a:ext cx="4576563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1450" tIns="200025" rIns="0" bIns="36275" anchor="t" anchorCtr="0">
            <a:noAutofit/>
          </a:bodyPr>
          <a:lstStyle>
            <a:lvl1pPr marL="457200" lvl="0" indent="-228600" algn="l">
              <a:lnSpc>
                <a:spcPct val="55555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  <a:defRPr sz="1400" b="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p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Slide 2">
  <p:cSld name="Code Slide 2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/>
          <p:nvPr/>
        </p:nvSpPr>
        <p:spPr>
          <a:xfrm>
            <a:off x="4572005" y="0"/>
            <a:ext cx="4572005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0" name="Google Shape;160;p28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8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4000335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grpSp>
        <p:nvGrpSpPr>
          <p:cNvPr id="162" name="Google Shape;162;p28"/>
          <p:cNvGrpSpPr/>
          <p:nvPr/>
        </p:nvGrpSpPr>
        <p:grpSpPr>
          <a:xfrm>
            <a:off x="8255524" y="66639"/>
            <a:ext cx="827065" cy="722093"/>
            <a:chOff x="10401089" y="83956"/>
            <a:chExt cx="1042015" cy="909748"/>
          </a:xfrm>
        </p:grpSpPr>
        <p:sp>
          <p:nvSpPr>
            <p:cNvPr id="163" name="Google Shape;163;p28"/>
            <p:cNvSpPr/>
            <p:nvPr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164" name="Google Shape;164;p28"/>
            <p:cNvSpPr/>
            <p:nvPr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pic>
          <p:nvPicPr>
            <p:cNvPr id="165" name="Google Shape;165;p28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6" name="Google Shape;166;p28"/>
          <p:cNvSpPr txBox="1">
            <a:spLocks noGrp="1"/>
          </p:cNvSpPr>
          <p:nvPr>
            <p:ph type="body" idx="2"/>
          </p:nvPr>
        </p:nvSpPr>
        <p:spPr>
          <a:xfrm>
            <a:off x="4572005" y="742930"/>
            <a:ext cx="4576563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1450" tIns="200025" rIns="0" bIns="36275" anchor="t" anchorCtr="0">
            <a:noAutofit/>
          </a:bodyPr>
          <a:lstStyle>
            <a:lvl1pPr marL="457200" lvl="0" indent="-228600" algn="l">
              <a:lnSpc>
                <a:spcPct val="55555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  <a:defRPr sz="1400" b="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mpty White">
  <p:cSld name="Empty White">
    <p:bg>
      <p:bgPr>
        <a:solidFill>
          <a:schemeClr val="lt2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mpty Black">
  <p:cSld name="Empty Black">
    <p:bg>
      <p:bgPr>
        <a:solidFill>
          <a:schemeClr val="dk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+ Q&amp;A">
  <p:cSld name="Thank you + Q&amp;A">
    <p:bg>
      <p:bgPr>
        <a:solidFill>
          <a:srgbClr val="B4B4B6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1"/>
          <p:cNvSpPr txBox="1"/>
          <p:nvPr/>
        </p:nvSpPr>
        <p:spPr>
          <a:xfrm>
            <a:off x="1532192" y="1567205"/>
            <a:ext cx="2474929" cy="659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b="0" i="0" u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1100"/>
          </a:p>
        </p:txBody>
      </p:sp>
      <p:sp>
        <p:nvSpPr>
          <p:cNvPr id="174" name="Google Shape;174;p31"/>
          <p:cNvSpPr/>
          <p:nvPr/>
        </p:nvSpPr>
        <p:spPr>
          <a:xfrm>
            <a:off x="5152847" y="1180109"/>
            <a:ext cx="2574971" cy="2575008"/>
          </a:xfrm>
          <a:custGeom>
            <a:avLst/>
            <a:gdLst/>
            <a:ahLst/>
            <a:cxnLst/>
            <a:rect l="l" t="t" r="r" b="b"/>
            <a:pathLst>
              <a:path w="158750" h="158750" extrusionOk="0">
                <a:moveTo>
                  <a:pt x="8255" y="0"/>
                </a:moveTo>
                <a:cubicBezTo>
                  <a:pt x="3810" y="0"/>
                  <a:pt x="0" y="3810"/>
                  <a:pt x="0" y="8255"/>
                </a:cubicBezTo>
                <a:lnTo>
                  <a:pt x="0" y="119380"/>
                </a:lnTo>
                <a:lnTo>
                  <a:pt x="31750" y="87630"/>
                </a:lnTo>
                <a:lnTo>
                  <a:pt x="111125" y="87630"/>
                </a:lnTo>
                <a:cubicBezTo>
                  <a:pt x="115570" y="87630"/>
                  <a:pt x="119380" y="83820"/>
                  <a:pt x="119380" y="79375"/>
                </a:cubicBezTo>
                <a:lnTo>
                  <a:pt x="119380" y="8255"/>
                </a:lnTo>
                <a:cubicBezTo>
                  <a:pt x="119380" y="3810"/>
                  <a:pt x="115570" y="0"/>
                  <a:pt x="111125" y="0"/>
                </a:cubicBezTo>
                <a:close/>
                <a:moveTo>
                  <a:pt x="135255" y="31750"/>
                </a:moveTo>
                <a:lnTo>
                  <a:pt x="135255" y="103505"/>
                </a:lnTo>
                <a:lnTo>
                  <a:pt x="31750" y="103505"/>
                </a:lnTo>
                <a:lnTo>
                  <a:pt x="31750" y="119380"/>
                </a:lnTo>
                <a:cubicBezTo>
                  <a:pt x="31750" y="123190"/>
                  <a:pt x="35560" y="127000"/>
                  <a:pt x="40005" y="127000"/>
                </a:cubicBezTo>
                <a:lnTo>
                  <a:pt x="127000" y="127000"/>
                </a:lnTo>
                <a:lnTo>
                  <a:pt x="158750" y="158750"/>
                </a:lnTo>
                <a:lnTo>
                  <a:pt x="158750" y="40005"/>
                </a:lnTo>
                <a:cubicBezTo>
                  <a:pt x="158750" y="35560"/>
                  <a:pt x="154940" y="31750"/>
                  <a:pt x="151130" y="3175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72575" tIns="72575" rIns="72575" bIns="725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1"/>
          <p:cNvSpPr txBox="1"/>
          <p:nvPr/>
        </p:nvSpPr>
        <p:spPr>
          <a:xfrm>
            <a:off x="5545468" y="1591635"/>
            <a:ext cx="1160552" cy="610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 i="0" u="none">
                <a:solidFill>
                  <a:srgbClr val="B4B4B6"/>
                </a:solidFill>
                <a:latin typeface="Calibri"/>
                <a:ea typeface="Calibri"/>
                <a:cs typeface="Calibri"/>
                <a:sym typeface="Calibri"/>
              </a:rPr>
              <a:t>Q&amp;A</a:t>
            </a:r>
            <a:endParaRPr sz="1100"/>
          </a:p>
        </p:txBody>
      </p:sp>
      <p:sp>
        <p:nvSpPr>
          <p:cNvPr id="176" name="Google Shape;176;p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rd Slide">
  <p:cSld name="Standard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800067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365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>
                <a:solidFill>
                  <a:schemeClr val="dk1"/>
                </a:solidFill>
              </a:defRPr>
            </a:lvl4pPr>
            <a:lvl5pPr marL="2286000" lvl="4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03646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F192FC1B-B3A0-78B7-C079-3AD8A4EDAFEE}"/>
              </a:ext>
            </a:extLst>
          </p:cNvPr>
          <p:cNvGrpSpPr/>
          <p:nvPr userDrawn="1"/>
        </p:nvGrpSpPr>
        <p:grpSpPr>
          <a:xfrm>
            <a:off x="1823463" y="163206"/>
            <a:ext cx="1581803" cy="342091"/>
            <a:chOff x="3645356" y="188193"/>
            <a:chExt cx="5677387" cy="1227805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DFDC3554-F5A8-F2B0-CDD0-9503A1DE3A0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25668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3449E88C-0CCF-054C-1626-D1593E596CF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</p:spPr>
        </p:pic>
      </p:grp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8D234E9D-C054-5674-1BA3-6CDBCAEC8DE6}"/>
              </a:ext>
            </a:extLst>
          </p:cNvPr>
          <p:cNvSpPr/>
          <p:nvPr userDrawn="1"/>
        </p:nvSpPr>
        <p:spPr>
          <a:xfrm>
            <a:off x="5653731" y="1653177"/>
            <a:ext cx="3490269" cy="3490323"/>
          </a:xfrm>
          <a:prstGeom prst="triangle">
            <a:avLst>
              <a:gd name="adj" fmla="val 10000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DE74E66C-D0DE-D973-3A0F-2E71084138B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6117" y="212211"/>
            <a:ext cx="1325873" cy="220982"/>
          </a:xfrm>
          <a:prstGeom prst="rect">
            <a:avLst/>
          </a:prstGeom>
        </p:spPr>
      </p:pic>
      <p:sp>
        <p:nvSpPr>
          <p:cNvPr id="30" name="Subtitle 2">
            <a:extLst>
              <a:ext uri="{FF2B5EF4-FFF2-40B4-BE49-F238E27FC236}">
                <a16:creationId xmlns:a16="http://schemas.microsoft.com/office/drawing/2014/main" id="{D93D6F44-AA10-891D-BF7D-311C32BF0F90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286116" y="2336781"/>
            <a:ext cx="4571806" cy="285742"/>
          </a:xfrm>
        </p:spPr>
        <p:txBody>
          <a:bodyPr lIns="0" tIns="0" rIns="0" bIns="0" anchor="b"/>
          <a:lstStyle>
            <a:lvl1pPr marL="0" indent="0" algn="l">
              <a:buNone/>
              <a:defRPr sz="1905" b="0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  <a:lvl2pPr marL="342885" indent="0" algn="ctr">
              <a:buNone/>
              <a:defRPr sz="1500"/>
            </a:lvl2pPr>
            <a:lvl3pPr marL="685770" indent="0" algn="ctr">
              <a:buNone/>
              <a:defRPr sz="1350"/>
            </a:lvl3pPr>
            <a:lvl4pPr marL="1028655" indent="0" algn="ctr">
              <a:buNone/>
              <a:defRPr sz="1200"/>
            </a:lvl4pPr>
            <a:lvl5pPr marL="1371540" indent="0" algn="ctr">
              <a:buNone/>
              <a:defRPr sz="1200"/>
            </a:lvl5pPr>
            <a:lvl6pPr marL="1714425" indent="0" algn="ctr">
              <a:buNone/>
              <a:defRPr sz="1200"/>
            </a:lvl6pPr>
            <a:lvl7pPr marL="2057310" indent="0" algn="ctr">
              <a:buNone/>
              <a:defRPr sz="1200"/>
            </a:lvl7pPr>
            <a:lvl8pPr marL="2400195" indent="0" algn="ctr">
              <a:buNone/>
              <a:defRPr sz="1200"/>
            </a:lvl8pPr>
            <a:lvl9pPr marL="274308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  <p:sp>
        <p:nvSpPr>
          <p:cNvPr id="31" name="Title 8">
            <a:extLst>
              <a:ext uri="{FF2B5EF4-FFF2-40B4-BE49-F238E27FC236}">
                <a16:creationId xmlns:a16="http://schemas.microsoft.com/office/drawing/2014/main" id="{5D78059F-19FB-CAFA-4937-958597D5C90B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86114" y="1391112"/>
            <a:ext cx="8000661" cy="857227"/>
          </a:xfrm>
        </p:spPr>
        <p:txBody>
          <a:bodyPr anchor="t"/>
          <a:lstStyle>
            <a:lvl1pPr>
              <a:defRPr sz="2857" b="0">
                <a:solidFill>
                  <a:schemeClr val="accent3"/>
                </a:solidFill>
                <a:latin typeface="+mj-lt"/>
                <a:ea typeface="Roboto Condensed" panose="02000000000000000000" pitchFamily="2" charset="0"/>
              </a:defRPr>
            </a:lvl1pPr>
          </a:lstStyle>
          <a:p>
            <a:r>
              <a:rPr lang="en-US" noProof="0" dirty="0"/>
              <a:t>Click to edit Master title style (in case you have a</a:t>
            </a:r>
            <a:br>
              <a:rPr lang="en-US" noProof="0" dirty="0"/>
            </a:br>
            <a:r>
              <a:rPr lang="en-US" noProof="0" dirty="0"/>
              <a:t>very very long title it can also span multiple lines)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C68568A-23B5-DA36-6C0D-2408AF9BED45}"/>
              </a:ext>
            </a:extLst>
          </p:cNvPr>
          <p:cNvSpPr/>
          <p:nvPr userDrawn="1"/>
        </p:nvSpPr>
        <p:spPr>
          <a:xfrm rot="2700000">
            <a:off x="7461812" y="2614218"/>
            <a:ext cx="1213082" cy="1213063"/>
          </a:xfrm>
          <a:prstGeom prst="roundRect">
            <a:avLst>
              <a:gd name="adj" fmla="val 4159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noProof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E5778BE-53D9-EBE2-E1E3-9486D873D633}"/>
              </a:ext>
            </a:extLst>
          </p:cNvPr>
          <p:cNvSpPr/>
          <p:nvPr userDrawn="1"/>
        </p:nvSpPr>
        <p:spPr>
          <a:xfrm rot="2700000">
            <a:off x="7104883" y="2891495"/>
            <a:ext cx="646330" cy="662603"/>
          </a:xfrm>
          <a:prstGeom prst="roundRect">
            <a:avLst>
              <a:gd name="adj" fmla="val 838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noProof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34F58EB-B7F2-49D6-1DDD-84753A25C0D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21340" y="2434955"/>
            <a:ext cx="1836545" cy="1576054"/>
          </a:xfrm>
          <a:prstGeom prst="rect">
            <a:avLst/>
          </a:prstGeom>
          <a:ln w="66675">
            <a:noFill/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3722F6A-3AA4-BFC3-F572-3A7E83CD6F6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95890" y="4503916"/>
            <a:ext cx="260270" cy="223355"/>
          </a:xfrm>
          <a:prstGeom prst="rect">
            <a:avLst/>
          </a:prstGeom>
        </p:spPr>
      </p:pic>
      <p:pic>
        <p:nvPicPr>
          <p:cNvPr id="22" name="Picture 21" descr="A picture containing ax, vector graphics, tool&#10;&#10;Description automatically generated">
            <a:extLst>
              <a:ext uri="{FF2B5EF4-FFF2-40B4-BE49-F238E27FC236}">
                <a16:creationId xmlns:a16="http://schemas.microsoft.com/office/drawing/2014/main" id="{4DD662A7-2596-572A-621E-FC676E54EA9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22963" y="4258967"/>
            <a:ext cx="223066" cy="183508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2FC50372-BF19-6EDB-06B0-B684360D324B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06364" y="4781048"/>
            <a:ext cx="256264" cy="17729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90F954B-C9F2-7811-FBF9-F2B6708CE96A}"/>
              </a:ext>
            </a:extLst>
          </p:cNvPr>
          <p:cNvSpPr txBox="1"/>
          <p:nvPr userDrawn="1"/>
        </p:nvSpPr>
        <p:spPr>
          <a:xfrm>
            <a:off x="6949011" y="4480217"/>
            <a:ext cx="1657353" cy="27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91" b="0" i="0" u="none" noProof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pulp-platform.org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E24402-6167-3DAC-15F7-96A8C18DA6C3}"/>
              </a:ext>
            </a:extLst>
          </p:cNvPr>
          <p:cNvSpPr txBox="1"/>
          <p:nvPr userDrawn="1"/>
        </p:nvSpPr>
        <p:spPr>
          <a:xfrm>
            <a:off x="7360137" y="4233920"/>
            <a:ext cx="1246227" cy="27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91" b="0" i="0" u="none" noProof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@pulp_platform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70316D-DDCE-8E08-F033-57AFE61CA03C}"/>
              </a:ext>
            </a:extLst>
          </p:cNvPr>
          <p:cNvSpPr txBox="1"/>
          <p:nvPr userDrawn="1"/>
        </p:nvSpPr>
        <p:spPr>
          <a:xfrm>
            <a:off x="6573881" y="4726513"/>
            <a:ext cx="2032482" cy="27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91" b="0" i="0" u="none" noProof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youtube.com/pulp_platform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C09BED-6F4B-D060-60EF-CB1FD4E4F544}"/>
              </a:ext>
            </a:extLst>
          </p:cNvPr>
          <p:cNvSpPr txBox="1"/>
          <p:nvPr userDrawn="1"/>
        </p:nvSpPr>
        <p:spPr>
          <a:xfrm>
            <a:off x="286115" y="4412057"/>
            <a:ext cx="4538555" cy="53911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5714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29" b="1" i="0" noProof="0" dirty="0">
                <a:solidFill>
                  <a:schemeClr val="tx1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PULP Platform</a:t>
            </a:r>
            <a:br>
              <a:rPr lang="en-US" sz="1429" b="0" i="0" noProof="0" dirty="0">
                <a:solidFill>
                  <a:schemeClr val="tx1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</a:br>
            <a:r>
              <a:rPr lang="en-US" sz="1429" b="0" i="0" noProof="0" dirty="0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Open Source Hardware, the way it should be!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E1C72157-447E-AAA3-80DA-9A3928C6C6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6116" y="2913663"/>
            <a:ext cx="4571806" cy="1285416"/>
          </a:xfrm>
        </p:spPr>
        <p:txBody>
          <a:bodyPr/>
          <a:lstStyle>
            <a:lvl1pPr marL="0" indent="0">
              <a:buNone/>
              <a:defRPr sz="1587" b="0">
                <a:solidFill>
                  <a:schemeClr val="accent3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b="1" noProof="0" dirty="0">
                <a:latin typeface="+mj-lt"/>
              </a:rPr>
              <a:t>Author Name 1    </a:t>
            </a:r>
            <a:r>
              <a:rPr lang="en-US" noProof="0" dirty="0">
                <a:solidFill>
                  <a:schemeClr val="tx1"/>
                </a:solidFill>
              </a:rPr>
              <a:t>mail1@iis.ee.ethz.ch</a:t>
            </a:r>
            <a:br>
              <a:rPr lang="en-US" noProof="0" dirty="0">
                <a:solidFill>
                  <a:schemeClr val="tx1"/>
                </a:solidFill>
              </a:rPr>
            </a:br>
            <a:r>
              <a:rPr lang="en-US" b="1" noProof="0" dirty="0">
                <a:latin typeface="+mj-lt"/>
              </a:rPr>
              <a:t>Author Name 2    </a:t>
            </a:r>
            <a:r>
              <a:rPr lang="en-US" noProof="0" dirty="0">
                <a:solidFill>
                  <a:schemeClr val="tx1"/>
                </a:solidFill>
              </a:rPr>
              <a:t>mail2@iis.ee.ethz.ch</a:t>
            </a:r>
            <a:br>
              <a:rPr lang="en-US" b="1" noProof="0" dirty="0">
                <a:latin typeface="+mj-lt"/>
              </a:rPr>
            </a:br>
            <a:r>
              <a:rPr lang="en-US" b="1" noProof="0" dirty="0">
                <a:latin typeface="+mj-lt"/>
              </a:rPr>
              <a:t>Author Name 3    </a:t>
            </a:r>
            <a:r>
              <a:rPr lang="en-US" noProof="0" dirty="0">
                <a:solidFill>
                  <a:schemeClr val="tx1"/>
                </a:solidFill>
              </a:rPr>
              <a:t>mail3@unibo.it</a:t>
            </a:r>
            <a:br>
              <a:rPr lang="en-US" b="1" noProof="0" dirty="0">
                <a:latin typeface="+mj-lt"/>
              </a:rPr>
            </a:br>
            <a:r>
              <a:rPr lang="en-US" b="1" noProof="0" dirty="0">
                <a:latin typeface="+mj-lt"/>
              </a:rPr>
              <a:t>Author Name 4    </a:t>
            </a:r>
            <a:r>
              <a:rPr lang="en-US" noProof="0" dirty="0">
                <a:solidFill>
                  <a:schemeClr val="tx1"/>
                </a:solidFill>
              </a:rPr>
              <a:t>mail4@unibo.it</a:t>
            </a:r>
            <a:endParaRPr lang="en-US" b="1" noProof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1996459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077E-5042-0548-869A-7270756A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174C9C-B987-0541-A176-A2B2DAD7ED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6" y="742930"/>
            <a:ext cx="8000663" cy="4143263"/>
          </a:xfrm>
        </p:spPr>
        <p:txBody>
          <a:bodyPr lIns="0"/>
          <a:lstStyle>
            <a:lvl1pPr marL="228589" indent="-228589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400025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571464" indent="-171442">
              <a:buClrTx/>
              <a:buFont typeface="Arial" panose="020B0604020202020204" pitchFamily="34" charset="0"/>
              <a:buChar char="•"/>
              <a:defRPr sz="1429">
                <a:solidFill>
                  <a:schemeClr val="tx1"/>
                </a:solidFill>
              </a:defRPr>
            </a:lvl3pPr>
            <a:lvl4pPr marL="742903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914342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E741D-DF86-4A3D-DF9D-A4FFA6F777A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87C1C-F0E1-9B48-6BC9-7FFF56ADE91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25940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by-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5" y="742930"/>
            <a:ext cx="4000331" cy="4143263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37708" y="742930"/>
            <a:ext cx="4000331" cy="4143263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9B5078-341C-4154-4064-BE0AD2B3F9D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EADA4-720D-7361-338C-106924EF745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22040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n-Thi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94757" y="742930"/>
            <a:ext cx="5143282" cy="41432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8" y="742930"/>
            <a:ext cx="2857379" cy="41432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BBB8B8-3BA4-B4B8-A5C5-6B943984B65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C55C4-9751-FC37-00B6-D3B10C1817F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18494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ck-Th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8" y="742930"/>
            <a:ext cx="5143282" cy="41432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80660" y="742930"/>
            <a:ext cx="2857379" cy="41432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F29531-4266-41D8-C902-18438A77E80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ADBFD-8297-D7FA-8C82-37223A28A9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2074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lus 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71930-E256-A84E-8AC4-067EFE37D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4A658AA-5F13-9145-AA9C-7217BB8AFC6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8" y="742930"/>
            <a:ext cx="8000661" cy="2000196"/>
          </a:xfrm>
          <a:effectLst/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DBBDF1A2-5CF8-E945-BD80-7B75AF0E158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37377" y="2745388"/>
            <a:ext cx="4000331" cy="214306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D52D67F4-7CD9-7D48-9F3C-897EB7BBCA2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37708" y="2745388"/>
            <a:ext cx="4000331" cy="214306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8C37B2-5C80-94D6-1AEA-FC88E0D7A64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01DA4-BFA2-822A-E2BF-DBC2248BD71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16818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by-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44543" y="742930"/>
            <a:ext cx="2571641" cy="4000392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7EFD657C-081B-244B-977B-C089FB58A1D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59056" y="742930"/>
            <a:ext cx="2571641" cy="4000392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C466C897-17D8-464D-80AC-5BEDA0432F9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673566" y="742930"/>
            <a:ext cx="2571641" cy="4000392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3B2C5F9-4358-A05F-BE1B-DC3232E3A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E2525F-FE6F-3F2A-87F8-E53C217DF63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30934-A358-D4CE-05CE-858B26903D6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66780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40763" y="742930"/>
            <a:ext cx="4000331" cy="200019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7EFD657C-081B-244B-977B-C089FB58A1D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241096" y="742930"/>
            <a:ext cx="4000331" cy="200019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A7A6DD52-705F-8C4E-BFBD-BE67BF0FB65A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240763" y="2743126"/>
            <a:ext cx="4000331" cy="200019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A3ED5591-6176-CF4B-A32B-DDE9257B1FB2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241096" y="2743126"/>
            <a:ext cx="4000331" cy="200019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92C3703-F424-8B60-F39C-21AD97BED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9A470E-C584-A4A1-8BE3-D0FEE790247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DD1A2-6488-61E8-64DC-5E07F8B192F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668455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492CF-D048-CF47-9D04-62CE98A96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1ECC96-5C3D-1CA7-88A0-A48C53075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98AFC-21DE-CE33-4051-59D40FE7A6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51322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B950E2-5B08-DE4D-85C1-073281664B68}"/>
              </a:ext>
            </a:extLst>
          </p:cNvPr>
          <p:cNvSpPr txBox="1"/>
          <p:nvPr userDrawn="1"/>
        </p:nvSpPr>
        <p:spPr>
          <a:xfrm>
            <a:off x="748937" y="392233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571464"/>
            <a:endParaRPr lang="en-US" sz="1905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683599-52C6-66B6-B195-3B42A9179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986D1-30CD-4299-12D8-EE049F90DC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18048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077E-5042-0548-869A-7270756A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174C9C-B987-0541-A176-A2B2DAD7ED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6" y="742930"/>
            <a:ext cx="8000663" cy="4143263"/>
          </a:xfrm>
        </p:spPr>
        <p:txBody>
          <a:bodyPr lIns="0"/>
          <a:lstStyle>
            <a:lvl1pPr marL="228589" indent="-228589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400025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571464" indent="-171442">
              <a:buClrTx/>
              <a:buFont typeface="Arial" panose="020B0604020202020204" pitchFamily="34" charset="0"/>
              <a:buChar char="•"/>
              <a:defRPr sz="1429">
                <a:solidFill>
                  <a:schemeClr val="tx1"/>
                </a:solidFill>
              </a:defRPr>
            </a:lvl3pPr>
            <a:lvl4pPr marL="742903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914342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511728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492CF-D048-CF47-9D04-62CE98A96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6407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2956A24-FE4F-CC41-AE52-8BE952BA285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4839" y="284194"/>
            <a:ext cx="8000663" cy="471474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EE65FE-2553-922C-9C05-7425A35329C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1E03E8-F737-F054-80B2-299F72A034B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8423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05887B-DECF-1909-0106-C271E1383F76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5" y="742930"/>
            <a:ext cx="4000331" cy="4143263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5918503-FD68-0985-DC60-130D6429AF17}"/>
              </a:ext>
            </a:extLst>
          </p:cNvPr>
          <p:cNvGrpSpPr/>
          <p:nvPr userDrawn="1"/>
        </p:nvGrpSpPr>
        <p:grpSpPr>
          <a:xfrm>
            <a:off x="8302281" y="111861"/>
            <a:ext cx="736048" cy="631650"/>
            <a:chOff x="10460009" y="140930"/>
            <a:chExt cx="927344" cy="79580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770F9B2-741C-86BF-4B24-4F75FD9B6DB8}"/>
                </a:ext>
              </a:extLst>
            </p:cNvPr>
            <p:cNvSpPr/>
            <p:nvPr userDrawn="1"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111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A97EAC4-39EA-2FF4-B3A4-C50D63D1EA52}"/>
                </a:ext>
              </a:extLst>
            </p:cNvPr>
            <p:cNvSpPr/>
            <p:nvPr userDrawn="1"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111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727814A-F32D-DC8B-CECB-BD209099B5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ln w="66675">
              <a:noFill/>
            </a:ln>
          </p:spPr>
        </p:pic>
      </p:grp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FD6D6212-ED77-0BC8-29BC-26AA6DBF80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0" y="742930"/>
            <a:ext cx="4576558" cy="4143263"/>
          </a:xfrm>
        </p:spPr>
        <p:txBody>
          <a:bodyPr lIns="468000" tIns="252000"/>
          <a:lstStyle>
            <a:lvl1pPr marL="0" indent="0">
              <a:lnSpc>
                <a:spcPts val="794"/>
              </a:lnSpc>
              <a:buNone/>
              <a:defRPr sz="1429" b="0">
                <a:solidFill>
                  <a:schemeClr val="bg2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n-US" dirty="0"/>
              <a:t>Click to edit code</a:t>
            </a:r>
          </a:p>
        </p:txBody>
      </p:sp>
    </p:spTree>
    <p:extLst>
      <p:ext uri="{BB962C8B-B14F-4D97-AF65-F5344CB8AC3E}">
        <p14:creationId xmlns:p14="http://schemas.microsoft.com/office/powerpoint/2010/main" val="60859986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05887B-DECF-1909-0106-C271E1383F76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5" y="742930"/>
            <a:ext cx="4000331" cy="4143263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5918503-FD68-0985-DC60-130D6429AF17}"/>
              </a:ext>
            </a:extLst>
          </p:cNvPr>
          <p:cNvGrpSpPr/>
          <p:nvPr userDrawn="1"/>
        </p:nvGrpSpPr>
        <p:grpSpPr>
          <a:xfrm>
            <a:off x="8302281" y="111861"/>
            <a:ext cx="736048" cy="631650"/>
            <a:chOff x="10460009" y="140930"/>
            <a:chExt cx="927344" cy="79580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770F9B2-741C-86BF-4B24-4F75FD9B6DB8}"/>
                </a:ext>
              </a:extLst>
            </p:cNvPr>
            <p:cNvSpPr/>
            <p:nvPr userDrawn="1"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111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A97EAC4-39EA-2FF4-B3A4-C50D63D1EA52}"/>
                </a:ext>
              </a:extLst>
            </p:cNvPr>
            <p:cNvSpPr/>
            <p:nvPr userDrawn="1"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111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727814A-F32D-DC8B-CECB-BD209099B5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ln w="66675">
              <a:noFill/>
            </a:ln>
          </p:spPr>
        </p:pic>
      </p:grp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FD6D6212-ED77-0BC8-29BC-26AA6DBF80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0" y="742930"/>
            <a:ext cx="4576558" cy="4143263"/>
          </a:xfrm>
        </p:spPr>
        <p:txBody>
          <a:bodyPr lIns="468000" tIns="252000"/>
          <a:lstStyle>
            <a:lvl1pPr marL="0" indent="0">
              <a:lnSpc>
                <a:spcPts val="794"/>
              </a:lnSpc>
              <a:buNone/>
              <a:defRPr sz="1429" b="0">
                <a:solidFill>
                  <a:schemeClr val="bg2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n-US" dirty="0"/>
              <a:t>Click to edit code</a:t>
            </a:r>
          </a:p>
        </p:txBody>
      </p:sp>
    </p:spTree>
    <p:extLst>
      <p:ext uri="{BB962C8B-B14F-4D97-AF65-F5344CB8AC3E}">
        <p14:creationId xmlns:p14="http://schemas.microsoft.com/office/powerpoint/2010/main" val="38137312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62288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107033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+ Q&amp;A">
    <p:bg>
      <p:bgPr>
        <a:solidFill>
          <a:srgbClr val="B4B4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8150BE-61A2-B1E2-756A-7134BE7E136A}"/>
              </a:ext>
            </a:extLst>
          </p:cNvPr>
          <p:cNvSpPr txBox="1"/>
          <p:nvPr userDrawn="1"/>
        </p:nvSpPr>
        <p:spPr>
          <a:xfrm>
            <a:off x="1532190" y="1567205"/>
            <a:ext cx="2474926" cy="678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10" b="0" i="0" u="none" dirty="0">
                <a:solidFill>
                  <a:schemeClr val="bg2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Thank you!</a:t>
            </a:r>
          </a:p>
        </p:txBody>
      </p:sp>
      <p:sp>
        <p:nvSpPr>
          <p:cNvPr id="7" name="Google Shape;1096;p28">
            <a:extLst>
              <a:ext uri="{FF2B5EF4-FFF2-40B4-BE49-F238E27FC236}">
                <a16:creationId xmlns:a16="http://schemas.microsoft.com/office/drawing/2014/main" id="{9EB57577-2B72-4910-D401-BBB6EDA09B5E}"/>
              </a:ext>
            </a:extLst>
          </p:cNvPr>
          <p:cNvSpPr/>
          <p:nvPr userDrawn="1"/>
        </p:nvSpPr>
        <p:spPr>
          <a:xfrm>
            <a:off x="5152842" y="1180109"/>
            <a:ext cx="2574968" cy="2575008"/>
          </a:xfrm>
          <a:custGeom>
            <a:avLst/>
            <a:gdLst/>
            <a:ahLst/>
            <a:cxnLst/>
            <a:rect l="l" t="t" r="r" b="b"/>
            <a:pathLst>
              <a:path w="158750" h="158750" extrusionOk="0">
                <a:moveTo>
                  <a:pt x="8255" y="0"/>
                </a:moveTo>
                <a:cubicBezTo>
                  <a:pt x="3810" y="0"/>
                  <a:pt x="0" y="3810"/>
                  <a:pt x="0" y="8255"/>
                </a:cubicBezTo>
                <a:lnTo>
                  <a:pt x="0" y="119380"/>
                </a:lnTo>
                <a:lnTo>
                  <a:pt x="31750" y="87630"/>
                </a:lnTo>
                <a:lnTo>
                  <a:pt x="111125" y="87630"/>
                </a:lnTo>
                <a:cubicBezTo>
                  <a:pt x="115570" y="87630"/>
                  <a:pt x="119380" y="83820"/>
                  <a:pt x="119380" y="79375"/>
                </a:cubicBezTo>
                <a:lnTo>
                  <a:pt x="119380" y="8255"/>
                </a:lnTo>
                <a:cubicBezTo>
                  <a:pt x="119380" y="3810"/>
                  <a:pt x="115570" y="0"/>
                  <a:pt x="111125" y="0"/>
                </a:cubicBezTo>
                <a:close/>
                <a:moveTo>
                  <a:pt x="135255" y="31750"/>
                </a:moveTo>
                <a:lnTo>
                  <a:pt x="135255" y="103505"/>
                </a:lnTo>
                <a:lnTo>
                  <a:pt x="31750" y="103505"/>
                </a:lnTo>
                <a:lnTo>
                  <a:pt x="31750" y="119380"/>
                </a:lnTo>
                <a:cubicBezTo>
                  <a:pt x="31750" y="123190"/>
                  <a:pt x="35560" y="127000"/>
                  <a:pt x="40005" y="127000"/>
                </a:cubicBezTo>
                <a:lnTo>
                  <a:pt x="127000" y="127000"/>
                </a:lnTo>
                <a:lnTo>
                  <a:pt x="158750" y="158750"/>
                </a:lnTo>
                <a:lnTo>
                  <a:pt x="158750" y="40005"/>
                </a:lnTo>
                <a:cubicBezTo>
                  <a:pt x="158750" y="35560"/>
                  <a:pt x="154940" y="31750"/>
                  <a:pt x="151130" y="3175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72566" tIns="72566" rIns="72566" bIns="72566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11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AD5AEE-A9BE-AED9-1997-707BCB05F17E}"/>
              </a:ext>
            </a:extLst>
          </p:cNvPr>
          <p:cNvSpPr txBox="1"/>
          <p:nvPr userDrawn="1"/>
        </p:nvSpPr>
        <p:spPr>
          <a:xfrm>
            <a:off x="5545462" y="1591634"/>
            <a:ext cx="1160551" cy="629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92" b="1" i="0" u="none" dirty="0">
                <a:solidFill>
                  <a:srgbClr val="B4B4B6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88953714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rd Slide">
  <p:cSld name="1_Standard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>
            <a:spLocks noGrp="1"/>
          </p:cNvSpPr>
          <p:nvPr>
            <p:ph type="title"/>
          </p:nvPr>
        </p:nvSpPr>
        <p:spPr>
          <a:xfrm>
            <a:off x="237379" y="135245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body" idx="1"/>
          </p:nvPr>
        </p:nvSpPr>
        <p:spPr>
          <a:xfrm>
            <a:off x="237375" y="742931"/>
            <a:ext cx="800067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192" lvl="0" indent="-336544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>
                <a:solidFill>
                  <a:schemeClr val="dk1"/>
                </a:solidFill>
              </a:defRPr>
            </a:lvl1pPr>
            <a:lvl2pPr marL="914384" lvl="1" indent="-317494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marL="1371576" lvl="2" indent="-31114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400">
                <a:solidFill>
                  <a:schemeClr val="dk1"/>
                </a:solidFill>
              </a:defRPr>
            </a:lvl3pPr>
            <a:lvl4pPr marL="1828768" lvl="3" indent="-28574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>
                <a:solidFill>
                  <a:schemeClr val="dk1"/>
                </a:solidFill>
              </a:defRPr>
            </a:lvl4pPr>
            <a:lvl5pPr marL="2285960" lvl="4" indent="-27939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marL="2743153" lvl="5" indent="-3174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344" lvl="6" indent="-3174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536" lvl="7" indent="-3174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729" lvl="8" indent="-3174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sldNum" idx="12"/>
          </p:nvPr>
        </p:nvSpPr>
        <p:spPr>
          <a:xfrm>
            <a:off x="8659791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72736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32.xml"/><Relationship Id="rId21" Type="http://schemas.openxmlformats.org/officeDocument/2006/relationships/image" Target="../media/image9.png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45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23" Type="http://schemas.openxmlformats.org/officeDocument/2006/relationships/image" Target="../media/image11.png"/><Relationship Id="rId10" Type="http://schemas.openxmlformats.org/officeDocument/2006/relationships/slideLayout" Target="../slideLayouts/slideLayout39.xml"/><Relationship Id="rId19" Type="http://schemas.openxmlformats.org/officeDocument/2006/relationships/slideLayout" Target="../slideLayouts/slideLayout48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Relationship Id="rId22" Type="http://schemas.openxmlformats.org/officeDocument/2006/relationships/image" Target="../media/image10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 rot="-5400000">
            <a:off x="8255518" y="5"/>
            <a:ext cx="888498" cy="888486"/>
          </a:xfrm>
          <a:prstGeom prst="triangle">
            <a:avLst>
              <a:gd name="adj" fmla="val 100000"/>
            </a:avLst>
          </a:prstGeom>
          <a:solidFill>
            <a:srgbClr val="16863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 sz="29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237378" y="743510"/>
            <a:ext cx="800067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marR="0" lvl="0" indent="-3365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11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/>
          <p:nvPr/>
        </p:nvSpPr>
        <p:spPr>
          <a:xfrm>
            <a:off x="5613176" y="372158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chemeClr val="dk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5" name="Google Shape;55;p13"/>
          <p:cNvSpPr/>
          <p:nvPr/>
        </p:nvSpPr>
        <p:spPr>
          <a:xfrm rot="2700024">
            <a:off x="8314439" y="285449"/>
            <a:ext cx="284473" cy="284473"/>
          </a:xfrm>
          <a:prstGeom prst="roundRect">
            <a:avLst>
              <a:gd name="adj" fmla="val 523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6" name="Google Shape;56;p13"/>
          <p:cNvSpPr/>
          <p:nvPr/>
        </p:nvSpPr>
        <p:spPr>
          <a:xfrm rot="2700024">
            <a:off x="8466252" y="172389"/>
            <a:ext cx="510593" cy="510593"/>
          </a:xfrm>
          <a:prstGeom prst="roundRect">
            <a:avLst>
              <a:gd name="adj" fmla="val 523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20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02290" y="111860"/>
            <a:ext cx="736049" cy="631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 rotWithShape="1">
          <a:blip r:embed="rId21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7378" y="4887852"/>
            <a:ext cx="877914" cy="1463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13"/>
          <p:cNvGrpSpPr/>
          <p:nvPr/>
        </p:nvGrpSpPr>
        <p:grpSpPr>
          <a:xfrm>
            <a:off x="1218693" y="4855937"/>
            <a:ext cx="1063846" cy="230074"/>
            <a:chOff x="3645356" y="188193"/>
            <a:chExt cx="5677387" cy="1227805"/>
          </a:xfrm>
        </p:grpSpPr>
        <p:pic>
          <p:nvPicPr>
            <p:cNvPr id="60" name="Google Shape;60;p13"/>
            <p:cNvPicPr preferRelativeResize="0"/>
            <p:nvPr/>
          </p:nvPicPr>
          <p:blipFill rotWithShape="1">
            <a:blip r:embed="rId2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5667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" name="Google Shape;61;p13"/>
            <p:cNvPicPr preferRelativeResize="0"/>
            <p:nvPr/>
          </p:nvPicPr>
          <p:blipFill rotWithShape="1">
            <a:blip r:embed="rId2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2" name="Google Shape;62;p13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99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1A68F4BE-4FA3-A584-7D5F-A0B5C00AA917}"/>
              </a:ext>
            </a:extLst>
          </p:cNvPr>
          <p:cNvSpPr/>
          <p:nvPr userDrawn="1"/>
        </p:nvSpPr>
        <p:spPr>
          <a:xfrm rot="16200000">
            <a:off x="8255509" y="5"/>
            <a:ext cx="888498" cy="888485"/>
          </a:xfrm>
          <a:prstGeom prst="triangle">
            <a:avLst>
              <a:gd name="adj" fmla="val 100000"/>
            </a:avLst>
          </a:prstGeom>
          <a:solidFill>
            <a:srgbClr val="16863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7378" y="135245"/>
            <a:ext cx="8000661" cy="492787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 dirty="0"/>
              <a:t>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7377" y="743510"/>
            <a:ext cx="8000663" cy="4143263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/>
          <a:p>
            <a:pPr lvl="0"/>
            <a:r>
              <a:rPr lang="en-US" noProof="0" dirty="0"/>
              <a:t>First line of text</a:t>
            </a:r>
          </a:p>
          <a:p>
            <a:pPr lvl="1"/>
            <a:r>
              <a:rPr lang="en-US" noProof="0" dirty="0"/>
              <a:t>Subtitle</a:t>
            </a:r>
          </a:p>
          <a:p>
            <a:pPr lvl="2"/>
            <a:r>
              <a:rPr lang="en-US" noProof="0" dirty="0"/>
              <a:t>Sub-subtitle</a:t>
            </a:r>
          </a:p>
          <a:p>
            <a:pPr lvl="3"/>
            <a:r>
              <a:rPr lang="en-US" noProof="0" dirty="0"/>
              <a:t>This level should not be used</a:t>
            </a:r>
          </a:p>
          <a:p>
            <a:pPr lvl="4"/>
            <a:r>
              <a:rPr lang="en-US" noProof="0" dirty="0"/>
              <a:t>This level should not be used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1254CD-0FE2-BE4E-B26C-04DE1C684BCF}"/>
              </a:ext>
            </a:extLst>
          </p:cNvPr>
          <p:cNvSpPr txBox="1"/>
          <p:nvPr userDrawn="1"/>
        </p:nvSpPr>
        <p:spPr>
          <a:xfrm>
            <a:off x="5613169" y="372158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571464"/>
            <a:endParaRPr lang="en-US" sz="1905" b="0" i="0" noProof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3039F93-7DF2-60D6-16FF-CF97CC82260A}"/>
              </a:ext>
            </a:extLst>
          </p:cNvPr>
          <p:cNvSpPr/>
          <p:nvPr userDrawn="1"/>
        </p:nvSpPr>
        <p:spPr>
          <a:xfrm rot="2700000">
            <a:off x="8314429" y="285451"/>
            <a:ext cx="284475" cy="284470"/>
          </a:xfrm>
          <a:prstGeom prst="roundRect">
            <a:avLst>
              <a:gd name="adj" fmla="val 523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9CDF760-B7EB-2325-77A0-22D2F750C836}"/>
              </a:ext>
            </a:extLst>
          </p:cNvPr>
          <p:cNvSpPr/>
          <p:nvPr userDrawn="1"/>
        </p:nvSpPr>
        <p:spPr>
          <a:xfrm rot="2700000">
            <a:off x="8466240" y="172391"/>
            <a:ext cx="510597" cy="510589"/>
          </a:xfrm>
          <a:prstGeom prst="roundRect">
            <a:avLst>
              <a:gd name="adj" fmla="val 523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7EA5A80-7EE5-E82F-A70F-F148FEF32070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8302281" y="111861"/>
            <a:ext cx="736048" cy="631650"/>
          </a:xfrm>
          <a:prstGeom prst="rect">
            <a:avLst/>
          </a:prstGeom>
          <a:ln w="66675">
            <a:noFill/>
          </a:ln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CE150080-BAE7-649E-4121-028FCE97E9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37378" y="4887852"/>
            <a:ext cx="877913" cy="146321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E131B79E-8CB6-5631-3915-CC4CDC568AD6}"/>
              </a:ext>
            </a:extLst>
          </p:cNvPr>
          <p:cNvGrpSpPr/>
          <p:nvPr userDrawn="1"/>
        </p:nvGrpSpPr>
        <p:grpSpPr>
          <a:xfrm>
            <a:off x="1218691" y="4855937"/>
            <a:ext cx="1063845" cy="230074"/>
            <a:chOff x="3645356" y="188193"/>
            <a:chExt cx="5677387" cy="1227805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1FF2B1B9-AABB-9441-96A8-CE0074DD28E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3"/>
            <a:srcRect l="25668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30E9E285-4AAB-8031-4F60-6404016D576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3"/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</p:spPr>
        </p:pic>
      </p:grpSp>
      <p:sp>
        <p:nvSpPr>
          <p:cNvPr id="4" name="Date Placeholder 12">
            <a:extLst>
              <a:ext uri="{FF2B5EF4-FFF2-40B4-BE49-F238E27FC236}">
                <a16:creationId xmlns:a16="http://schemas.microsoft.com/office/drawing/2014/main" id="{B8319E33-4883-AE4B-34D5-D48A9C68F7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82696" y="4871789"/>
            <a:ext cx="5429020" cy="2285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2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QuantSparse 3D - Bowen Wang, Paul Scheffler</a:t>
            </a:r>
            <a:endParaRPr lang="en-US" dirty="0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E9C8C412-C6D2-5E89-86AA-4DBE576627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59781" y="4871177"/>
            <a:ext cx="428607" cy="2285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2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</a:lstStyle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417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  <p:sldLayoutId id="2147483698" r:id="rId19"/>
  </p:sldLayoutIdLst>
  <p:hf hdr="0" ftr="0"/>
  <p:txStyles>
    <p:titleStyle>
      <a:lvl1pPr algn="l" defTabSz="685770" rtl="0" eaLnBrk="1" latinLnBrk="0" hangingPunct="1">
        <a:lnSpc>
          <a:spcPct val="90000"/>
        </a:lnSpc>
        <a:spcBef>
          <a:spcPct val="0"/>
        </a:spcBef>
        <a:buNone/>
        <a:defRPr sz="2857" b="0" i="0" kern="1200" spc="-79" baseline="0">
          <a:ln w="15875" cmpd="sng">
            <a:noFill/>
            <a:round/>
          </a:ln>
          <a:solidFill>
            <a:schemeClr val="accent3"/>
          </a:solidFill>
          <a:latin typeface="+mj-lt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228589" indent="-228589" algn="l" defTabSz="571464" rtl="0" eaLnBrk="1" latinLnBrk="0" hangingPunct="1">
        <a:lnSpc>
          <a:spcPct val="100000"/>
        </a:lnSpc>
        <a:spcBef>
          <a:spcPts val="952"/>
        </a:spcBef>
        <a:buClr>
          <a:schemeClr val="tx1"/>
        </a:buClr>
        <a:buSzPct val="90000"/>
        <a:buFont typeface="Arial" panose="020B0604020202020204" pitchFamily="34" charset="0"/>
        <a:buChar char="•"/>
        <a:defRPr sz="1905" b="1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1pPr>
      <a:lvl2pPr marL="400025" indent="-171442" algn="l" defTabSz="571464" rtl="0" eaLnBrk="1" latinLnBrk="0" hangingPunct="1">
        <a:lnSpc>
          <a:spcPct val="100000"/>
        </a:lnSpc>
        <a:spcBef>
          <a:spcPts val="476"/>
        </a:spcBef>
        <a:buClr>
          <a:schemeClr val="tx1"/>
        </a:buClr>
        <a:buSzPct val="90000"/>
        <a:buFont typeface="Arial" panose="020B0604020202020204" pitchFamily="34" charset="0"/>
        <a:buChar char="•"/>
        <a:defRPr sz="1587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2pPr>
      <a:lvl3pPr marL="571464" indent="-171442" algn="l" defTabSz="685770" rtl="0" eaLnBrk="1" latinLnBrk="0" hangingPunct="1">
        <a:lnSpc>
          <a:spcPct val="100000"/>
        </a:lnSpc>
        <a:spcBef>
          <a:spcPts val="476"/>
        </a:spcBef>
        <a:buClr>
          <a:schemeClr val="tx1"/>
        </a:buClr>
        <a:buSzPct val="90000"/>
        <a:buFont typeface="Arial" panose="020B0604020202020204" pitchFamily="34" charset="0"/>
        <a:buChar char="•"/>
        <a:defRPr sz="1429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3pPr>
      <a:lvl4pPr marL="742903" indent="-171442" algn="l" defTabSz="68577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SzPct val="90000"/>
        <a:buFont typeface="Arial" panose="020B0604020202020204" pitchFamily="34" charset="0"/>
        <a:buChar char="•"/>
        <a:defRPr sz="952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4pPr>
      <a:lvl5pPr marL="914342" indent="-171442" algn="l" defTabSz="68577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SzPct val="90000"/>
        <a:buFont typeface="Arial" panose="020B0604020202020204" pitchFamily="34" charset="0"/>
        <a:buChar char="•"/>
        <a:defRPr sz="873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5pPr>
      <a:lvl6pPr marL="1885868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52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37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22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5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4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2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1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9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8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>
            <a:spLocks noGrp="1"/>
          </p:cNvSpPr>
          <p:nvPr>
            <p:ph type="subTitle" idx="1"/>
          </p:nvPr>
        </p:nvSpPr>
        <p:spPr>
          <a:xfrm>
            <a:off x="286116" y="2364675"/>
            <a:ext cx="4571811" cy="28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"/>
              <a:t>Integrated Systems Laboratory (ETH Zürich)</a:t>
            </a:r>
            <a:endParaRPr/>
          </a:p>
        </p:txBody>
      </p:sp>
      <p:sp>
        <p:nvSpPr>
          <p:cNvPr id="182" name="Google Shape;182;p32"/>
          <p:cNvSpPr txBox="1">
            <a:spLocks noGrp="1"/>
          </p:cNvSpPr>
          <p:nvPr>
            <p:ph type="title"/>
          </p:nvPr>
        </p:nvSpPr>
        <p:spPr>
          <a:xfrm>
            <a:off x="286116" y="1382921"/>
            <a:ext cx="8000670" cy="830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</a:pPr>
            <a:r>
              <a:rPr lang="en-US" dirty="0"/>
              <a:t>QuantSparse3D 2026-09-10 Bi-weekly</a:t>
            </a:r>
            <a:endParaRPr dirty="0"/>
          </a:p>
        </p:txBody>
      </p:sp>
      <p:sp>
        <p:nvSpPr>
          <p:cNvPr id="183" name="Google Shape;183;p32"/>
          <p:cNvSpPr txBox="1">
            <a:spLocks noGrp="1"/>
          </p:cNvSpPr>
          <p:nvPr>
            <p:ph type="body" idx="2"/>
          </p:nvPr>
        </p:nvSpPr>
        <p:spPr>
          <a:xfrm>
            <a:off x="286116" y="2952542"/>
            <a:ext cx="4571811" cy="128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b="1" dirty="0">
                <a:solidFill>
                  <a:srgbClr val="168638"/>
                </a:solidFill>
                <a:latin typeface="Calibri"/>
                <a:ea typeface="Calibri"/>
                <a:cs typeface="Calibri"/>
                <a:sym typeface="Calibri"/>
              </a:rPr>
              <a:t>Bowen Wang</a:t>
            </a:r>
            <a:r>
              <a:rPr lang="en" dirty="0">
                <a:solidFill>
                  <a:srgbClr val="168638"/>
                </a:solidFill>
              </a:rPr>
              <a:t>          </a:t>
            </a:r>
            <a:r>
              <a:rPr lang="en" dirty="0" err="1">
                <a:solidFill>
                  <a:srgbClr val="000000"/>
                </a:solidFill>
              </a:rPr>
              <a:t>bowwang@iis.ee.ethz.ch</a:t>
            </a:r>
            <a:endParaRPr lang="en" dirty="0">
              <a:solidFill>
                <a:schemeClr val="dk1"/>
              </a:solidFill>
            </a:endParaRPr>
          </a:p>
          <a:p>
            <a:pPr marL="0" lvl="0" indent="0">
              <a:spcBef>
                <a:spcPts val="0"/>
              </a:spcBef>
            </a:pPr>
            <a:r>
              <a:rPr lang="en" b="1" dirty="0">
                <a:solidFill>
                  <a:srgbClr val="168638"/>
                </a:solidFill>
              </a:rPr>
              <a:t>Chi Zhang      </a:t>
            </a:r>
            <a:r>
              <a:rPr lang="en" dirty="0">
                <a:solidFill>
                  <a:srgbClr val="168638"/>
                </a:solidFill>
              </a:rPr>
              <a:t>          </a:t>
            </a:r>
            <a:r>
              <a:rPr lang="en" dirty="0" err="1">
                <a:solidFill>
                  <a:srgbClr val="000000"/>
                </a:solidFill>
              </a:rPr>
              <a:t>chizhang@iis.ee.ethz.ch</a:t>
            </a:r>
            <a:br>
              <a:rPr lang="en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lang="en" b="1" dirty="0">
                <a:latin typeface="Calibri"/>
                <a:ea typeface="Calibri"/>
                <a:cs typeface="Calibri"/>
                <a:sym typeface="Calibri"/>
              </a:rPr>
              <a:t>Luca Benini</a:t>
            </a:r>
            <a:r>
              <a:rPr lang="en" b="1" dirty="0"/>
              <a:t>             </a:t>
            </a:r>
            <a:r>
              <a:rPr lang="en" dirty="0" err="1">
                <a:solidFill>
                  <a:schemeClr val="dk1"/>
                </a:solidFill>
              </a:rPr>
              <a:t>lbenini@iis.ee.ethz.ch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84" name="Google Shape;184;p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3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</a:pPr>
            <a:r>
              <a:rPr lang="en" dirty="0"/>
              <a:t>Agenda</a:t>
            </a:r>
            <a:endParaRPr dirty="0"/>
          </a:p>
        </p:txBody>
      </p:sp>
      <p:sp>
        <p:nvSpPr>
          <p:cNvPr id="190" name="Google Shape;190;p33"/>
          <p:cNvSpPr txBox="1">
            <a:spLocks noGrp="1"/>
          </p:cNvSpPr>
          <p:nvPr>
            <p:ph type="body" idx="1"/>
          </p:nvPr>
        </p:nvSpPr>
        <p:spPr>
          <a:xfrm>
            <a:off x="237376" y="2165447"/>
            <a:ext cx="8000672" cy="2705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/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" dirty="0"/>
              <a:t>Progress Update</a:t>
            </a:r>
          </a:p>
          <a:p>
            <a:pPr lvl="1" indent="-336550">
              <a:lnSpc>
                <a:spcPct val="150000"/>
              </a:lnSpc>
              <a:spcBef>
                <a:spcPts val="0"/>
              </a:spcBef>
              <a:buSzPts val="1700"/>
            </a:pPr>
            <a:r>
              <a:rPr lang="en" dirty="0"/>
              <a:t>Sparsity handling in memory endpoints, RTL and GVSoC model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" dirty="0"/>
              <a:t>Timeline</a:t>
            </a: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" dirty="0"/>
              <a:t>Discussion</a:t>
            </a:r>
            <a:endParaRPr dirty="0"/>
          </a:p>
        </p:txBody>
      </p:sp>
      <p:sp>
        <p:nvSpPr>
          <p:cNvPr id="191" name="Google Shape;191;p33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QuantSparse 3D - Bowen Wang, Chi Zhang</a:t>
            </a:r>
            <a:endParaRPr dirty="0"/>
          </a:p>
        </p:txBody>
      </p:sp>
      <p:sp>
        <p:nvSpPr>
          <p:cNvPr id="192" name="Google Shape;192;p33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pic>
        <p:nvPicPr>
          <p:cNvPr id="2" name="图片 5">
            <a:extLst>
              <a:ext uri="{FF2B5EF4-FFF2-40B4-BE49-F238E27FC236}">
                <a16:creationId xmlns:a16="http://schemas.microsoft.com/office/drawing/2014/main" id="{9FC1C4D1-DFD0-711B-F068-3F3A837693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2840" y="956662"/>
            <a:ext cx="7878316" cy="11575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A4C3C-52AB-F261-664F-9C1F565F7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F7595-993C-D268-2A81-3927EF086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i="1" dirty="0"/>
              <a:t>Recap</a:t>
            </a:r>
            <a:r>
              <a:rPr lang="en-US" altLang="zh-CN" sz="2400" dirty="0"/>
              <a:t>: Sparse-capable DMA Extension</a:t>
            </a:r>
            <a:endParaRPr lang="en-US" sz="2400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02944-16E9-13D3-89D7-9AE786D238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3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2AFEC0-3F14-B2FC-7D11-B5D1261CD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5" y="628030"/>
            <a:ext cx="4994726" cy="4088695"/>
          </a:xfrm>
        </p:spPr>
        <p:txBody>
          <a:bodyPr/>
          <a:lstStyle/>
          <a:p>
            <a:r>
              <a:rPr lang="en-US" altLang="zh-CN" sz="16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Idea</a:t>
            </a:r>
            <a:endParaRPr lang="en-US" altLang="zh-CN" sz="1600" b="1" dirty="0">
              <a:solidFill>
                <a:schemeClr val="accent3"/>
              </a:solidFill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Core configures the sparse transaction </a:t>
            </a:r>
            <a:r>
              <a:rPr lang="en-US" altLang="zh-CN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once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DMA engine </a:t>
            </a:r>
            <a:r>
              <a:rPr lang="en-US" altLang="zh-CN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fetches the index stream 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and generate disaggregated AXI requests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Additional semantics to cover:</a:t>
            </a:r>
          </a:p>
          <a:p>
            <a:pPr lvl="2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Address pointer to index stream in L1</a:t>
            </a:r>
          </a:p>
          <a:p>
            <a:pPr lvl="2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Per-index bit-width</a:t>
            </a:r>
          </a:p>
          <a:p>
            <a:pPr lvl="2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Index format (offset, bitmap…)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BD2ACBE-4A2A-3F28-7D1D-9B0256883C39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CA0DC9-1A79-C95D-FE52-2F2F0B42A12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96268" y="736334"/>
            <a:ext cx="3647732" cy="2279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034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4639B-1726-DD4F-9BE1-F40923B94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8D291-C74F-B58D-2CF3-93F74CB0D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i="1" dirty="0"/>
              <a:t>Status</a:t>
            </a:r>
            <a:r>
              <a:rPr lang="en-US" altLang="zh-CN" sz="2400" dirty="0"/>
              <a:t>: Sparse DMA Microarchitecture </a:t>
            </a:r>
            <a:endParaRPr lang="en-US" sz="2400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DC15D-111B-5E0E-D8BD-A6B5A990CD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4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3918288-057E-B57F-8288-7B495EB98877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BA62AAA-55F8-3596-5379-833C974F7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5" y="624536"/>
            <a:ext cx="5758052" cy="4088695"/>
          </a:xfrm>
        </p:spPr>
        <p:txBody>
          <a:bodyPr/>
          <a:lstStyle/>
          <a:p>
            <a:r>
              <a:rPr lang="en-US" altLang="zh-CN" sz="16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Implementation status</a:t>
            </a:r>
          </a:p>
          <a:p>
            <a:pPr lvl="1"/>
            <a:r>
              <a:rPr lang="en-US" altLang="zh-CN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Frontend: </a:t>
            </a:r>
          </a:p>
          <a:p>
            <a:pPr lvl="2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New instruction added, decoder in frontend done;</a:t>
            </a:r>
          </a:p>
          <a:p>
            <a:pPr lvl="2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Verified sparse configurations captured by frontend;</a:t>
            </a:r>
          </a:p>
          <a:p>
            <a:pPr lvl="1"/>
            <a:r>
              <a:rPr lang="en-US" altLang="zh-CN" sz="14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Midend</a:t>
            </a:r>
            <a:r>
              <a:rPr lang="en-US" altLang="zh-CN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: 	</a:t>
            </a:r>
          </a:p>
          <a:p>
            <a:pPr lvl="2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Standalone implementation finished</a:t>
            </a:r>
          </a:p>
          <a:p>
            <a:r>
              <a:rPr lang="en-US" altLang="zh-CN" sz="16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Integrated in Spatz DMA engine </a:t>
            </a:r>
          </a:p>
          <a:p>
            <a:pPr lvl="1"/>
            <a:r>
              <a:rPr lang="en-US" altLang="zh-CN" sz="1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Passed functional verification</a:t>
            </a:r>
          </a:p>
          <a:p>
            <a:r>
              <a:rPr lang="en-US" altLang="zh-CN" sz="16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Gather kernel implementation with the new DMA instructions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KV gather in Top-K sparse attention, with the same index stream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Reached the same channel utilization (62.7%) as using AXI master</a:t>
            </a:r>
            <a:b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</a:br>
            <a:endParaRPr lang="en-US" altLang="zh-CN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  <a:p>
            <a:pPr lvl="1"/>
            <a:endParaRPr lang="en-US" altLang="zh-CN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2B4DE1-81AD-9F33-56A3-8A54DCBD621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80869" y="1221668"/>
            <a:ext cx="3463131" cy="201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831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7E4F6-FE79-42CC-9965-AFB733617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2B377-709D-46BD-A64F-F9DF46B19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Sparse DMA in GVSoC: Methodology</a:t>
            </a:r>
            <a:endParaRPr lang="en-US" sz="2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F793E-8F63-4048-A4CC-A7B331E106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5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101" name="Goal"/>
          <p:cNvSpPr txBox="1"/>
          <p:nvPr/>
        </p:nvSpPr>
        <p:spPr>
          <a:xfrm>
            <a:off x="274320" y="822960"/>
            <a:ext cx="429768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spc="0" baseline="0" dirty="0">
                <a:solidFill>
                  <a:srgbClr val="000000"/>
                </a:solidFill>
                <a:latin typeface="Calibri"/>
              </a:rPr>
              <a:t>Goal</a:t>
            </a:r>
            <a:endParaRPr lang="en-US" sz="1600" b="1"/>
          </a:p>
        </p:txBody>
      </p:sp>
      <p:sp>
        <p:nvSpPr>
          <p:cNvPr id="102" name="Reproduce RTL gather behavior in GVSoC"/>
          <p:cNvSpPr txBox="1"/>
          <p:nvPr/>
        </p:nvSpPr>
        <p:spPr>
          <a:xfrm>
            <a:off x="420624" y="1234440"/>
            <a:ext cx="4142232" cy="603504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7145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400" b="0" i="0" spc="0" baseline="0" dirty="0">
                <a:solidFill>
                  <a:srgbClr val="000000"/>
                </a:solidFill>
                <a:latin typeface="Calibri"/>
              </a:rPr>
              <a:t>Reproduce RTL gather behavior in GVSoC</a:t>
            </a:r>
            <a:endParaRPr lang="en-US" sz="1400" b="0" dirty="0"/>
          </a:p>
        </p:txBody>
      </p:sp>
      <p:sp>
        <p:nvSpPr>
          <p:cNvPr id="103" name="Target: within 10% cycle deviation"/>
          <p:cNvSpPr txBox="1"/>
          <p:nvPr/>
        </p:nvSpPr>
        <p:spPr>
          <a:xfrm>
            <a:off x="420624" y="1608825"/>
            <a:ext cx="4142232" cy="402336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7145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400" b="1" i="0" spc="0" baseline="0" dirty="0">
                <a:solidFill>
                  <a:srgbClr val="168638"/>
                </a:solidFill>
                <a:latin typeface="Calibri"/>
              </a:rPr>
              <a:t>Target: within 10% cycle deviation</a:t>
            </a:r>
            <a:endParaRPr lang="en-US" sz="1400" b="1" dirty="0"/>
          </a:p>
        </p:txBody>
      </p:sp>
      <p:sp>
        <p:nvSpPr>
          <p:cNvPr id="104" name="Approach"/>
          <p:cNvSpPr txBox="1"/>
          <p:nvPr/>
        </p:nvSpPr>
        <p:spPr>
          <a:xfrm>
            <a:off x="274320" y="2180844"/>
            <a:ext cx="429768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spc="0" baseline="0" dirty="0">
                <a:solidFill>
                  <a:srgbClr val="000000"/>
                </a:solidFill>
                <a:latin typeface="Calibri"/>
              </a:rPr>
              <a:t>Approach</a:t>
            </a:r>
            <a:endParaRPr lang="en-US" sz="1600" b="1" dirty="0"/>
          </a:p>
        </p:txBody>
      </p:sp>
      <p:sp>
        <p:nvSpPr>
          <p:cNvPr id="105" name="Same benchmark binaries and input data"/>
          <p:cNvSpPr txBox="1"/>
          <p:nvPr/>
        </p:nvSpPr>
        <p:spPr>
          <a:xfrm>
            <a:off x="420624" y="2661423"/>
            <a:ext cx="4142232" cy="566928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7145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400" b="0" i="0" spc="0" baseline="0" dirty="0">
                <a:solidFill>
                  <a:srgbClr val="000000"/>
                </a:solidFill>
                <a:latin typeface="Calibri"/>
              </a:rPr>
              <a:t>Same benchmark binaries and input data</a:t>
            </a:r>
            <a:endParaRPr lang="en-US" sz="1400" b="0" dirty="0"/>
          </a:p>
        </p:txBody>
      </p:sp>
      <p:sp>
        <p:nvSpPr>
          <p:cNvPr id="106" name="Match the cluster and DRAM setup"/>
          <p:cNvSpPr txBox="1"/>
          <p:nvPr/>
        </p:nvSpPr>
        <p:spPr>
          <a:xfrm>
            <a:off x="429768" y="3042666"/>
            <a:ext cx="4142232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7145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400" b="0" i="0" spc="0" baseline="0" dirty="0">
                <a:solidFill>
                  <a:srgbClr val="000000"/>
                </a:solidFill>
                <a:latin typeface="Calibri"/>
              </a:rPr>
              <a:t>Match the cluster and DRAM setup</a:t>
            </a:r>
            <a:endParaRPr lang="en-US" sz="1400" b="0" dirty="0"/>
          </a:p>
        </p:txBody>
      </p:sp>
      <p:sp>
        <p:nvSpPr>
          <p:cNvPr id="107" name="One shared configuration for all cases"/>
          <p:cNvSpPr txBox="1"/>
          <p:nvPr/>
        </p:nvSpPr>
        <p:spPr>
          <a:xfrm>
            <a:off x="429768" y="3417515"/>
            <a:ext cx="4142232" cy="566928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7145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400" b="0" i="0" spc="0" baseline="0" dirty="0">
                <a:solidFill>
                  <a:srgbClr val="000000"/>
                </a:solidFill>
                <a:latin typeface="Calibri"/>
              </a:rPr>
              <a:t>One shared configuration for all cases</a:t>
            </a:r>
            <a:endParaRPr lang="en-US" sz="1400" b="0"/>
          </a:p>
        </p:txBody>
      </p:sp>
      <p:sp>
        <p:nvSpPr>
          <p:cNvPr id="108" name="Common experiment"/>
          <p:cNvSpPr txBox="1"/>
          <p:nvPr/>
        </p:nvSpPr>
        <p:spPr>
          <a:xfrm>
            <a:off x="5733288" y="896112"/>
            <a:ext cx="2103120" cy="640080"/>
          </a:xfrm>
          <a:prstGeom prst="rect">
            <a:avLst/>
          </a:prstGeom>
          <a:solidFill>
            <a:srgbClr val="F1F1F1"/>
          </a:solidFill>
          <a:ln w="12700">
            <a:noFill/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spc="0" baseline="0" dirty="0">
                <a:solidFill>
                  <a:srgbClr val="000000"/>
                </a:solidFill>
                <a:latin typeface="Calibri"/>
              </a:rPr>
              <a:t>Same benchmark</a:t>
            </a:r>
            <a:br/>
            <a:r>
              <a:rPr lang="en-US" sz="1400" b="1" i="0" spc="0" baseline="0" dirty="0">
                <a:solidFill>
                  <a:srgbClr val="000000"/>
                </a:solidFill>
                <a:latin typeface="Calibri"/>
              </a:rPr>
              <a:t>+ input data</a:t>
            </a:r>
            <a:endParaRPr lang="en-US" sz="1400" b="1"/>
          </a:p>
        </p:txBody>
      </p:sp>
      <p:cxnSp>
        <p:nvCxnSpPr>
          <p:cNvPr id="109" name="Input split"/>
          <p:cNvCxnSpPr/>
          <p:nvPr/>
        </p:nvCxnSpPr>
        <p:spPr>
          <a:xfrm>
            <a:off x="6784848" y="1536192"/>
            <a:ext cx="0" cy="210312"/>
          </a:xfrm>
          <a:prstGeom prst="line">
            <a:avLst/>
          </a:prstGeom>
          <a:ln w="16510" cap="flat">
            <a:solidFill>
              <a:srgbClr val="595959"/>
            </a:solidFill>
            <a:prstDash val="solid"/>
          </a:ln>
        </p:spPr>
      </p:cxnSp>
      <p:cxnSp>
        <p:nvCxnSpPr>
          <p:cNvPr id="110" name="To RTL"/>
          <p:cNvCxnSpPr/>
          <p:nvPr/>
        </p:nvCxnSpPr>
        <p:spPr>
          <a:xfrm>
            <a:off x="5724144" y="1746504"/>
            <a:ext cx="2121408" cy="0"/>
          </a:xfrm>
          <a:prstGeom prst="line">
            <a:avLst/>
          </a:prstGeom>
          <a:ln w="16510" cap="flat">
            <a:solidFill>
              <a:srgbClr val="595959"/>
            </a:solidFill>
            <a:prstDash val="solid"/>
          </a:ln>
        </p:spPr>
      </p:cxnSp>
      <p:cxnSp>
        <p:nvCxnSpPr>
          <p:cNvPr id="111" name="RTL input"/>
          <p:cNvCxnSpPr/>
          <p:nvPr/>
        </p:nvCxnSpPr>
        <p:spPr>
          <a:xfrm>
            <a:off x="5724144" y="1746504"/>
            <a:ext cx="0" cy="246888"/>
          </a:xfrm>
          <a:prstGeom prst="line">
            <a:avLst/>
          </a:prstGeom>
          <a:ln w="16510" cap="flat">
            <a:solidFill>
              <a:srgbClr val="595959"/>
            </a:solidFill>
            <a:prstDash val="solid"/>
            <a:tailEnd type="triangle" w="med" len="med"/>
          </a:ln>
        </p:spPr>
      </p:cxnSp>
      <p:cxnSp>
        <p:nvCxnSpPr>
          <p:cNvPr id="112" name="GVSoC input"/>
          <p:cNvCxnSpPr/>
          <p:nvPr/>
        </p:nvCxnSpPr>
        <p:spPr>
          <a:xfrm>
            <a:off x="7845552" y="1746504"/>
            <a:ext cx="0" cy="246888"/>
          </a:xfrm>
          <a:prstGeom prst="line">
            <a:avLst/>
          </a:prstGeom>
          <a:ln w="16510" cap="flat">
            <a:solidFill>
              <a:srgbClr val="595959"/>
            </a:solidFill>
            <a:prstDash val="solid"/>
            <a:tailEnd type="triangle" w="med" len="med"/>
          </a:ln>
        </p:spPr>
      </p:cxnSp>
      <p:sp>
        <p:nvSpPr>
          <p:cNvPr id="113" name="RTL reference"/>
          <p:cNvSpPr txBox="1"/>
          <p:nvPr/>
        </p:nvSpPr>
        <p:spPr>
          <a:xfrm>
            <a:off x="4928616" y="1993392"/>
            <a:ext cx="1591056" cy="640080"/>
          </a:xfrm>
          <a:prstGeom prst="rect">
            <a:avLst/>
          </a:prstGeom>
          <a:solidFill>
            <a:srgbClr val="F1F1F1"/>
          </a:solidFill>
          <a:ln w="12700">
            <a:solidFill>
              <a:srgbClr val="B9B9B9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spc="0" baseline="0" dirty="0">
                <a:solidFill>
                  <a:srgbClr val="000000"/>
                </a:solidFill>
                <a:latin typeface="Calibri"/>
              </a:rPr>
              <a:t>RTL</a:t>
            </a:r>
            <a:br/>
            <a:r>
              <a:rPr lang="en-US" sz="1400" b="1" i="0" spc="0" baseline="0" dirty="0">
                <a:solidFill>
                  <a:srgbClr val="000000"/>
                </a:solidFill>
                <a:latin typeface="Calibri"/>
              </a:rPr>
              <a:t>reference</a:t>
            </a:r>
            <a:endParaRPr lang="en-US" sz="1400" b="1"/>
          </a:p>
        </p:txBody>
      </p:sp>
      <p:sp>
        <p:nvSpPr>
          <p:cNvPr id="114" name="GVSoC model"/>
          <p:cNvSpPr txBox="1"/>
          <p:nvPr/>
        </p:nvSpPr>
        <p:spPr>
          <a:xfrm>
            <a:off x="7050024" y="1993392"/>
            <a:ext cx="1591056" cy="640080"/>
          </a:xfrm>
          <a:prstGeom prst="rect">
            <a:avLst/>
          </a:prstGeom>
          <a:solidFill>
            <a:srgbClr val="EAF3EC"/>
          </a:solidFill>
          <a:ln w="12700">
            <a:solidFill>
              <a:srgbClr val="168638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spc="0" baseline="0" dirty="0">
                <a:solidFill>
                  <a:srgbClr val="000000"/>
                </a:solidFill>
                <a:latin typeface="Calibri"/>
              </a:rPr>
              <a:t>GVSoC</a:t>
            </a:r>
            <a:br/>
            <a:r>
              <a:rPr lang="en-US" sz="1400" b="1" i="0" spc="0" baseline="0" dirty="0">
                <a:solidFill>
                  <a:srgbClr val="000000"/>
                </a:solidFill>
                <a:latin typeface="Calibri"/>
              </a:rPr>
              <a:t>model</a:t>
            </a:r>
            <a:endParaRPr lang="en-US" sz="1400" b="1"/>
          </a:p>
        </p:txBody>
      </p:sp>
      <p:cxnSp>
        <p:nvCxnSpPr>
          <p:cNvPr id="115" name="RTL output"/>
          <p:cNvCxnSpPr/>
          <p:nvPr/>
        </p:nvCxnSpPr>
        <p:spPr>
          <a:xfrm>
            <a:off x="5724144" y="2633472"/>
            <a:ext cx="0" cy="246888"/>
          </a:xfrm>
          <a:prstGeom prst="line">
            <a:avLst/>
          </a:prstGeom>
          <a:ln w="16510" cap="flat">
            <a:solidFill>
              <a:srgbClr val="595959"/>
            </a:solidFill>
            <a:prstDash val="solid"/>
          </a:ln>
        </p:spPr>
      </p:cxnSp>
      <p:cxnSp>
        <p:nvCxnSpPr>
          <p:cNvPr id="116" name="GVSoC output"/>
          <p:cNvCxnSpPr/>
          <p:nvPr/>
        </p:nvCxnSpPr>
        <p:spPr>
          <a:xfrm>
            <a:off x="7845552" y="2633472"/>
            <a:ext cx="0" cy="246888"/>
          </a:xfrm>
          <a:prstGeom prst="line">
            <a:avLst/>
          </a:prstGeom>
          <a:ln w="16510" cap="flat">
            <a:solidFill>
              <a:srgbClr val="595959"/>
            </a:solidFill>
            <a:prstDash val="solid"/>
          </a:ln>
        </p:spPr>
      </p:cxnSp>
      <p:cxnSp>
        <p:nvCxnSpPr>
          <p:cNvPr id="117" name="Compare join"/>
          <p:cNvCxnSpPr/>
          <p:nvPr/>
        </p:nvCxnSpPr>
        <p:spPr>
          <a:xfrm>
            <a:off x="5724144" y="2880360"/>
            <a:ext cx="2121408" cy="0"/>
          </a:xfrm>
          <a:prstGeom prst="line">
            <a:avLst/>
          </a:prstGeom>
          <a:ln w="16510" cap="flat">
            <a:solidFill>
              <a:srgbClr val="595959"/>
            </a:solidFill>
            <a:prstDash val="solid"/>
          </a:ln>
        </p:spPr>
      </p:cxnSp>
      <p:cxnSp>
        <p:nvCxnSpPr>
          <p:cNvPr id="118" name="Comparison input"/>
          <p:cNvCxnSpPr/>
          <p:nvPr/>
        </p:nvCxnSpPr>
        <p:spPr>
          <a:xfrm>
            <a:off x="6784848" y="2880360"/>
            <a:ext cx="0" cy="246888"/>
          </a:xfrm>
          <a:prstGeom prst="line">
            <a:avLst/>
          </a:prstGeom>
          <a:ln w="16510" cap="flat">
            <a:solidFill>
              <a:srgbClr val="595959"/>
            </a:solidFill>
            <a:prstDash val="solid"/>
            <a:tailEnd type="triangle" w="med" len="med"/>
          </a:ln>
        </p:spPr>
      </p:cxnSp>
      <p:sp>
        <p:nvSpPr>
          <p:cNvPr id="119" name="Comparison"/>
          <p:cNvSpPr txBox="1"/>
          <p:nvPr/>
        </p:nvSpPr>
        <p:spPr>
          <a:xfrm>
            <a:off x="5596128" y="3127248"/>
            <a:ext cx="2377440" cy="676656"/>
          </a:xfrm>
          <a:prstGeom prst="rect">
            <a:avLst/>
          </a:prstGeom>
          <a:solidFill>
            <a:srgbClr val="EAF3EC"/>
          </a:solidFill>
          <a:ln w="12700">
            <a:solidFill>
              <a:srgbClr val="168638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spc="0" baseline="0" dirty="0">
                <a:solidFill>
                  <a:srgbClr val="000000"/>
                </a:solidFill>
                <a:latin typeface="Calibri"/>
              </a:rPr>
              <a:t>Compare data</a:t>
            </a:r>
            <a:br/>
            <a:r>
              <a:rPr lang="en-US" sz="1400" b="1" i="0" spc="0" baseline="0" dirty="0">
                <a:solidFill>
                  <a:srgbClr val="000000"/>
                </a:solidFill>
                <a:latin typeface="Calibri"/>
              </a:rPr>
              <a:t>+ execution cycles</a:t>
            </a:r>
            <a:endParaRPr lang="en-US" sz="1400" b="1"/>
          </a:p>
        </p:txBody>
      </p:sp>
      <p:cxnSp>
        <p:nvCxnSpPr>
          <p:cNvPr id="120" name="Refine timing"/>
          <p:cNvCxnSpPr/>
          <p:nvPr/>
        </p:nvCxnSpPr>
        <p:spPr>
          <a:xfrm>
            <a:off x="7973568" y="3465576"/>
            <a:ext cx="914400" cy="0"/>
          </a:xfrm>
          <a:prstGeom prst="line">
            <a:avLst/>
          </a:prstGeom>
          <a:ln w="16510" cap="flat">
            <a:solidFill>
              <a:srgbClr val="168638"/>
            </a:solidFill>
            <a:prstDash val="solid"/>
          </a:ln>
        </p:spPr>
      </p:cxnSp>
      <p:cxnSp>
        <p:nvCxnSpPr>
          <p:cNvPr id="121" name="Feedback vertical"/>
          <p:cNvCxnSpPr/>
          <p:nvPr/>
        </p:nvCxnSpPr>
        <p:spPr>
          <a:xfrm flipV="1">
            <a:off x="8887968" y="2313432"/>
            <a:ext cx="0" cy="1152144"/>
          </a:xfrm>
          <a:prstGeom prst="line">
            <a:avLst/>
          </a:prstGeom>
          <a:ln w="16510" cap="flat">
            <a:solidFill>
              <a:srgbClr val="168638"/>
            </a:solidFill>
            <a:prstDash val="solid"/>
          </a:ln>
        </p:spPr>
      </p:cxnSp>
      <p:cxnSp>
        <p:nvCxnSpPr>
          <p:cNvPr id="122" name="Feedback into model"/>
          <p:cNvCxnSpPr/>
          <p:nvPr/>
        </p:nvCxnSpPr>
        <p:spPr>
          <a:xfrm flipH="1">
            <a:off x="8641080" y="2313432"/>
            <a:ext cx="246888" cy="0"/>
          </a:xfrm>
          <a:prstGeom prst="line">
            <a:avLst/>
          </a:prstGeom>
          <a:ln w="16510" cap="flat">
            <a:solidFill>
              <a:srgbClr val="168638"/>
            </a:solidFill>
            <a:prstDash val="solid"/>
            <a:tailEnd type="triangle" w="med" len="med"/>
          </a:ln>
        </p:spPr>
      </p:cxnSp>
      <p:sp>
        <p:nvSpPr>
          <p:cNvPr id="123" name="Calibration loop label"/>
          <p:cNvSpPr txBox="1"/>
          <p:nvPr/>
        </p:nvSpPr>
        <p:spPr>
          <a:xfrm>
            <a:off x="5660136" y="4050792"/>
            <a:ext cx="274320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spc="0" baseline="0" dirty="0">
                <a:solidFill>
                  <a:srgbClr val="168638"/>
                </a:solidFill>
                <a:latin typeface="Calibri"/>
              </a:rPr>
              <a:t>Refine shared timing</a:t>
            </a:r>
            <a:endParaRPr lang="en-US" sz="1300" b="0"/>
          </a:p>
        </p:txBody>
      </p:sp>
    </p:spTree>
    <p:extLst>
      <p:ext uri="{BB962C8B-B14F-4D97-AF65-F5344CB8AC3E}">
        <p14:creationId xmlns:p14="http://schemas.microsoft.com/office/powerpoint/2010/main" val="1346606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A35B4-526E-4F22-B535-9B6A67945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40847-A692-41B5-B05A-E7D696556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Sparse DMA in GVSoC: Model Overview</a:t>
            </a:r>
            <a:endParaRPr lang="en-US" sz="2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11D15-38FB-419D-8389-0BD7EB4B267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6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101" name="Implementation"/>
          <p:cNvSpPr txBox="1"/>
          <p:nvPr/>
        </p:nvSpPr>
        <p:spPr>
          <a:xfrm>
            <a:off x="274320" y="822960"/>
            <a:ext cx="429768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spc="0" baseline="0" dirty="0">
                <a:solidFill>
                  <a:srgbClr val="000000"/>
                </a:solidFill>
                <a:latin typeface="Calibri"/>
              </a:rPr>
              <a:t>Implementation</a:t>
            </a:r>
            <a:endParaRPr lang="en-US" sz="1600" b="1"/>
          </a:p>
        </p:txBody>
      </p:sp>
      <p:sp>
        <p:nvSpPr>
          <p:cNvPr id="102" name="Sparse gather added to the GVSoC iDMA model"/>
          <p:cNvSpPr txBox="1"/>
          <p:nvPr/>
        </p:nvSpPr>
        <p:spPr>
          <a:xfrm>
            <a:off x="420624" y="1225296"/>
            <a:ext cx="4142232" cy="59436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7145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400" b="0" i="0" spc="0" baseline="0" dirty="0">
                <a:solidFill>
                  <a:srgbClr val="000000"/>
                </a:solidFill>
                <a:latin typeface="Calibri"/>
              </a:rPr>
              <a:t>Sparse gather added to the GVSoC iDMA model</a:t>
            </a:r>
            <a:endParaRPr lang="en-US" sz="1400" b="0"/>
          </a:p>
        </p:txBody>
      </p:sp>
      <p:sp>
        <p:nvSpPr>
          <p:cNvPr id="103" name="Indices select scattered source rows"/>
          <p:cNvSpPr txBox="1"/>
          <p:nvPr/>
        </p:nvSpPr>
        <p:spPr>
          <a:xfrm>
            <a:off x="420624" y="1583105"/>
            <a:ext cx="4142232" cy="438912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7145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400" b="0" i="0" spc="0" baseline="0" dirty="0">
                <a:solidFill>
                  <a:srgbClr val="000000"/>
                </a:solidFill>
                <a:latin typeface="Calibri"/>
              </a:rPr>
              <a:t>Indices select scattered source rows</a:t>
            </a:r>
            <a:endParaRPr lang="en-US" sz="1400" b="0" dirty="0"/>
          </a:p>
        </p:txBody>
      </p:sp>
      <p:sp>
        <p:nvSpPr>
          <p:cNvPr id="104" name="DMA gathers rows into local memory"/>
          <p:cNvSpPr txBox="1"/>
          <p:nvPr/>
        </p:nvSpPr>
        <p:spPr>
          <a:xfrm>
            <a:off x="438912" y="1942902"/>
            <a:ext cx="4142232" cy="438912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7145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400" b="0" i="0" spc="0" baseline="0" dirty="0">
                <a:solidFill>
                  <a:srgbClr val="000000"/>
                </a:solidFill>
                <a:latin typeface="Calibri"/>
              </a:rPr>
              <a:t>DMA gathers rows into local memory</a:t>
            </a:r>
            <a:endParaRPr lang="en-US" sz="1400" b="0" dirty="0"/>
          </a:p>
        </p:txBody>
      </p:sp>
      <p:sp>
        <p:nvSpPr>
          <p:cNvPr id="105" name="Matched test system"/>
          <p:cNvSpPr txBox="1"/>
          <p:nvPr/>
        </p:nvSpPr>
        <p:spPr>
          <a:xfrm>
            <a:off x="274320" y="2568470"/>
            <a:ext cx="429768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spc="0" baseline="0" dirty="0">
                <a:solidFill>
                  <a:srgbClr val="000000"/>
                </a:solidFill>
                <a:latin typeface="Calibri"/>
              </a:rPr>
              <a:t>Matched test system</a:t>
            </a:r>
            <a:endParaRPr lang="en-US" sz="1600" b="1" dirty="0"/>
          </a:p>
        </p:txBody>
      </p:sp>
      <p:sp>
        <p:nvSpPr>
          <p:cNvPr id="106" name="Spatz cores, local memory and DRAMSys"/>
          <p:cNvSpPr txBox="1"/>
          <p:nvPr/>
        </p:nvSpPr>
        <p:spPr>
          <a:xfrm>
            <a:off x="438912" y="2970607"/>
            <a:ext cx="4142232" cy="585216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7145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400" b="0" i="0" spc="0" baseline="0" dirty="0">
                <a:solidFill>
                  <a:srgbClr val="000000"/>
                </a:solidFill>
                <a:latin typeface="Calibri"/>
              </a:rPr>
              <a:t>Spatz cores, local memory and DRAMSys</a:t>
            </a:r>
            <a:endParaRPr lang="en-US" sz="1400" b="0" dirty="0"/>
          </a:p>
        </p:txBody>
      </p:sp>
      <p:sp>
        <p:nvSpPr>
          <p:cNvPr id="107" name="Runs the same three benchmark variants"/>
          <p:cNvSpPr txBox="1"/>
          <p:nvPr/>
        </p:nvSpPr>
        <p:spPr>
          <a:xfrm>
            <a:off x="420624" y="3378708"/>
            <a:ext cx="4142232" cy="566928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7145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400" b="0" i="0" spc="0" baseline="0" dirty="0">
                <a:solidFill>
                  <a:srgbClr val="000000"/>
                </a:solidFill>
                <a:latin typeface="Calibri"/>
              </a:rPr>
              <a:t>Runs the same three benchmark variants</a:t>
            </a:r>
            <a:endParaRPr lang="en-US" sz="1400" b="0" dirty="0"/>
          </a:p>
        </p:txBody>
      </p:sp>
      <p:sp>
        <p:nvSpPr>
          <p:cNvPr id="108" name="Spatz cluster background"/>
          <p:cNvSpPr txBox="1"/>
          <p:nvPr/>
        </p:nvSpPr>
        <p:spPr>
          <a:xfrm>
            <a:off x="5047488" y="987552"/>
            <a:ext cx="2331720" cy="2176272"/>
          </a:xfrm>
          <a:prstGeom prst="rect">
            <a:avLst/>
          </a:prstGeom>
          <a:solidFill>
            <a:srgbClr val="E6E6E6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Spatz cores"/>
          <p:cNvSpPr txBox="1"/>
          <p:nvPr/>
        </p:nvSpPr>
        <p:spPr>
          <a:xfrm>
            <a:off x="5358384" y="1207008"/>
            <a:ext cx="1709928" cy="585216"/>
          </a:xfrm>
          <a:prstGeom prst="rect">
            <a:avLst/>
          </a:prstGeom>
          <a:solidFill>
            <a:srgbClr val="CC0000"/>
          </a:solidFill>
          <a:ln w="12700">
            <a:noFill/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spc="0" baseline="0" dirty="0">
                <a:solidFill>
                  <a:srgbClr val="FFFFFF"/>
                </a:solidFill>
                <a:latin typeface="Calibri"/>
              </a:rPr>
              <a:t>Spatz cores</a:t>
            </a:r>
            <a:endParaRPr lang="en-US" sz="1400" b="1"/>
          </a:p>
        </p:txBody>
      </p:sp>
      <p:cxnSp>
        <p:nvCxnSpPr>
          <p:cNvPr id="110" name="Core configures DMA"/>
          <p:cNvCxnSpPr/>
          <p:nvPr/>
        </p:nvCxnSpPr>
        <p:spPr>
          <a:xfrm>
            <a:off x="6217920" y="1792224"/>
            <a:ext cx="0" cy="539496"/>
          </a:xfrm>
          <a:prstGeom prst="line">
            <a:avLst/>
          </a:prstGeom>
          <a:ln w="16510" cap="flat">
            <a:solidFill>
              <a:srgbClr val="595959"/>
            </a:solidFill>
            <a:prstDash val="solid"/>
            <a:tailEnd type="triangle" w="med" len="med"/>
          </a:ln>
        </p:spPr>
      </p:cxnSp>
      <p:sp>
        <p:nvSpPr>
          <p:cNvPr id="111" name="Configure label"/>
          <p:cNvSpPr txBox="1"/>
          <p:nvPr/>
        </p:nvSpPr>
        <p:spPr>
          <a:xfrm>
            <a:off x="6345936" y="1947672"/>
            <a:ext cx="932688" cy="27432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spc="0" baseline="0" dirty="0">
                <a:solidFill>
                  <a:srgbClr val="000000"/>
                </a:solidFill>
                <a:latin typeface="Calibri"/>
              </a:rPr>
              <a:t>Configure</a:t>
            </a:r>
            <a:endParaRPr lang="en-US" sz="1200" b="0"/>
          </a:p>
        </p:txBody>
      </p:sp>
      <p:sp>
        <p:nvSpPr>
          <p:cNvPr id="112" name="Sparse DMA"/>
          <p:cNvSpPr txBox="1"/>
          <p:nvPr/>
        </p:nvSpPr>
        <p:spPr>
          <a:xfrm>
            <a:off x="5358384" y="2331720"/>
            <a:ext cx="1709928" cy="621792"/>
          </a:xfrm>
          <a:prstGeom prst="rect">
            <a:avLst/>
          </a:prstGeom>
          <a:solidFill>
            <a:srgbClr val="CC7700"/>
          </a:solidFill>
          <a:ln w="12700">
            <a:noFill/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spc="0" baseline="0" dirty="0">
                <a:solidFill>
                  <a:srgbClr val="FFFFFF"/>
                </a:solidFill>
                <a:latin typeface="Calibri"/>
              </a:rPr>
              <a:t>Sparse DMA</a:t>
            </a:r>
            <a:endParaRPr lang="en-US" sz="1400" b="1"/>
          </a:p>
        </p:txBody>
      </p:sp>
      <p:sp>
        <p:nvSpPr>
          <p:cNvPr id="113" name="DRAMSys memory"/>
          <p:cNvSpPr txBox="1"/>
          <p:nvPr/>
        </p:nvSpPr>
        <p:spPr>
          <a:xfrm>
            <a:off x="7845552" y="2322576"/>
            <a:ext cx="1024128" cy="640080"/>
          </a:xfrm>
          <a:prstGeom prst="rect">
            <a:avLst/>
          </a:prstGeom>
          <a:solidFill>
            <a:srgbClr val="F1F1F1"/>
          </a:solidFill>
          <a:ln w="12700">
            <a:solidFill>
              <a:srgbClr val="B9B9B9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spc="0" baseline="0" dirty="0">
                <a:solidFill>
                  <a:srgbClr val="000000"/>
                </a:solidFill>
                <a:latin typeface="Calibri"/>
              </a:rPr>
              <a:t>DRAMSys</a:t>
            </a:r>
            <a:br/>
            <a:r>
              <a:rPr lang="en-US" sz="1300" b="1" i="0" spc="0" baseline="0" dirty="0">
                <a:solidFill>
                  <a:srgbClr val="000000"/>
                </a:solidFill>
                <a:latin typeface="Calibri"/>
              </a:rPr>
              <a:t>HBM</a:t>
            </a:r>
            <a:endParaRPr lang="en-US" sz="1300" b="1"/>
          </a:p>
        </p:txBody>
      </p:sp>
      <p:cxnSp>
        <p:nvCxnSpPr>
          <p:cNvPr id="114" name="Scattered rows"/>
          <p:cNvCxnSpPr/>
          <p:nvPr/>
        </p:nvCxnSpPr>
        <p:spPr>
          <a:xfrm flipH="1">
            <a:off x="7068312" y="2642616"/>
            <a:ext cx="777240" cy="0"/>
          </a:xfrm>
          <a:prstGeom prst="line">
            <a:avLst/>
          </a:prstGeom>
          <a:ln w="16510" cap="flat">
            <a:solidFill>
              <a:srgbClr val="595959"/>
            </a:solidFill>
            <a:prstDash val="solid"/>
            <a:tailEnd type="triangle" w="med" len="med"/>
          </a:ln>
        </p:spPr>
      </p:cxnSp>
      <p:sp>
        <p:nvSpPr>
          <p:cNvPr id="115" name="Read rows label"/>
          <p:cNvSpPr txBox="1"/>
          <p:nvPr/>
        </p:nvSpPr>
        <p:spPr>
          <a:xfrm>
            <a:off x="7168896" y="1965960"/>
            <a:ext cx="1472184" cy="27432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spc="0" baseline="0" dirty="0">
                <a:solidFill>
                  <a:srgbClr val="000000"/>
                </a:solidFill>
                <a:latin typeface="Calibri"/>
              </a:rPr>
              <a:t>Read rows</a:t>
            </a:r>
            <a:endParaRPr lang="en-US" sz="1200" b="0"/>
          </a:p>
        </p:txBody>
      </p:sp>
      <p:sp>
        <p:nvSpPr>
          <p:cNvPr id="116" name="Local memory"/>
          <p:cNvSpPr txBox="1"/>
          <p:nvPr/>
        </p:nvSpPr>
        <p:spPr>
          <a:xfrm>
            <a:off x="5358384" y="3803904"/>
            <a:ext cx="1709928" cy="585216"/>
          </a:xfrm>
          <a:prstGeom prst="rect">
            <a:avLst/>
          </a:prstGeom>
          <a:solidFill>
            <a:srgbClr val="0066CC"/>
          </a:solidFill>
          <a:ln w="12700">
            <a:noFill/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spc="0" baseline="0" dirty="0">
                <a:solidFill>
                  <a:srgbClr val="FFFFFF"/>
                </a:solidFill>
                <a:latin typeface="Calibri"/>
              </a:rPr>
              <a:t>Local memory (TCDM)</a:t>
            </a:r>
            <a:endParaRPr lang="en-US" sz="1400" b="1"/>
          </a:p>
        </p:txBody>
      </p:sp>
      <p:cxnSp>
        <p:nvCxnSpPr>
          <p:cNvPr id="117" name="Index list to DMA"/>
          <p:cNvCxnSpPr/>
          <p:nvPr/>
        </p:nvCxnSpPr>
        <p:spPr>
          <a:xfrm flipV="1">
            <a:off x="5705856" y="2953512"/>
            <a:ext cx="0" cy="850392"/>
          </a:xfrm>
          <a:prstGeom prst="line">
            <a:avLst/>
          </a:prstGeom>
          <a:ln w="16510" cap="flat">
            <a:solidFill>
              <a:srgbClr val="0066CC"/>
            </a:solidFill>
            <a:prstDash val="solid"/>
            <a:tailEnd type="triangle" w="med" len="med"/>
          </a:ln>
        </p:spPr>
      </p:cxnSp>
      <p:cxnSp>
        <p:nvCxnSpPr>
          <p:cNvPr id="118" name="Gathered rows to memory"/>
          <p:cNvCxnSpPr/>
          <p:nvPr/>
        </p:nvCxnSpPr>
        <p:spPr>
          <a:xfrm>
            <a:off x="6729984" y="2953512"/>
            <a:ext cx="0" cy="850392"/>
          </a:xfrm>
          <a:prstGeom prst="line">
            <a:avLst/>
          </a:prstGeom>
          <a:ln w="16510" cap="flat">
            <a:solidFill>
              <a:srgbClr val="CC7700"/>
            </a:solidFill>
            <a:prstDash val="solid"/>
            <a:tailEnd type="triangle" w="med" len="med"/>
          </a:ln>
        </p:spPr>
      </p:cxnSp>
      <p:sp>
        <p:nvSpPr>
          <p:cNvPr id="119" name="Indices label"/>
          <p:cNvSpPr txBox="1"/>
          <p:nvPr/>
        </p:nvSpPr>
        <p:spPr>
          <a:xfrm>
            <a:off x="4937760" y="3337560"/>
            <a:ext cx="704088" cy="27432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spc="0" baseline="0" dirty="0">
                <a:solidFill>
                  <a:srgbClr val="0066CC"/>
                </a:solidFill>
                <a:latin typeface="Calibri"/>
              </a:rPr>
              <a:t>Indices</a:t>
            </a:r>
            <a:endParaRPr lang="en-US" sz="1200" b="0"/>
          </a:p>
        </p:txBody>
      </p:sp>
      <p:sp>
        <p:nvSpPr>
          <p:cNvPr id="120" name="Gathered rows label"/>
          <p:cNvSpPr txBox="1"/>
          <p:nvPr/>
        </p:nvSpPr>
        <p:spPr>
          <a:xfrm>
            <a:off x="6839712" y="3255264"/>
            <a:ext cx="1188720" cy="512064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spc="0" baseline="0" dirty="0">
                <a:solidFill>
                  <a:srgbClr val="CC7700"/>
                </a:solidFill>
                <a:latin typeface="Calibri"/>
              </a:rPr>
              <a:t>Gathered</a:t>
            </a:r>
            <a:br/>
            <a:r>
              <a:rPr lang="en-US" sz="1200" b="0" i="0" spc="0" baseline="0" dirty="0">
                <a:solidFill>
                  <a:srgbClr val="CC7700"/>
                </a:solidFill>
                <a:latin typeface="Calibri"/>
              </a:rPr>
              <a:t>rows</a:t>
            </a:r>
            <a:endParaRPr lang="en-US" sz="1200" b="0"/>
          </a:p>
        </p:txBody>
      </p:sp>
    </p:spTree>
    <p:extLst>
      <p:ext uri="{BB962C8B-B14F-4D97-AF65-F5344CB8AC3E}">
        <p14:creationId xmlns:p14="http://schemas.microsoft.com/office/powerpoint/2010/main" val="2995749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F5B1C-DB64-4AEC-A0E6-486259FFA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BA916-892C-4926-8C8A-77924381C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Sparse DMA in GVSoC: Test Coverage</a:t>
            </a:r>
            <a:endParaRPr lang="en-US" sz="2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D0436E-61BF-4FFF-88EC-897DACDD44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7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101" name="Calibration matrix"/>
          <p:cNvSpPr txBox="1"/>
          <p:nvPr/>
        </p:nvSpPr>
        <p:spPr>
          <a:xfrm>
            <a:off x="274320" y="822960"/>
            <a:ext cx="429768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spc="0" baseline="0" dirty="0">
                <a:solidFill>
                  <a:srgbClr val="000000"/>
                </a:solidFill>
                <a:latin typeface="Calibri"/>
              </a:rPr>
              <a:t>Calibration matrix</a:t>
            </a:r>
            <a:endParaRPr lang="en-US" sz="1600" b="1"/>
          </a:p>
        </p:txBody>
      </p:sp>
      <p:sp>
        <p:nvSpPr>
          <p:cNvPr id="102" name="3 variants × 4 workloads&#10;= 12 RTL / GVSoC comparisons"/>
          <p:cNvSpPr txBox="1"/>
          <p:nvPr/>
        </p:nvSpPr>
        <p:spPr>
          <a:xfrm>
            <a:off x="420624" y="1225296"/>
            <a:ext cx="4142232" cy="694944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7145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400" b="0" i="0" spc="0" baseline="0" dirty="0">
                <a:solidFill>
                  <a:srgbClr val="000000"/>
                </a:solidFill>
                <a:latin typeface="Calibri"/>
              </a:rPr>
              <a:t>3 variants × 4 workloads</a:t>
            </a:r>
            <a:br/>
            <a:r>
              <a:rPr lang="en-US" sz="1400" b="0" i="0" spc="0" baseline="0" dirty="0">
                <a:solidFill>
                  <a:srgbClr val="000000"/>
                </a:solidFill>
                <a:latin typeface="Calibri"/>
              </a:rPr>
              <a:t>= 12 RTL / GVSoC comparisons</a:t>
            </a:r>
            <a:endParaRPr lang="en-US" sz="1400" b="0"/>
          </a:p>
        </p:txBody>
      </p:sp>
      <p:sp>
        <p:nvSpPr>
          <p:cNvPr id="103" name="Gather sizes: 64, 128 and 256 rows"/>
          <p:cNvSpPr txBox="1"/>
          <p:nvPr/>
        </p:nvSpPr>
        <p:spPr>
          <a:xfrm>
            <a:off x="420624" y="1975104"/>
            <a:ext cx="4142232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7145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400" b="0" i="0" spc="0" baseline="0" dirty="0">
                <a:solidFill>
                  <a:srgbClr val="000000"/>
                </a:solidFill>
                <a:latin typeface="Calibri"/>
              </a:rPr>
              <a:t>Gather sizes: 64, 128 and 256 rows</a:t>
            </a:r>
            <a:endParaRPr lang="en-US" sz="1400" b="0"/>
          </a:p>
        </p:txBody>
      </p:sp>
      <p:sp>
        <p:nvSpPr>
          <p:cNvPr id="104" name="Sorted and shuffled index patterns"/>
          <p:cNvSpPr txBox="1"/>
          <p:nvPr/>
        </p:nvSpPr>
        <p:spPr>
          <a:xfrm>
            <a:off x="420624" y="2478024"/>
            <a:ext cx="4142232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7145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400" b="0" i="0" spc="0" baseline="0" dirty="0">
                <a:solidFill>
                  <a:srgbClr val="000000"/>
                </a:solidFill>
                <a:latin typeface="Calibri"/>
              </a:rPr>
              <a:t>Sorted and shuffled index patterns</a:t>
            </a:r>
            <a:endParaRPr lang="en-US" sz="1400" b="0"/>
          </a:p>
        </p:txBody>
      </p:sp>
      <p:sp>
        <p:nvSpPr>
          <p:cNvPr id="105" name="Functional checks"/>
          <p:cNvSpPr txBox="1"/>
          <p:nvPr/>
        </p:nvSpPr>
        <p:spPr>
          <a:xfrm>
            <a:off x="274320" y="3154680"/>
            <a:ext cx="429768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spc="0" baseline="0" dirty="0">
                <a:solidFill>
                  <a:srgbClr val="000000"/>
                </a:solidFill>
                <a:latin typeface="Calibri"/>
              </a:rPr>
              <a:t>Functional checks</a:t>
            </a:r>
            <a:endParaRPr lang="en-US" sz="1600" b="1"/>
          </a:p>
        </p:txBody>
      </p:sp>
      <p:sp>
        <p:nvSpPr>
          <p:cNvPr id="106" name="11 cases: indices, transfers and queuing"/>
          <p:cNvSpPr txBox="1"/>
          <p:nvPr/>
        </p:nvSpPr>
        <p:spPr>
          <a:xfrm>
            <a:off x="420624" y="3547872"/>
            <a:ext cx="4142232" cy="585216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7145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400" b="0" i="0" spc="0" baseline="0" dirty="0">
                <a:solidFill>
                  <a:srgbClr val="000000"/>
                </a:solidFill>
                <a:latin typeface="Calibri"/>
              </a:rPr>
              <a:t>12 cases: indices, transfers and queuing</a:t>
            </a:r>
            <a:endParaRPr lang="en-US" sz="1400" b="0" dirty="0"/>
          </a:p>
        </p:txBody>
      </p:sp>
      <p:sp>
        <p:nvSpPr>
          <p:cNvPr id="107" name="All data and completion checks pass"/>
          <p:cNvSpPr txBox="1"/>
          <p:nvPr/>
        </p:nvSpPr>
        <p:spPr>
          <a:xfrm>
            <a:off x="420624" y="4142232"/>
            <a:ext cx="4142232" cy="41148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7145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400" b="1" i="0" spc="0" baseline="0" dirty="0">
                <a:solidFill>
                  <a:srgbClr val="168638"/>
                </a:solidFill>
                <a:latin typeface="Calibri"/>
              </a:rPr>
              <a:t>All data and completion checks pass</a:t>
            </a:r>
            <a:endParaRPr lang="en-US" sz="1400" b="1"/>
          </a:p>
        </p:txBody>
      </p:sp>
      <p:sp>
        <p:nvSpPr>
          <p:cNvPr id="108" name="Matrix title"/>
          <p:cNvSpPr txBox="1"/>
          <p:nvPr/>
        </p:nvSpPr>
        <p:spPr>
          <a:xfrm>
            <a:off x="4846320" y="896112"/>
            <a:ext cx="4014216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spc="0" baseline="0" dirty="0">
                <a:solidFill>
                  <a:srgbClr val="000000"/>
                </a:solidFill>
                <a:latin typeface="Calibri"/>
              </a:rPr>
              <a:t>Four workloads × three variants</a:t>
            </a:r>
            <a:endParaRPr lang="en-US" sz="1400" b="1"/>
          </a:p>
        </p:txBody>
      </p:sp>
      <p:sp>
        <p:nvSpPr>
          <p:cNvPr id="109" name="Table header Workload"/>
          <p:cNvSpPr txBox="1"/>
          <p:nvPr/>
        </p:nvSpPr>
        <p:spPr>
          <a:xfrm>
            <a:off x="4873752" y="1389888"/>
            <a:ext cx="1618488" cy="548640"/>
          </a:xfrm>
          <a:prstGeom prst="rect">
            <a:avLst/>
          </a:prstGeom>
          <a:solidFill>
            <a:srgbClr val="F1F1F1"/>
          </a:solidFill>
          <a:ln w="12700">
            <a:solidFill>
              <a:srgbClr val="D1D1D1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spc="0" baseline="0" dirty="0">
                <a:solidFill>
                  <a:srgbClr val="000000"/>
                </a:solidFill>
                <a:latin typeface="Calibri"/>
              </a:rPr>
              <a:t>Workload</a:t>
            </a:r>
            <a:endParaRPr lang="en-US" sz="1200" b="1"/>
          </a:p>
        </p:txBody>
      </p:sp>
      <p:sp>
        <p:nvSpPr>
          <p:cNvPr id="110" name="Table header Core&#10;loop"/>
          <p:cNvSpPr txBox="1"/>
          <p:nvPr/>
        </p:nvSpPr>
        <p:spPr>
          <a:xfrm>
            <a:off x="6492240" y="1389888"/>
            <a:ext cx="795528" cy="548640"/>
          </a:xfrm>
          <a:prstGeom prst="rect">
            <a:avLst/>
          </a:prstGeom>
          <a:solidFill>
            <a:srgbClr val="F1F1F1"/>
          </a:solidFill>
          <a:ln w="12700">
            <a:solidFill>
              <a:srgbClr val="D1D1D1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spc="0" baseline="0" dirty="0">
                <a:solidFill>
                  <a:srgbClr val="000000"/>
                </a:solidFill>
                <a:latin typeface="Calibri"/>
              </a:rPr>
              <a:t>Core</a:t>
            </a:r>
            <a:br/>
            <a:r>
              <a:rPr lang="en-US" sz="1200" b="1" i="0" spc="0" baseline="0" dirty="0">
                <a:solidFill>
                  <a:srgbClr val="000000"/>
                </a:solidFill>
                <a:latin typeface="Calibri"/>
              </a:rPr>
              <a:t>loop</a:t>
            </a:r>
            <a:endParaRPr lang="en-US" sz="1200" b="1"/>
          </a:p>
        </p:txBody>
      </p:sp>
      <p:sp>
        <p:nvSpPr>
          <p:cNvPr id="111" name="Table header Inlined&#10;loop"/>
          <p:cNvSpPr txBox="1"/>
          <p:nvPr/>
        </p:nvSpPr>
        <p:spPr>
          <a:xfrm>
            <a:off x="7287768" y="1389888"/>
            <a:ext cx="795528" cy="548640"/>
          </a:xfrm>
          <a:prstGeom prst="rect">
            <a:avLst/>
          </a:prstGeom>
          <a:solidFill>
            <a:srgbClr val="F1F1F1"/>
          </a:solidFill>
          <a:ln w="12700">
            <a:solidFill>
              <a:srgbClr val="D1D1D1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spc="0" baseline="0" dirty="0">
                <a:solidFill>
                  <a:srgbClr val="000000"/>
                </a:solidFill>
                <a:latin typeface="Calibri"/>
              </a:rPr>
              <a:t>Inlined</a:t>
            </a:r>
            <a:br/>
            <a:r>
              <a:rPr lang="en-US" sz="1200" b="1" i="0" spc="0" baseline="0" dirty="0">
                <a:solidFill>
                  <a:srgbClr val="000000"/>
                </a:solidFill>
                <a:latin typeface="Calibri"/>
              </a:rPr>
              <a:t>loop</a:t>
            </a:r>
            <a:endParaRPr lang="en-US" sz="1200" b="1"/>
          </a:p>
        </p:txBody>
      </p:sp>
      <p:sp>
        <p:nvSpPr>
          <p:cNvPr id="112" name="Table header HW&#10;gather"/>
          <p:cNvSpPr txBox="1"/>
          <p:nvPr/>
        </p:nvSpPr>
        <p:spPr>
          <a:xfrm>
            <a:off x="8083296" y="1389888"/>
            <a:ext cx="795528" cy="548640"/>
          </a:xfrm>
          <a:prstGeom prst="rect">
            <a:avLst/>
          </a:prstGeom>
          <a:solidFill>
            <a:srgbClr val="F1F1F1"/>
          </a:solidFill>
          <a:ln w="12700">
            <a:solidFill>
              <a:srgbClr val="D1D1D1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spc="0" baseline="0" dirty="0">
                <a:solidFill>
                  <a:srgbClr val="000000"/>
                </a:solidFill>
                <a:latin typeface="Calibri"/>
              </a:rPr>
              <a:t>HW</a:t>
            </a:r>
            <a:br/>
            <a:r>
              <a:rPr lang="en-US" sz="1200" b="1" i="0" spc="0" baseline="0" dirty="0">
                <a:solidFill>
                  <a:srgbClr val="000000"/>
                </a:solidFill>
                <a:latin typeface="Calibri"/>
              </a:rPr>
              <a:t>gather</a:t>
            </a:r>
            <a:endParaRPr lang="en-US" sz="1200" b="1"/>
          </a:p>
        </p:txBody>
      </p:sp>
      <p:sp>
        <p:nvSpPr>
          <p:cNvPr id="113" name="Workload 128 rows / sorted"/>
          <p:cNvSpPr txBox="1"/>
          <p:nvPr/>
        </p:nvSpPr>
        <p:spPr>
          <a:xfrm>
            <a:off x="4873752" y="1938528"/>
            <a:ext cx="16184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1D1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spc="0" baseline="0" dirty="0">
                <a:solidFill>
                  <a:srgbClr val="000000"/>
                </a:solidFill>
                <a:latin typeface="Calibri"/>
              </a:rPr>
              <a:t>128 rows / sorted</a:t>
            </a:r>
            <a:endParaRPr lang="en-US" sz="1150" b="0"/>
          </a:p>
        </p:txBody>
      </p:sp>
      <p:sp>
        <p:nvSpPr>
          <p:cNvPr id="114" name="Pass 0 1"/>
          <p:cNvSpPr txBox="1"/>
          <p:nvPr/>
        </p:nvSpPr>
        <p:spPr>
          <a:xfrm>
            <a:off x="6492240" y="1938528"/>
            <a:ext cx="795528" cy="475488"/>
          </a:xfrm>
          <a:prstGeom prst="rect">
            <a:avLst/>
          </a:prstGeom>
          <a:solidFill>
            <a:srgbClr val="EAF3EC"/>
          </a:solidFill>
          <a:ln w="12700">
            <a:solidFill>
              <a:srgbClr val="D1D1D1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spc="0" baseline="0" dirty="0">
                <a:solidFill>
                  <a:srgbClr val="168638"/>
                </a:solidFill>
                <a:latin typeface="Calibri"/>
              </a:rPr>
              <a:t>PASS</a:t>
            </a:r>
            <a:endParaRPr lang="en-US" sz="1200" b="1"/>
          </a:p>
        </p:txBody>
      </p:sp>
      <p:sp>
        <p:nvSpPr>
          <p:cNvPr id="115" name="Pass 0 2"/>
          <p:cNvSpPr txBox="1"/>
          <p:nvPr/>
        </p:nvSpPr>
        <p:spPr>
          <a:xfrm>
            <a:off x="7287768" y="1938528"/>
            <a:ext cx="795528" cy="475488"/>
          </a:xfrm>
          <a:prstGeom prst="rect">
            <a:avLst/>
          </a:prstGeom>
          <a:solidFill>
            <a:srgbClr val="EAF3EC"/>
          </a:solidFill>
          <a:ln w="12700">
            <a:solidFill>
              <a:srgbClr val="D1D1D1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spc="0" baseline="0" dirty="0">
                <a:solidFill>
                  <a:srgbClr val="168638"/>
                </a:solidFill>
                <a:latin typeface="Calibri"/>
              </a:rPr>
              <a:t>PASS</a:t>
            </a:r>
            <a:endParaRPr lang="en-US" sz="1200" b="1"/>
          </a:p>
        </p:txBody>
      </p:sp>
      <p:sp>
        <p:nvSpPr>
          <p:cNvPr id="116" name="Pass 0 3"/>
          <p:cNvSpPr txBox="1"/>
          <p:nvPr/>
        </p:nvSpPr>
        <p:spPr>
          <a:xfrm>
            <a:off x="8083296" y="1938528"/>
            <a:ext cx="795528" cy="475488"/>
          </a:xfrm>
          <a:prstGeom prst="rect">
            <a:avLst/>
          </a:prstGeom>
          <a:solidFill>
            <a:srgbClr val="EAF3EC"/>
          </a:solidFill>
          <a:ln w="12700">
            <a:solidFill>
              <a:srgbClr val="D1D1D1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spc="0" baseline="0" dirty="0">
                <a:solidFill>
                  <a:srgbClr val="168638"/>
                </a:solidFill>
                <a:latin typeface="Calibri"/>
              </a:rPr>
              <a:t>PASS</a:t>
            </a:r>
            <a:endParaRPr lang="en-US" sz="1200" b="1"/>
          </a:p>
        </p:txBody>
      </p:sp>
      <p:sp>
        <p:nvSpPr>
          <p:cNvPr id="117" name="Workload 64 rows / sorted"/>
          <p:cNvSpPr txBox="1"/>
          <p:nvPr/>
        </p:nvSpPr>
        <p:spPr>
          <a:xfrm>
            <a:off x="4873752" y="2414016"/>
            <a:ext cx="16184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1D1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spc="0" baseline="0" dirty="0">
                <a:solidFill>
                  <a:srgbClr val="000000"/>
                </a:solidFill>
                <a:latin typeface="Calibri"/>
              </a:rPr>
              <a:t>64 rows / sorted</a:t>
            </a:r>
            <a:endParaRPr lang="en-US" sz="1150" b="0"/>
          </a:p>
        </p:txBody>
      </p:sp>
      <p:sp>
        <p:nvSpPr>
          <p:cNvPr id="118" name="Pass 1 1"/>
          <p:cNvSpPr txBox="1"/>
          <p:nvPr/>
        </p:nvSpPr>
        <p:spPr>
          <a:xfrm>
            <a:off x="6492240" y="2414016"/>
            <a:ext cx="795528" cy="475488"/>
          </a:xfrm>
          <a:prstGeom prst="rect">
            <a:avLst/>
          </a:prstGeom>
          <a:solidFill>
            <a:srgbClr val="EAF3EC"/>
          </a:solidFill>
          <a:ln w="12700">
            <a:solidFill>
              <a:srgbClr val="D1D1D1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spc="0" baseline="0" dirty="0">
                <a:solidFill>
                  <a:srgbClr val="168638"/>
                </a:solidFill>
                <a:latin typeface="Calibri"/>
              </a:rPr>
              <a:t>PASS</a:t>
            </a:r>
            <a:endParaRPr lang="en-US" sz="1200" b="1"/>
          </a:p>
        </p:txBody>
      </p:sp>
      <p:sp>
        <p:nvSpPr>
          <p:cNvPr id="119" name="Pass 1 2"/>
          <p:cNvSpPr txBox="1"/>
          <p:nvPr/>
        </p:nvSpPr>
        <p:spPr>
          <a:xfrm>
            <a:off x="7287768" y="2414016"/>
            <a:ext cx="795528" cy="475488"/>
          </a:xfrm>
          <a:prstGeom prst="rect">
            <a:avLst/>
          </a:prstGeom>
          <a:solidFill>
            <a:srgbClr val="EAF3EC"/>
          </a:solidFill>
          <a:ln w="12700">
            <a:solidFill>
              <a:srgbClr val="D1D1D1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spc="0" baseline="0" dirty="0">
                <a:solidFill>
                  <a:srgbClr val="168638"/>
                </a:solidFill>
                <a:latin typeface="Calibri"/>
              </a:rPr>
              <a:t>PASS</a:t>
            </a:r>
            <a:endParaRPr lang="en-US" sz="1200" b="1"/>
          </a:p>
        </p:txBody>
      </p:sp>
      <p:sp>
        <p:nvSpPr>
          <p:cNvPr id="120" name="Pass 1 3"/>
          <p:cNvSpPr txBox="1"/>
          <p:nvPr/>
        </p:nvSpPr>
        <p:spPr>
          <a:xfrm>
            <a:off x="8083296" y="2414016"/>
            <a:ext cx="795528" cy="475488"/>
          </a:xfrm>
          <a:prstGeom prst="rect">
            <a:avLst/>
          </a:prstGeom>
          <a:solidFill>
            <a:srgbClr val="EAF3EC"/>
          </a:solidFill>
          <a:ln w="12700">
            <a:solidFill>
              <a:srgbClr val="D1D1D1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spc="0" baseline="0" dirty="0">
                <a:solidFill>
                  <a:srgbClr val="168638"/>
                </a:solidFill>
                <a:latin typeface="Calibri"/>
              </a:rPr>
              <a:t>PASS</a:t>
            </a:r>
            <a:endParaRPr lang="en-US" sz="1200" b="1"/>
          </a:p>
        </p:txBody>
      </p:sp>
      <p:sp>
        <p:nvSpPr>
          <p:cNvPr id="121" name="Workload 256 rows / sorted"/>
          <p:cNvSpPr txBox="1"/>
          <p:nvPr/>
        </p:nvSpPr>
        <p:spPr>
          <a:xfrm>
            <a:off x="4873752" y="2889504"/>
            <a:ext cx="16184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1D1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spc="0" baseline="0" dirty="0">
                <a:solidFill>
                  <a:srgbClr val="000000"/>
                </a:solidFill>
                <a:latin typeface="Calibri"/>
              </a:rPr>
              <a:t>256 rows / sorted</a:t>
            </a:r>
            <a:endParaRPr lang="en-US" sz="1150" b="0"/>
          </a:p>
        </p:txBody>
      </p:sp>
      <p:sp>
        <p:nvSpPr>
          <p:cNvPr id="122" name="Pass 2 1"/>
          <p:cNvSpPr txBox="1"/>
          <p:nvPr/>
        </p:nvSpPr>
        <p:spPr>
          <a:xfrm>
            <a:off x="6492240" y="2889504"/>
            <a:ext cx="795528" cy="475488"/>
          </a:xfrm>
          <a:prstGeom prst="rect">
            <a:avLst/>
          </a:prstGeom>
          <a:solidFill>
            <a:srgbClr val="EAF3EC"/>
          </a:solidFill>
          <a:ln w="12700">
            <a:solidFill>
              <a:srgbClr val="D1D1D1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spc="0" baseline="0" dirty="0">
                <a:solidFill>
                  <a:srgbClr val="168638"/>
                </a:solidFill>
                <a:latin typeface="Calibri"/>
              </a:rPr>
              <a:t>PASS</a:t>
            </a:r>
            <a:endParaRPr lang="en-US" sz="1200" b="1"/>
          </a:p>
        </p:txBody>
      </p:sp>
      <p:sp>
        <p:nvSpPr>
          <p:cNvPr id="123" name="Pass 2 2"/>
          <p:cNvSpPr txBox="1"/>
          <p:nvPr/>
        </p:nvSpPr>
        <p:spPr>
          <a:xfrm>
            <a:off x="7287768" y="2889504"/>
            <a:ext cx="795528" cy="475488"/>
          </a:xfrm>
          <a:prstGeom prst="rect">
            <a:avLst/>
          </a:prstGeom>
          <a:solidFill>
            <a:srgbClr val="EAF3EC"/>
          </a:solidFill>
          <a:ln w="12700">
            <a:solidFill>
              <a:srgbClr val="D1D1D1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spc="0" baseline="0" dirty="0">
                <a:solidFill>
                  <a:srgbClr val="168638"/>
                </a:solidFill>
                <a:latin typeface="Calibri"/>
              </a:rPr>
              <a:t>PASS</a:t>
            </a:r>
            <a:endParaRPr lang="en-US" sz="1200" b="1"/>
          </a:p>
        </p:txBody>
      </p:sp>
      <p:sp>
        <p:nvSpPr>
          <p:cNvPr id="124" name="Pass 2 3"/>
          <p:cNvSpPr txBox="1"/>
          <p:nvPr/>
        </p:nvSpPr>
        <p:spPr>
          <a:xfrm>
            <a:off x="8083296" y="2889504"/>
            <a:ext cx="795528" cy="475488"/>
          </a:xfrm>
          <a:prstGeom prst="rect">
            <a:avLst/>
          </a:prstGeom>
          <a:solidFill>
            <a:srgbClr val="EAF3EC"/>
          </a:solidFill>
          <a:ln w="12700">
            <a:solidFill>
              <a:srgbClr val="D1D1D1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spc="0" baseline="0" dirty="0">
                <a:solidFill>
                  <a:srgbClr val="168638"/>
                </a:solidFill>
                <a:latin typeface="Calibri"/>
              </a:rPr>
              <a:t>PASS</a:t>
            </a:r>
            <a:endParaRPr lang="en-US" sz="1200" b="1"/>
          </a:p>
        </p:txBody>
      </p:sp>
      <p:sp>
        <p:nvSpPr>
          <p:cNvPr id="125" name="Workload 128 rows / shuffled"/>
          <p:cNvSpPr txBox="1"/>
          <p:nvPr/>
        </p:nvSpPr>
        <p:spPr>
          <a:xfrm>
            <a:off x="4873752" y="3364992"/>
            <a:ext cx="16184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1D1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spc="0" baseline="0" dirty="0">
                <a:solidFill>
                  <a:srgbClr val="000000"/>
                </a:solidFill>
                <a:latin typeface="Calibri"/>
              </a:rPr>
              <a:t>128 rows / shuffled</a:t>
            </a:r>
            <a:endParaRPr lang="en-US" sz="1150" b="0"/>
          </a:p>
        </p:txBody>
      </p:sp>
      <p:sp>
        <p:nvSpPr>
          <p:cNvPr id="126" name="Pass 3 1"/>
          <p:cNvSpPr txBox="1"/>
          <p:nvPr/>
        </p:nvSpPr>
        <p:spPr>
          <a:xfrm>
            <a:off x="6492240" y="3364992"/>
            <a:ext cx="795528" cy="475488"/>
          </a:xfrm>
          <a:prstGeom prst="rect">
            <a:avLst/>
          </a:prstGeom>
          <a:solidFill>
            <a:srgbClr val="EAF3EC"/>
          </a:solidFill>
          <a:ln w="12700">
            <a:solidFill>
              <a:srgbClr val="D1D1D1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spc="0" baseline="0" dirty="0">
                <a:solidFill>
                  <a:srgbClr val="168638"/>
                </a:solidFill>
                <a:latin typeface="Calibri"/>
              </a:rPr>
              <a:t>PASS</a:t>
            </a:r>
            <a:endParaRPr lang="en-US" sz="1200" b="1"/>
          </a:p>
        </p:txBody>
      </p:sp>
      <p:sp>
        <p:nvSpPr>
          <p:cNvPr id="127" name="Pass 3 2"/>
          <p:cNvSpPr txBox="1"/>
          <p:nvPr/>
        </p:nvSpPr>
        <p:spPr>
          <a:xfrm>
            <a:off x="7287768" y="3364992"/>
            <a:ext cx="795528" cy="475488"/>
          </a:xfrm>
          <a:prstGeom prst="rect">
            <a:avLst/>
          </a:prstGeom>
          <a:solidFill>
            <a:srgbClr val="EAF3EC"/>
          </a:solidFill>
          <a:ln w="12700">
            <a:solidFill>
              <a:srgbClr val="D1D1D1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spc="0" baseline="0" dirty="0">
                <a:solidFill>
                  <a:srgbClr val="168638"/>
                </a:solidFill>
                <a:latin typeface="Calibri"/>
              </a:rPr>
              <a:t>PASS</a:t>
            </a:r>
            <a:endParaRPr lang="en-US" sz="1200" b="1"/>
          </a:p>
        </p:txBody>
      </p:sp>
      <p:sp>
        <p:nvSpPr>
          <p:cNvPr id="128" name="Pass 3 3"/>
          <p:cNvSpPr txBox="1"/>
          <p:nvPr/>
        </p:nvSpPr>
        <p:spPr>
          <a:xfrm>
            <a:off x="8083296" y="3364992"/>
            <a:ext cx="795528" cy="475488"/>
          </a:xfrm>
          <a:prstGeom prst="rect">
            <a:avLst/>
          </a:prstGeom>
          <a:solidFill>
            <a:srgbClr val="EAF3EC"/>
          </a:solidFill>
          <a:ln w="12700">
            <a:solidFill>
              <a:srgbClr val="D1D1D1"/>
            </a:solidFill>
          </a:ln>
        </p:spPr>
        <p:txBody>
          <a:bodyPr wrap="square" lIns="54864" tIns="54864" rIns="54864" bIns="54864" anchor="ctr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spc="0" baseline="0" dirty="0">
                <a:solidFill>
                  <a:srgbClr val="168638"/>
                </a:solidFill>
                <a:latin typeface="Calibri"/>
              </a:rPr>
              <a:t>PASS</a:t>
            </a:r>
            <a:endParaRPr lang="en-US" sz="1200" b="1"/>
          </a:p>
        </p:txBody>
      </p:sp>
      <p:sp>
        <p:nvSpPr>
          <p:cNvPr id="129" name="Pass definition"/>
          <p:cNvSpPr txBox="1"/>
          <p:nvPr/>
        </p:nvSpPr>
        <p:spPr>
          <a:xfrm>
            <a:off x="4892040" y="4050792"/>
            <a:ext cx="3986784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spc="0" baseline="0" dirty="0">
                <a:solidFill>
                  <a:srgbClr val="168638"/>
                </a:solidFill>
                <a:latin typeface="Calibri"/>
              </a:rPr>
              <a:t>PASS = correct data + timing within 10%</a:t>
            </a:r>
            <a:endParaRPr lang="en-US" sz="1200" b="0"/>
          </a:p>
        </p:txBody>
      </p:sp>
      <p:sp>
        <p:nvSpPr>
          <p:cNvPr id="130" name="Compatibility result"/>
          <p:cNvSpPr txBox="1"/>
          <p:nvPr/>
        </p:nvSpPr>
        <p:spPr>
          <a:xfrm>
            <a:off x="4892040" y="4462272"/>
            <a:ext cx="398678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spc="0" baseline="0" dirty="0">
                <a:solidFill>
                  <a:srgbClr val="595959"/>
                </a:solidFill>
                <a:latin typeface="Calibri"/>
              </a:rPr>
              <a:t>Original DRAMSys example also passes</a:t>
            </a:r>
            <a:endParaRPr lang="en-US" sz="1150" b="0"/>
          </a:p>
        </p:txBody>
      </p:sp>
    </p:spTree>
    <p:extLst>
      <p:ext uri="{BB962C8B-B14F-4D97-AF65-F5344CB8AC3E}">
        <p14:creationId xmlns:p14="http://schemas.microsoft.com/office/powerpoint/2010/main" val="102660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12E8F-39B4-4236-A8C2-69C4DCDAC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CDCA5-6076-47FF-AB5A-E157FCD53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Sparse DMA in GVSoC: Calibration Results</a:t>
            </a:r>
            <a:endParaRPr lang="en-US" sz="2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E13BCE-5439-4933-9025-54F93E9E45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8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101" name="Target achieved"/>
          <p:cNvSpPr txBox="1"/>
          <p:nvPr/>
        </p:nvSpPr>
        <p:spPr>
          <a:xfrm>
            <a:off x="274320" y="822960"/>
            <a:ext cx="429768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spc="0" baseline="0" dirty="0">
                <a:solidFill>
                  <a:srgbClr val="168638"/>
                </a:solidFill>
                <a:latin typeface="Calibri"/>
              </a:rPr>
              <a:t>Target achieved</a:t>
            </a:r>
            <a:endParaRPr lang="en-US" sz="1600" b="1"/>
          </a:p>
        </p:txBody>
      </p:sp>
      <p:sp>
        <p:nvSpPr>
          <p:cNvPr id="102" name="All 12 comparisons within 10%"/>
          <p:cNvSpPr txBox="1"/>
          <p:nvPr/>
        </p:nvSpPr>
        <p:spPr>
          <a:xfrm>
            <a:off x="420624" y="1225296"/>
            <a:ext cx="4142232" cy="402336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7145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400" b="1" i="0" spc="0" baseline="0" dirty="0">
                <a:solidFill>
                  <a:srgbClr val="168638"/>
                </a:solidFill>
                <a:latin typeface="Calibri"/>
              </a:rPr>
              <a:t>All 12 comparisons within 10%</a:t>
            </a:r>
            <a:endParaRPr lang="en-US" sz="1400" b="1"/>
          </a:p>
        </p:txBody>
      </p:sp>
      <p:sp>
        <p:nvSpPr>
          <p:cNvPr id="103" name="Worst cycle deviation: 8.80%"/>
          <p:cNvSpPr txBox="1"/>
          <p:nvPr/>
        </p:nvSpPr>
        <p:spPr>
          <a:xfrm>
            <a:off x="420624" y="1737360"/>
            <a:ext cx="4142232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7145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400" b="0" i="0" spc="0" baseline="0" dirty="0">
                <a:solidFill>
                  <a:srgbClr val="000000"/>
                </a:solidFill>
                <a:latin typeface="Calibri"/>
              </a:rPr>
              <a:t>Worst cycle deviation: 8.80%</a:t>
            </a:r>
            <a:endParaRPr lang="en-US" sz="1400" b="0"/>
          </a:p>
        </p:txBody>
      </p:sp>
      <p:sp>
        <p:nvSpPr>
          <p:cNvPr id="104" name="Worst DMA-window deviation: 8.94%"/>
          <p:cNvSpPr txBox="1"/>
          <p:nvPr/>
        </p:nvSpPr>
        <p:spPr>
          <a:xfrm>
            <a:off x="420624" y="2258568"/>
            <a:ext cx="4142232" cy="603504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7145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400" b="0" i="0" spc="0" baseline="0" dirty="0">
                <a:solidFill>
                  <a:srgbClr val="000000"/>
                </a:solidFill>
                <a:latin typeface="Calibri"/>
              </a:rPr>
              <a:t>Worst DMA-window deviation: 8.94%</a:t>
            </a:r>
            <a:endParaRPr lang="en-US" sz="1400" b="0"/>
          </a:p>
        </p:txBody>
      </p:sp>
      <p:sp>
        <p:nvSpPr>
          <p:cNvPr id="105" name="Original hardware gather"/>
          <p:cNvSpPr txBox="1"/>
          <p:nvPr/>
        </p:nvSpPr>
        <p:spPr>
          <a:xfrm>
            <a:off x="274320" y="3063240"/>
            <a:ext cx="429768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spc="0" baseline="0" dirty="0">
                <a:solidFill>
                  <a:srgbClr val="000000"/>
                </a:solidFill>
                <a:latin typeface="Calibri"/>
              </a:rPr>
              <a:t>Original hardware gather</a:t>
            </a:r>
            <a:endParaRPr lang="en-US" sz="1600" b="1"/>
          </a:p>
        </p:txBody>
      </p:sp>
      <p:sp>
        <p:nvSpPr>
          <p:cNvPr id="106" name="1,236 RTL → 1,159 GVSoC cycles"/>
          <p:cNvSpPr txBox="1"/>
          <p:nvPr/>
        </p:nvSpPr>
        <p:spPr>
          <a:xfrm>
            <a:off x="420624" y="3465576"/>
            <a:ext cx="4142232" cy="585216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7145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400" b="0" i="0" spc="0" baseline="0" dirty="0">
                <a:solidFill>
                  <a:srgbClr val="000000"/>
                </a:solidFill>
                <a:latin typeface="Calibri"/>
              </a:rPr>
              <a:t>1,236 RTL → 1,159 GVSoC cycles</a:t>
            </a:r>
            <a:endParaRPr lang="en-US" sz="1400" b="0"/>
          </a:p>
        </p:txBody>
      </p:sp>
      <p:sp>
        <p:nvSpPr>
          <p:cNvPr id="107" name="-6.23% cycle deviation"/>
          <p:cNvSpPr txBox="1"/>
          <p:nvPr/>
        </p:nvSpPr>
        <p:spPr>
          <a:xfrm>
            <a:off x="420624" y="4050792"/>
            <a:ext cx="4142232" cy="402336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7145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400" b="1" i="0" spc="0" baseline="0" dirty="0">
                <a:solidFill>
                  <a:srgbClr val="168638"/>
                </a:solidFill>
                <a:latin typeface="Calibri"/>
              </a:rPr>
              <a:t>-6.23% cycle deviation</a:t>
            </a:r>
            <a:endParaRPr lang="en-US" sz="1400" b="1"/>
          </a:p>
        </p:txBody>
      </p:sp>
      <p:sp>
        <p:nvSpPr>
          <p:cNvPr id="108" name="Result plot title"/>
          <p:cNvSpPr txBox="1"/>
          <p:nvPr/>
        </p:nvSpPr>
        <p:spPr>
          <a:xfrm>
            <a:off x="4983480" y="886968"/>
            <a:ext cx="388620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spc="0" baseline="0" dirty="0">
                <a:solidFill>
                  <a:srgbClr val="000000"/>
                </a:solidFill>
                <a:latin typeface="Calibri"/>
              </a:rPr>
              <a:t>Original gather experiment</a:t>
            </a:r>
            <a:endParaRPr lang="en-US" sz="1400" b="1"/>
          </a:p>
        </p:txBody>
      </p:sp>
      <p:sp>
        <p:nvSpPr>
          <p:cNvPr id="109" name="RTL legend swatch"/>
          <p:cNvSpPr txBox="1"/>
          <p:nvPr/>
        </p:nvSpPr>
        <p:spPr>
          <a:xfrm>
            <a:off x="5733288" y="1307592"/>
            <a:ext cx="164592" cy="118872"/>
          </a:xfrm>
          <a:prstGeom prst="rect">
            <a:avLst/>
          </a:prstGeom>
          <a:solidFill>
            <a:srgbClr val="B9B9B9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RTL legend"/>
          <p:cNvSpPr txBox="1"/>
          <p:nvPr/>
        </p:nvSpPr>
        <p:spPr>
          <a:xfrm>
            <a:off x="5952744" y="1252728"/>
            <a:ext cx="585216" cy="237744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spc="0" baseline="0" dirty="0">
                <a:solidFill>
                  <a:srgbClr val="000000"/>
                </a:solidFill>
                <a:latin typeface="Calibri"/>
              </a:rPr>
              <a:t>RTL</a:t>
            </a:r>
            <a:endParaRPr lang="en-US" sz="1200" b="0"/>
          </a:p>
        </p:txBody>
      </p:sp>
      <p:sp>
        <p:nvSpPr>
          <p:cNvPr id="111" name="GVSoC legend swatch"/>
          <p:cNvSpPr txBox="1"/>
          <p:nvPr/>
        </p:nvSpPr>
        <p:spPr>
          <a:xfrm>
            <a:off x="6885432" y="1307592"/>
            <a:ext cx="164592" cy="118872"/>
          </a:xfrm>
          <a:prstGeom prst="rect">
            <a:avLst/>
          </a:prstGeom>
          <a:solidFill>
            <a:srgbClr val="168638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GVSoC legend"/>
          <p:cNvSpPr txBox="1"/>
          <p:nvPr/>
        </p:nvSpPr>
        <p:spPr>
          <a:xfrm>
            <a:off x="7104888" y="1252728"/>
            <a:ext cx="987552" cy="237744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spc="0" baseline="0" dirty="0">
                <a:solidFill>
                  <a:srgbClr val="000000"/>
                </a:solidFill>
                <a:latin typeface="Calibri"/>
              </a:rPr>
              <a:t>GVSoC</a:t>
            </a:r>
            <a:endParaRPr lang="en-US" sz="1200" b="0"/>
          </a:p>
        </p:txBody>
      </p:sp>
      <p:cxnSp>
        <p:nvCxnSpPr>
          <p:cNvPr id="113" name="Grid 0"/>
          <p:cNvCxnSpPr/>
          <p:nvPr/>
        </p:nvCxnSpPr>
        <p:spPr>
          <a:xfrm>
            <a:off x="5193792" y="3950208"/>
            <a:ext cx="3739896" cy="0"/>
          </a:xfrm>
          <a:prstGeom prst="line">
            <a:avLst/>
          </a:prstGeom>
          <a:ln w="7620" cap="flat">
            <a:solidFill>
              <a:srgbClr val="D9D9D9"/>
            </a:solidFill>
            <a:prstDash val="solid"/>
          </a:ln>
        </p:spPr>
      </p:cxnSp>
      <p:sp>
        <p:nvSpPr>
          <p:cNvPr id="114" name="Tick 0"/>
          <p:cNvSpPr txBox="1"/>
          <p:nvPr/>
        </p:nvSpPr>
        <p:spPr>
          <a:xfrm>
            <a:off x="4636008" y="3858768"/>
            <a:ext cx="466344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spc="0" baseline="0" dirty="0">
                <a:solidFill>
                  <a:srgbClr val="595959"/>
                </a:solidFill>
                <a:latin typeface="Calibri"/>
              </a:rPr>
              <a:t>0</a:t>
            </a:r>
            <a:endParaRPr lang="en-US" sz="1000" b="0"/>
          </a:p>
        </p:txBody>
      </p:sp>
      <p:cxnSp>
        <p:nvCxnSpPr>
          <p:cNvPr id="115" name="Grid 1000"/>
          <p:cNvCxnSpPr/>
          <p:nvPr/>
        </p:nvCxnSpPr>
        <p:spPr>
          <a:xfrm>
            <a:off x="5193792" y="3310128"/>
            <a:ext cx="3739896" cy="0"/>
          </a:xfrm>
          <a:prstGeom prst="line">
            <a:avLst/>
          </a:prstGeom>
          <a:ln w="7620" cap="flat">
            <a:solidFill>
              <a:srgbClr val="D9D9D9"/>
            </a:solidFill>
            <a:prstDash val="solid"/>
          </a:ln>
        </p:spPr>
      </p:cxnSp>
      <p:sp>
        <p:nvSpPr>
          <p:cNvPr id="116" name="Tick 1000"/>
          <p:cNvSpPr txBox="1"/>
          <p:nvPr/>
        </p:nvSpPr>
        <p:spPr>
          <a:xfrm>
            <a:off x="4636008" y="3218688"/>
            <a:ext cx="466344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spc="0" baseline="0" dirty="0">
                <a:solidFill>
                  <a:srgbClr val="595959"/>
                </a:solidFill>
                <a:latin typeface="Calibri"/>
              </a:rPr>
              <a:t>1,000</a:t>
            </a:r>
            <a:endParaRPr lang="en-US" sz="1000" b="0"/>
          </a:p>
        </p:txBody>
      </p:sp>
      <p:cxnSp>
        <p:nvCxnSpPr>
          <p:cNvPr id="117" name="Grid 2000"/>
          <p:cNvCxnSpPr/>
          <p:nvPr/>
        </p:nvCxnSpPr>
        <p:spPr>
          <a:xfrm>
            <a:off x="5193792" y="2670048"/>
            <a:ext cx="3739896" cy="0"/>
          </a:xfrm>
          <a:prstGeom prst="line">
            <a:avLst/>
          </a:prstGeom>
          <a:ln w="7620" cap="flat">
            <a:solidFill>
              <a:srgbClr val="D9D9D9"/>
            </a:solidFill>
            <a:prstDash val="solid"/>
          </a:ln>
        </p:spPr>
      </p:cxnSp>
      <p:sp>
        <p:nvSpPr>
          <p:cNvPr id="118" name="Tick 2000"/>
          <p:cNvSpPr txBox="1"/>
          <p:nvPr/>
        </p:nvSpPr>
        <p:spPr>
          <a:xfrm>
            <a:off x="4636008" y="2578608"/>
            <a:ext cx="466344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spc="0" baseline="0" dirty="0">
                <a:solidFill>
                  <a:srgbClr val="595959"/>
                </a:solidFill>
                <a:latin typeface="Calibri"/>
              </a:rPr>
              <a:t>2,000</a:t>
            </a:r>
            <a:endParaRPr lang="en-US" sz="1000" b="0"/>
          </a:p>
        </p:txBody>
      </p:sp>
      <p:cxnSp>
        <p:nvCxnSpPr>
          <p:cNvPr id="119" name="Grid 3000"/>
          <p:cNvCxnSpPr/>
          <p:nvPr/>
        </p:nvCxnSpPr>
        <p:spPr>
          <a:xfrm>
            <a:off x="5193792" y="2029968"/>
            <a:ext cx="3739896" cy="0"/>
          </a:xfrm>
          <a:prstGeom prst="line">
            <a:avLst/>
          </a:prstGeom>
          <a:ln w="7620" cap="flat">
            <a:solidFill>
              <a:srgbClr val="D9D9D9"/>
            </a:solidFill>
            <a:prstDash val="solid"/>
          </a:ln>
        </p:spPr>
      </p:cxnSp>
      <p:sp>
        <p:nvSpPr>
          <p:cNvPr id="120" name="Tick 3000"/>
          <p:cNvSpPr txBox="1"/>
          <p:nvPr/>
        </p:nvSpPr>
        <p:spPr>
          <a:xfrm>
            <a:off x="4636008" y="1938528"/>
            <a:ext cx="466344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spc="0" baseline="0" dirty="0">
                <a:solidFill>
                  <a:srgbClr val="595959"/>
                </a:solidFill>
                <a:latin typeface="Calibri"/>
              </a:rPr>
              <a:t>3,000</a:t>
            </a:r>
            <a:endParaRPr lang="en-US" sz="1000" b="0"/>
          </a:p>
        </p:txBody>
      </p:sp>
      <p:sp>
        <p:nvSpPr>
          <p:cNvPr id="121" name="rtl gather 3099 cycles"/>
          <p:cNvSpPr txBox="1"/>
          <p:nvPr/>
        </p:nvSpPr>
        <p:spPr>
          <a:xfrm>
            <a:off x="5385816" y="1966600"/>
            <a:ext cx="329184" cy="1983608"/>
          </a:xfrm>
          <a:prstGeom prst="rect">
            <a:avLst/>
          </a:prstGeom>
          <a:solidFill>
            <a:srgbClr val="B9B9B9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rtl gather value"/>
          <p:cNvSpPr txBox="1"/>
          <p:nvPr/>
        </p:nvSpPr>
        <p:spPr>
          <a:xfrm>
            <a:off x="5276088" y="1673992"/>
            <a:ext cx="54864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spc="0" baseline="0" dirty="0">
                <a:solidFill>
                  <a:srgbClr val="000000"/>
                </a:solidFill>
                <a:latin typeface="Calibri"/>
              </a:rPr>
              <a:t>3099</a:t>
            </a:r>
            <a:endParaRPr lang="en-US" sz="1150" b="0"/>
          </a:p>
        </p:txBody>
      </p:sp>
      <p:sp>
        <p:nvSpPr>
          <p:cNvPr id="123" name="gvsoc gather 3056 cycles"/>
          <p:cNvSpPr txBox="1"/>
          <p:nvPr/>
        </p:nvSpPr>
        <p:spPr>
          <a:xfrm>
            <a:off x="5824728" y="1994124"/>
            <a:ext cx="329184" cy="1956084"/>
          </a:xfrm>
          <a:prstGeom prst="rect">
            <a:avLst/>
          </a:prstGeom>
          <a:solidFill>
            <a:srgbClr val="168638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gvsoc gather value"/>
          <p:cNvSpPr txBox="1"/>
          <p:nvPr/>
        </p:nvSpPr>
        <p:spPr>
          <a:xfrm>
            <a:off x="5715000" y="1701516"/>
            <a:ext cx="54864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spc="0" baseline="0" dirty="0">
                <a:solidFill>
                  <a:srgbClr val="000000"/>
                </a:solidFill>
                <a:latin typeface="Calibri"/>
              </a:rPr>
              <a:t>3056</a:t>
            </a:r>
            <a:endParaRPr lang="en-US" sz="1150" b="0"/>
          </a:p>
        </p:txBody>
      </p:sp>
      <p:sp>
        <p:nvSpPr>
          <p:cNvPr id="125" name="Variant gather"/>
          <p:cNvSpPr txBox="1"/>
          <p:nvPr/>
        </p:nvSpPr>
        <p:spPr>
          <a:xfrm>
            <a:off x="5330952" y="4023360"/>
            <a:ext cx="960120" cy="475488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spc="0" baseline="0" dirty="0">
                <a:solidFill>
                  <a:srgbClr val="000000"/>
                </a:solidFill>
                <a:latin typeface="Calibri"/>
              </a:rPr>
              <a:t>Core</a:t>
            </a:r>
            <a:br/>
            <a:r>
              <a:rPr lang="en-US" sz="1200" b="0" i="0" spc="0" baseline="0" dirty="0">
                <a:solidFill>
                  <a:srgbClr val="000000"/>
                </a:solidFill>
                <a:latin typeface="Calibri"/>
              </a:rPr>
              <a:t>loop</a:t>
            </a:r>
            <a:endParaRPr lang="en-US" sz="1200" b="0"/>
          </a:p>
        </p:txBody>
      </p:sp>
      <p:sp>
        <p:nvSpPr>
          <p:cNvPr id="126" name="rtl gather-opt 1952 cycles"/>
          <p:cNvSpPr txBox="1"/>
          <p:nvPr/>
        </p:nvSpPr>
        <p:spPr>
          <a:xfrm>
            <a:off x="6611112" y="2700772"/>
            <a:ext cx="329184" cy="1249436"/>
          </a:xfrm>
          <a:prstGeom prst="rect">
            <a:avLst/>
          </a:prstGeom>
          <a:solidFill>
            <a:srgbClr val="B9B9B9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rtl gather-opt value"/>
          <p:cNvSpPr txBox="1"/>
          <p:nvPr/>
        </p:nvSpPr>
        <p:spPr>
          <a:xfrm>
            <a:off x="6501384" y="2408164"/>
            <a:ext cx="54864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spc="0" baseline="0" dirty="0">
                <a:solidFill>
                  <a:srgbClr val="000000"/>
                </a:solidFill>
                <a:latin typeface="Calibri"/>
              </a:rPr>
              <a:t>1952</a:t>
            </a:r>
            <a:endParaRPr lang="en-US" sz="1150" b="0"/>
          </a:p>
        </p:txBody>
      </p:sp>
      <p:sp>
        <p:nvSpPr>
          <p:cNvPr id="128" name="gvsoc gather-opt 1914 cycles"/>
          <p:cNvSpPr txBox="1"/>
          <p:nvPr/>
        </p:nvSpPr>
        <p:spPr>
          <a:xfrm>
            <a:off x="7050024" y="2725095"/>
            <a:ext cx="329184" cy="1225113"/>
          </a:xfrm>
          <a:prstGeom prst="rect">
            <a:avLst/>
          </a:prstGeom>
          <a:solidFill>
            <a:srgbClr val="168638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gvsoc gather-opt value"/>
          <p:cNvSpPr txBox="1"/>
          <p:nvPr/>
        </p:nvSpPr>
        <p:spPr>
          <a:xfrm>
            <a:off x="6940296" y="2432487"/>
            <a:ext cx="54864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spc="0" baseline="0" dirty="0">
                <a:solidFill>
                  <a:srgbClr val="000000"/>
                </a:solidFill>
                <a:latin typeface="Calibri"/>
              </a:rPr>
              <a:t>1914</a:t>
            </a:r>
            <a:endParaRPr lang="en-US" sz="1150" b="0"/>
          </a:p>
        </p:txBody>
      </p:sp>
      <p:sp>
        <p:nvSpPr>
          <p:cNvPr id="130" name="Variant gather-opt"/>
          <p:cNvSpPr txBox="1"/>
          <p:nvPr/>
        </p:nvSpPr>
        <p:spPr>
          <a:xfrm>
            <a:off x="6556248" y="4023360"/>
            <a:ext cx="960120" cy="475488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spc="0" baseline="0" dirty="0">
                <a:solidFill>
                  <a:srgbClr val="000000"/>
                </a:solidFill>
                <a:latin typeface="Calibri"/>
              </a:rPr>
              <a:t>Inlined</a:t>
            </a:r>
            <a:br/>
            <a:r>
              <a:rPr lang="en-US" sz="1200" b="0" i="0" spc="0" baseline="0" dirty="0">
                <a:solidFill>
                  <a:srgbClr val="000000"/>
                </a:solidFill>
                <a:latin typeface="Calibri"/>
              </a:rPr>
              <a:t>loop</a:t>
            </a:r>
            <a:endParaRPr lang="en-US" sz="1200" b="0"/>
          </a:p>
        </p:txBody>
      </p:sp>
      <p:sp>
        <p:nvSpPr>
          <p:cNvPr id="131" name="rtl gather-hw 1236 cycles"/>
          <p:cNvSpPr txBox="1"/>
          <p:nvPr/>
        </p:nvSpPr>
        <p:spPr>
          <a:xfrm>
            <a:off x="7836408" y="3159069"/>
            <a:ext cx="329184" cy="791139"/>
          </a:xfrm>
          <a:prstGeom prst="rect">
            <a:avLst/>
          </a:prstGeom>
          <a:solidFill>
            <a:srgbClr val="B9B9B9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rtl gather-hw value"/>
          <p:cNvSpPr txBox="1"/>
          <p:nvPr/>
        </p:nvSpPr>
        <p:spPr>
          <a:xfrm>
            <a:off x="7726680" y="2866461"/>
            <a:ext cx="54864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spc="0" baseline="0" dirty="0">
                <a:solidFill>
                  <a:srgbClr val="000000"/>
                </a:solidFill>
                <a:latin typeface="Calibri"/>
              </a:rPr>
              <a:t>1236</a:t>
            </a:r>
            <a:endParaRPr lang="en-US" sz="1150" b="0"/>
          </a:p>
        </p:txBody>
      </p:sp>
      <p:sp>
        <p:nvSpPr>
          <p:cNvPr id="133" name="gvsoc gather-hw 1159 cycles"/>
          <p:cNvSpPr txBox="1"/>
          <p:nvPr/>
        </p:nvSpPr>
        <p:spPr>
          <a:xfrm>
            <a:off x="8275320" y="3208355"/>
            <a:ext cx="329184" cy="741853"/>
          </a:xfrm>
          <a:prstGeom prst="rect">
            <a:avLst/>
          </a:prstGeom>
          <a:solidFill>
            <a:srgbClr val="168638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gvsoc gather-hw value"/>
          <p:cNvSpPr txBox="1"/>
          <p:nvPr/>
        </p:nvSpPr>
        <p:spPr>
          <a:xfrm>
            <a:off x="8165592" y="2915747"/>
            <a:ext cx="54864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spc="0" baseline="0" dirty="0">
                <a:solidFill>
                  <a:srgbClr val="000000"/>
                </a:solidFill>
                <a:latin typeface="Calibri"/>
              </a:rPr>
              <a:t>1159</a:t>
            </a:r>
            <a:endParaRPr lang="en-US" sz="1150" b="0"/>
          </a:p>
        </p:txBody>
      </p:sp>
      <p:sp>
        <p:nvSpPr>
          <p:cNvPr id="135" name="Variant gather-hw"/>
          <p:cNvSpPr txBox="1"/>
          <p:nvPr/>
        </p:nvSpPr>
        <p:spPr>
          <a:xfrm>
            <a:off x="7781544" y="4023360"/>
            <a:ext cx="960120" cy="475488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spc="0" baseline="0" dirty="0">
                <a:solidFill>
                  <a:srgbClr val="000000"/>
                </a:solidFill>
                <a:latin typeface="Calibri"/>
              </a:rPr>
              <a:t>HW</a:t>
            </a:r>
            <a:br/>
            <a:r>
              <a:rPr lang="en-US" sz="1200" b="0" i="0" spc="0" baseline="0" dirty="0">
                <a:solidFill>
                  <a:srgbClr val="000000"/>
                </a:solidFill>
                <a:latin typeface="Calibri"/>
              </a:rPr>
              <a:t>gather</a:t>
            </a:r>
            <a:endParaRPr lang="en-US" sz="1200" b="0"/>
          </a:p>
        </p:txBody>
      </p:sp>
      <p:sp>
        <p:nvSpPr>
          <p:cNvPr id="136" name="Plot unit"/>
          <p:cNvSpPr txBox="1"/>
          <p:nvPr/>
        </p:nvSpPr>
        <p:spPr>
          <a:xfrm>
            <a:off x="4754880" y="4562856"/>
            <a:ext cx="4151376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spc="0" baseline="0" dirty="0">
                <a:solidFill>
                  <a:srgbClr val="595959"/>
                </a:solidFill>
                <a:latin typeface="Calibri"/>
              </a:rPr>
              <a:t>Software-measured cycles • 128 gathered rows</a:t>
            </a:r>
            <a:endParaRPr lang="en-US" sz="1050" b="0"/>
          </a:p>
        </p:txBody>
      </p:sp>
      <p:sp>
        <p:nvSpPr>
          <p:cNvPr id="137" name="Accuracy scope"/>
          <p:cNvSpPr txBox="1"/>
          <p:nvPr/>
        </p:nvSpPr>
        <p:spPr>
          <a:xfrm>
            <a:off x="420624" y="4590288"/>
            <a:ext cx="4069080" cy="210312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spc="0" baseline="0" dirty="0">
                <a:solidFill>
                  <a:srgbClr val="595959"/>
                </a:solidFill>
                <a:latin typeface="Calibri"/>
              </a:rPr>
              <a:t>Accuracy validated on the measured gather workloads.</a:t>
            </a:r>
            <a:endParaRPr lang="en-US" sz="1050" b="0"/>
          </a:p>
        </p:txBody>
      </p:sp>
    </p:spTree>
    <p:extLst>
      <p:ext uri="{BB962C8B-B14F-4D97-AF65-F5344CB8AC3E}">
        <p14:creationId xmlns:p14="http://schemas.microsoft.com/office/powerpoint/2010/main" val="564299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0055D-24C5-FFA7-D96A-FAEB9EBD8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CD7B3-EE91-73E3-AC6E-42EECB21D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i="1" dirty="0"/>
              <a:t>Next Step</a:t>
            </a:r>
            <a:r>
              <a:rPr lang="en-US" altLang="zh-CN" sz="2400" dirty="0"/>
              <a:t>: Sparse DMA</a:t>
            </a:r>
            <a:endParaRPr lang="en-US" sz="2400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1C724-8AD4-D44F-8355-5466436496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9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08B8A74-9D64-3728-163F-4F88714EB525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1417198-5800-F11B-40F2-BF867B28F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5" y="624536"/>
            <a:ext cx="4803895" cy="4088695"/>
          </a:xfrm>
        </p:spPr>
        <p:txBody>
          <a:bodyPr/>
          <a:lstStyle/>
          <a:p>
            <a:r>
              <a:rPr lang="en-US" altLang="zh-CN" sz="16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RTL model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Backend implementation, area overhead analysis</a:t>
            </a:r>
          </a:p>
          <a:p>
            <a:r>
              <a:rPr lang="en-US" altLang="zh-CN" sz="16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GVSoC model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Scale to multi-node system</a:t>
            </a:r>
            <a:b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</a:br>
            <a:endParaRPr lang="en-US" altLang="zh-CN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  <a:p>
            <a:pPr lvl="1"/>
            <a:endParaRPr lang="en-US" altLang="zh-CN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12850517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ULP Triangle">
  <a:themeElements>
    <a:clrScheme name="PULP palette">
      <a:dk1>
        <a:srgbClr val="000000"/>
      </a:dk1>
      <a:lt1>
        <a:srgbClr val="ABABAB"/>
      </a:lt1>
      <a:dk2>
        <a:srgbClr val="5D5D5D"/>
      </a:dk2>
      <a:lt2>
        <a:srgbClr val="FFFFFF"/>
      </a:lt2>
      <a:accent1>
        <a:srgbClr val="A8322C"/>
      </a:accent1>
      <a:accent2>
        <a:srgbClr val="1269B0"/>
      </a:accent2>
      <a:accent3>
        <a:srgbClr val="168638"/>
      </a:accent3>
      <a:accent4>
        <a:srgbClr val="F29545"/>
      </a:accent4>
      <a:accent5>
        <a:srgbClr val="910569"/>
      </a:accent5>
      <a:accent6>
        <a:srgbClr val="48592C"/>
      </a:accent6>
      <a:hlink>
        <a:srgbClr val="007996"/>
      </a:hlink>
      <a:folHlink>
        <a:srgbClr val="ABABA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PULP Triangle">
  <a:themeElements>
    <a:clrScheme name="PULP palette">
      <a:dk1>
        <a:srgbClr val="000000"/>
      </a:dk1>
      <a:lt1>
        <a:srgbClr val="ABABAB"/>
      </a:lt1>
      <a:dk2>
        <a:srgbClr val="5D5D5D"/>
      </a:dk2>
      <a:lt2>
        <a:srgbClr val="FFFFFF"/>
      </a:lt2>
      <a:accent1>
        <a:srgbClr val="A8322C"/>
      </a:accent1>
      <a:accent2>
        <a:srgbClr val="1269B0"/>
      </a:accent2>
      <a:accent3>
        <a:srgbClr val="168638"/>
      </a:accent3>
      <a:accent4>
        <a:srgbClr val="F29545"/>
      </a:accent4>
      <a:accent5>
        <a:srgbClr val="910569"/>
      </a:accent5>
      <a:accent6>
        <a:srgbClr val="48592C"/>
      </a:accent6>
      <a:hlink>
        <a:srgbClr val="007996"/>
      </a:hlink>
      <a:folHlink>
        <a:srgbClr val="ABAB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b="1" i="0" cap="none" spc="0" dirty="0">
            <a:ln>
              <a:noFill/>
            </a:ln>
            <a:solidFill>
              <a:schemeClr val="bg2"/>
            </a:solidFill>
            <a:effectLst/>
            <a:latin typeface="Arial Narrow" panose="020B0604020202020204" pitchFamily="34" charset="0"/>
            <a:cs typeface="Arial Narrow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noAutofit/>
      </a:bodyPr>
      <a:lstStyle>
        <a:defPPr algn="l" defTabSz="720000">
          <a:defRPr sz="2400" b="0" i="0" dirty="0" smtClean="0">
            <a:solidFill>
              <a:schemeClr val="tx2"/>
            </a:solidFill>
            <a:latin typeface="Arial Narrow" panose="020B0604020202020204" pitchFamily="34" charset="0"/>
            <a:cs typeface="Arial Narrow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7D778353-C828-49F6-8D8D-2AB4582EB5C2}" vid="{5F78B0AA-AA4A-4887-80EB-632809F14C64}"/>
    </a:ext>
  </a:extLst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13527</TotalTime>
  <Words>521</Words>
  <Application>Microsoft Macintosh PowerPoint</Application>
  <PresentationFormat>On-screen Show (16:9)</PresentationFormat>
  <Paragraphs>131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Consolas</vt:lpstr>
      <vt:lpstr>Arial</vt:lpstr>
      <vt:lpstr>Calibri Light</vt:lpstr>
      <vt:lpstr>Calibri</vt:lpstr>
      <vt:lpstr>Arial Narrow</vt:lpstr>
      <vt:lpstr>Simple Light</vt:lpstr>
      <vt:lpstr>PULP Triangle</vt:lpstr>
      <vt:lpstr>1_PULP Triangle</vt:lpstr>
      <vt:lpstr>QuantSparse3D 2026-09-10 Bi-weekly</vt:lpstr>
      <vt:lpstr>Agenda</vt:lpstr>
      <vt:lpstr>Recap: Sparse-capable DMA Extension</vt:lpstr>
      <vt:lpstr>Status: Sparse DMA Microarchitecture </vt:lpstr>
      <vt:lpstr>Sparse DMA in GVSoC: Methodology</vt:lpstr>
      <vt:lpstr>Sparse DMA in GVSoC: Model Overview</vt:lpstr>
      <vt:lpstr>Sparse DMA in GVSoC: Test Coverage</vt:lpstr>
      <vt:lpstr>Sparse DMA in GVSoC: Calibration Results</vt:lpstr>
      <vt:lpstr>Next Step: Sparse DMA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QuantSparse 3D Biweekly 2025-03-25</dc:title>
  <dc:creator>paulsc</dc:creator>
  <cp:lastModifiedBy>Wang, Bowen</cp:lastModifiedBy>
  <cp:revision>1420</cp:revision>
  <dcterms:modified xsi:type="dcterms:W3CDTF">2026-09-10T06:59:11Z</dcterms:modified>
</cp:coreProperties>
</file>