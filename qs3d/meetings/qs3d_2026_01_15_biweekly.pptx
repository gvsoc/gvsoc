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4"/>
  </p:notesMasterIdLst>
  <p:sldIdLst>
    <p:sldId id="256" r:id="rId4"/>
    <p:sldId id="257" r:id="rId5"/>
    <p:sldId id="547" r:id="rId6"/>
    <p:sldId id="587" r:id="rId7"/>
    <p:sldId id="588" r:id="rId8"/>
    <p:sldId id="589" r:id="rId9"/>
    <p:sldId id="590" r:id="rId10"/>
    <p:sldId id="592" r:id="rId11"/>
    <p:sldId id="593" r:id="rId12"/>
    <p:sldId id="591" r:id="rId13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547"/>
            <p14:sldId id="587"/>
            <p14:sldId id="588"/>
            <p14:sldId id="589"/>
            <p14:sldId id="590"/>
            <p14:sldId id="592"/>
            <p14:sldId id="593"/>
            <p14:sldId id="5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69B0"/>
    <a:srgbClr val="67AB9F"/>
    <a:srgbClr val="A7127A"/>
    <a:srgbClr val="037491"/>
    <a:srgbClr val="168638"/>
    <a:srgbClr val="A6CAEC"/>
    <a:srgbClr val="BA362D"/>
    <a:srgbClr val="BBA471"/>
    <a:srgbClr val="C45D57"/>
    <a:srgbClr val="4C7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2" autoAdjust="0"/>
    <p:restoredTop sz="94658"/>
  </p:normalViewPr>
  <p:slideViewPr>
    <p:cSldViewPr snapToGrid="0">
      <p:cViewPr varScale="1">
        <p:scale>
          <a:sx n="153" d="100"/>
          <a:sy n="153" d="100"/>
        </p:scale>
        <p:origin x="184" y="2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11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QuantSparse 3D Biweekly 2026-01-</a:t>
            </a:r>
            <a:r>
              <a:rPr lang="en-US" dirty="0"/>
              <a:t>15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>
                <a:solidFill>
                  <a:srgbClr val="168638"/>
                </a:solidFill>
              </a:rPr>
              <a:t>          </a:t>
            </a:r>
            <a:r>
              <a:rPr lang="en">
                <a:solidFill>
                  <a:srgbClr val="000000"/>
                </a:solidFill>
              </a:rPr>
              <a:t>bowwang@iis.ee.ethz.ch</a:t>
            </a:r>
            <a:br>
              <a:rPr lang="en" b="1">
                <a:latin typeface="Calibri"/>
                <a:ea typeface="Calibri"/>
                <a:cs typeface="Calibri"/>
                <a:sym typeface="Calibri"/>
              </a:rPr>
            </a:br>
            <a:r>
              <a:rPr lang="en" b="1">
                <a:latin typeface="Calibri"/>
                <a:ea typeface="Calibri"/>
                <a:cs typeface="Calibri"/>
                <a:sym typeface="Calibri"/>
              </a:rPr>
              <a:t>Paul Scheffler</a:t>
            </a:r>
            <a:r>
              <a:rPr lang="en"/>
              <a:t>         </a:t>
            </a:r>
            <a:r>
              <a:rPr lang="en">
                <a:solidFill>
                  <a:schemeClr val="dk1"/>
                </a:solidFill>
              </a:rPr>
              <a:t>paulsc@iis.ee.ethz.ch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/>
              <a:t>             </a:t>
            </a:r>
            <a:r>
              <a:rPr lang="en">
                <a:solidFill>
                  <a:schemeClr val="dk1"/>
                </a:solidFill>
              </a:rPr>
              <a:t>lbenini@iis.ee.ethz.ch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Ventaglio – </a:t>
            </a:r>
            <a:r>
              <a:rPr lang="en" dirty="0"/>
              <a:t>Fixes, performance analysis, and backend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3D System – </a:t>
            </a:r>
            <a:r>
              <a:rPr lang="en" dirty="0"/>
              <a:t>Adapting SoftHier system &amp; SW stack to 3D</a:t>
            </a:r>
            <a:endParaRPr lang="en" b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6071" y="905715"/>
            <a:ext cx="8571857" cy="1259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C603-D6C0-1565-E849-5245F12A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5DD3-6824-DB16-0F7B-B1692F0A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 Backend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46B76-4C18-4116-E10E-716239E881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032AC-9596-27B3-DBD2-69406D84E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4" y="657736"/>
            <a:ext cx="5497679" cy="4034914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Performed the backend implementation with GF12 FinFET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VTL_v0.1 design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Introduced a new critical timing path, </a:t>
            </a:r>
            <a: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  <a:t>adding ~0.1 ns delay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under the SS corner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Root cause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the index datapath</a:t>
            </a:r>
            <a:b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 Upon receiving a new request, indices are loaded into VTL and used for the gather operation in the </a:t>
            </a:r>
            <a:r>
              <a:rPr lang="en-US" altLang="zh-CN" sz="1400" b="1" dirty="0">
                <a:solidFill>
                  <a:schemeClr val="accent1"/>
                </a:solidFill>
                <a:sym typeface="Wingdings" pitchFamily="2" charset="2"/>
              </a:rPr>
              <a:t>same cycle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Solution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Implemented an </a:t>
            </a:r>
            <a:r>
              <a:rPr lang="en-US" altLang="zh-CN" sz="1400" dirty="0">
                <a:solidFill>
                  <a:schemeClr val="accent2"/>
                </a:solidFill>
                <a:sym typeface="Wingdings" pitchFamily="2" charset="2"/>
              </a:rPr>
              <a:t>index preloading mechanism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, triggered with two cases:</a:t>
            </a:r>
            <a:endParaRPr lang="en-US" altLang="zh-CN" sz="1213" dirty="0">
              <a:solidFill>
                <a:schemeClr val="tx1"/>
              </a:solidFill>
              <a:sym typeface="Wingdings" pitchFamily="2" charset="2"/>
            </a:endParaRP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When an index is written to the VRF by a valid VLX instruction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When the current index stored in the VTL is depleted.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sym typeface="Wingdings" pitchFamily="2" charset="2"/>
              </a:rPr>
              <a:t>Indices are available ahead of gather/scatter operations, eliminating the extra delay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55C2C1-F818-D7F7-30EE-A53E6CA843A8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99422-B372-27DA-22ED-A9BDE9BB7C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66881" y="2337904"/>
            <a:ext cx="2992910" cy="26434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6997FE-8FBB-CA86-45D4-635251B786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8402" y="628032"/>
            <a:ext cx="2553499" cy="161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6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189A-04D9-3302-1460-D9835CC5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DA7A-9749-429F-B519-1243FC4C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 Backend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F3135-A8F5-C068-DB01-A1BE63B6BA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6D8C-0513-3D25-DA1C-704CD1F30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4" y="657736"/>
            <a:ext cx="5497679" cy="4034914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Performed the backend implementation with GF12 FinFET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VTL_v0.2 design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sym typeface="Wingdings" pitchFamily="2" charset="2"/>
              </a:rPr>
              <a:t>Timing issue is resolved,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and Ventaglio no longer introduces a new critical timing path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Area impact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Integrating Ventaglio increases the area by </a:t>
            </a:r>
            <a:r>
              <a:rPr lang="en-US" altLang="zh-CN" b="1" dirty="0">
                <a:solidFill>
                  <a:schemeClr val="accent2"/>
                </a:solidFill>
                <a:sym typeface="Wingdings" pitchFamily="2" charset="2"/>
              </a:rPr>
              <a:t>55.9 </a:t>
            </a:r>
            <a:r>
              <a:rPr lang="en-US" altLang="zh-CN" b="1" dirty="0" err="1">
                <a:solidFill>
                  <a:schemeClr val="accent2"/>
                </a:solidFill>
                <a:sym typeface="Wingdings" pitchFamily="2" charset="2"/>
              </a:rPr>
              <a:t>kGE</a:t>
            </a:r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 in GF12, </a:t>
            </a:r>
            <a:r>
              <a:rPr lang="en-US" altLang="zh-CN" b="1" dirty="0">
                <a:solidFill>
                  <a:schemeClr val="accent2"/>
                </a:solidFill>
                <a:sym typeface="Wingdings" pitchFamily="2" charset="2"/>
              </a:rPr>
              <a:t>~5% </a:t>
            </a:r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at the Spatz core level. </a:t>
            </a:r>
            <a:r>
              <a:rPr lang="en-US" altLang="zh-CN" i="1" dirty="0">
                <a:solidFill>
                  <a:schemeClr val="tx1"/>
                </a:solidFill>
                <a:sym typeface="Wingdings" pitchFamily="2" charset="2"/>
              </a:rPr>
              <a:t>(4 channels, 4 rows)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~85% of the area increment is from memory units in VTL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Compared to the alternative approach of doubling VRF banks, Ventaglio </a:t>
            </a:r>
          </a:p>
          <a:p>
            <a:pPr lvl="3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Incurs </a:t>
            </a:r>
            <a:r>
              <a:rPr lang="en-US" altLang="zh-CN" sz="1400" b="1" dirty="0">
                <a:solidFill>
                  <a:schemeClr val="accent3"/>
                </a:solidFill>
                <a:sym typeface="Wingdings" pitchFamily="2" charset="2"/>
              </a:rPr>
              <a:t>lower area overhead</a:t>
            </a:r>
          </a:p>
          <a:p>
            <a:pPr lvl="3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Providing </a:t>
            </a:r>
            <a:r>
              <a:rPr lang="en-US" altLang="zh-CN" sz="1400" b="1" dirty="0">
                <a:solidFill>
                  <a:schemeClr val="accent3"/>
                </a:solidFill>
                <a:sym typeface="Wingdings" pitchFamily="2" charset="2"/>
              </a:rPr>
              <a:t>greater flexibility and programmability</a:t>
            </a:r>
            <a:endParaRPr lang="en-US" altLang="zh-CN" sz="1400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415A0C-D365-B71D-9663-CEF179EAE93B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59D7C-D40D-F823-BB39-E1CE5DAC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66881" y="2337904"/>
            <a:ext cx="2992910" cy="26434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A01A2A-B816-3097-AC85-B4D2D6F31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8402" y="628032"/>
            <a:ext cx="2553499" cy="161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D9A9-C9F7-9DF0-D98E-2EF5B8DB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2EE1-EBDC-D910-40F2-8FFF3541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 Performance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5E62-AAFC-21D8-C288-A1EC051C43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D1A06-8055-C300-D60E-5604D6059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494701"/>
            <a:ext cx="4943022" cy="4376476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Datapath behavior under an </a:t>
            </a:r>
            <a:r>
              <a:rPr lang="en-US" altLang="zh-CN" sz="1600" b="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 (Gustavson’s dataflow).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Ideal waveform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Should be only </a:t>
            </a:r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one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cycle latency between consecutive </a:t>
            </a:r>
            <a:r>
              <a:rPr lang="en-US" altLang="zh-CN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vfxmacc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operation (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unavoidable in current design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)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Comes from loading indices from L1 into the VRF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Weight matrix is not reused under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  VLSU bandwidth matches that of the VPU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Theoretical maximum VPU utilization is </a:t>
            </a:r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94.1% </a:t>
            </a:r>
            <a:r>
              <a:rPr lang="en-US" altLang="zh-CN" sz="14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(LMUL=8)</a:t>
            </a:r>
            <a:r>
              <a:rPr lang="en-US" altLang="zh-CN" sz="14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.</a:t>
            </a:r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VTL_v0.2 design</a:t>
            </a:r>
          </a:p>
          <a:p>
            <a:pPr lvl="1"/>
            <a:r>
              <a:rPr lang="en-US" altLang="zh-CN" sz="1400" b="1" dirty="0">
                <a:solidFill>
                  <a:schemeClr val="accent1"/>
                </a:solidFill>
                <a:sym typeface="Wingdings" pitchFamily="2" charset="2"/>
              </a:rPr>
              <a:t>Two additional stall cycles are observed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Root cause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VLSU behavior when two load instructions arrive back-to-back. </a:t>
            </a:r>
            <a:b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VLSU requires a </a:t>
            </a:r>
            <a:r>
              <a:rPr lang="en-US" altLang="zh-CN" sz="1400" b="1" dirty="0">
                <a:solidFill>
                  <a:schemeClr val="accent1"/>
                </a:solidFill>
                <a:sym typeface="Wingdings" pitchFamily="2" charset="2"/>
              </a:rPr>
              <a:t>transition cycle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to commit the previous instruction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F48D59-6561-A236-F845-41671EF37C15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8" name="Picture 7" descr="A diagram of datapaths&#10;&#10;AI-generated content may be incorrect.">
            <a:extLst>
              <a:ext uri="{FF2B5EF4-FFF2-40B4-BE49-F238E27FC236}">
                <a16:creationId xmlns:a16="http://schemas.microsoft.com/office/drawing/2014/main" id="{7A1D7116-AAD6-5B2A-E583-F68C43CAF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887" y="1127232"/>
            <a:ext cx="4011511" cy="276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7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2678F-C271-0EA0-3F0F-44412F0D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9C9F3-38E6-03CD-6507-2ADB7E2D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 Performance Analysis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D64FA-AEDD-9708-A98C-D920842AD3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6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7738C-DFB9-3D93-1255-79FABFE73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4302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Datapath behavior under an </a:t>
            </a:r>
            <a:r>
              <a:rPr lang="en-US" altLang="zh-CN" sz="1600" b="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workload (Gustavson’s dataflow).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VTL_v0.3 design: </a:t>
            </a:r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Ongoing optimization</a:t>
            </a:r>
          </a:p>
          <a:p>
            <a:pPr lvl="1"/>
            <a:r>
              <a:rPr lang="en-US" altLang="zh-CN" sz="1400" dirty="0">
                <a:solidFill>
                  <a:schemeClr val="accent2"/>
                </a:solidFill>
                <a:sym typeface="Wingdings" pitchFamily="2" charset="2"/>
              </a:rPr>
              <a:t>These two extra cycles can be removed by modifying the VLSU commit logic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Current progress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Additional cycles are removed while memory requests may commit improperly in some corner cases. Fix in progress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6CC3FC-5250-F1CD-8D79-E65976FBD8CA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8" name="Picture 7" descr="A diagram of datapaths&#10;&#10;AI-generated content may be incorrect.">
            <a:extLst>
              <a:ext uri="{FF2B5EF4-FFF2-40B4-BE49-F238E27FC236}">
                <a16:creationId xmlns:a16="http://schemas.microsoft.com/office/drawing/2014/main" id="{71CA2427-19CD-D6BB-609C-7594463A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887" y="1127232"/>
            <a:ext cx="4011511" cy="276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1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66EF-0553-7CBC-F0C5-45C6C037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4108-5062-C73F-AAB6-D7EB9FD2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Ventaglio: Next Steps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0D5E9-8869-EC37-4152-B63B5DA001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7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D96E6-9BAB-0697-618A-B69418D1A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4302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Features: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[HW] Loop unrolling support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[HW] More N:M formats  cost estimation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[HW/SW] Duo-level ELLPACK format support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[SW] VTL GVSoC model </a:t>
            </a:r>
          </a:p>
          <a:p>
            <a:pPr lvl="1"/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Upcoming projects: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+ MX datapath in Spatz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+ RVV matrix extension in Spatz</a:t>
            </a:r>
          </a:p>
          <a:p>
            <a:pPr lvl="1"/>
            <a:endParaRPr lang="en-US" altLang="zh-CN" sz="1082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377CF0-14E6-25F8-C34D-F4F8DE0FDCA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23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4C7F-E7B1-E158-169C-37CE97FA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System: Extending SoftHier Model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508E4-3442-9879-A4B5-3D6E08652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75" y="742932"/>
            <a:ext cx="4390968" cy="3980418"/>
          </a:xfrm>
        </p:spPr>
        <p:txBody>
          <a:bodyPr/>
          <a:lstStyle/>
          <a:p>
            <a:pPr marL="358775" indent="-238125"/>
            <a:r>
              <a:rPr lang="en-US" sz="1600" dirty="0"/>
              <a:t>Completed 3D NoC integration in SoftHier</a:t>
            </a:r>
          </a:p>
          <a:p>
            <a:pPr marL="358775" indent="-238125">
              <a:spcBef>
                <a:spcPts val="1200"/>
              </a:spcBef>
            </a:pPr>
            <a:r>
              <a:rPr lang="en-US" sz="1600" dirty="0"/>
              <a:t>Adapted GVSoC system model</a:t>
            </a:r>
          </a:p>
          <a:p>
            <a:pPr marL="719138" lvl="1" indent="-182563"/>
            <a:r>
              <a:rPr lang="en-US" sz="1400" dirty="0"/>
              <a:t>Logic dies (clusters) stacked in 3D mesh</a:t>
            </a:r>
          </a:p>
          <a:p>
            <a:pPr marL="719138" lvl="1" indent="-182563"/>
            <a:r>
              <a:rPr lang="en-US" sz="1400" dirty="0"/>
              <a:t>Adapted outstanding requests to account for higher distances (</a:t>
            </a:r>
            <a:r>
              <a:rPr lang="en-US" sz="1400" i="1" dirty="0"/>
              <a:t>Nx</a:t>
            </a:r>
            <a:r>
              <a:rPr lang="en-US" sz="1400" dirty="0"/>
              <a:t> + </a:t>
            </a:r>
            <a:r>
              <a:rPr lang="en-US" sz="1400" i="1" dirty="0"/>
              <a:t>Ny</a:t>
            </a:r>
            <a:r>
              <a:rPr lang="en-US" sz="1400" dirty="0"/>
              <a:t>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i="1" dirty="0">
                <a:sym typeface="Wingdings" panose="05000000000000000000" pitchFamily="2" charset="2"/>
              </a:rPr>
              <a:t>Nx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i="1" dirty="0">
                <a:sym typeface="Wingdings" panose="05000000000000000000" pitchFamily="2" charset="2"/>
              </a:rPr>
              <a:t>Ny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i="1" dirty="0">
                <a:sym typeface="Wingdings" panose="05000000000000000000" pitchFamily="2" charset="2"/>
              </a:rPr>
              <a:t>Nz</a:t>
            </a:r>
            <a:r>
              <a:rPr lang="en-US" sz="1400" dirty="0">
                <a:sym typeface="Wingdings" panose="05000000000000000000" pitchFamily="2" charset="2"/>
              </a:rPr>
              <a:t>)</a:t>
            </a:r>
            <a:endParaRPr lang="en-US" sz="1400" dirty="0"/>
          </a:p>
          <a:p>
            <a:pPr marL="719138" lvl="1" indent="-182563"/>
            <a:r>
              <a:rPr lang="en-US" sz="1400" dirty="0"/>
              <a:t>HBM controllers remain in base die for now</a:t>
            </a:r>
          </a:p>
          <a:p>
            <a:pPr marL="822325" lvl="1" indent="-285750">
              <a:buFont typeface="Wingdings" panose="05000000000000000000" pitchFamily="2" charset="2"/>
              <a:buChar char="Ø"/>
            </a:pPr>
            <a:r>
              <a:rPr lang="en-US" sz="1400" dirty="0"/>
              <a:t>Transparent HW extension through additional</a:t>
            </a:r>
            <a:br>
              <a:rPr lang="en-US" sz="1400" dirty="0"/>
            </a:br>
            <a:r>
              <a:rPr lang="en-US" sz="1400" dirty="0"/>
              <a:t>system parameter</a:t>
            </a:r>
          </a:p>
          <a:p>
            <a:pPr marL="358775" indent="-279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CH" sz="1718" dirty="0"/>
              <a:t>Extended cluster registers</a:t>
            </a:r>
          </a:p>
          <a:p>
            <a:pPr marL="719138" lvl="1" indent="-182563">
              <a:buFont typeface="Arial" panose="020B0604020202020204" pitchFamily="34" charset="0"/>
              <a:buChar char="•"/>
            </a:pPr>
            <a:r>
              <a:rPr lang="de-CH" sz="1400" dirty="0"/>
              <a:t>Provide Z coordinate and 3D cluster ID</a:t>
            </a:r>
          </a:p>
          <a:p>
            <a:pPr marL="719138" lvl="1" indent="-182563">
              <a:buFont typeface="Arial" panose="020B0604020202020204" pitchFamily="34" charset="0"/>
              <a:buChar char="•"/>
            </a:pPr>
            <a:r>
              <a:rPr lang="de-CH" sz="1400" dirty="0"/>
              <a:t>Extend inter-cluster </a:t>
            </a:r>
            <a:r>
              <a:rPr lang="de-CH" sz="1400" dirty="0" err="1"/>
              <a:t>mesh</a:t>
            </a:r>
            <a:r>
              <a:rPr lang="de-CH" sz="1400" dirty="0"/>
              <a:t> barrier </a:t>
            </a:r>
            <a:r>
              <a:rPr lang="de-CH" sz="1400" dirty="0" err="1"/>
              <a:t>to</a:t>
            </a:r>
            <a:r>
              <a:rPr lang="de-CH" sz="1400" dirty="0"/>
              <a:t> 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E1135-39E3-B02E-FED0-4DE52F99DF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86B89BE-1C47-E496-B587-2317774F17BC}"/>
              </a:ext>
            </a:extLst>
          </p:cNvPr>
          <p:cNvGrpSpPr/>
          <p:nvPr/>
        </p:nvGrpSpPr>
        <p:grpSpPr>
          <a:xfrm>
            <a:off x="4971725" y="1114476"/>
            <a:ext cx="3240000" cy="1616158"/>
            <a:chOff x="5123934" y="984150"/>
            <a:chExt cx="3240000" cy="1616158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E9D29E52-7ABD-F44C-EA87-970DD30CE536}"/>
                </a:ext>
              </a:extLst>
            </p:cNvPr>
            <p:cNvGrpSpPr/>
            <p:nvPr/>
          </p:nvGrpSpPr>
          <p:grpSpPr>
            <a:xfrm>
              <a:off x="5123934" y="984150"/>
              <a:ext cx="3240000" cy="1587600"/>
              <a:chOff x="5591489" y="1202838"/>
              <a:chExt cx="2507275" cy="1231445"/>
            </a:xfrm>
          </p:grpSpPr>
          <p:sp>
            <p:nvSpPr>
              <p:cNvPr id="86" name="Parallelogram 85">
                <a:extLst>
                  <a:ext uri="{FF2B5EF4-FFF2-40B4-BE49-F238E27FC236}">
                    <a16:creationId xmlns:a16="http://schemas.microsoft.com/office/drawing/2014/main" id="{A70A3145-8892-7F63-BB2A-853E8515EA82}"/>
                  </a:ext>
                </a:extLst>
              </p:cNvPr>
              <p:cNvSpPr/>
              <p:nvPr/>
            </p:nvSpPr>
            <p:spPr>
              <a:xfrm>
                <a:off x="5591489" y="2001795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87" name="Parallelogram 86">
                <a:extLst>
                  <a:ext uri="{FF2B5EF4-FFF2-40B4-BE49-F238E27FC236}">
                    <a16:creationId xmlns:a16="http://schemas.microsoft.com/office/drawing/2014/main" id="{AC2EE888-F541-88D5-EF04-BFE9B86923D4}"/>
                  </a:ext>
                </a:extLst>
              </p:cNvPr>
              <p:cNvSpPr/>
              <p:nvPr/>
            </p:nvSpPr>
            <p:spPr>
              <a:xfrm>
                <a:off x="6017797" y="2001794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0" name="Parallelogram 89">
                <a:extLst>
                  <a:ext uri="{FF2B5EF4-FFF2-40B4-BE49-F238E27FC236}">
                    <a16:creationId xmlns:a16="http://schemas.microsoft.com/office/drawing/2014/main" id="{CE6F341B-C43E-24FD-4FCA-3D1CECA7E77F}"/>
                  </a:ext>
                </a:extLst>
              </p:cNvPr>
              <p:cNvSpPr/>
              <p:nvPr/>
            </p:nvSpPr>
            <p:spPr>
              <a:xfrm>
                <a:off x="6444105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2" name="Parallelogram 91">
                <a:extLst>
                  <a:ext uri="{FF2B5EF4-FFF2-40B4-BE49-F238E27FC236}">
                    <a16:creationId xmlns:a16="http://schemas.microsoft.com/office/drawing/2014/main" id="{C12EFECC-06D2-F733-2986-60ECF119A6A9}"/>
                  </a:ext>
                </a:extLst>
              </p:cNvPr>
              <p:cNvSpPr/>
              <p:nvPr/>
            </p:nvSpPr>
            <p:spPr>
              <a:xfrm>
                <a:off x="6870413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3" name="Parallelogram 92">
                <a:extLst>
                  <a:ext uri="{FF2B5EF4-FFF2-40B4-BE49-F238E27FC236}">
                    <a16:creationId xmlns:a16="http://schemas.microsoft.com/office/drawing/2014/main" id="{4CEAEFA0-3AE2-2A17-107C-5D3A8997A387}"/>
                  </a:ext>
                </a:extLst>
              </p:cNvPr>
              <p:cNvSpPr/>
              <p:nvPr/>
            </p:nvSpPr>
            <p:spPr>
              <a:xfrm>
                <a:off x="7296721" y="2001793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4" name="Parallelogram 93">
                <a:extLst>
                  <a:ext uri="{FF2B5EF4-FFF2-40B4-BE49-F238E27FC236}">
                    <a16:creationId xmlns:a16="http://schemas.microsoft.com/office/drawing/2014/main" id="{86AF3911-2746-AD92-EEE2-8B5538217551}"/>
                  </a:ext>
                </a:extLst>
              </p:cNvPr>
              <p:cNvSpPr/>
              <p:nvPr/>
            </p:nvSpPr>
            <p:spPr>
              <a:xfrm>
                <a:off x="5778782" y="17422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5" name="Parallelogram 94">
                <a:extLst>
                  <a:ext uri="{FF2B5EF4-FFF2-40B4-BE49-F238E27FC236}">
                    <a16:creationId xmlns:a16="http://schemas.microsoft.com/office/drawing/2014/main" id="{87E14DAB-3B57-E426-2C99-8432EC60F6B6}"/>
                  </a:ext>
                </a:extLst>
              </p:cNvPr>
              <p:cNvSpPr/>
              <p:nvPr/>
            </p:nvSpPr>
            <p:spPr>
              <a:xfrm>
                <a:off x="6205090" y="1742298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6" name="Parallelogram 95">
                <a:extLst>
                  <a:ext uri="{FF2B5EF4-FFF2-40B4-BE49-F238E27FC236}">
                    <a16:creationId xmlns:a16="http://schemas.microsoft.com/office/drawing/2014/main" id="{52B9E20C-202B-4A17-F467-7E25DA53F9AF}"/>
                  </a:ext>
                </a:extLst>
              </p:cNvPr>
              <p:cNvSpPr/>
              <p:nvPr/>
            </p:nvSpPr>
            <p:spPr>
              <a:xfrm>
                <a:off x="6631398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7" name="Parallelogram 96">
                <a:extLst>
                  <a:ext uri="{FF2B5EF4-FFF2-40B4-BE49-F238E27FC236}">
                    <a16:creationId xmlns:a16="http://schemas.microsoft.com/office/drawing/2014/main" id="{C30F6F21-4A2C-A5EA-BA74-1B684FA5498E}"/>
                  </a:ext>
                </a:extLst>
              </p:cNvPr>
              <p:cNvSpPr/>
              <p:nvPr/>
            </p:nvSpPr>
            <p:spPr>
              <a:xfrm>
                <a:off x="7057706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8" name="Parallelogram 97">
                <a:extLst>
                  <a:ext uri="{FF2B5EF4-FFF2-40B4-BE49-F238E27FC236}">
                    <a16:creationId xmlns:a16="http://schemas.microsoft.com/office/drawing/2014/main" id="{97237790-161A-16C8-4AA0-525B5C5AE0E2}"/>
                  </a:ext>
                </a:extLst>
              </p:cNvPr>
              <p:cNvSpPr/>
              <p:nvPr/>
            </p:nvSpPr>
            <p:spPr>
              <a:xfrm>
                <a:off x="7484014" y="174229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99" name="Parallelogram 98">
                <a:extLst>
                  <a:ext uri="{FF2B5EF4-FFF2-40B4-BE49-F238E27FC236}">
                    <a16:creationId xmlns:a16="http://schemas.microsoft.com/office/drawing/2014/main" id="{01DF4A46-90E1-38DD-2705-83FB3A411137}"/>
                  </a:ext>
                </a:extLst>
              </p:cNvPr>
              <p:cNvSpPr/>
              <p:nvPr/>
            </p:nvSpPr>
            <p:spPr>
              <a:xfrm>
                <a:off x="5967224" y="1482801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0" name="Parallelogram 99">
                <a:extLst>
                  <a:ext uri="{FF2B5EF4-FFF2-40B4-BE49-F238E27FC236}">
                    <a16:creationId xmlns:a16="http://schemas.microsoft.com/office/drawing/2014/main" id="{221E4F88-8873-6BB2-7512-3EAA2182B196}"/>
                  </a:ext>
                </a:extLst>
              </p:cNvPr>
              <p:cNvSpPr/>
              <p:nvPr/>
            </p:nvSpPr>
            <p:spPr>
              <a:xfrm>
                <a:off x="6393532" y="14828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1" name="Parallelogram 100">
                <a:extLst>
                  <a:ext uri="{FF2B5EF4-FFF2-40B4-BE49-F238E27FC236}">
                    <a16:creationId xmlns:a16="http://schemas.microsoft.com/office/drawing/2014/main" id="{E1960433-3F19-EAE0-9D90-E83AD8ADCEF2}"/>
                  </a:ext>
                </a:extLst>
              </p:cNvPr>
              <p:cNvSpPr/>
              <p:nvPr/>
            </p:nvSpPr>
            <p:spPr>
              <a:xfrm>
                <a:off x="6819840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2" name="Parallelogram 101">
                <a:extLst>
                  <a:ext uri="{FF2B5EF4-FFF2-40B4-BE49-F238E27FC236}">
                    <a16:creationId xmlns:a16="http://schemas.microsoft.com/office/drawing/2014/main" id="{0493DF23-B66E-7307-D429-C6AA1E4687E9}"/>
                  </a:ext>
                </a:extLst>
              </p:cNvPr>
              <p:cNvSpPr/>
              <p:nvPr/>
            </p:nvSpPr>
            <p:spPr>
              <a:xfrm>
                <a:off x="7246148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3" name="Parallelogram 102">
                <a:extLst>
                  <a:ext uri="{FF2B5EF4-FFF2-40B4-BE49-F238E27FC236}">
                    <a16:creationId xmlns:a16="http://schemas.microsoft.com/office/drawing/2014/main" id="{0CFD0D64-CB3C-E7D7-2E3B-3BE881833437}"/>
                  </a:ext>
                </a:extLst>
              </p:cNvPr>
              <p:cNvSpPr/>
              <p:nvPr/>
            </p:nvSpPr>
            <p:spPr>
              <a:xfrm>
                <a:off x="7672456" y="1482799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5" name="Parallelogram 104">
                <a:extLst>
                  <a:ext uri="{FF2B5EF4-FFF2-40B4-BE49-F238E27FC236}">
                    <a16:creationId xmlns:a16="http://schemas.microsoft.com/office/drawing/2014/main" id="{3CE9CB49-3350-3222-C8E8-6C11E73D3517}"/>
                  </a:ext>
                </a:extLst>
              </p:cNvPr>
              <p:cNvSpPr/>
              <p:nvPr/>
            </p:nvSpPr>
            <p:spPr>
              <a:xfrm>
                <a:off x="6594330" y="1223301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6" name="Parallelogram 105">
                <a:extLst>
                  <a:ext uri="{FF2B5EF4-FFF2-40B4-BE49-F238E27FC236}">
                    <a16:creationId xmlns:a16="http://schemas.microsoft.com/office/drawing/2014/main" id="{976E86AE-1F4F-D317-A206-5004DF5908FB}"/>
                  </a:ext>
                </a:extLst>
              </p:cNvPr>
              <p:cNvSpPr/>
              <p:nvPr/>
            </p:nvSpPr>
            <p:spPr>
              <a:xfrm>
                <a:off x="7020638" y="12233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7" name="Parallelogram 106">
                <a:extLst>
                  <a:ext uri="{FF2B5EF4-FFF2-40B4-BE49-F238E27FC236}">
                    <a16:creationId xmlns:a16="http://schemas.microsoft.com/office/drawing/2014/main" id="{EA3D53BD-EC76-7E55-B04E-06406B5F420D}"/>
                  </a:ext>
                </a:extLst>
              </p:cNvPr>
              <p:cNvSpPr/>
              <p:nvPr/>
            </p:nvSpPr>
            <p:spPr>
              <a:xfrm>
                <a:off x="7446946" y="1223300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09" name="Parallelogram 108">
                <a:extLst>
                  <a:ext uri="{FF2B5EF4-FFF2-40B4-BE49-F238E27FC236}">
                    <a16:creationId xmlns:a16="http://schemas.microsoft.com/office/drawing/2014/main" id="{6A2E3C55-A276-6E5F-AEA5-D37AE55539AB}"/>
                  </a:ext>
                </a:extLst>
              </p:cNvPr>
              <p:cNvSpPr/>
              <p:nvPr/>
            </p:nvSpPr>
            <p:spPr>
              <a:xfrm>
                <a:off x="5829355" y="2261288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0" name="Parallelogram 109">
                <a:extLst>
                  <a:ext uri="{FF2B5EF4-FFF2-40B4-BE49-F238E27FC236}">
                    <a16:creationId xmlns:a16="http://schemas.microsoft.com/office/drawing/2014/main" id="{947FCD12-4104-7A62-9552-00CC11C6AAF8}"/>
                  </a:ext>
                </a:extLst>
              </p:cNvPr>
              <p:cNvSpPr/>
              <p:nvPr/>
            </p:nvSpPr>
            <p:spPr>
              <a:xfrm>
                <a:off x="6255663" y="226128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1" name="Parallelogram 110">
                <a:extLst>
                  <a:ext uri="{FF2B5EF4-FFF2-40B4-BE49-F238E27FC236}">
                    <a16:creationId xmlns:a16="http://schemas.microsoft.com/office/drawing/2014/main" id="{A1D5A5AF-45B0-1F52-E570-5E29B2ED12CC}"/>
                  </a:ext>
                </a:extLst>
              </p:cNvPr>
              <p:cNvSpPr/>
              <p:nvPr/>
            </p:nvSpPr>
            <p:spPr>
              <a:xfrm>
                <a:off x="6681971" y="2261287"/>
                <a:ext cx="426308" cy="172995"/>
              </a:xfrm>
              <a:prstGeom prst="parallelogram">
                <a:avLst>
                  <a:gd name="adj" fmla="val 74325"/>
                </a:avLst>
              </a:prstGeom>
              <a:solidFill>
                <a:srgbClr val="1269B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730046D0-176F-E7C6-19DA-341BDB85E3B9}"/>
                  </a:ext>
                </a:extLst>
              </p:cNvPr>
              <p:cNvGrpSpPr/>
              <p:nvPr/>
            </p:nvGrpSpPr>
            <p:grpSpPr>
              <a:xfrm>
                <a:off x="6043083" y="1342819"/>
                <a:ext cx="1654659" cy="691990"/>
                <a:chOff x="6373907" y="2355556"/>
                <a:chExt cx="1654659" cy="691990"/>
              </a:xfrm>
            </p:grpSpPr>
            <p:sp>
              <p:nvSpPr>
                <p:cNvPr id="121" name="Parallelogram 120">
                  <a:extLst>
                    <a:ext uri="{FF2B5EF4-FFF2-40B4-BE49-F238E27FC236}">
                      <a16:creationId xmlns:a16="http://schemas.microsoft.com/office/drawing/2014/main" id="{55267643-6859-CBD8-A287-B4A577A2529D}"/>
                    </a:ext>
                  </a:extLst>
                </p:cNvPr>
                <p:cNvSpPr/>
                <p:nvPr/>
              </p:nvSpPr>
              <p:spPr>
                <a:xfrm>
                  <a:off x="6373907" y="2874551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2" name="Parallelogram 121">
                  <a:extLst>
                    <a:ext uri="{FF2B5EF4-FFF2-40B4-BE49-F238E27FC236}">
                      <a16:creationId xmlns:a16="http://schemas.microsoft.com/office/drawing/2014/main" id="{87BBC0D0-31D6-A996-061B-42BB106FC84A}"/>
                    </a:ext>
                  </a:extLst>
                </p:cNvPr>
                <p:cNvSpPr/>
                <p:nvPr/>
              </p:nvSpPr>
              <p:spPr>
                <a:xfrm>
                  <a:off x="6800215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3" name="Parallelogram 122">
                  <a:extLst>
                    <a:ext uri="{FF2B5EF4-FFF2-40B4-BE49-F238E27FC236}">
                      <a16:creationId xmlns:a16="http://schemas.microsoft.com/office/drawing/2014/main" id="{2E6466A4-EAF2-F971-3DF8-86C5C7CA0BD7}"/>
                    </a:ext>
                  </a:extLst>
                </p:cNvPr>
                <p:cNvSpPr/>
                <p:nvPr/>
              </p:nvSpPr>
              <p:spPr>
                <a:xfrm>
                  <a:off x="7226523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4" name="Parallelogram 123">
                  <a:extLst>
                    <a:ext uri="{FF2B5EF4-FFF2-40B4-BE49-F238E27FC236}">
                      <a16:creationId xmlns:a16="http://schemas.microsoft.com/office/drawing/2014/main" id="{52CD19E6-820B-6752-B92D-308720A5C3BB}"/>
                    </a:ext>
                  </a:extLst>
                </p:cNvPr>
                <p:cNvSpPr/>
                <p:nvPr/>
              </p:nvSpPr>
              <p:spPr>
                <a:xfrm>
                  <a:off x="6561200" y="2615055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5" name="Parallelogram 124">
                  <a:extLst>
                    <a:ext uri="{FF2B5EF4-FFF2-40B4-BE49-F238E27FC236}">
                      <a16:creationId xmlns:a16="http://schemas.microsoft.com/office/drawing/2014/main" id="{A94C204A-7F9B-E65A-5D1C-2DE76B5DA994}"/>
                    </a:ext>
                  </a:extLst>
                </p:cNvPr>
                <p:cNvSpPr/>
                <p:nvPr/>
              </p:nvSpPr>
              <p:spPr>
                <a:xfrm>
                  <a:off x="6987508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6" name="Parallelogram 125">
                  <a:extLst>
                    <a:ext uri="{FF2B5EF4-FFF2-40B4-BE49-F238E27FC236}">
                      <a16:creationId xmlns:a16="http://schemas.microsoft.com/office/drawing/2014/main" id="{8D7A2ADE-CF00-5DE7-BDDF-087EA1EF4AFC}"/>
                    </a:ext>
                  </a:extLst>
                </p:cNvPr>
                <p:cNvSpPr/>
                <p:nvPr/>
              </p:nvSpPr>
              <p:spPr>
                <a:xfrm>
                  <a:off x="7413816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7" name="Parallelogram 126">
                  <a:extLst>
                    <a:ext uri="{FF2B5EF4-FFF2-40B4-BE49-F238E27FC236}">
                      <a16:creationId xmlns:a16="http://schemas.microsoft.com/office/drawing/2014/main" id="{EE3A84D0-FE64-4F7A-01D8-B3CF9E3303FE}"/>
                    </a:ext>
                  </a:extLst>
                </p:cNvPr>
                <p:cNvSpPr/>
                <p:nvPr/>
              </p:nvSpPr>
              <p:spPr>
                <a:xfrm>
                  <a:off x="6749642" y="2355557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8" name="Parallelogram 127">
                  <a:extLst>
                    <a:ext uri="{FF2B5EF4-FFF2-40B4-BE49-F238E27FC236}">
                      <a16:creationId xmlns:a16="http://schemas.microsoft.com/office/drawing/2014/main" id="{BCFA430C-E94D-0753-FA70-E0CE5006D216}"/>
                    </a:ext>
                  </a:extLst>
                </p:cNvPr>
                <p:cNvSpPr/>
                <p:nvPr/>
              </p:nvSpPr>
              <p:spPr>
                <a:xfrm>
                  <a:off x="7175950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29" name="Parallelogram 128">
                  <a:extLst>
                    <a:ext uri="{FF2B5EF4-FFF2-40B4-BE49-F238E27FC236}">
                      <a16:creationId xmlns:a16="http://schemas.microsoft.com/office/drawing/2014/main" id="{79FFAF33-4B25-E356-F032-EB2133641B0B}"/>
                    </a:ext>
                  </a:extLst>
                </p:cNvPr>
                <p:cNvSpPr/>
                <p:nvPr/>
              </p:nvSpPr>
              <p:spPr>
                <a:xfrm>
                  <a:off x="7602258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7F922BAA-FB82-A340-9203-AE2BE0D8276B}"/>
                  </a:ext>
                </a:extLst>
              </p:cNvPr>
              <p:cNvGrpSpPr/>
              <p:nvPr/>
            </p:nvGrpSpPr>
            <p:grpSpPr>
              <a:xfrm>
                <a:off x="6044509" y="1202838"/>
                <a:ext cx="1654659" cy="691990"/>
                <a:chOff x="6373907" y="2355556"/>
                <a:chExt cx="1654659" cy="691990"/>
              </a:xfrm>
            </p:grpSpPr>
            <p:sp>
              <p:nvSpPr>
                <p:cNvPr id="132" name="Parallelogram 131">
                  <a:extLst>
                    <a:ext uri="{FF2B5EF4-FFF2-40B4-BE49-F238E27FC236}">
                      <a16:creationId xmlns:a16="http://schemas.microsoft.com/office/drawing/2014/main" id="{3E929092-71DD-4D59-A945-50B899589A64}"/>
                    </a:ext>
                  </a:extLst>
                </p:cNvPr>
                <p:cNvSpPr/>
                <p:nvPr/>
              </p:nvSpPr>
              <p:spPr>
                <a:xfrm>
                  <a:off x="6373907" y="2874551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3" name="Parallelogram 132">
                  <a:extLst>
                    <a:ext uri="{FF2B5EF4-FFF2-40B4-BE49-F238E27FC236}">
                      <a16:creationId xmlns:a16="http://schemas.microsoft.com/office/drawing/2014/main" id="{95937C32-6A13-D4F0-4C8D-678A348E88DE}"/>
                    </a:ext>
                  </a:extLst>
                </p:cNvPr>
                <p:cNvSpPr/>
                <p:nvPr/>
              </p:nvSpPr>
              <p:spPr>
                <a:xfrm>
                  <a:off x="6800215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4" name="Parallelogram 133">
                  <a:extLst>
                    <a:ext uri="{FF2B5EF4-FFF2-40B4-BE49-F238E27FC236}">
                      <a16:creationId xmlns:a16="http://schemas.microsoft.com/office/drawing/2014/main" id="{538D2E0E-8D70-1EE8-5D26-AB93266321E2}"/>
                    </a:ext>
                  </a:extLst>
                </p:cNvPr>
                <p:cNvSpPr/>
                <p:nvPr/>
              </p:nvSpPr>
              <p:spPr>
                <a:xfrm>
                  <a:off x="7226523" y="2874550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5" name="Parallelogram 134">
                  <a:extLst>
                    <a:ext uri="{FF2B5EF4-FFF2-40B4-BE49-F238E27FC236}">
                      <a16:creationId xmlns:a16="http://schemas.microsoft.com/office/drawing/2014/main" id="{841C68BF-FFE5-5CA5-DCC4-0ED38D668A44}"/>
                    </a:ext>
                  </a:extLst>
                </p:cNvPr>
                <p:cNvSpPr/>
                <p:nvPr/>
              </p:nvSpPr>
              <p:spPr>
                <a:xfrm>
                  <a:off x="6561200" y="2615055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6" name="Parallelogram 135">
                  <a:extLst>
                    <a:ext uri="{FF2B5EF4-FFF2-40B4-BE49-F238E27FC236}">
                      <a16:creationId xmlns:a16="http://schemas.microsoft.com/office/drawing/2014/main" id="{9E6105E4-AB13-6E5D-E2BA-D7B190EBA579}"/>
                    </a:ext>
                  </a:extLst>
                </p:cNvPr>
                <p:cNvSpPr/>
                <p:nvPr/>
              </p:nvSpPr>
              <p:spPr>
                <a:xfrm>
                  <a:off x="6987508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7" name="Parallelogram 136">
                  <a:extLst>
                    <a:ext uri="{FF2B5EF4-FFF2-40B4-BE49-F238E27FC236}">
                      <a16:creationId xmlns:a16="http://schemas.microsoft.com/office/drawing/2014/main" id="{38A82349-D3CC-99FA-3039-4176C362B106}"/>
                    </a:ext>
                  </a:extLst>
                </p:cNvPr>
                <p:cNvSpPr/>
                <p:nvPr/>
              </p:nvSpPr>
              <p:spPr>
                <a:xfrm>
                  <a:off x="7413816" y="2615054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8" name="Parallelogram 137">
                  <a:extLst>
                    <a:ext uri="{FF2B5EF4-FFF2-40B4-BE49-F238E27FC236}">
                      <a16:creationId xmlns:a16="http://schemas.microsoft.com/office/drawing/2014/main" id="{615B374A-F26C-7058-A2B8-3CACAF19734F}"/>
                    </a:ext>
                  </a:extLst>
                </p:cNvPr>
                <p:cNvSpPr/>
                <p:nvPr/>
              </p:nvSpPr>
              <p:spPr>
                <a:xfrm>
                  <a:off x="6749642" y="2355557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39" name="Parallelogram 138">
                  <a:extLst>
                    <a:ext uri="{FF2B5EF4-FFF2-40B4-BE49-F238E27FC236}">
                      <a16:creationId xmlns:a16="http://schemas.microsoft.com/office/drawing/2014/main" id="{523A20BE-3A33-244A-A03A-5D8D3609A45E}"/>
                    </a:ext>
                  </a:extLst>
                </p:cNvPr>
                <p:cNvSpPr/>
                <p:nvPr/>
              </p:nvSpPr>
              <p:spPr>
                <a:xfrm>
                  <a:off x="7175950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  <p:sp>
              <p:nvSpPr>
                <p:cNvPr id="140" name="Parallelogram 139">
                  <a:extLst>
                    <a:ext uri="{FF2B5EF4-FFF2-40B4-BE49-F238E27FC236}">
                      <a16:creationId xmlns:a16="http://schemas.microsoft.com/office/drawing/2014/main" id="{61CE9D61-752E-B8EC-8050-6B657F4BEC83}"/>
                    </a:ext>
                  </a:extLst>
                </p:cNvPr>
                <p:cNvSpPr/>
                <p:nvPr/>
              </p:nvSpPr>
              <p:spPr>
                <a:xfrm>
                  <a:off x="7602258" y="2355556"/>
                  <a:ext cx="426308" cy="172995"/>
                </a:xfrm>
                <a:prstGeom prst="parallelogram">
                  <a:avLst>
                    <a:gd name="adj" fmla="val 74325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de-CH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endParaRPr>
                </a:p>
              </p:txBody>
            </p:sp>
          </p:grp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783EF5F-2E6F-94DF-2109-87F01603DC0B}"/>
                </a:ext>
              </a:extLst>
            </p:cNvPr>
            <p:cNvSpPr txBox="1"/>
            <p:nvPr/>
          </p:nvSpPr>
          <p:spPr>
            <a:xfrm>
              <a:off x="6688985" y="2377279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C05E484-2724-B44B-6197-DE40129A1686}"/>
                </a:ext>
              </a:extLst>
            </p:cNvPr>
            <p:cNvSpPr txBox="1"/>
            <p:nvPr/>
          </p:nvSpPr>
          <p:spPr>
            <a:xfrm>
              <a:off x="6154060" y="2368801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727FBD8-E242-CF37-CDE5-E1F2F4AEB847}"/>
                </a:ext>
              </a:extLst>
            </p:cNvPr>
            <p:cNvSpPr txBox="1"/>
            <p:nvPr/>
          </p:nvSpPr>
          <p:spPr>
            <a:xfrm>
              <a:off x="5603168" y="2368800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CFF792D-994B-3AA3-661F-4E64103DCBC8}"/>
                </a:ext>
              </a:extLst>
            </p:cNvPr>
            <p:cNvSpPr txBox="1"/>
            <p:nvPr/>
          </p:nvSpPr>
          <p:spPr>
            <a:xfrm>
              <a:off x="7491327" y="2031516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F5DD315-5723-468F-F83E-09CBDEFDC5FF}"/>
                </a:ext>
              </a:extLst>
            </p:cNvPr>
            <p:cNvSpPr txBox="1"/>
            <p:nvPr/>
          </p:nvSpPr>
          <p:spPr>
            <a:xfrm>
              <a:off x="7735251" y="170311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47A4677-B675-80F1-4FDF-2A708140342A}"/>
                </a:ext>
              </a:extLst>
            </p:cNvPr>
            <p:cNvSpPr txBox="1"/>
            <p:nvPr/>
          </p:nvSpPr>
          <p:spPr>
            <a:xfrm>
              <a:off x="7975070" y="136856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717D8AD3-A428-44CA-B9A6-847A26C9ADF1}"/>
                </a:ext>
              </a:extLst>
            </p:cNvPr>
            <p:cNvSpPr txBox="1"/>
            <p:nvPr/>
          </p:nvSpPr>
          <p:spPr>
            <a:xfrm>
              <a:off x="5282607" y="2031516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AE101CF-6F13-32B3-5E1A-4794D90CB9AA}"/>
                </a:ext>
              </a:extLst>
            </p:cNvPr>
            <p:cNvSpPr txBox="1"/>
            <p:nvPr/>
          </p:nvSpPr>
          <p:spPr>
            <a:xfrm>
              <a:off x="5530107" y="1686934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E67BD39-40C8-F6CA-A866-4C0B6BF8CD4F}"/>
                </a:ext>
              </a:extLst>
            </p:cNvPr>
            <p:cNvSpPr txBox="1"/>
            <p:nvPr/>
          </p:nvSpPr>
          <p:spPr>
            <a:xfrm>
              <a:off x="5757002" y="1359689"/>
              <a:ext cx="298898" cy="2230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720000"/>
              <a:r>
                <a:rPr lang="en-US" sz="1000" b="1" i="0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de-CH" sz="1000" b="1" i="0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4D4EC56-3080-040A-F1DD-7382AF2BCFBA}"/>
              </a:ext>
            </a:extLst>
          </p:cNvPr>
          <p:cNvGrpSpPr/>
          <p:nvPr/>
        </p:nvGrpSpPr>
        <p:grpSpPr>
          <a:xfrm>
            <a:off x="5076686" y="3055957"/>
            <a:ext cx="2543052" cy="1295164"/>
            <a:chOff x="5003991" y="3061611"/>
            <a:chExt cx="2543052" cy="1295164"/>
          </a:xfrm>
        </p:grpSpPr>
        <p:pic>
          <p:nvPicPr>
            <p:cNvPr id="161" name="Picture 160">
              <a:extLst>
                <a:ext uri="{FF2B5EF4-FFF2-40B4-BE49-F238E27FC236}">
                  <a16:creationId xmlns:a16="http://schemas.microsoft.com/office/drawing/2014/main" id="{4554DBC0-E49E-9022-D444-AD84C3518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3991" y="3061611"/>
              <a:ext cx="2527290" cy="1295164"/>
            </a:xfrm>
            <a:prstGeom prst="rect">
              <a:avLst/>
            </a:prstGeom>
          </p:spPr>
        </p:pic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0E0313CF-5DE7-3A41-3B3D-28DDCE5B5352}"/>
                </a:ext>
              </a:extLst>
            </p:cNvPr>
            <p:cNvSpPr/>
            <p:nvPr/>
          </p:nvSpPr>
          <p:spPr>
            <a:xfrm>
              <a:off x="5571055" y="4179048"/>
              <a:ext cx="1975988" cy="171422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highlight>
                  <a:srgbClr val="FFFF00"/>
                </a:highlight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688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1A0DF-2B46-C2BC-9549-A2B97E0D0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3554-B096-2B45-8FF7-9BCEDB72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System: Extending SoftHier Runtime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2BBCA-96D4-5628-050D-C3C77B695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75" y="742931"/>
            <a:ext cx="4075133" cy="4143263"/>
          </a:xfrm>
        </p:spPr>
        <p:txBody>
          <a:bodyPr/>
          <a:lstStyle/>
          <a:p>
            <a:pPr marL="361950" indent="-241300"/>
            <a:r>
              <a:rPr lang="en-US" sz="1600" dirty="0"/>
              <a:t>Extended Runtime for 3D mesh</a:t>
            </a:r>
          </a:p>
          <a:p>
            <a:pPr marL="717550" lvl="1" indent="-177800"/>
            <a:r>
              <a:rPr lang="en-US" sz="1400" dirty="0"/>
              <a:t>New methods for own ID &amp; Z neighbors</a:t>
            </a:r>
            <a:endParaRPr lang="de-CH" sz="1400" dirty="0"/>
          </a:p>
          <a:p>
            <a:pPr marL="717550" lvl="1" indent="-177800"/>
            <a:r>
              <a:rPr lang="en-US" sz="1400" dirty="0"/>
              <a:t>Extended global &amp; mesh barriers</a:t>
            </a:r>
          </a:p>
          <a:p>
            <a:pPr marL="717550" lvl="1" indent="-177800"/>
            <a:r>
              <a:rPr lang="en-US" sz="1400" dirty="0"/>
              <a:t>Working on mesh DMA primitives</a:t>
            </a:r>
          </a:p>
          <a:p>
            <a:pPr marL="361950" indent="-222250">
              <a:spcBef>
                <a:spcPts val="1200"/>
              </a:spcBef>
            </a:pPr>
            <a:r>
              <a:rPr lang="en-US" sz="1718" dirty="0"/>
              <a:t>First debugging of 3D mesh execution</a:t>
            </a:r>
          </a:p>
          <a:p>
            <a:pPr marL="717550" lvl="1" indent="-177800"/>
            <a:r>
              <a:rPr lang="en-US" sz="1400" dirty="0"/>
              <a:t>Upper clusters can fetch and run </a:t>
            </a:r>
            <a:br>
              <a:rPr lang="en-US" sz="1400" dirty="0"/>
            </a:br>
            <a:r>
              <a:rPr lang="en-US" sz="1400" dirty="0"/>
              <a:t>code from HBM</a:t>
            </a:r>
          </a:p>
          <a:p>
            <a:pPr marL="717550" lvl="1" indent="-177800"/>
            <a:r>
              <a:rPr lang="en-US" sz="1400" dirty="0"/>
              <a:t>Currently: debugging 3D barriers for</a:t>
            </a:r>
            <a:br>
              <a:rPr lang="en-US" sz="1400" dirty="0"/>
            </a:br>
            <a:r>
              <a:rPr lang="en-US" sz="1400" dirty="0"/>
              <a:t>upper cores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4E4D3-9C04-5D08-F4B0-CB1A88754F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2C8E80-E1AD-59DD-F2AD-48CAFB8BAC48}"/>
              </a:ext>
            </a:extLst>
          </p:cNvPr>
          <p:cNvGrpSpPr/>
          <p:nvPr/>
        </p:nvGrpSpPr>
        <p:grpSpPr>
          <a:xfrm>
            <a:off x="4711919" y="967415"/>
            <a:ext cx="3406555" cy="3332023"/>
            <a:chOff x="4711919" y="967415"/>
            <a:chExt cx="3406555" cy="33320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EB8F3E5-2979-A08B-BA94-A0F5338D3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1919" y="967415"/>
              <a:ext cx="3406555" cy="333202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2FDCCA-3B8D-E014-E868-DE1C7677525B}"/>
                </a:ext>
              </a:extLst>
            </p:cNvPr>
            <p:cNvSpPr/>
            <p:nvPr/>
          </p:nvSpPr>
          <p:spPr>
            <a:xfrm>
              <a:off x="4963469" y="3665149"/>
              <a:ext cx="1545281" cy="151201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highlight>
                  <a:srgbClr val="FFFF00"/>
                </a:highlight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68F975-AF0D-0407-90AE-504F85069272}"/>
                </a:ext>
              </a:extLst>
            </p:cNvPr>
            <p:cNvSpPr/>
            <p:nvPr/>
          </p:nvSpPr>
          <p:spPr>
            <a:xfrm>
              <a:off x="4976169" y="3055549"/>
              <a:ext cx="1545281" cy="151201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highlight>
                  <a:srgbClr val="FFFF00"/>
                </a:highlight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C0652B7-C73B-8A55-F33A-CAFCA123491A}"/>
                </a:ext>
              </a:extLst>
            </p:cNvPr>
            <p:cNvSpPr/>
            <p:nvPr/>
          </p:nvSpPr>
          <p:spPr>
            <a:xfrm>
              <a:off x="5217469" y="2810257"/>
              <a:ext cx="1545281" cy="151201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highlight>
                  <a:srgbClr val="FFFF00"/>
                </a:highlight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22C10D7-73BF-738E-EF93-094209163E12}"/>
                </a:ext>
              </a:extLst>
            </p:cNvPr>
            <p:cNvSpPr/>
            <p:nvPr/>
          </p:nvSpPr>
          <p:spPr>
            <a:xfrm>
              <a:off x="4972993" y="1465927"/>
              <a:ext cx="1545281" cy="151201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highlight>
                  <a:srgbClr val="FFFF00"/>
                </a:highlight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64053C-A606-4AC9-02FA-E17201BA7F94}"/>
                </a:ext>
              </a:extLst>
            </p:cNvPr>
            <p:cNvSpPr/>
            <p:nvPr/>
          </p:nvSpPr>
          <p:spPr>
            <a:xfrm>
              <a:off x="4972994" y="1314726"/>
              <a:ext cx="1418282" cy="151201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highlight>
                  <a:srgbClr val="FFFF00"/>
                </a:highlight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7BB333-8292-7260-6118-E00A939489CD}"/>
                </a:ext>
              </a:extLst>
            </p:cNvPr>
            <p:cNvSpPr/>
            <p:nvPr/>
          </p:nvSpPr>
          <p:spPr>
            <a:xfrm>
              <a:off x="4993738" y="2059316"/>
              <a:ext cx="1524535" cy="151201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highlight>
                  <a:srgbClr val="FFFF00"/>
                </a:highlight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142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EAA4-B717-616E-E190-E12C1F43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System: Next Steps 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BCAD1-3CBC-6E26-0E6D-B583B10357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D2F5591-57E0-914D-CAE2-1203830CB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4302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Software:</a:t>
            </a:r>
          </a:p>
          <a:p>
            <a:pPr lvl="1"/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Resolve barrier issues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emonstrate DMA primitives in 3D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Demonstrate compute kernels on 3D mesh</a:t>
            </a:r>
          </a:p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Hardware: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Make Z links parametric (throughput, arity)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Explore different Z topologies</a:t>
            </a:r>
          </a:p>
          <a:p>
            <a:pPr lvl="1"/>
            <a:endParaRPr lang="en-US" altLang="zh-CN" sz="1082" dirty="0">
              <a:solidFill>
                <a:schemeClr val="tx1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3693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676</Words>
  <Application>Microsoft Macintosh PowerPoint</Application>
  <PresentationFormat>On-screen Show (16:9)</PresentationFormat>
  <Paragraphs>100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Wingdings</vt:lpstr>
      <vt:lpstr>Calibri Light</vt:lpstr>
      <vt:lpstr>Arial Narrow</vt:lpstr>
      <vt:lpstr>Consolas</vt:lpstr>
      <vt:lpstr>Calibri</vt:lpstr>
      <vt:lpstr>Arial</vt:lpstr>
      <vt:lpstr>Simple Light</vt:lpstr>
      <vt:lpstr>PULP Triangle</vt:lpstr>
      <vt:lpstr>1_PULP Triangle</vt:lpstr>
      <vt:lpstr>QuantSparse 3D Biweekly 2026-01-15</vt:lpstr>
      <vt:lpstr>Agenda</vt:lpstr>
      <vt:lpstr>Ventaglio Backend Analysis</vt:lpstr>
      <vt:lpstr>Ventaglio Backend Analysis</vt:lpstr>
      <vt:lpstr>Ventaglio Performance Analysis</vt:lpstr>
      <vt:lpstr>Ventaglio Performance Analysis</vt:lpstr>
      <vt:lpstr>Ventaglio: Next Steps</vt:lpstr>
      <vt:lpstr>3D System: Extending SoftHier Model</vt:lpstr>
      <vt:lpstr>3D System: Extending SoftHier Runtime</vt:lpstr>
      <vt:lpstr>3D System: Next Steps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1138</cp:revision>
  <dcterms:modified xsi:type="dcterms:W3CDTF">2026-01-15T07:47:02Z</dcterms:modified>
</cp:coreProperties>
</file>