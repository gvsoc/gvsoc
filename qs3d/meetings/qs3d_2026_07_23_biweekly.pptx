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14"/>
  </p:notesMasterIdLst>
  <p:sldIdLst>
    <p:sldId id="256" r:id="rId4"/>
    <p:sldId id="615" r:id="rId5"/>
    <p:sldId id="620" r:id="rId6"/>
    <p:sldId id="622" r:id="rId7"/>
    <p:sldId id="623" r:id="rId8"/>
    <p:sldId id="624" r:id="rId9"/>
    <p:sldId id="625" r:id="rId10"/>
    <p:sldId id="626" r:id="rId11"/>
    <p:sldId id="621" r:id="rId12"/>
    <p:sldId id="616" r:id="rId13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65A6A1-EB45-4525-89A6-CB3BD430D531}">
          <p14:sldIdLst>
            <p14:sldId id="256"/>
          </p14:sldIdLst>
        </p14:section>
        <p14:section name="Recap" id="{870E3B29-350E-CE4E-9DFE-3645BAE98000}">
          <p14:sldIdLst>
            <p14:sldId id="615"/>
            <p14:sldId id="620"/>
            <p14:sldId id="622"/>
            <p14:sldId id="623"/>
            <p14:sldId id="624"/>
            <p14:sldId id="625"/>
            <p14:sldId id="626"/>
            <p14:sldId id="621"/>
            <p14:sldId id="6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69B0"/>
    <a:srgbClr val="A9FFA9"/>
    <a:srgbClr val="67AB9F"/>
    <a:srgbClr val="A7127A"/>
    <a:srgbClr val="037491"/>
    <a:srgbClr val="168638"/>
    <a:srgbClr val="A6CAEC"/>
    <a:srgbClr val="BA362D"/>
    <a:srgbClr val="BBA471"/>
    <a:srgbClr val="C45D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F3602-E09C-4FB3-88FD-0AF07CCC1424}">
  <a:tblStyle styleId="{90EF3602-E09C-4FB3-88FD-0AF07CCC1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70"/>
    <p:restoredTop sz="94658"/>
  </p:normalViewPr>
  <p:slideViewPr>
    <p:cSldViewPr snapToGrid="0">
      <p:cViewPr varScale="1">
        <p:scale>
          <a:sx n="160" d="100"/>
          <a:sy n="160" d="100"/>
        </p:scale>
        <p:origin x="144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7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1823465" y="163205"/>
            <a:ext cx="1581805" cy="342091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5653737" y="1653177"/>
            <a:ext cx="3490273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117" y="212211"/>
            <a:ext cx="1325875" cy="22097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86116" y="2336781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  <a:defRPr sz="1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86114" y="1391112"/>
            <a:ext cx="8000670" cy="85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7461825" y="2614213"/>
            <a:ext cx="1213073" cy="1213073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7104894" y="2891492"/>
            <a:ext cx="646325" cy="662609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1348" y="2434954"/>
            <a:ext cx="1836547" cy="157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5899" y="4503916"/>
            <a:ext cx="260270" cy="22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22972" y="4258967"/>
            <a:ext cx="223066" cy="18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6373" y="4781048"/>
            <a:ext cx="256264" cy="1772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6949019" y="4480217"/>
            <a:ext cx="165735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1100"/>
          </a:p>
        </p:txBody>
      </p:sp>
      <p:sp>
        <p:nvSpPr>
          <p:cNvPr id="79" name="Google Shape;79;p14"/>
          <p:cNvSpPr txBox="1"/>
          <p:nvPr/>
        </p:nvSpPr>
        <p:spPr>
          <a:xfrm>
            <a:off x="7360145" y="4233920"/>
            <a:ext cx="1246228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1100"/>
          </a:p>
        </p:txBody>
      </p:sp>
      <p:sp>
        <p:nvSpPr>
          <p:cNvPr id="80" name="Google Shape;80;p14"/>
          <p:cNvSpPr txBox="1"/>
          <p:nvPr/>
        </p:nvSpPr>
        <p:spPr>
          <a:xfrm>
            <a:off x="6573889" y="4726513"/>
            <a:ext cx="203248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1100"/>
          </a:p>
        </p:txBody>
      </p:sp>
      <p:sp>
        <p:nvSpPr>
          <p:cNvPr id="81" name="Google Shape;81;p14"/>
          <p:cNvSpPr txBox="1"/>
          <p:nvPr/>
        </p:nvSpPr>
        <p:spPr>
          <a:xfrm>
            <a:off x="286115" y="4412057"/>
            <a:ext cx="4538560" cy="53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11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86116" y="291366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</a:defRPr>
            </a:lvl1pPr>
            <a:lvl2pPr lvl="1">
              <a:buNone/>
              <a:defRPr sz="1300">
                <a:solidFill>
                  <a:schemeClr val="accent3"/>
                </a:solidFill>
              </a:defRPr>
            </a:lvl2pPr>
            <a:lvl3pPr lvl="2">
              <a:buNone/>
              <a:defRPr sz="1300">
                <a:solidFill>
                  <a:schemeClr val="accent3"/>
                </a:solidFill>
              </a:defRPr>
            </a:lvl3pPr>
            <a:lvl4pPr lvl="3">
              <a:buNone/>
              <a:defRPr sz="1300">
                <a:solidFill>
                  <a:schemeClr val="accent3"/>
                </a:solidFill>
              </a:defRPr>
            </a:lvl4pPr>
            <a:lvl5pPr lvl="4">
              <a:buNone/>
              <a:defRPr sz="1300">
                <a:solidFill>
                  <a:schemeClr val="accent3"/>
                </a:solidFill>
              </a:defRPr>
            </a:lvl5pPr>
            <a:lvl6pPr lvl="5">
              <a:buNone/>
              <a:defRPr sz="1300">
                <a:solidFill>
                  <a:schemeClr val="accent3"/>
                </a:solidFill>
              </a:defRPr>
            </a:lvl6pPr>
            <a:lvl7pPr lvl="6">
              <a:buNone/>
              <a:defRPr sz="1300">
                <a:solidFill>
                  <a:schemeClr val="accent3"/>
                </a:solidFill>
              </a:defRPr>
            </a:lvl7pPr>
            <a:lvl8pPr lvl="7">
              <a:buNone/>
              <a:defRPr sz="1300">
                <a:solidFill>
                  <a:schemeClr val="accent3"/>
                </a:solidFill>
              </a:defRPr>
            </a:lvl8pPr>
            <a:lvl9pPr lvl="8">
              <a:buNone/>
              <a:defRPr sz="13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y-side">
  <p:cSld name="Two-by-s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237713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lus two">
  <p:cSld name="One plus 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8000670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2"/>
          </p:nvPr>
        </p:nvSpPr>
        <p:spPr>
          <a:xfrm>
            <a:off x="237378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3"/>
          </p:nvPr>
        </p:nvSpPr>
        <p:spPr>
          <a:xfrm>
            <a:off x="4237713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-Thick">
  <p:cSld name="Thin-Thic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094760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7378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ck-Thin">
  <p:cSld name="Thick-Thi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2"/>
          </p:nvPr>
        </p:nvSpPr>
        <p:spPr>
          <a:xfrm>
            <a:off x="5380666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y-side">
  <p:cSld name="3-by-s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4454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2959060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567357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box">
  <p:cSld name="4-box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0763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4241101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3"/>
          </p:nvPr>
        </p:nvSpPr>
        <p:spPr>
          <a:xfrm>
            <a:off x="240763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4"/>
          </p:nvPr>
        </p:nvSpPr>
        <p:spPr>
          <a:xfrm>
            <a:off x="4241101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ackground">
  <p:cSld name="Title Backgroun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Only">
  <p:cSld name="Background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748938" y="392233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o Background">
  <p:cSld name="No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Body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244839" y="284195"/>
            <a:ext cx="8000672" cy="47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53" name="Google Shape;153;p27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63" name="Google Shape;163;p28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65" name="Google Shape;165;p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8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hite">
  <p:cSld name="Empty White">
    <p:bg>
      <p:bgPr>
        <a:solidFill>
          <a:schemeClr val="l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Black">
  <p:cSld name="Empty Black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+ Q&amp;A">
  <p:cSld name="Thank you + Q&amp;A">
    <p:bg>
      <p:bgPr>
        <a:solidFill>
          <a:srgbClr val="B4B4B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532192" y="1567205"/>
            <a:ext cx="2474929" cy="65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0" i="0" u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100"/>
          </a:p>
        </p:txBody>
      </p:sp>
      <p:sp>
        <p:nvSpPr>
          <p:cNvPr id="174" name="Google Shape;174;p31"/>
          <p:cNvSpPr/>
          <p:nvPr/>
        </p:nvSpPr>
        <p:spPr>
          <a:xfrm>
            <a:off x="5152847" y="1180109"/>
            <a:ext cx="2574971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72575" tIns="72575" rIns="72575" bIns="72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545468" y="1591635"/>
            <a:ext cx="1160552" cy="61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>
                <a:solidFill>
                  <a:srgbClr val="B4B4B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10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1823463" y="163206"/>
            <a:ext cx="1581803" cy="342091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5653731" y="1653177"/>
            <a:ext cx="3490269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117" y="212211"/>
            <a:ext cx="1325873" cy="220982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6116" y="2336781"/>
            <a:ext cx="4571806" cy="285742"/>
          </a:xfrm>
        </p:spPr>
        <p:txBody>
          <a:bodyPr lIns="0" tIns="0" rIns="0" bIns="0" anchor="b"/>
          <a:lstStyle>
            <a:lvl1pPr marL="0" indent="0" algn="l">
              <a:buNone/>
              <a:defRPr sz="1905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0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86114" y="1391112"/>
            <a:ext cx="8000661" cy="857227"/>
          </a:xfrm>
        </p:spPr>
        <p:txBody>
          <a:bodyPr anchor="t"/>
          <a:lstStyle>
            <a:lvl1pPr>
              <a:defRPr sz="2857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7461812" y="2614218"/>
            <a:ext cx="1213082" cy="121306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7104883" y="2891495"/>
            <a:ext cx="646330" cy="662603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1340" y="2434955"/>
            <a:ext cx="1836545" cy="157605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5890" y="4503916"/>
            <a:ext cx="260270" cy="223355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22963" y="4258967"/>
            <a:ext cx="223066" cy="18350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6364" y="4781048"/>
            <a:ext cx="256264" cy="1772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6949011" y="4480217"/>
            <a:ext cx="1657353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7360137" y="4233920"/>
            <a:ext cx="1246227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6573881" y="4726513"/>
            <a:ext cx="2032482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286115" y="4412057"/>
            <a:ext cx="4538555" cy="53911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5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29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429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429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116" y="2913663"/>
            <a:ext cx="4571806" cy="1285416"/>
          </a:xfrm>
        </p:spPr>
        <p:txBody>
          <a:bodyPr/>
          <a:lstStyle>
            <a:lvl1pPr marL="0" indent="0">
              <a:buNone/>
              <a:defRPr sz="1587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9645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94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708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204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4757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849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80660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8000661" cy="2000196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7377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37708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81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4543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5905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67356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0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0763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1096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0763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41096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8455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32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748937" y="3922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048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1172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07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839" y="284194"/>
            <a:ext cx="8000663" cy="47147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23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6085998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8137312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22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703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532190" y="1567205"/>
            <a:ext cx="2474926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1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5152842" y="1180109"/>
            <a:ext cx="2574968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72566" tIns="72566" rIns="72566" bIns="7256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1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5545462" y="1591634"/>
            <a:ext cx="1160551" cy="62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2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895371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9" y="135245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1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192" lvl="0" indent="-33654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384" lvl="1" indent="-31749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576" lvl="2" indent="-31114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768" lvl="3" indent="-285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5960" lvl="4" indent="-27939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153" lvl="5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44" lvl="6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36" lvl="7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729" lvl="8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273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1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image" Target="../media/image11.png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image" Target="../media/image1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5400000">
            <a:off x="8255518" y="5"/>
            <a:ext cx="888498" cy="888486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37378" y="74351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613176" y="37215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" name="Google Shape;55;p13"/>
          <p:cNvSpPr/>
          <p:nvPr/>
        </p:nvSpPr>
        <p:spPr>
          <a:xfrm rot="2700024">
            <a:off x="8314439" y="285449"/>
            <a:ext cx="284473" cy="28447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6" name="Google Shape;56;p13"/>
          <p:cNvSpPr/>
          <p:nvPr/>
        </p:nvSpPr>
        <p:spPr>
          <a:xfrm rot="2700024">
            <a:off x="8466252" y="172389"/>
            <a:ext cx="510593" cy="51059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19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2290" y="111860"/>
            <a:ext cx="736049" cy="63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378" y="4887852"/>
            <a:ext cx="877914" cy="146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1218693" y="4855937"/>
            <a:ext cx="1063846" cy="230074"/>
            <a:chOff x="3645356" y="188193"/>
            <a:chExt cx="5677387" cy="1227805"/>
          </a:xfrm>
        </p:grpSpPr>
        <p:pic>
          <p:nvPicPr>
            <p:cNvPr id="60" name="Google Shape;60;p13"/>
            <p:cNvPicPr preferRelativeResize="0"/>
            <p:nvPr/>
          </p:nvPicPr>
          <p:blipFill rotWithShape="1">
            <a:blip r:embed="rId21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3"/>
            <p:cNvPicPr preferRelativeResize="0"/>
            <p:nvPr/>
          </p:nvPicPr>
          <p:blipFill rotWithShape="1">
            <a:blip r:embed="rId21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8255509" y="5"/>
            <a:ext cx="888498" cy="888485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377" y="743510"/>
            <a:ext cx="8000663" cy="41432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5613169" y="3721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8314429" y="285451"/>
            <a:ext cx="284475" cy="28447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8466240" y="172391"/>
            <a:ext cx="510597" cy="5105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02281" y="111861"/>
            <a:ext cx="736048" cy="63165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7378" y="4887852"/>
            <a:ext cx="877913" cy="1463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1218691" y="4855937"/>
            <a:ext cx="1063845" cy="230074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2696" y="4871789"/>
            <a:ext cx="5429020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QuantSparse 3D - Bowen Wang, Paul Scheffler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781" y="4871177"/>
            <a:ext cx="428607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</p:sldLayoutIdLst>
  <p:hf hdr="0" ftr="0"/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2857" b="0" i="0" kern="1200" spc="-7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589" indent="-228589" algn="l" defTabSz="571464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400025" indent="-171442" algn="l" defTabSz="571464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58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571464" indent="-171442" algn="l" defTabSz="685770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429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742903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952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914342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873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188586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7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286116" y="2364675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286116" y="1382921"/>
            <a:ext cx="8000670" cy="83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-US" dirty="0"/>
              <a:t>Sparsity Support in Memory Endpoints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286116" y="295254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bowwang@iis.ee.ethz.ch</a:t>
            </a:r>
            <a:endParaRPr lang="en" dirty="0">
              <a:solidFill>
                <a:schemeClr val="dk1"/>
              </a:solidFill>
            </a:endParaRPr>
          </a:p>
          <a:p>
            <a:pPr marL="0" lvl="0" indent="0">
              <a:spcBef>
                <a:spcPts val="0"/>
              </a:spcBef>
            </a:pPr>
            <a:r>
              <a:rPr lang="en" b="1" dirty="0">
                <a:solidFill>
                  <a:srgbClr val="168638"/>
                </a:solidFill>
              </a:rPr>
              <a:t>Chi Zhang      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chizhang@iis.ee.ethz.ch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 dirty="0"/>
              <a:t>             </a:t>
            </a:r>
            <a:r>
              <a:rPr lang="en" dirty="0" err="1">
                <a:solidFill>
                  <a:schemeClr val="dk1"/>
                </a:solidFill>
              </a:rPr>
              <a:t>lbenini@iis.ee.ethz.ch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B7FC7-DEA8-B60A-FF6B-E83695018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68624-44FE-DC8B-97DA-C6D5799B9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Sparse Pattern Analysis Framework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F620B-DF80-05FE-5724-378FBB2CD8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2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A7B8FB5-BB1D-398C-B843-1C10ED35C0D1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4E8976-58F4-105A-B269-6285FE7EB13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55" r="9435" b="9260"/>
          <a:stretch>
            <a:fillRect/>
          </a:stretch>
        </p:blipFill>
        <p:spPr>
          <a:xfrm>
            <a:off x="444825" y="628032"/>
            <a:ext cx="8429269" cy="399445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C004E33-5692-479B-23CA-FBE67F02124D}"/>
              </a:ext>
            </a:extLst>
          </p:cNvPr>
          <p:cNvSpPr txBox="1"/>
          <p:nvPr/>
        </p:nvSpPr>
        <p:spPr>
          <a:xfrm>
            <a:off x="3223344" y="2933700"/>
            <a:ext cx="361684" cy="1231900"/>
          </a:xfrm>
          <a:prstGeom prst="rect">
            <a:avLst/>
          </a:prstGeom>
          <a:noFill/>
        </p:spPr>
        <p:txBody>
          <a:bodyPr vert="vert270" wrap="none" lIns="0" tIns="0" rIns="0" bIns="0" rtlCol="0">
            <a:noAutofit/>
          </a:bodyPr>
          <a:lstStyle/>
          <a:p>
            <a:pPr defTabSz="720000"/>
            <a:r>
              <a:rPr lang="en-US" sz="1200" b="1" i="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L1 </a:t>
            </a:r>
          </a:p>
          <a:p>
            <a:pPr defTabSz="720000"/>
            <a:r>
              <a:rPr lang="en-US" sz="1200" b="1" i="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Boundary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DB3A01-99C1-6056-20D3-16D119567B7F}"/>
              </a:ext>
            </a:extLst>
          </p:cNvPr>
          <p:cNvSpPr txBox="1"/>
          <p:nvPr/>
        </p:nvSpPr>
        <p:spPr>
          <a:xfrm>
            <a:off x="5371700" y="2877408"/>
            <a:ext cx="361684" cy="1288192"/>
          </a:xfrm>
          <a:prstGeom prst="rect">
            <a:avLst/>
          </a:prstGeom>
          <a:noFill/>
        </p:spPr>
        <p:txBody>
          <a:bodyPr vert="vert270" wrap="none" lIns="0" tIns="0" rIns="0" bIns="0" rtlCol="0">
            <a:noAutofit/>
          </a:bodyPr>
          <a:lstStyle/>
          <a:p>
            <a:pPr defTabSz="720000"/>
            <a:r>
              <a:rPr lang="en-US" sz="1200" b="1" i="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Single Channel </a:t>
            </a:r>
          </a:p>
          <a:p>
            <a:pPr defTabSz="720000"/>
            <a:r>
              <a:rPr lang="en-US" sz="1200" b="1" i="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Boundary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DBD2288-32A1-082C-1B87-9DEF21B229D4}"/>
              </a:ext>
            </a:extLst>
          </p:cNvPr>
          <p:cNvSpPr/>
          <p:nvPr/>
        </p:nvSpPr>
        <p:spPr>
          <a:xfrm>
            <a:off x="1490980" y="4366243"/>
            <a:ext cx="298450" cy="29845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Helvetica" pitchFamily="2" charset="0"/>
                <a:cs typeface="Arial Narrow" panose="020B0604020202020204" pitchFamily="34" charset="0"/>
              </a:rPr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1924BA-77D2-A5E2-2DC3-4FBC708DB711}"/>
              </a:ext>
            </a:extLst>
          </p:cNvPr>
          <p:cNvSpPr/>
          <p:nvPr/>
        </p:nvSpPr>
        <p:spPr>
          <a:xfrm>
            <a:off x="346432" y="1759947"/>
            <a:ext cx="298450" cy="29845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bg2"/>
                </a:solidFill>
                <a:latin typeface="Helvetica" pitchFamily="2" charset="0"/>
                <a:cs typeface="Arial Narrow" panose="020B0604020202020204" pitchFamily="34" charset="0"/>
              </a:rPr>
              <a:t>2</a:t>
            </a:r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Helvetica" pitchFamily="2" charset="0"/>
              <a:cs typeface="Arial Narrow" panose="020B0604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6F96E5B-75FB-CC4D-23B1-BAF47BC31306}"/>
              </a:ext>
            </a:extLst>
          </p:cNvPr>
          <p:cNvSpPr/>
          <p:nvPr/>
        </p:nvSpPr>
        <p:spPr>
          <a:xfrm>
            <a:off x="7439128" y="845168"/>
            <a:ext cx="298450" cy="29845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Helvetica" pitchFamily="2" charset="0"/>
                <a:cs typeface="Arial Narrow" panose="020B0604020202020204" pitchFamily="34" charset="0"/>
              </a:rPr>
              <a:t>3</a:t>
            </a:r>
          </a:p>
        </p:txBody>
      </p:sp>
      <p:sp>
        <p:nvSpPr>
          <p:cNvPr id="31" name="Right Bracket 30">
            <a:extLst>
              <a:ext uri="{FF2B5EF4-FFF2-40B4-BE49-F238E27FC236}">
                <a16:creationId xmlns:a16="http://schemas.microsoft.com/office/drawing/2014/main" id="{A72B1AAC-3584-EC9E-7EE7-C54D6A72DA24}"/>
              </a:ext>
            </a:extLst>
          </p:cNvPr>
          <p:cNvSpPr/>
          <p:nvPr/>
        </p:nvSpPr>
        <p:spPr>
          <a:xfrm>
            <a:off x="8278623" y="1422772"/>
            <a:ext cx="51966" cy="176972"/>
          </a:xfrm>
          <a:prstGeom prst="rightBracket">
            <a:avLst/>
          </a:prstGeom>
          <a:ln w="15875">
            <a:solidFill>
              <a:schemeClr val="accent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0B868F-096F-C4B4-0309-8B7D3322CDF4}"/>
              </a:ext>
            </a:extLst>
          </p:cNvPr>
          <p:cNvSpPr txBox="1"/>
          <p:nvPr/>
        </p:nvSpPr>
        <p:spPr>
          <a:xfrm>
            <a:off x="7343157" y="1901279"/>
            <a:ext cx="1248630" cy="19125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000" b="1" i="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from cluster side </a:t>
            </a:r>
          </a:p>
          <a:p>
            <a:pPr algn="ctr" defTabSz="720000"/>
            <a:r>
              <a:rPr lang="en-US" sz="1000" b="1" i="0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 runtime 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77B46E8-00CF-E77F-F817-605BCB774892}"/>
              </a:ext>
            </a:extLst>
          </p:cNvPr>
          <p:cNvCxnSpPr>
            <a:cxnSpLocks/>
          </p:cNvCxnSpPr>
          <p:nvPr/>
        </p:nvCxnSpPr>
        <p:spPr>
          <a:xfrm flipH="1">
            <a:off x="7680960" y="1759947"/>
            <a:ext cx="188976" cy="1492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27EE865-826D-BB89-25A1-686E01F59C21}"/>
              </a:ext>
            </a:extLst>
          </p:cNvPr>
          <p:cNvSpPr txBox="1"/>
          <p:nvPr/>
        </p:nvSpPr>
        <p:spPr>
          <a:xfrm>
            <a:off x="7343157" y="2387630"/>
            <a:ext cx="1649270" cy="3511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defTabSz="720000"/>
            <a:r>
              <a:rPr lang="en-US" sz="1000" b="1" i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reside in memory </a:t>
            </a:r>
            <a:r>
              <a:rPr lang="en-US" sz="10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1000" b="1" i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ndpoint</a:t>
            </a:r>
            <a:r>
              <a:rPr lang="en-US" sz="10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i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1143269-F1C7-5B6D-2078-A6AFF2C92E8E}"/>
              </a:ext>
            </a:extLst>
          </p:cNvPr>
          <p:cNvCxnSpPr>
            <a:cxnSpLocks/>
          </p:cNvCxnSpPr>
          <p:nvPr/>
        </p:nvCxnSpPr>
        <p:spPr>
          <a:xfrm>
            <a:off x="8330589" y="1511258"/>
            <a:ext cx="632678" cy="87637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EF83A0B-A212-996E-07B5-2A04BEA890F0}"/>
              </a:ext>
            </a:extLst>
          </p:cNvPr>
          <p:cNvCxnSpPr>
            <a:cxnSpLocks/>
          </p:cNvCxnSpPr>
          <p:nvPr/>
        </p:nvCxnSpPr>
        <p:spPr>
          <a:xfrm flipH="1">
            <a:off x="3468151" y="2877408"/>
            <a:ext cx="470059" cy="2049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911AC24-BDF3-18C3-D4CE-6F1824965D68}"/>
              </a:ext>
            </a:extLst>
          </p:cNvPr>
          <p:cNvCxnSpPr>
            <a:cxnSpLocks/>
          </p:cNvCxnSpPr>
          <p:nvPr/>
        </p:nvCxnSpPr>
        <p:spPr>
          <a:xfrm>
            <a:off x="5058708" y="2877408"/>
            <a:ext cx="506172" cy="2049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4AF307E-6ACD-BBF7-EE53-96FA34B602E6}"/>
              </a:ext>
            </a:extLst>
          </p:cNvPr>
          <p:cNvSpPr txBox="1"/>
          <p:nvPr/>
        </p:nvSpPr>
        <p:spPr>
          <a:xfrm>
            <a:off x="3404186" y="2626318"/>
            <a:ext cx="2096729" cy="25324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defTabSz="720000"/>
            <a:r>
              <a:rPr lang="en-US" sz="1200" i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Hardware-dependent placement</a:t>
            </a:r>
          </a:p>
        </p:txBody>
      </p:sp>
    </p:spTree>
    <p:extLst>
      <p:ext uri="{BB962C8B-B14F-4D97-AF65-F5344CB8AC3E}">
        <p14:creationId xmlns:p14="http://schemas.microsoft.com/office/powerpoint/2010/main" val="144659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B849-E304-B87C-425B-D91E1BCE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24D2-55D1-3C50-9157-410626342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83" y="196205"/>
            <a:ext cx="8000670" cy="492787"/>
          </a:xfrm>
        </p:spPr>
        <p:txBody>
          <a:bodyPr/>
          <a:lstStyle/>
          <a:p>
            <a:r>
              <a:rPr lang="en-US" altLang="zh-CN" dirty="0"/>
              <a:t>Example: Model Pruning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5E6AB-82AD-909E-1B7D-377AA19D35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3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68CCC24-3DF4-2E60-CEB3-CD43AEC8F1E9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EBE71-2F28-8CA2-C6C1-B3B0EF9BCF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29"/>
          <a:stretch>
            <a:fillRect/>
          </a:stretch>
        </p:blipFill>
        <p:spPr>
          <a:xfrm>
            <a:off x="555888" y="1279839"/>
            <a:ext cx="8300039" cy="352227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9F9D93D1-C26E-6B79-19C7-6CEA8C2C4135}"/>
              </a:ext>
            </a:extLst>
          </p:cNvPr>
          <p:cNvSpPr/>
          <p:nvPr/>
        </p:nvSpPr>
        <p:spPr>
          <a:xfrm>
            <a:off x="2125525" y="3833213"/>
            <a:ext cx="1053680" cy="496562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9D545A-9F64-B155-3F64-F7F0F8ACC3C6}"/>
              </a:ext>
            </a:extLst>
          </p:cNvPr>
          <p:cNvSpPr txBox="1"/>
          <p:nvPr/>
        </p:nvSpPr>
        <p:spPr>
          <a:xfrm>
            <a:off x="2999284" y="3481311"/>
            <a:ext cx="973207" cy="26367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i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Ventaglio-like in-core scatter/gather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DC1B18F-0401-D6E7-C080-50F17A8CD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073" y="777222"/>
            <a:ext cx="8232197" cy="533065"/>
          </a:xfrm>
        </p:spPr>
        <p:txBody>
          <a:bodyPr lIns="36000" tIns="36000" anchor="t"/>
          <a:lstStyle/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Index binding</a:t>
            </a:r>
            <a:r>
              <a:rPr lang="en-US" altLang="zh-CN" sz="12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fixed at </a:t>
            </a:r>
            <a:r>
              <a:rPr lang="en-US" altLang="zh-CN" sz="12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compile time</a:t>
            </a:r>
            <a:r>
              <a:rPr lang="en-US" altLang="zh-CN" sz="12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 streamed sequentially with the values</a:t>
            </a:r>
          </a:p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Gather target:</a:t>
            </a:r>
            <a:r>
              <a:rPr lang="en-US" altLang="zh-CN" sz="12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the activation tile, </a:t>
            </a:r>
            <a:r>
              <a:rPr lang="en-US" altLang="zh-CN" sz="12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L1 scratchpad-resident </a:t>
            </a:r>
            <a:r>
              <a:rPr lang="en-US" altLang="zh-CN" sz="12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through tiling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B66CF8-C4AD-D508-5B0A-90207ABD3FFC}"/>
              </a:ext>
            </a:extLst>
          </p:cNvPr>
          <p:cNvSpPr txBox="1"/>
          <p:nvPr/>
        </p:nvSpPr>
        <p:spPr>
          <a:xfrm>
            <a:off x="1616853" y="10415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DC6DD2-8FFC-0B45-58BF-703FA0C04AEB}"/>
              </a:ext>
            </a:extLst>
          </p:cNvPr>
          <p:cNvSpPr/>
          <p:nvPr/>
        </p:nvSpPr>
        <p:spPr>
          <a:xfrm>
            <a:off x="2422251" y="2776082"/>
            <a:ext cx="606571" cy="496562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15E275-3EA6-CDB1-E62A-75C882893EBC}"/>
              </a:ext>
            </a:extLst>
          </p:cNvPr>
          <p:cNvSpPr txBox="1"/>
          <p:nvPr/>
        </p:nvSpPr>
        <p:spPr>
          <a:xfrm>
            <a:off x="2725536" y="2512410"/>
            <a:ext cx="2059921" cy="263672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i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Indexed load/store instructions</a:t>
            </a:r>
          </a:p>
        </p:txBody>
      </p:sp>
    </p:spTree>
    <p:extLst>
      <p:ext uri="{BB962C8B-B14F-4D97-AF65-F5344CB8AC3E}">
        <p14:creationId xmlns:p14="http://schemas.microsoft.com/office/powerpoint/2010/main" val="2174482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1EBF1-BB85-4D95-F271-5ABC46363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585B7-A29B-4662-0D8C-ADA774D89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83" y="196205"/>
            <a:ext cx="8000670" cy="492787"/>
          </a:xfrm>
        </p:spPr>
        <p:txBody>
          <a:bodyPr/>
          <a:lstStyle/>
          <a:p>
            <a:r>
              <a:rPr lang="en-US" altLang="zh-CN" dirty="0"/>
              <a:t>Example: Contextual Activation Sparsity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969FF-7AD8-5350-E399-861B868A4D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4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9FEE0E-1ABF-D671-75D3-DD9A6C4647C5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CBD24F-3E02-140D-C13D-B1E402320B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52" b="7578"/>
          <a:stretch>
            <a:fillRect/>
          </a:stretch>
        </p:blipFill>
        <p:spPr>
          <a:xfrm>
            <a:off x="635437" y="1425020"/>
            <a:ext cx="8300039" cy="352227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0A10E17-9D25-C58B-4FB3-E702BB91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018" y="640463"/>
            <a:ext cx="8232197" cy="784557"/>
          </a:xfrm>
        </p:spPr>
        <p:txBody>
          <a:bodyPr lIns="36000" tIns="36000" anchor="t"/>
          <a:lstStyle/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Per token a small predictor guesses which FFN neurons/layer to use; only those weight rows/blocks are fetched and computed</a:t>
            </a:r>
          </a:p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Index binding</a:t>
            </a: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fire for the current token — </a:t>
            </a:r>
            <a:r>
              <a:rPr lang="en-US" altLang="zh-CN" sz="11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step-bound </a:t>
            </a: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(index from the cluster side)</a:t>
            </a:r>
          </a:p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Gather target:</a:t>
            </a: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per layer/model weight matrices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4690E-1348-7A2F-4430-7975487672D4}"/>
              </a:ext>
            </a:extLst>
          </p:cNvPr>
          <p:cNvSpPr txBox="1"/>
          <p:nvPr/>
        </p:nvSpPr>
        <p:spPr>
          <a:xfrm>
            <a:off x="1616853" y="10415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0B5EF55-6731-34A5-74B1-4F9C5EB9F90F}"/>
              </a:ext>
            </a:extLst>
          </p:cNvPr>
          <p:cNvSpPr/>
          <p:nvPr/>
        </p:nvSpPr>
        <p:spPr>
          <a:xfrm>
            <a:off x="4323719" y="2776082"/>
            <a:ext cx="2246639" cy="481845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3A5A22-8DC8-6071-BB00-31C881E7C25F}"/>
              </a:ext>
            </a:extLst>
          </p:cNvPr>
          <p:cNvSpPr txBox="1"/>
          <p:nvPr/>
        </p:nvSpPr>
        <p:spPr>
          <a:xfrm>
            <a:off x="2264805" y="2282973"/>
            <a:ext cx="4305553" cy="57528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Smart DMA: </a:t>
            </a:r>
            <a:r>
              <a:rPr lang="en-US" sz="12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dispatch</a:t>
            </a:r>
          </a:p>
          <a:p>
            <a:pPr algn="ctr" defTabSz="720000"/>
            <a:r>
              <a:rPr lang="en-US" sz="1200" b="1" i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 controller: </a:t>
            </a:r>
            <a:r>
              <a:rPr lang="en-US" sz="12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semantic, accept index from cluster side</a:t>
            </a:r>
            <a:endParaRPr lang="en-US" sz="1200" i="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785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09BE1-CB3D-E10C-5DF7-5EEA82C74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318A-6457-FFF9-BBB8-F6D4BABE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83" y="196205"/>
            <a:ext cx="8000670" cy="492787"/>
          </a:xfrm>
        </p:spPr>
        <p:txBody>
          <a:bodyPr/>
          <a:lstStyle/>
          <a:p>
            <a:r>
              <a:rPr lang="en-US" altLang="zh-CN" dirty="0"/>
              <a:t>Example: Sparse Attention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67D1A-6366-16E5-45AB-C8EBF21B6F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5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48D1279-0F2C-07E1-5D58-BDAA90472D30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36045A-7305-7273-FFCB-50A3C82D35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" t="3339" r="-68" b="8929"/>
          <a:stretch>
            <a:fillRect/>
          </a:stretch>
        </p:blipFill>
        <p:spPr>
          <a:xfrm>
            <a:off x="629381" y="1501138"/>
            <a:ext cx="8300039" cy="3446157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07AC020-0413-F341-62E4-FA7797C1E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018" y="640463"/>
            <a:ext cx="8232197" cy="784557"/>
          </a:xfrm>
        </p:spPr>
        <p:txBody>
          <a:bodyPr lIns="36000" tIns="36000" anchor="t"/>
          <a:lstStyle/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Autoregressive attention touching only a subset of past tokens</a:t>
            </a:r>
          </a:p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Index binding</a:t>
            </a: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select per each input token — </a:t>
            </a:r>
            <a:r>
              <a:rPr lang="en-US" altLang="zh-CN" sz="11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step-bound </a:t>
            </a: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(index from the cluster side); early work with fixed gather window</a:t>
            </a:r>
          </a:p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Gather target:</a:t>
            </a: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long context KV cache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64F371-1DF5-A423-13C4-B0ED1EA4F2AA}"/>
              </a:ext>
            </a:extLst>
          </p:cNvPr>
          <p:cNvSpPr txBox="1"/>
          <p:nvPr/>
        </p:nvSpPr>
        <p:spPr>
          <a:xfrm>
            <a:off x="1616853" y="10415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374ABF-5CE4-AA71-71EC-EC955F4B8925}"/>
              </a:ext>
            </a:extLst>
          </p:cNvPr>
          <p:cNvSpPr/>
          <p:nvPr/>
        </p:nvSpPr>
        <p:spPr>
          <a:xfrm>
            <a:off x="3221594" y="2330828"/>
            <a:ext cx="617675" cy="384354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DB52E-1EFC-58A1-59D7-A4D45FE0D993}"/>
              </a:ext>
            </a:extLst>
          </p:cNvPr>
          <p:cNvSpPr txBox="1"/>
          <p:nvPr/>
        </p:nvSpPr>
        <p:spPr>
          <a:xfrm>
            <a:off x="1665298" y="2648932"/>
            <a:ext cx="2398030" cy="57528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2D DMA</a:t>
            </a:r>
            <a:b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fixed gather window, depreciated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2EC0D4E-10B5-DCE5-A178-02FC80DE63FF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2864313" y="2571750"/>
            <a:ext cx="357281" cy="7718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035BF75-27E5-619A-B389-52050AAC73F9}"/>
              </a:ext>
            </a:extLst>
          </p:cNvPr>
          <p:cNvSpPr/>
          <p:nvPr/>
        </p:nvSpPr>
        <p:spPr>
          <a:xfrm>
            <a:off x="4263162" y="2880359"/>
            <a:ext cx="1368573" cy="384354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1E5741-11CE-CCDE-3D72-E3201C92B2F1}"/>
              </a:ext>
            </a:extLst>
          </p:cNvPr>
          <p:cNvSpPr txBox="1"/>
          <p:nvPr/>
        </p:nvSpPr>
        <p:spPr>
          <a:xfrm>
            <a:off x="2725033" y="3498152"/>
            <a:ext cx="4305553" cy="57528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Sparse 1D DMA </a:t>
            </a:r>
            <a:r>
              <a:rPr lang="en-US" sz="12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en-US" sz="1200" b="1" i="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 controller with </a:t>
            </a:r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semantic</a:t>
            </a:r>
          </a:p>
          <a:p>
            <a:pPr algn="ctr" defTabSz="720000"/>
            <a:r>
              <a:rPr lang="en-US" sz="12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Similar to contextual activation sparsity,</a:t>
            </a:r>
          </a:p>
          <a:p>
            <a:pPr algn="ctr" defTabSz="720000"/>
            <a:r>
              <a:rPr lang="en-US" sz="12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accept index from cluster side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A69705-7027-2225-BE52-930EE81D71B2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877809" y="3261863"/>
            <a:ext cx="1" cy="23628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64513EBC-236A-AE38-B441-C0996CC2B893}"/>
              </a:ext>
            </a:extLst>
          </p:cNvPr>
          <p:cNvSpPr/>
          <p:nvPr/>
        </p:nvSpPr>
        <p:spPr>
          <a:xfrm>
            <a:off x="4953504" y="2330828"/>
            <a:ext cx="1368573" cy="384354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950812-20D5-C05B-98AD-A6AE639FFB25}"/>
              </a:ext>
            </a:extLst>
          </p:cNvPr>
          <p:cNvSpPr txBox="1"/>
          <p:nvPr/>
        </p:nvSpPr>
        <p:spPr>
          <a:xfrm>
            <a:off x="3771648" y="1939167"/>
            <a:ext cx="3258938" cy="27494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Sparse 2D DMA with index semantic</a:t>
            </a:r>
            <a:endParaRPr lang="en-US" sz="1200" i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E8045A-2B5A-120C-8BBA-0FFA4901BCA4}"/>
              </a:ext>
            </a:extLst>
          </p:cNvPr>
          <p:cNvCxnSpPr>
            <a:cxnSpLocks/>
          </p:cNvCxnSpPr>
          <p:nvPr/>
        </p:nvCxnSpPr>
        <p:spPr>
          <a:xfrm flipH="1" flipV="1">
            <a:off x="5026172" y="2133185"/>
            <a:ext cx="236171" cy="22237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857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207F7-C66E-4311-5B6A-C2CFD5F44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5634D-86E0-1295-80E2-26C7200BA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83" y="196205"/>
            <a:ext cx="8000670" cy="492787"/>
          </a:xfrm>
        </p:spPr>
        <p:txBody>
          <a:bodyPr/>
          <a:lstStyle/>
          <a:p>
            <a:r>
              <a:rPr lang="en-US" altLang="zh-CN" dirty="0"/>
              <a:t>Example: Vector Quantization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BC9CB-056E-21AD-2274-A09C607DB4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6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5C9FAF4-ABD4-8874-B3D9-405FC263B386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767988-5A2D-D9B2-BCC8-990028E8E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" t="1938" r="5" b="10328"/>
          <a:stretch>
            <a:fillRect/>
          </a:stretch>
        </p:blipFill>
        <p:spPr>
          <a:xfrm>
            <a:off x="629381" y="1501138"/>
            <a:ext cx="8300039" cy="3446157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CEF6B06-45B3-570C-08DA-63BEB2E09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018" y="640463"/>
            <a:ext cx="8232197" cy="784557"/>
          </a:xfrm>
        </p:spPr>
        <p:txBody>
          <a:bodyPr lIns="36000" tIns="36000" anchor="t"/>
          <a:lstStyle/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Weight matrix codebook irregular lookup access</a:t>
            </a:r>
          </a:p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Index binding</a:t>
            </a: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compile time determined, stream with indices</a:t>
            </a:r>
          </a:p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Gather target:</a:t>
            </a: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codebook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DBB24F-542F-12E5-13D6-B178DEC6372B}"/>
              </a:ext>
            </a:extLst>
          </p:cNvPr>
          <p:cNvSpPr txBox="1"/>
          <p:nvPr/>
        </p:nvSpPr>
        <p:spPr>
          <a:xfrm>
            <a:off x="1616853" y="10415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1D28E66-526A-4946-5E8F-201AEE6A659E}"/>
              </a:ext>
            </a:extLst>
          </p:cNvPr>
          <p:cNvSpPr/>
          <p:nvPr/>
        </p:nvSpPr>
        <p:spPr>
          <a:xfrm>
            <a:off x="1568408" y="3427486"/>
            <a:ext cx="968901" cy="526840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432CC2-6B41-A145-BA96-B613F9013B81}"/>
              </a:ext>
            </a:extLst>
          </p:cNvPr>
          <p:cNvSpPr txBox="1"/>
          <p:nvPr/>
        </p:nvSpPr>
        <p:spPr>
          <a:xfrm>
            <a:off x="1613824" y="2936574"/>
            <a:ext cx="1386741" cy="239198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Blocked index load</a:t>
            </a:r>
            <a:endParaRPr lang="en-US" sz="1200" i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CBB2A72-15BE-FD65-570F-B7D40EAAFD43}"/>
              </a:ext>
            </a:extLst>
          </p:cNvPr>
          <p:cNvCxnSpPr>
            <a:cxnSpLocks/>
          </p:cNvCxnSpPr>
          <p:nvPr/>
        </p:nvCxnSpPr>
        <p:spPr>
          <a:xfrm flipV="1">
            <a:off x="2071025" y="3175772"/>
            <a:ext cx="236170" cy="25171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74E8B955-0D95-9E8D-9A72-7DB54884C7A1}"/>
              </a:ext>
            </a:extLst>
          </p:cNvPr>
          <p:cNvSpPr/>
          <p:nvPr/>
        </p:nvSpPr>
        <p:spPr>
          <a:xfrm>
            <a:off x="2991885" y="3427486"/>
            <a:ext cx="968901" cy="526840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C77129-D550-400C-71CE-1A7DC5FEBE74}"/>
              </a:ext>
            </a:extLst>
          </p:cNvPr>
          <p:cNvCxnSpPr>
            <a:cxnSpLocks/>
          </p:cNvCxnSpPr>
          <p:nvPr/>
        </p:nvCxnSpPr>
        <p:spPr>
          <a:xfrm>
            <a:off x="3804105" y="3494097"/>
            <a:ext cx="344001" cy="1299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C8DF43F-DBE1-A021-67EE-AD19A787A8F9}"/>
              </a:ext>
            </a:extLst>
          </p:cNvPr>
          <p:cNvSpPr txBox="1"/>
          <p:nvPr/>
        </p:nvSpPr>
        <p:spPr>
          <a:xfrm>
            <a:off x="3850056" y="2994805"/>
            <a:ext cx="1386741" cy="239198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 side cache</a:t>
            </a:r>
            <a:endParaRPr lang="en-US" sz="1200" i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30A9A7-28E1-59AE-975E-A0E79C8D081F}"/>
              </a:ext>
            </a:extLst>
          </p:cNvPr>
          <p:cNvCxnSpPr>
            <a:cxnSpLocks/>
          </p:cNvCxnSpPr>
          <p:nvPr/>
        </p:nvCxnSpPr>
        <p:spPr>
          <a:xfrm flipV="1">
            <a:off x="3804105" y="3240261"/>
            <a:ext cx="236170" cy="25171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DBA1518-5945-979C-A386-2D50DB244DDF}"/>
              </a:ext>
            </a:extLst>
          </p:cNvPr>
          <p:cNvSpPr txBox="1"/>
          <p:nvPr/>
        </p:nvSpPr>
        <p:spPr>
          <a:xfrm>
            <a:off x="3922190" y="3659940"/>
            <a:ext cx="2797296" cy="37050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Sparse 1D DMA + memory-side coalescing</a:t>
            </a:r>
          </a:p>
          <a:p>
            <a:pPr algn="ctr" defTabSz="720000"/>
            <a:r>
              <a:rPr lang="en-US" sz="12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memory-side small cache</a:t>
            </a:r>
          </a:p>
        </p:txBody>
      </p:sp>
    </p:spTree>
    <p:extLst>
      <p:ext uri="{BB962C8B-B14F-4D97-AF65-F5344CB8AC3E}">
        <p14:creationId xmlns:p14="http://schemas.microsoft.com/office/powerpoint/2010/main" val="3613671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5702A-DB80-289A-E7C8-045B84D8B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83D62-56E8-46FA-4BB8-9D2AEAC4B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83" y="196205"/>
            <a:ext cx="8000670" cy="492787"/>
          </a:xfrm>
        </p:spPr>
        <p:txBody>
          <a:bodyPr/>
          <a:lstStyle/>
          <a:p>
            <a:r>
              <a:rPr lang="en-US" altLang="zh-CN" dirty="0"/>
              <a:t>Example: </a:t>
            </a:r>
            <a:r>
              <a:rPr lang="en-US" altLang="zh-CN" dirty="0" err="1"/>
              <a:t>MoE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B0EB1-3AA4-2101-0A15-53AA16405F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7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7A47471-EE5D-751B-4314-0E509329B3B8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450670-7108-113D-1CD9-465F5D8CF4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24" t="2520" r="124" b="9746"/>
          <a:stretch>
            <a:fillRect/>
          </a:stretch>
        </p:blipFill>
        <p:spPr>
          <a:xfrm>
            <a:off x="629381" y="1501138"/>
            <a:ext cx="8300039" cy="3446157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D9C1409-01D4-0AD8-3E72-0BAEA4086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018" y="640463"/>
            <a:ext cx="8232197" cy="784557"/>
          </a:xfrm>
        </p:spPr>
        <p:txBody>
          <a:bodyPr lIns="36000" tIns="36000" anchor="t"/>
          <a:lstStyle/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FFN is served by k of N expert MLPs chosen by a router</a:t>
            </a:r>
          </a:p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Index binding</a:t>
            </a: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: expert IDs from the cluster-side router, runtime determined</a:t>
            </a:r>
          </a:p>
          <a:p>
            <a:pPr marL="0" indent="-180000">
              <a:spcBef>
                <a:spcPts val="200"/>
              </a:spcBef>
              <a:spcAft>
                <a:spcPts val="200"/>
              </a:spcAft>
            </a:pPr>
            <a:r>
              <a:rPr lang="en-US" altLang="zh-CN" sz="11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Gather target:</a:t>
            </a:r>
            <a:r>
              <a:rPr lang="en-US" altLang="zh-CN" sz="11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expert pool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0B3242-0CC6-A0A8-4AEF-8BBCC5D2FC9F}"/>
              </a:ext>
            </a:extLst>
          </p:cNvPr>
          <p:cNvSpPr txBox="1"/>
          <p:nvPr/>
        </p:nvSpPr>
        <p:spPr>
          <a:xfrm>
            <a:off x="1616853" y="10415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29EAD83-A814-D45E-C030-DAB3DC2048AF}"/>
              </a:ext>
            </a:extLst>
          </p:cNvPr>
          <p:cNvSpPr/>
          <p:nvPr/>
        </p:nvSpPr>
        <p:spPr>
          <a:xfrm>
            <a:off x="5620028" y="1850957"/>
            <a:ext cx="1271278" cy="407793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7EEFC4-7A0F-1F78-507B-4FEA623357EF}"/>
              </a:ext>
            </a:extLst>
          </p:cNvPr>
          <p:cNvSpPr txBox="1"/>
          <p:nvPr/>
        </p:nvSpPr>
        <p:spPr>
          <a:xfrm>
            <a:off x="4572000" y="2505057"/>
            <a:ext cx="1386741" cy="379693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 stack</a:t>
            </a:r>
          </a:p>
          <a:p>
            <a:pPr algn="ctr" defTabSz="720000"/>
            <a:r>
              <a:rPr lang="en-US" sz="12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Expert placement, duplication, split/merge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C28E6E-4FE6-7511-F853-6FC1B1858E83}"/>
              </a:ext>
            </a:extLst>
          </p:cNvPr>
          <p:cNvCxnSpPr>
            <a:cxnSpLocks/>
          </p:cNvCxnSpPr>
          <p:nvPr/>
        </p:nvCxnSpPr>
        <p:spPr>
          <a:xfrm flipH="1">
            <a:off x="5236797" y="2182659"/>
            <a:ext cx="473661" cy="33618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256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26639-5D0B-17E3-43B9-E4AB5BFC6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CCEDA-8B71-6B04-279A-EE38F72A8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83" y="196205"/>
            <a:ext cx="8000670" cy="492787"/>
          </a:xfrm>
        </p:spPr>
        <p:txBody>
          <a:bodyPr/>
          <a:lstStyle/>
          <a:p>
            <a:r>
              <a:rPr lang="en-US" altLang="zh-CN" dirty="0"/>
              <a:t>Example: Emerging ML Applications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E2C38-A88F-75AB-3F2B-A884317E78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8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5D05B7C-BF39-5C41-E9FF-6CC3453F68B5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45F2D1-8D17-14F8-C125-F75673EAA5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73" t="-359" r="73"/>
          <a:stretch>
            <a:fillRect/>
          </a:stretch>
        </p:blipFill>
        <p:spPr>
          <a:xfrm>
            <a:off x="490101" y="723872"/>
            <a:ext cx="8300039" cy="39420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7091E0-6789-40D8-BA7E-E9DD0366C2C2}"/>
              </a:ext>
            </a:extLst>
          </p:cNvPr>
          <p:cNvSpPr txBox="1"/>
          <p:nvPr/>
        </p:nvSpPr>
        <p:spPr>
          <a:xfrm>
            <a:off x="1616853" y="10415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8382251-3811-F3FA-C4E4-46A5415434A7}"/>
              </a:ext>
            </a:extLst>
          </p:cNvPr>
          <p:cNvSpPr/>
          <p:nvPr/>
        </p:nvSpPr>
        <p:spPr>
          <a:xfrm rot="18704995">
            <a:off x="2976936" y="2224807"/>
            <a:ext cx="1271278" cy="893347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59DC21-9071-F480-9BE4-552796A1EC43}"/>
              </a:ext>
            </a:extLst>
          </p:cNvPr>
          <p:cNvSpPr txBox="1"/>
          <p:nvPr/>
        </p:nvSpPr>
        <p:spPr>
          <a:xfrm>
            <a:off x="2385919" y="1753821"/>
            <a:ext cx="1909031" cy="379693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Memory controller accepts</a:t>
            </a:r>
          </a:p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stream from </a:t>
            </a:r>
            <a:r>
              <a:rPr lang="en-US" sz="1200" b="1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endpoint</a:t>
            </a:r>
            <a:endParaRPr lang="en-US" sz="1200" i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9832B2E-28D8-BCFB-468D-450532789F31}"/>
              </a:ext>
            </a:extLst>
          </p:cNvPr>
          <p:cNvCxnSpPr>
            <a:cxnSpLocks/>
            <a:endCxn id="22" idx="2"/>
          </p:cNvCxnSpPr>
          <p:nvPr/>
        </p:nvCxnSpPr>
        <p:spPr>
          <a:xfrm flipH="1" flipV="1">
            <a:off x="3340435" y="2133514"/>
            <a:ext cx="177886" cy="14600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B362C33-2187-D99A-88BE-5AD75A9A5F2C}"/>
              </a:ext>
            </a:extLst>
          </p:cNvPr>
          <p:cNvCxnSpPr>
            <a:cxnSpLocks/>
          </p:cNvCxnSpPr>
          <p:nvPr/>
        </p:nvCxnSpPr>
        <p:spPr>
          <a:xfrm flipH="1">
            <a:off x="5674125" y="2571750"/>
            <a:ext cx="127168" cy="20172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893699-7CCD-5C26-0AF7-5AE1F35D51B6}"/>
              </a:ext>
            </a:extLst>
          </p:cNvPr>
          <p:cNvSpPr txBox="1"/>
          <p:nvPr/>
        </p:nvSpPr>
        <p:spPr>
          <a:xfrm>
            <a:off x="4438776" y="2808358"/>
            <a:ext cx="2042255" cy="104762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Cluster side loads distributed indices </a:t>
            </a:r>
          </a:p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 DMA dispatch</a:t>
            </a:r>
          </a:p>
          <a:p>
            <a:pPr algn="ctr" defTabSz="720000"/>
            <a:r>
              <a:rPr lang="en-US" sz="12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</a:p>
          <a:p>
            <a:pPr algn="ctr" defTabSz="720000"/>
            <a:r>
              <a:rPr lang="en-US" sz="12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Specialized hardware for </a:t>
            </a:r>
          </a:p>
          <a:p>
            <a:pPr algn="ctr" defTabSz="720000"/>
            <a:r>
              <a:rPr lang="en-US" sz="12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sharing between endpoints</a:t>
            </a:r>
          </a:p>
          <a:p>
            <a:pPr algn="ctr" defTabSz="720000"/>
            <a:r>
              <a:rPr lang="en-US" sz="12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(might be expensive)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11F7F54-9121-CA3B-7546-4FA475228E60}"/>
              </a:ext>
            </a:extLst>
          </p:cNvPr>
          <p:cNvSpPr/>
          <p:nvPr/>
        </p:nvSpPr>
        <p:spPr>
          <a:xfrm>
            <a:off x="4139282" y="2178290"/>
            <a:ext cx="1613565" cy="516612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D0A1EC-EDE4-DEBB-B6EF-F9AC1B8B1DB1}"/>
              </a:ext>
            </a:extLst>
          </p:cNvPr>
          <p:cNvSpPr/>
          <p:nvPr/>
        </p:nvSpPr>
        <p:spPr>
          <a:xfrm>
            <a:off x="5928266" y="2154868"/>
            <a:ext cx="552765" cy="516612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A95D16-9A4A-47EF-AA19-C783F460916B}"/>
              </a:ext>
            </a:extLst>
          </p:cNvPr>
          <p:cNvCxnSpPr>
            <a:cxnSpLocks/>
          </p:cNvCxnSpPr>
          <p:nvPr/>
        </p:nvCxnSpPr>
        <p:spPr>
          <a:xfrm flipV="1">
            <a:off x="5021602" y="1973046"/>
            <a:ext cx="192295" cy="18182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90D082-FB1D-232A-6F76-9B11D8E9851C}"/>
              </a:ext>
            </a:extLst>
          </p:cNvPr>
          <p:cNvCxnSpPr>
            <a:cxnSpLocks/>
          </p:cNvCxnSpPr>
          <p:nvPr/>
        </p:nvCxnSpPr>
        <p:spPr>
          <a:xfrm flipH="1" flipV="1">
            <a:off x="6013884" y="2030651"/>
            <a:ext cx="108720" cy="14763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B7874DA-00BA-9C70-C3D3-D355B5DD05C4}"/>
              </a:ext>
            </a:extLst>
          </p:cNvPr>
          <p:cNvSpPr txBox="1"/>
          <p:nvPr/>
        </p:nvSpPr>
        <p:spPr>
          <a:xfrm>
            <a:off x="5090343" y="1793561"/>
            <a:ext cx="1274450" cy="222093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Sparse 1D DMA</a:t>
            </a:r>
            <a:endParaRPr lang="en-US" sz="1200" i="1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23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E5A81-7F4D-4137-1594-56FDE6E8F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1EEF-DABB-B227-02DC-4142DBCA5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83" y="196205"/>
            <a:ext cx="8000670" cy="492787"/>
          </a:xfrm>
        </p:spPr>
        <p:txBody>
          <a:bodyPr/>
          <a:lstStyle/>
          <a:p>
            <a:r>
              <a:rPr lang="en-US" altLang="zh-CN" dirty="0"/>
              <a:t>Overview Landscape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23B78-A841-79B8-79FB-0B29875034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9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97CF4F-23D1-14EA-D365-B00A3C20FF15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340B94-AA3A-D5F4-42EC-FC73D949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2272" y="591216"/>
            <a:ext cx="7248143" cy="415426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B4D1B6B-AF81-6486-5431-351F71ABC527}"/>
              </a:ext>
            </a:extLst>
          </p:cNvPr>
          <p:cNvSpPr/>
          <p:nvPr/>
        </p:nvSpPr>
        <p:spPr>
          <a:xfrm rot="18704995">
            <a:off x="3848946" y="3033531"/>
            <a:ext cx="1271278" cy="893347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0C9D5E-8E1D-E767-58DA-0669BFD028B9}"/>
              </a:ext>
            </a:extLst>
          </p:cNvPr>
          <p:cNvSpPr txBox="1"/>
          <p:nvPr/>
        </p:nvSpPr>
        <p:spPr>
          <a:xfrm>
            <a:off x="5362274" y="4034760"/>
            <a:ext cx="1909031" cy="2456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HPC application regime, EIADAS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EF4431-69CB-0CD2-6F0F-8917FFB0DF40}"/>
              </a:ext>
            </a:extLst>
          </p:cNvPr>
          <p:cNvCxnSpPr>
            <a:cxnSpLocks/>
          </p:cNvCxnSpPr>
          <p:nvPr/>
        </p:nvCxnSpPr>
        <p:spPr>
          <a:xfrm>
            <a:off x="4892949" y="3734431"/>
            <a:ext cx="666119" cy="27176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644ADDA-A68E-FAED-4F27-1DC4A263D759}"/>
              </a:ext>
            </a:extLst>
          </p:cNvPr>
          <p:cNvSpPr/>
          <p:nvPr/>
        </p:nvSpPr>
        <p:spPr>
          <a:xfrm>
            <a:off x="1068755" y="3118064"/>
            <a:ext cx="812625" cy="362140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48FB5F-0F75-5954-7A44-F73BAB0B09E9}"/>
              </a:ext>
            </a:extLst>
          </p:cNvPr>
          <p:cNvSpPr txBox="1"/>
          <p:nvPr/>
        </p:nvSpPr>
        <p:spPr>
          <a:xfrm>
            <a:off x="2442014" y="4160218"/>
            <a:ext cx="812625" cy="2456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Ventaglio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0DB399-7936-C2B5-F2CB-B48A351537BB}"/>
              </a:ext>
            </a:extLst>
          </p:cNvPr>
          <p:cNvCxnSpPr>
            <a:cxnSpLocks/>
          </p:cNvCxnSpPr>
          <p:nvPr/>
        </p:nvCxnSpPr>
        <p:spPr>
          <a:xfrm>
            <a:off x="2404106" y="4006199"/>
            <a:ext cx="248274" cy="12283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946F7B71-A672-32F1-0936-D2F380A64149}"/>
              </a:ext>
            </a:extLst>
          </p:cNvPr>
          <p:cNvSpPr/>
          <p:nvPr/>
        </p:nvSpPr>
        <p:spPr>
          <a:xfrm>
            <a:off x="1599212" y="3811907"/>
            <a:ext cx="812625" cy="362140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E02B84-9713-0007-0DDB-911D11109FF9}"/>
              </a:ext>
            </a:extLst>
          </p:cNvPr>
          <p:cNvSpPr txBox="1"/>
          <p:nvPr/>
        </p:nvSpPr>
        <p:spPr>
          <a:xfrm>
            <a:off x="1040613" y="3542982"/>
            <a:ext cx="1345174" cy="2456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Blocked index load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B7D265E-13EA-CCB4-C06B-306843AB4758}"/>
              </a:ext>
            </a:extLst>
          </p:cNvPr>
          <p:cNvCxnSpPr>
            <a:cxnSpLocks/>
          </p:cNvCxnSpPr>
          <p:nvPr/>
        </p:nvCxnSpPr>
        <p:spPr>
          <a:xfrm>
            <a:off x="1881380" y="3326185"/>
            <a:ext cx="41632" cy="21679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7031E98-DD07-F62B-EBB0-A5D904C58959}"/>
              </a:ext>
            </a:extLst>
          </p:cNvPr>
          <p:cNvSpPr txBox="1"/>
          <p:nvPr/>
        </p:nvSpPr>
        <p:spPr>
          <a:xfrm>
            <a:off x="2067774" y="1144881"/>
            <a:ext cx="1345174" cy="2456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Sparse DMA + controller </a:t>
            </a:r>
          </a:p>
          <a:p>
            <a:pPr algn="ctr" defTabSz="720000"/>
            <a:r>
              <a:rPr lang="en-US" sz="12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(coalescing, cache, </a:t>
            </a:r>
            <a:r>
              <a:rPr lang="en-US" sz="1200" i="1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etc</a:t>
            </a:r>
            <a:r>
              <a:rPr lang="en-US" sz="12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DBD62F26-B2F5-2887-D5A8-766384824EB0}"/>
              </a:ext>
            </a:extLst>
          </p:cNvPr>
          <p:cNvSpPr/>
          <p:nvPr/>
        </p:nvSpPr>
        <p:spPr>
          <a:xfrm>
            <a:off x="2101303" y="1471518"/>
            <a:ext cx="532896" cy="769065"/>
          </a:xfrm>
          <a:custGeom>
            <a:avLst/>
            <a:gdLst>
              <a:gd name="csX0" fmla="*/ 532896 w 532896"/>
              <a:gd name="csY0" fmla="*/ 0 h 769065"/>
              <a:gd name="csX1" fmla="*/ 532896 w 532896"/>
              <a:gd name="csY1" fmla="*/ 0 h 769065"/>
              <a:gd name="csX2" fmla="*/ 218003 w 532896"/>
              <a:gd name="csY2" fmla="*/ 72667 h 769065"/>
              <a:gd name="csX3" fmla="*/ 145335 w 532896"/>
              <a:gd name="csY3" fmla="*/ 133224 h 769065"/>
              <a:gd name="csX4" fmla="*/ 78723 w 532896"/>
              <a:gd name="csY4" fmla="*/ 205891 h 769065"/>
              <a:gd name="csX5" fmla="*/ 66612 w 532896"/>
              <a:gd name="csY5" fmla="*/ 218003 h 769065"/>
              <a:gd name="csX6" fmla="*/ 36334 w 532896"/>
              <a:gd name="csY6" fmla="*/ 266448 h 769065"/>
              <a:gd name="csX7" fmla="*/ 24223 w 532896"/>
              <a:gd name="csY7" fmla="*/ 302781 h 769065"/>
              <a:gd name="csX8" fmla="*/ 12112 w 532896"/>
              <a:gd name="csY8" fmla="*/ 320948 h 769065"/>
              <a:gd name="csX9" fmla="*/ 0 w 532896"/>
              <a:gd name="csY9" fmla="*/ 357282 h 769065"/>
              <a:gd name="csX10" fmla="*/ 6056 w 532896"/>
              <a:gd name="csY10" fmla="*/ 411783 h 769065"/>
              <a:gd name="csX11" fmla="*/ 12112 w 532896"/>
              <a:gd name="csY11" fmla="*/ 442061 h 769065"/>
              <a:gd name="csX12" fmla="*/ 18167 w 532896"/>
              <a:gd name="csY12" fmla="*/ 478395 h 769065"/>
              <a:gd name="csX13" fmla="*/ 12112 w 532896"/>
              <a:gd name="csY13" fmla="*/ 557118 h 769065"/>
              <a:gd name="csX14" fmla="*/ 6056 w 532896"/>
              <a:gd name="csY14" fmla="*/ 611618 h 769065"/>
              <a:gd name="csX15" fmla="*/ 18167 w 532896"/>
              <a:gd name="csY15" fmla="*/ 714564 h 769065"/>
              <a:gd name="csX16" fmla="*/ 12112 w 532896"/>
              <a:gd name="csY16" fmla="*/ 769065 h 769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32896" h="769065">
                <a:moveTo>
                  <a:pt x="532896" y="0"/>
                </a:moveTo>
                <a:lnTo>
                  <a:pt x="532896" y="0"/>
                </a:lnTo>
                <a:cubicBezTo>
                  <a:pt x="427932" y="24222"/>
                  <a:pt x="319875" y="37648"/>
                  <a:pt x="218003" y="72667"/>
                </a:cubicBezTo>
                <a:cubicBezTo>
                  <a:pt x="188185" y="82917"/>
                  <a:pt x="169806" y="113341"/>
                  <a:pt x="145335" y="133224"/>
                </a:cubicBezTo>
                <a:cubicBezTo>
                  <a:pt x="56057" y="205763"/>
                  <a:pt x="233675" y="50926"/>
                  <a:pt x="78723" y="205891"/>
                </a:cubicBezTo>
                <a:cubicBezTo>
                  <a:pt x="74686" y="209928"/>
                  <a:pt x="69779" y="213252"/>
                  <a:pt x="66612" y="218003"/>
                </a:cubicBezTo>
                <a:cubicBezTo>
                  <a:pt x="124" y="317737"/>
                  <a:pt x="115668" y="160668"/>
                  <a:pt x="36334" y="266448"/>
                </a:cubicBezTo>
                <a:cubicBezTo>
                  <a:pt x="32297" y="278559"/>
                  <a:pt x="31304" y="292159"/>
                  <a:pt x="24223" y="302781"/>
                </a:cubicBezTo>
                <a:cubicBezTo>
                  <a:pt x="20186" y="308837"/>
                  <a:pt x="15068" y="314297"/>
                  <a:pt x="12112" y="320948"/>
                </a:cubicBezTo>
                <a:cubicBezTo>
                  <a:pt x="6927" y="332614"/>
                  <a:pt x="0" y="357282"/>
                  <a:pt x="0" y="357282"/>
                </a:cubicBezTo>
                <a:cubicBezTo>
                  <a:pt x="2019" y="375449"/>
                  <a:pt x="3471" y="393688"/>
                  <a:pt x="6056" y="411783"/>
                </a:cubicBezTo>
                <a:cubicBezTo>
                  <a:pt x="7512" y="421972"/>
                  <a:pt x="10271" y="431934"/>
                  <a:pt x="12112" y="442061"/>
                </a:cubicBezTo>
                <a:cubicBezTo>
                  <a:pt x="14308" y="454141"/>
                  <a:pt x="16149" y="466284"/>
                  <a:pt x="18167" y="478395"/>
                </a:cubicBezTo>
                <a:cubicBezTo>
                  <a:pt x="16149" y="504636"/>
                  <a:pt x="14495" y="530908"/>
                  <a:pt x="12112" y="557118"/>
                </a:cubicBezTo>
                <a:cubicBezTo>
                  <a:pt x="10457" y="575321"/>
                  <a:pt x="6056" y="593340"/>
                  <a:pt x="6056" y="611618"/>
                </a:cubicBezTo>
                <a:cubicBezTo>
                  <a:pt x="6056" y="659986"/>
                  <a:pt x="10272" y="675084"/>
                  <a:pt x="18167" y="714564"/>
                </a:cubicBezTo>
                <a:cubicBezTo>
                  <a:pt x="11862" y="765012"/>
                  <a:pt x="12112" y="746735"/>
                  <a:pt x="12112" y="769065"/>
                </a:cubicBezTo>
              </a:path>
            </a:pathLst>
          </a:cu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9C6A8FE4-C047-EA66-E50A-74222694AD6C}"/>
              </a:ext>
            </a:extLst>
          </p:cNvPr>
          <p:cNvSpPr/>
          <p:nvPr/>
        </p:nvSpPr>
        <p:spPr>
          <a:xfrm>
            <a:off x="2210305" y="1665298"/>
            <a:ext cx="2858257" cy="1816689"/>
          </a:xfrm>
          <a:custGeom>
            <a:avLst/>
            <a:gdLst>
              <a:gd name="csX0" fmla="*/ 532895 w 2858257"/>
              <a:gd name="csY0" fmla="*/ 84779 h 1816689"/>
              <a:gd name="csX1" fmla="*/ 532895 w 2858257"/>
              <a:gd name="csY1" fmla="*/ 84779 h 1816689"/>
              <a:gd name="csX2" fmla="*/ 472339 w 2858257"/>
              <a:gd name="csY2" fmla="*/ 90834 h 1816689"/>
              <a:gd name="csX3" fmla="*/ 314892 w 2858257"/>
              <a:gd name="csY3" fmla="*/ 96890 h 1816689"/>
              <a:gd name="csX4" fmla="*/ 272503 w 2858257"/>
              <a:gd name="csY4" fmla="*/ 109001 h 1816689"/>
              <a:gd name="csX5" fmla="*/ 242225 w 2858257"/>
              <a:gd name="csY5" fmla="*/ 139279 h 1816689"/>
              <a:gd name="csX6" fmla="*/ 205891 w 2858257"/>
              <a:gd name="csY6" fmla="*/ 169558 h 1816689"/>
              <a:gd name="csX7" fmla="*/ 181669 w 2858257"/>
              <a:gd name="csY7" fmla="*/ 224058 h 1816689"/>
              <a:gd name="csX8" fmla="*/ 169557 w 2858257"/>
              <a:gd name="csY8" fmla="*/ 254336 h 1816689"/>
              <a:gd name="csX9" fmla="*/ 157446 w 2858257"/>
              <a:gd name="csY9" fmla="*/ 327004 h 1816689"/>
              <a:gd name="csX10" fmla="*/ 145335 w 2858257"/>
              <a:gd name="csY10" fmla="*/ 375449 h 1816689"/>
              <a:gd name="csX11" fmla="*/ 139279 w 2858257"/>
              <a:gd name="csY11" fmla="*/ 393616 h 1816689"/>
              <a:gd name="csX12" fmla="*/ 133223 w 2858257"/>
              <a:gd name="csY12" fmla="*/ 423894 h 1816689"/>
              <a:gd name="csX13" fmla="*/ 127168 w 2858257"/>
              <a:gd name="csY13" fmla="*/ 563174 h 1816689"/>
              <a:gd name="csX14" fmla="*/ 115057 w 2858257"/>
              <a:gd name="csY14" fmla="*/ 605563 h 1816689"/>
              <a:gd name="csX15" fmla="*/ 96890 w 2858257"/>
              <a:gd name="csY15" fmla="*/ 654008 h 1816689"/>
              <a:gd name="csX16" fmla="*/ 84778 w 2858257"/>
              <a:gd name="csY16" fmla="*/ 738787 h 1816689"/>
              <a:gd name="csX17" fmla="*/ 78723 w 2858257"/>
              <a:gd name="csY17" fmla="*/ 769065 h 1816689"/>
              <a:gd name="csX18" fmla="*/ 72667 w 2858257"/>
              <a:gd name="csY18" fmla="*/ 829621 h 1816689"/>
              <a:gd name="csX19" fmla="*/ 60556 w 2858257"/>
              <a:gd name="csY19" fmla="*/ 884122 h 1816689"/>
              <a:gd name="csX20" fmla="*/ 48445 w 2858257"/>
              <a:gd name="csY20" fmla="*/ 938623 h 1816689"/>
              <a:gd name="csX21" fmla="*/ 42389 w 2858257"/>
              <a:gd name="csY21" fmla="*/ 956789 h 1816689"/>
              <a:gd name="csX22" fmla="*/ 24222 w 2858257"/>
              <a:gd name="csY22" fmla="*/ 1077902 h 1816689"/>
              <a:gd name="csX23" fmla="*/ 12111 w 2858257"/>
              <a:gd name="csY23" fmla="*/ 1138458 h 1816689"/>
              <a:gd name="csX24" fmla="*/ 0 w 2858257"/>
              <a:gd name="csY24" fmla="*/ 1186903 h 1816689"/>
              <a:gd name="csX25" fmla="*/ 6055 w 2858257"/>
              <a:gd name="csY25" fmla="*/ 1362517 h 1816689"/>
              <a:gd name="csX26" fmla="*/ 18167 w 2858257"/>
              <a:gd name="csY26" fmla="*/ 1459407 h 1816689"/>
              <a:gd name="csX27" fmla="*/ 24222 w 2858257"/>
              <a:gd name="csY27" fmla="*/ 1659242 h 1816689"/>
              <a:gd name="csX28" fmla="*/ 60556 w 2858257"/>
              <a:gd name="csY28" fmla="*/ 1707687 h 1816689"/>
              <a:gd name="csX29" fmla="*/ 109001 w 2858257"/>
              <a:gd name="csY29" fmla="*/ 1731910 h 1816689"/>
              <a:gd name="csX30" fmla="*/ 127168 w 2858257"/>
              <a:gd name="csY30" fmla="*/ 1744021 h 1816689"/>
              <a:gd name="csX31" fmla="*/ 193780 w 2858257"/>
              <a:gd name="csY31" fmla="*/ 1756132 h 1816689"/>
              <a:gd name="csX32" fmla="*/ 211947 w 2858257"/>
              <a:gd name="csY32" fmla="*/ 1768244 h 1816689"/>
              <a:gd name="csX33" fmla="*/ 254336 w 2858257"/>
              <a:gd name="csY33" fmla="*/ 1780355 h 1816689"/>
              <a:gd name="csX34" fmla="*/ 333059 w 2858257"/>
              <a:gd name="csY34" fmla="*/ 1780355 h 1816689"/>
              <a:gd name="csX35" fmla="*/ 369393 w 2858257"/>
              <a:gd name="csY35" fmla="*/ 1792466 h 1816689"/>
              <a:gd name="csX36" fmla="*/ 411782 w 2858257"/>
              <a:gd name="csY36" fmla="*/ 1804577 h 1816689"/>
              <a:gd name="csX37" fmla="*/ 429949 w 2858257"/>
              <a:gd name="csY37" fmla="*/ 1810633 h 1816689"/>
              <a:gd name="csX38" fmla="*/ 496561 w 2858257"/>
              <a:gd name="csY38" fmla="*/ 1816689 h 1816689"/>
              <a:gd name="csX39" fmla="*/ 684286 w 2858257"/>
              <a:gd name="csY39" fmla="*/ 1810633 h 1816689"/>
              <a:gd name="csX40" fmla="*/ 726675 w 2858257"/>
              <a:gd name="csY40" fmla="*/ 1798522 h 1816689"/>
              <a:gd name="csX41" fmla="*/ 805398 w 2858257"/>
              <a:gd name="csY41" fmla="*/ 1780355 h 1816689"/>
              <a:gd name="csX42" fmla="*/ 853843 w 2858257"/>
              <a:gd name="csY42" fmla="*/ 1768244 h 1816689"/>
              <a:gd name="csX43" fmla="*/ 884121 w 2858257"/>
              <a:gd name="csY43" fmla="*/ 1756132 h 1816689"/>
              <a:gd name="csX44" fmla="*/ 932567 w 2858257"/>
              <a:gd name="csY44" fmla="*/ 1744021 h 1816689"/>
              <a:gd name="csX45" fmla="*/ 950733 w 2858257"/>
              <a:gd name="csY45" fmla="*/ 1737966 h 1816689"/>
              <a:gd name="csX46" fmla="*/ 974956 w 2858257"/>
              <a:gd name="csY46" fmla="*/ 1731910 h 1816689"/>
              <a:gd name="csX47" fmla="*/ 1005234 w 2858257"/>
              <a:gd name="csY47" fmla="*/ 1719799 h 1816689"/>
              <a:gd name="csX48" fmla="*/ 1029457 w 2858257"/>
              <a:gd name="csY48" fmla="*/ 1713743 h 1816689"/>
              <a:gd name="csX49" fmla="*/ 1065790 w 2858257"/>
              <a:gd name="csY49" fmla="*/ 1701632 h 1816689"/>
              <a:gd name="csX50" fmla="*/ 1083957 w 2858257"/>
              <a:gd name="csY50" fmla="*/ 1695576 h 1816689"/>
              <a:gd name="csX51" fmla="*/ 1132402 w 2858257"/>
              <a:gd name="csY51" fmla="*/ 1659242 h 1816689"/>
              <a:gd name="csX52" fmla="*/ 1168736 w 2858257"/>
              <a:gd name="csY52" fmla="*/ 1635020 h 1816689"/>
              <a:gd name="csX53" fmla="*/ 1217181 w 2858257"/>
              <a:gd name="csY53" fmla="*/ 1598686 h 1816689"/>
              <a:gd name="csX54" fmla="*/ 1247459 w 2858257"/>
              <a:gd name="csY54" fmla="*/ 1586575 h 1816689"/>
              <a:gd name="csX55" fmla="*/ 1277737 w 2858257"/>
              <a:gd name="csY55" fmla="*/ 1580519 h 1816689"/>
              <a:gd name="csX56" fmla="*/ 1295904 w 2858257"/>
              <a:gd name="csY56" fmla="*/ 1574464 h 1816689"/>
              <a:gd name="csX57" fmla="*/ 1314071 w 2858257"/>
              <a:gd name="csY57" fmla="*/ 1556297 h 1816689"/>
              <a:gd name="csX58" fmla="*/ 1326182 w 2858257"/>
              <a:gd name="csY58" fmla="*/ 1538130 h 1816689"/>
              <a:gd name="csX59" fmla="*/ 1362516 w 2858257"/>
              <a:gd name="csY59" fmla="*/ 1513907 h 1816689"/>
              <a:gd name="csX60" fmla="*/ 1417017 w 2858257"/>
              <a:gd name="csY60" fmla="*/ 1471518 h 1816689"/>
              <a:gd name="csX61" fmla="*/ 1435184 w 2858257"/>
              <a:gd name="csY61" fmla="*/ 1465462 h 1816689"/>
              <a:gd name="csX62" fmla="*/ 1489684 w 2858257"/>
              <a:gd name="csY62" fmla="*/ 1429128 h 1816689"/>
              <a:gd name="csX63" fmla="*/ 1507851 w 2858257"/>
              <a:gd name="csY63" fmla="*/ 1417017 h 1816689"/>
              <a:gd name="csX64" fmla="*/ 1544185 w 2858257"/>
              <a:gd name="csY64" fmla="*/ 1404906 h 1816689"/>
              <a:gd name="csX65" fmla="*/ 1610797 w 2858257"/>
              <a:gd name="csY65" fmla="*/ 1386739 h 1816689"/>
              <a:gd name="csX66" fmla="*/ 1671353 w 2858257"/>
              <a:gd name="csY66" fmla="*/ 1362517 h 1816689"/>
              <a:gd name="csX67" fmla="*/ 1713743 w 2858257"/>
              <a:gd name="csY67" fmla="*/ 1338294 h 1816689"/>
              <a:gd name="csX68" fmla="*/ 1744021 w 2858257"/>
              <a:gd name="csY68" fmla="*/ 1320127 h 1816689"/>
              <a:gd name="csX69" fmla="*/ 1768243 w 2858257"/>
              <a:gd name="csY69" fmla="*/ 1308016 h 1816689"/>
              <a:gd name="csX70" fmla="*/ 1816688 w 2858257"/>
              <a:gd name="csY70" fmla="*/ 1289849 h 1816689"/>
              <a:gd name="csX71" fmla="*/ 1834855 w 2858257"/>
              <a:gd name="csY71" fmla="*/ 1277738 h 1816689"/>
              <a:gd name="csX72" fmla="*/ 1895412 w 2858257"/>
              <a:gd name="csY72" fmla="*/ 1241404 h 1816689"/>
              <a:gd name="csX73" fmla="*/ 1919634 w 2858257"/>
              <a:gd name="csY73" fmla="*/ 1205070 h 1816689"/>
              <a:gd name="csX74" fmla="*/ 1992302 w 2858257"/>
              <a:gd name="csY74" fmla="*/ 1199015 h 1816689"/>
              <a:gd name="csX75" fmla="*/ 2022580 w 2858257"/>
              <a:gd name="csY75" fmla="*/ 1192959 h 1816689"/>
              <a:gd name="csX76" fmla="*/ 2064969 w 2858257"/>
              <a:gd name="csY76" fmla="*/ 1186903 h 1816689"/>
              <a:gd name="csX77" fmla="*/ 2101303 w 2858257"/>
              <a:gd name="csY77" fmla="*/ 1174792 h 1816689"/>
              <a:gd name="csX78" fmla="*/ 2167915 w 2858257"/>
              <a:gd name="csY78" fmla="*/ 1162681 h 1816689"/>
              <a:gd name="csX79" fmla="*/ 2198193 w 2858257"/>
              <a:gd name="csY79" fmla="*/ 1156625 h 1816689"/>
              <a:gd name="csX80" fmla="*/ 2216360 w 2858257"/>
              <a:gd name="csY80" fmla="*/ 1150570 h 1816689"/>
              <a:gd name="csX81" fmla="*/ 2289027 w 2858257"/>
              <a:gd name="csY81" fmla="*/ 1138458 h 1816689"/>
              <a:gd name="csX82" fmla="*/ 2355639 w 2858257"/>
              <a:gd name="csY82" fmla="*/ 1120291 h 1816689"/>
              <a:gd name="csX83" fmla="*/ 2434363 w 2858257"/>
              <a:gd name="csY83" fmla="*/ 1108180 h 1816689"/>
              <a:gd name="csX84" fmla="*/ 2488863 w 2858257"/>
              <a:gd name="csY84" fmla="*/ 1096069 h 1816689"/>
              <a:gd name="csX85" fmla="*/ 2634198 w 2858257"/>
              <a:gd name="csY85" fmla="*/ 1083958 h 1816689"/>
              <a:gd name="csX86" fmla="*/ 2700810 w 2858257"/>
              <a:gd name="csY86" fmla="*/ 1071846 h 1816689"/>
              <a:gd name="csX87" fmla="*/ 2755311 w 2858257"/>
              <a:gd name="csY87" fmla="*/ 1065791 h 1816689"/>
              <a:gd name="csX88" fmla="*/ 2815867 w 2858257"/>
              <a:gd name="csY88" fmla="*/ 1053679 h 1816689"/>
              <a:gd name="csX89" fmla="*/ 2840090 w 2858257"/>
              <a:gd name="csY89" fmla="*/ 1005234 h 1816689"/>
              <a:gd name="csX90" fmla="*/ 2846145 w 2858257"/>
              <a:gd name="csY90" fmla="*/ 974956 h 1816689"/>
              <a:gd name="csX91" fmla="*/ 2852201 w 2858257"/>
              <a:gd name="csY91" fmla="*/ 956789 h 1816689"/>
              <a:gd name="csX92" fmla="*/ 2858257 w 2858257"/>
              <a:gd name="csY92" fmla="*/ 932567 h 1816689"/>
              <a:gd name="csX93" fmla="*/ 2846145 w 2858257"/>
              <a:gd name="csY93" fmla="*/ 841732 h 1816689"/>
              <a:gd name="csX94" fmla="*/ 2821923 w 2858257"/>
              <a:gd name="csY94" fmla="*/ 805399 h 1816689"/>
              <a:gd name="csX95" fmla="*/ 2797700 w 2858257"/>
              <a:gd name="csY95" fmla="*/ 781176 h 1816689"/>
              <a:gd name="csX96" fmla="*/ 2779533 w 2858257"/>
              <a:gd name="csY96" fmla="*/ 763009 h 1816689"/>
              <a:gd name="csX97" fmla="*/ 2743200 w 2858257"/>
              <a:gd name="csY97" fmla="*/ 714564 h 1816689"/>
              <a:gd name="csX98" fmla="*/ 2731088 w 2858257"/>
              <a:gd name="csY98" fmla="*/ 666119 h 1816689"/>
              <a:gd name="csX99" fmla="*/ 2725033 w 2858257"/>
              <a:gd name="csY99" fmla="*/ 647952 h 1816689"/>
              <a:gd name="csX100" fmla="*/ 2718977 w 2858257"/>
              <a:gd name="csY100" fmla="*/ 623730 h 1816689"/>
              <a:gd name="csX101" fmla="*/ 2706866 w 2858257"/>
              <a:gd name="csY101" fmla="*/ 575285 h 1816689"/>
              <a:gd name="csX102" fmla="*/ 2694755 w 2858257"/>
              <a:gd name="csY102" fmla="*/ 460228 h 1816689"/>
              <a:gd name="csX103" fmla="*/ 2682643 w 2858257"/>
              <a:gd name="csY103" fmla="*/ 417838 h 1816689"/>
              <a:gd name="csX104" fmla="*/ 2670532 w 2858257"/>
              <a:gd name="csY104" fmla="*/ 351227 h 1816689"/>
              <a:gd name="csX105" fmla="*/ 2658421 w 2858257"/>
              <a:gd name="csY105" fmla="*/ 260392 h 1816689"/>
              <a:gd name="csX106" fmla="*/ 2646310 w 2858257"/>
              <a:gd name="csY106" fmla="*/ 242225 h 1816689"/>
              <a:gd name="csX107" fmla="*/ 2634198 w 2858257"/>
              <a:gd name="csY107" fmla="*/ 205891 h 1816689"/>
              <a:gd name="csX108" fmla="*/ 2628143 w 2858257"/>
              <a:gd name="csY108" fmla="*/ 187725 h 1816689"/>
              <a:gd name="csX109" fmla="*/ 2616031 w 2858257"/>
              <a:gd name="csY109" fmla="*/ 175613 h 1816689"/>
              <a:gd name="csX110" fmla="*/ 2603920 w 2858257"/>
              <a:gd name="csY110" fmla="*/ 139279 h 1816689"/>
              <a:gd name="csX111" fmla="*/ 2585753 w 2858257"/>
              <a:gd name="csY111" fmla="*/ 127168 h 1816689"/>
              <a:gd name="csX112" fmla="*/ 2567586 w 2858257"/>
              <a:gd name="csY112" fmla="*/ 109001 h 1816689"/>
              <a:gd name="csX113" fmla="*/ 2531253 w 2858257"/>
              <a:gd name="csY113" fmla="*/ 96890 h 1816689"/>
              <a:gd name="csX114" fmla="*/ 2507030 w 2858257"/>
              <a:gd name="csY114" fmla="*/ 90834 h 1816689"/>
              <a:gd name="csX115" fmla="*/ 2464641 w 2858257"/>
              <a:gd name="csY115" fmla="*/ 84779 h 1816689"/>
              <a:gd name="csX116" fmla="*/ 2428307 w 2858257"/>
              <a:gd name="csY116" fmla="*/ 78723 h 1816689"/>
              <a:gd name="csX117" fmla="*/ 2204249 w 2858257"/>
              <a:gd name="csY117" fmla="*/ 90834 h 1816689"/>
              <a:gd name="csX118" fmla="*/ 2034691 w 2858257"/>
              <a:gd name="csY118" fmla="*/ 84779 h 1816689"/>
              <a:gd name="csX119" fmla="*/ 1974135 w 2858257"/>
              <a:gd name="csY119" fmla="*/ 78723 h 1816689"/>
              <a:gd name="csX120" fmla="*/ 1865133 w 2858257"/>
              <a:gd name="csY120" fmla="*/ 72668 h 1816689"/>
              <a:gd name="csX121" fmla="*/ 1834855 w 2858257"/>
              <a:gd name="csY121" fmla="*/ 66612 h 1816689"/>
              <a:gd name="csX122" fmla="*/ 1792466 w 2858257"/>
              <a:gd name="csY122" fmla="*/ 60556 h 1816689"/>
              <a:gd name="csX123" fmla="*/ 1665298 w 2858257"/>
              <a:gd name="csY123" fmla="*/ 48445 h 1816689"/>
              <a:gd name="csX124" fmla="*/ 1628964 w 2858257"/>
              <a:gd name="csY124" fmla="*/ 42389 h 1816689"/>
              <a:gd name="csX125" fmla="*/ 1586574 w 2858257"/>
              <a:gd name="csY125" fmla="*/ 36334 h 1816689"/>
              <a:gd name="csX126" fmla="*/ 1519963 w 2858257"/>
              <a:gd name="csY126" fmla="*/ 30278 h 1816689"/>
              <a:gd name="csX127" fmla="*/ 1465462 w 2858257"/>
              <a:gd name="csY127" fmla="*/ 24223 h 1816689"/>
              <a:gd name="csX128" fmla="*/ 1417017 w 2858257"/>
              <a:gd name="csY128" fmla="*/ 18167 h 1816689"/>
              <a:gd name="csX129" fmla="*/ 1374627 w 2858257"/>
              <a:gd name="csY129" fmla="*/ 12111 h 1816689"/>
              <a:gd name="csX130" fmla="*/ 1199014 w 2858257"/>
              <a:gd name="csY130" fmla="*/ 0 h 1816689"/>
              <a:gd name="csX131" fmla="*/ 974956 w 2858257"/>
              <a:gd name="csY131" fmla="*/ 6056 h 1816689"/>
              <a:gd name="csX132" fmla="*/ 914400 w 2858257"/>
              <a:gd name="csY132" fmla="*/ 12111 h 1816689"/>
              <a:gd name="csX133" fmla="*/ 829621 w 2858257"/>
              <a:gd name="csY133" fmla="*/ 24223 h 1816689"/>
              <a:gd name="csX134" fmla="*/ 787231 w 2858257"/>
              <a:gd name="csY134" fmla="*/ 36334 h 1816689"/>
              <a:gd name="csX135" fmla="*/ 756953 w 2858257"/>
              <a:gd name="csY135" fmla="*/ 42389 h 1816689"/>
              <a:gd name="csX136" fmla="*/ 732731 w 2858257"/>
              <a:gd name="csY136" fmla="*/ 48445 h 1816689"/>
              <a:gd name="csX137" fmla="*/ 696397 w 2858257"/>
              <a:gd name="csY137" fmla="*/ 60556 h 1816689"/>
              <a:gd name="csX138" fmla="*/ 617674 w 2858257"/>
              <a:gd name="csY138" fmla="*/ 72668 h 1816689"/>
              <a:gd name="csX139" fmla="*/ 557118 w 2858257"/>
              <a:gd name="csY139" fmla="*/ 84779 h 1816689"/>
              <a:gd name="csX140" fmla="*/ 532895 w 2858257"/>
              <a:gd name="csY140" fmla="*/ 84779 h 1816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</a:cxnLst>
            <a:rect l="l" t="t" r="r" b="b"/>
            <a:pathLst>
              <a:path w="2858257" h="1816689">
                <a:moveTo>
                  <a:pt x="532895" y="84779"/>
                </a:moveTo>
                <a:lnTo>
                  <a:pt x="532895" y="84779"/>
                </a:lnTo>
                <a:cubicBezTo>
                  <a:pt x="512710" y="86797"/>
                  <a:pt x="492594" y="89709"/>
                  <a:pt x="472339" y="90834"/>
                </a:cubicBezTo>
                <a:cubicBezTo>
                  <a:pt x="419899" y="93747"/>
                  <a:pt x="367297" y="93396"/>
                  <a:pt x="314892" y="96890"/>
                </a:cubicBezTo>
                <a:cubicBezTo>
                  <a:pt x="305393" y="97523"/>
                  <a:pt x="282524" y="105661"/>
                  <a:pt x="272503" y="109001"/>
                </a:cubicBezTo>
                <a:cubicBezTo>
                  <a:pt x="262410" y="119094"/>
                  <a:pt x="253644" y="130715"/>
                  <a:pt x="242225" y="139279"/>
                </a:cubicBezTo>
                <a:cubicBezTo>
                  <a:pt x="230443" y="148115"/>
                  <a:pt x="215517" y="157525"/>
                  <a:pt x="205891" y="169558"/>
                </a:cubicBezTo>
                <a:cubicBezTo>
                  <a:pt x="187249" y="192861"/>
                  <a:pt x="195116" y="190443"/>
                  <a:pt x="181669" y="224058"/>
                </a:cubicBezTo>
                <a:lnTo>
                  <a:pt x="169557" y="254336"/>
                </a:lnTo>
                <a:cubicBezTo>
                  <a:pt x="165520" y="278559"/>
                  <a:pt x="165212" y="303708"/>
                  <a:pt x="157446" y="327004"/>
                </a:cubicBezTo>
                <a:cubicBezTo>
                  <a:pt x="143603" y="368531"/>
                  <a:pt x="159950" y="316989"/>
                  <a:pt x="145335" y="375449"/>
                </a:cubicBezTo>
                <a:cubicBezTo>
                  <a:pt x="143787" y="381642"/>
                  <a:pt x="140827" y="387423"/>
                  <a:pt x="139279" y="393616"/>
                </a:cubicBezTo>
                <a:cubicBezTo>
                  <a:pt x="136783" y="403601"/>
                  <a:pt x="135242" y="413801"/>
                  <a:pt x="133223" y="423894"/>
                </a:cubicBezTo>
                <a:cubicBezTo>
                  <a:pt x="131205" y="470321"/>
                  <a:pt x="130601" y="516830"/>
                  <a:pt x="127168" y="563174"/>
                </a:cubicBezTo>
                <a:cubicBezTo>
                  <a:pt x="126222" y="575943"/>
                  <a:pt x="118637" y="593034"/>
                  <a:pt x="115057" y="605563"/>
                </a:cubicBezTo>
                <a:cubicBezTo>
                  <a:pt x="104065" y="644036"/>
                  <a:pt x="115702" y="616382"/>
                  <a:pt x="96890" y="654008"/>
                </a:cubicBezTo>
                <a:cubicBezTo>
                  <a:pt x="92853" y="682268"/>
                  <a:pt x="90376" y="710795"/>
                  <a:pt x="84778" y="738787"/>
                </a:cubicBezTo>
                <a:cubicBezTo>
                  <a:pt x="82760" y="748880"/>
                  <a:pt x="80083" y="758863"/>
                  <a:pt x="78723" y="769065"/>
                </a:cubicBezTo>
                <a:cubicBezTo>
                  <a:pt x="76042" y="789173"/>
                  <a:pt x="75348" y="809513"/>
                  <a:pt x="72667" y="829621"/>
                </a:cubicBezTo>
                <a:cubicBezTo>
                  <a:pt x="69622" y="852460"/>
                  <a:pt x="65355" y="862529"/>
                  <a:pt x="60556" y="884122"/>
                </a:cubicBezTo>
                <a:cubicBezTo>
                  <a:pt x="54317" y="912197"/>
                  <a:pt x="55824" y="912795"/>
                  <a:pt x="48445" y="938623"/>
                </a:cubicBezTo>
                <a:cubicBezTo>
                  <a:pt x="46691" y="944760"/>
                  <a:pt x="43937" y="950597"/>
                  <a:pt x="42389" y="956789"/>
                </a:cubicBezTo>
                <a:cubicBezTo>
                  <a:pt x="32461" y="996500"/>
                  <a:pt x="31319" y="1037687"/>
                  <a:pt x="24222" y="1077902"/>
                </a:cubicBezTo>
                <a:cubicBezTo>
                  <a:pt x="20645" y="1098174"/>
                  <a:pt x="18621" y="1118929"/>
                  <a:pt x="12111" y="1138458"/>
                </a:cubicBezTo>
                <a:cubicBezTo>
                  <a:pt x="2800" y="1166389"/>
                  <a:pt x="7307" y="1150366"/>
                  <a:pt x="0" y="1186903"/>
                </a:cubicBezTo>
                <a:cubicBezTo>
                  <a:pt x="2018" y="1245441"/>
                  <a:pt x="2977" y="1304025"/>
                  <a:pt x="6055" y="1362517"/>
                </a:cubicBezTo>
                <a:cubicBezTo>
                  <a:pt x="7327" y="1386681"/>
                  <a:pt x="14493" y="1433689"/>
                  <a:pt x="18167" y="1459407"/>
                </a:cubicBezTo>
                <a:cubicBezTo>
                  <a:pt x="20185" y="1526019"/>
                  <a:pt x="20525" y="1592702"/>
                  <a:pt x="24222" y="1659242"/>
                </a:cubicBezTo>
                <a:cubicBezTo>
                  <a:pt x="25465" y="1681623"/>
                  <a:pt x="46618" y="1693749"/>
                  <a:pt x="60556" y="1707687"/>
                </a:cubicBezTo>
                <a:cubicBezTo>
                  <a:pt x="100366" y="1747498"/>
                  <a:pt x="25498" y="1676243"/>
                  <a:pt x="109001" y="1731910"/>
                </a:cubicBezTo>
                <a:cubicBezTo>
                  <a:pt x="115057" y="1735947"/>
                  <a:pt x="120658" y="1740766"/>
                  <a:pt x="127168" y="1744021"/>
                </a:cubicBezTo>
                <a:cubicBezTo>
                  <a:pt x="145840" y="1753357"/>
                  <a:pt x="177074" y="1754044"/>
                  <a:pt x="193780" y="1756132"/>
                </a:cubicBezTo>
                <a:cubicBezTo>
                  <a:pt x="199836" y="1760169"/>
                  <a:pt x="205437" y="1764989"/>
                  <a:pt x="211947" y="1768244"/>
                </a:cubicBezTo>
                <a:cubicBezTo>
                  <a:pt x="220629" y="1772585"/>
                  <a:pt x="246582" y="1778416"/>
                  <a:pt x="254336" y="1780355"/>
                </a:cubicBezTo>
                <a:cubicBezTo>
                  <a:pt x="294371" y="1773682"/>
                  <a:pt x="290579" y="1770552"/>
                  <a:pt x="333059" y="1780355"/>
                </a:cubicBezTo>
                <a:cubicBezTo>
                  <a:pt x="345498" y="1783226"/>
                  <a:pt x="357282" y="1788429"/>
                  <a:pt x="369393" y="1792466"/>
                </a:cubicBezTo>
                <a:cubicBezTo>
                  <a:pt x="412969" y="1806991"/>
                  <a:pt x="358534" y="1789363"/>
                  <a:pt x="411782" y="1804577"/>
                </a:cubicBezTo>
                <a:cubicBezTo>
                  <a:pt x="417920" y="1806331"/>
                  <a:pt x="423630" y="1809730"/>
                  <a:pt x="429949" y="1810633"/>
                </a:cubicBezTo>
                <a:cubicBezTo>
                  <a:pt x="452020" y="1813786"/>
                  <a:pt x="474357" y="1814670"/>
                  <a:pt x="496561" y="1816689"/>
                </a:cubicBezTo>
                <a:cubicBezTo>
                  <a:pt x="559136" y="1814670"/>
                  <a:pt x="621780" y="1814205"/>
                  <a:pt x="684286" y="1810633"/>
                </a:cubicBezTo>
                <a:cubicBezTo>
                  <a:pt x="697038" y="1809904"/>
                  <a:pt x="714159" y="1801935"/>
                  <a:pt x="726675" y="1798522"/>
                </a:cubicBezTo>
                <a:cubicBezTo>
                  <a:pt x="808722" y="1776147"/>
                  <a:pt x="744195" y="1794479"/>
                  <a:pt x="805398" y="1780355"/>
                </a:cubicBezTo>
                <a:cubicBezTo>
                  <a:pt x="821617" y="1776612"/>
                  <a:pt x="838388" y="1774426"/>
                  <a:pt x="853843" y="1768244"/>
                </a:cubicBezTo>
                <a:cubicBezTo>
                  <a:pt x="863936" y="1764207"/>
                  <a:pt x="873731" y="1759329"/>
                  <a:pt x="884121" y="1756132"/>
                </a:cubicBezTo>
                <a:cubicBezTo>
                  <a:pt x="900031" y="1751237"/>
                  <a:pt x="916775" y="1749285"/>
                  <a:pt x="932567" y="1744021"/>
                </a:cubicBezTo>
                <a:cubicBezTo>
                  <a:pt x="938622" y="1742003"/>
                  <a:pt x="944596" y="1739719"/>
                  <a:pt x="950733" y="1737966"/>
                </a:cubicBezTo>
                <a:cubicBezTo>
                  <a:pt x="958736" y="1735680"/>
                  <a:pt x="967060" y="1734542"/>
                  <a:pt x="974956" y="1731910"/>
                </a:cubicBezTo>
                <a:cubicBezTo>
                  <a:pt x="985268" y="1728473"/>
                  <a:pt x="994922" y="1723236"/>
                  <a:pt x="1005234" y="1719799"/>
                </a:cubicBezTo>
                <a:cubicBezTo>
                  <a:pt x="1013130" y="1717167"/>
                  <a:pt x="1021485" y="1716135"/>
                  <a:pt x="1029457" y="1713743"/>
                </a:cubicBezTo>
                <a:cubicBezTo>
                  <a:pt x="1041685" y="1710075"/>
                  <a:pt x="1053679" y="1705669"/>
                  <a:pt x="1065790" y="1701632"/>
                </a:cubicBezTo>
                <a:lnTo>
                  <a:pt x="1083957" y="1695576"/>
                </a:lnTo>
                <a:cubicBezTo>
                  <a:pt x="1100105" y="1683465"/>
                  <a:pt x="1115607" y="1670439"/>
                  <a:pt x="1132402" y="1659242"/>
                </a:cubicBezTo>
                <a:cubicBezTo>
                  <a:pt x="1144513" y="1651168"/>
                  <a:pt x="1157370" y="1644113"/>
                  <a:pt x="1168736" y="1635020"/>
                </a:cubicBezTo>
                <a:cubicBezTo>
                  <a:pt x="1176167" y="1629075"/>
                  <a:pt x="1204325" y="1605114"/>
                  <a:pt x="1217181" y="1598686"/>
                </a:cubicBezTo>
                <a:cubicBezTo>
                  <a:pt x="1226904" y="1593825"/>
                  <a:pt x="1237047" y="1589699"/>
                  <a:pt x="1247459" y="1586575"/>
                </a:cubicBezTo>
                <a:cubicBezTo>
                  <a:pt x="1257317" y="1583617"/>
                  <a:pt x="1267752" y="1583015"/>
                  <a:pt x="1277737" y="1580519"/>
                </a:cubicBezTo>
                <a:cubicBezTo>
                  <a:pt x="1283930" y="1578971"/>
                  <a:pt x="1289848" y="1576482"/>
                  <a:pt x="1295904" y="1574464"/>
                </a:cubicBezTo>
                <a:cubicBezTo>
                  <a:pt x="1301960" y="1568408"/>
                  <a:pt x="1308588" y="1562876"/>
                  <a:pt x="1314071" y="1556297"/>
                </a:cubicBezTo>
                <a:cubicBezTo>
                  <a:pt x="1318730" y="1550706"/>
                  <a:pt x="1320705" y="1542923"/>
                  <a:pt x="1326182" y="1538130"/>
                </a:cubicBezTo>
                <a:cubicBezTo>
                  <a:pt x="1337136" y="1528545"/>
                  <a:pt x="1352223" y="1524199"/>
                  <a:pt x="1362516" y="1513907"/>
                </a:cubicBezTo>
                <a:cubicBezTo>
                  <a:pt x="1387287" y="1489137"/>
                  <a:pt x="1384962" y="1487546"/>
                  <a:pt x="1417017" y="1471518"/>
                </a:cubicBezTo>
                <a:cubicBezTo>
                  <a:pt x="1422726" y="1468663"/>
                  <a:pt x="1429604" y="1468562"/>
                  <a:pt x="1435184" y="1465462"/>
                </a:cubicBezTo>
                <a:cubicBezTo>
                  <a:pt x="1435226" y="1465438"/>
                  <a:pt x="1480580" y="1435197"/>
                  <a:pt x="1489684" y="1429128"/>
                </a:cubicBezTo>
                <a:cubicBezTo>
                  <a:pt x="1495740" y="1425091"/>
                  <a:pt x="1500947" y="1419318"/>
                  <a:pt x="1507851" y="1417017"/>
                </a:cubicBezTo>
                <a:cubicBezTo>
                  <a:pt x="1519962" y="1412980"/>
                  <a:pt x="1531800" y="1408002"/>
                  <a:pt x="1544185" y="1404906"/>
                </a:cubicBezTo>
                <a:cubicBezTo>
                  <a:pt x="1565103" y="1399677"/>
                  <a:pt x="1589770" y="1394826"/>
                  <a:pt x="1610797" y="1386739"/>
                </a:cubicBezTo>
                <a:cubicBezTo>
                  <a:pt x="1631088" y="1378935"/>
                  <a:pt x="1653264" y="1374577"/>
                  <a:pt x="1671353" y="1362517"/>
                </a:cubicBezTo>
                <a:cubicBezTo>
                  <a:pt x="1709418" y="1337139"/>
                  <a:pt x="1667646" y="1363903"/>
                  <a:pt x="1713743" y="1338294"/>
                </a:cubicBezTo>
                <a:cubicBezTo>
                  <a:pt x="1724032" y="1332578"/>
                  <a:pt x="1733732" y="1325843"/>
                  <a:pt x="1744021" y="1320127"/>
                </a:cubicBezTo>
                <a:cubicBezTo>
                  <a:pt x="1751912" y="1315743"/>
                  <a:pt x="1759946" y="1311572"/>
                  <a:pt x="1768243" y="1308016"/>
                </a:cubicBezTo>
                <a:cubicBezTo>
                  <a:pt x="1804928" y="1292294"/>
                  <a:pt x="1766509" y="1314938"/>
                  <a:pt x="1816688" y="1289849"/>
                </a:cubicBezTo>
                <a:cubicBezTo>
                  <a:pt x="1823198" y="1286594"/>
                  <a:pt x="1828466" y="1281223"/>
                  <a:pt x="1834855" y="1277738"/>
                </a:cubicBezTo>
                <a:cubicBezTo>
                  <a:pt x="1858203" y="1265003"/>
                  <a:pt x="1880084" y="1261841"/>
                  <a:pt x="1895412" y="1241404"/>
                </a:cubicBezTo>
                <a:cubicBezTo>
                  <a:pt x="1904146" y="1229759"/>
                  <a:pt x="1905128" y="1206279"/>
                  <a:pt x="1919634" y="1205070"/>
                </a:cubicBezTo>
                <a:lnTo>
                  <a:pt x="1992302" y="1199015"/>
                </a:lnTo>
                <a:cubicBezTo>
                  <a:pt x="2002395" y="1196996"/>
                  <a:pt x="2012427" y="1194651"/>
                  <a:pt x="2022580" y="1192959"/>
                </a:cubicBezTo>
                <a:cubicBezTo>
                  <a:pt x="2036659" y="1190612"/>
                  <a:pt x="2051061" y="1190112"/>
                  <a:pt x="2064969" y="1186903"/>
                </a:cubicBezTo>
                <a:cubicBezTo>
                  <a:pt x="2077408" y="1184032"/>
                  <a:pt x="2088986" y="1178151"/>
                  <a:pt x="2101303" y="1174792"/>
                </a:cubicBezTo>
                <a:cubicBezTo>
                  <a:pt x="2116275" y="1170709"/>
                  <a:pt x="2154051" y="1165202"/>
                  <a:pt x="2167915" y="1162681"/>
                </a:cubicBezTo>
                <a:cubicBezTo>
                  <a:pt x="2178042" y="1160840"/>
                  <a:pt x="2188208" y="1159121"/>
                  <a:pt x="2198193" y="1156625"/>
                </a:cubicBezTo>
                <a:cubicBezTo>
                  <a:pt x="2204386" y="1155077"/>
                  <a:pt x="2210101" y="1151822"/>
                  <a:pt x="2216360" y="1150570"/>
                </a:cubicBezTo>
                <a:cubicBezTo>
                  <a:pt x="2267639" y="1140314"/>
                  <a:pt x="2245690" y="1149292"/>
                  <a:pt x="2289027" y="1138458"/>
                </a:cubicBezTo>
                <a:cubicBezTo>
                  <a:pt x="2328428" y="1128608"/>
                  <a:pt x="2286808" y="1130123"/>
                  <a:pt x="2355639" y="1120291"/>
                </a:cubicBezTo>
                <a:cubicBezTo>
                  <a:pt x="2376019" y="1117380"/>
                  <a:pt x="2413340" y="1112385"/>
                  <a:pt x="2434363" y="1108180"/>
                </a:cubicBezTo>
                <a:cubicBezTo>
                  <a:pt x="2467407" y="1101571"/>
                  <a:pt x="2451862" y="1101355"/>
                  <a:pt x="2488863" y="1096069"/>
                </a:cubicBezTo>
                <a:cubicBezTo>
                  <a:pt x="2538253" y="1089013"/>
                  <a:pt x="2583680" y="1087326"/>
                  <a:pt x="2634198" y="1083958"/>
                </a:cubicBezTo>
                <a:cubicBezTo>
                  <a:pt x="2657029" y="1079391"/>
                  <a:pt x="2677570" y="1074945"/>
                  <a:pt x="2700810" y="1071846"/>
                </a:cubicBezTo>
                <a:cubicBezTo>
                  <a:pt x="2718928" y="1069430"/>
                  <a:pt x="2737193" y="1068207"/>
                  <a:pt x="2755311" y="1065791"/>
                </a:cubicBezTo>
                <a:cubicBezTo>
                  <a:pt x="2787125" y="1061549"/>
                  <a:pt x="2788361" y="1060556"/>
                  <a:pt x="2815867" y="1053679"/>
                </a:cubicBezTo>
                <a:cubicBezTo>
                  <a:pt x="2823941" y="1037531"/>
                  <a:pt x="2836550" y="1022938"/>
                  <a:pt x="2840090" y="1005234"/>
                </a:cubicBezTo>
                <a:cubicBezTo>
                  <a:pt x="2842108" y="995141"/>
                  <a:pt x="2843649" y="984941"/>
                  <a:pt x="2846145" y="974956"/>
                </a:cubicBezTo>
                <a:cubicBezTo>
                  <a:pt x="2847693" y="968763"/>
                  <a:pt x="2850447" y="962927"/>
                  <a:pt x="2852201" y="956789"/>
                </a:cubicBezTo>
                <a:cubicBezTo>
                  <a:pt x="2854488" y="948787"/>
                  <a:pt x="2856238" y="940641"/>
                  <a:pt x="2858257" y="932567"/>
                </a:cubicBezTo>
                <a:cubicBezTo>
                  <a:pt x="2857827" y="927408"/>
                  <a:pt x="2858271" y="863559"/>
                  <a:pt x="2846145" y="841732"/>
                </a:cubicBezTo>
                <a:cubicBezTo>
                  <a:pt x="2839076" y="829008"/>
                  <a:pt x="2832215" y="815691"/>
                  <a:pt x="2821923" y="805399"/>
                </a:cubicBezTo>
                <a:lnTo>
                  <a:pt x="2797700" y="781176"/>
                </a:lnTo>
                <a:cubicBezTo>
                  <a:pt x="2791644" y="775120"/>
                  <a:pt x="2784283" y="770135"/>
                  <a:pt x="2779533" y="763009"/>
                </a:cubicBezTo>
                <a:cubicBezTo>
                  <a:pt x="2752144" y="721925"/>
                  <a:pt x="2765603" y="736969"/>
                  <a:pt x="2743200" y="714564"/>
                </a:cubicBezTo>
                <a:cubicBezTo>
                  <a:pt x="2729360" y="673046"/>
                  <a:pt x="2745699" y="724564"/>
                  <a:pt x="2731088" y="666119"/>
                </a:cubicBezTo>
                <a:cubicBezTo>
                  <a:pt x="2729540" y="659926"/>
                  <a:pt x="2726787" y="654090"/>
                  <a:pt x="2725033" y="647952"/>
                </a:cubicBezTo>
                <a:cubicBezTo>
                  <a:pt x="2722747" y="639950"/>
                  <a:pt x="2721264" y="631732"/>
                  <a:pt x="2718977" y="623730"/>
                </a:cubicBezTo>
                <a:cubicBezTo>
                  <a:pt x="2710380" y="593641"/>
                  <a:pt x="2713022" y="615301"/>
                  <a:pt x="2706866" y="575285"/>
                </a:cubicBezTo>
                <a:cubicBezTo>
                  <a:pt x="2692034" y="478875"/>
                  <a:pt x="2710517" y="578450"/>
                  <a:pt x="2694755" y="460228"/>
                </a:cubicBezTo>
                <a:cubicBezTo>
                  <a:pt x="2691518" y="435952"/>
                  <a:pt x="2687981" y="439192"/>
                  <a:pt x="2682643" y="417838"/>
                </a:cubicBezTo>
                <a:cubicBezTo>
                  <a:pt x="2679671" y="405949"/>
                  <a:pt x="2671731" y="361414"/>
                  <a:pt x="2670532" y="351227"/>
                </a:cubicBezTo>
                <a:cubicBezTo>
                  <a:pt x="2669263" y="340440"/>
                  <a:pt x="2667815" y="282312"/>
                  <a:pt x="2658421" y="260392"/>
                </a:cubicBezTo>
                <a:cubicBezTo>
                  <a:pt x="2655554" y="253702"/>
                  <a:pt x="2649266" y="248876"/>
                  <a:pt x="2646310" y="242225"/>
                </a:cubicBezTo>
                <a:cubicBezTo>
                  <a:pt x="2641125" y="230559"/>
                  <a:pt x="2638235" y="218002"/>
                  <a:pt x="2634198" y="205891"/>
                </a:cubicBezTo>
                <a:cubicBezTo>
                  <a:pt x="2632180" y="199836"/>
                  <a:pt x="2632656" y="192238"/>
                  <a:pt x="2628143" y="187725"/>
                </a:cubicBezTo>
                <a:lnTo>
                  <a:pt x="2616031" y="175613"/>
                </a:lnTo>
                <a:cubicBezTo>
                  <a:pt x="2611994" y="163502"/>
                  <a:pt x="2614542" y="146360"/>
                  <a:pt x="2603920" y="139279"/>
                </a:cubicBezTo>
                <a:cubicBezTo>
                  <a:pt x="2597864" y="135242"/>
                  <a:pt x="2591344" y="131827"/>
                  <a:pt x="2585753" y="127168"/>
                </a:cubicBezTo>
                <a:cubicBezTo>
                  <a:pt x="2579174" y="121685"/>
                  <a:pt x="2575072" y="113160"/>
                  <a:pt x="2567586" y="109001"/>
                </a:cubicBezTo>
                <a:cubicBezTo>
                  <a:pt x="2556426" y="102801"/>
                  <a:pt x="2543638" y="99986"/>
                  <a:pt x="2531253" y="96890"/>
                </a:cubicBezTo>
                <a:cubicBezTo>
                  <a:pt x="2523179" y="94871"/>
                  <a:pt x="2515219" y="92323"/>
                  <a:pt x="2507030" y="90834"/>
                </a:cubicBezTo>
                <a:cubicBezTo>
                  <a:pt x="2492987" y="88281"/>
                  <a:pt x="2478748" y="86949"/>
                  <a:pt x="2464641" y="84779"/>
                </a:cubicBezTo>
                <a:cubicBezTo>
                  <a:pt x="2452505" y="82912"/>
                  <a:pt x="2440418" y="80742"/>
                  <a:pt x="2428307" y="78723"/>
                </a:cubicBezTo>
                <a:cubicBezTo>
                  <a:pt x="2369221" y="82662"/>
                  <a:pt x="2256301" y="90834"/>
                  <a:pt x="2204249" y="90834"/>
                </a:cubicBezTo>
                <a:cubicBezTo>
                  <a:pt x="2147694" y="90834"/>
                  <a:pt x="2091210" y="86797"/>
                  <a:pt x="2034691" y="84779"/>
                </a:cubicBezTo>
                <a:cubicBezTo>
                  <a:pt x="2014506" y="82760"/>
                  <a:pt x="1994369" y="80168"/>
                  <a:pt x="1974135" y="78723"/>
                </a:cubicBezTo>
                <a:cubicBezTo>
                  <a:pt x="1937837" y="76130"/>
                  <a:pt x="1901386" y="75820"/>
                  <a:pt x="1865133" y="72668"/>
                </a:cubicBezTo>
                <a:cubicBezTo>
                  <a:pt x="1854879" y="71776"/>
                  <a:pt x="1845008" y="68304"/>
                  <a:pt x="1834855" y="66612"/>
                </a:cubicBezTo>
                <a:cubicBezTo>
                  <a:pt x="1820776" y="64265"/>
                  <a:pt x="1806629" y="62326"/>
                  <a:pt x="1792466" y="60556"/>
                </a:cubicBezTo>
                <a:cubicBezTo>
                  <a:pt x="1655782" y="43471"/>
                  <a:pt x="1833340" y="67117"/>
                  <a:pt x="1665298" y="48445"/>
                </a:cubicBezTo>
                <a:cubicBezTo>
                  <a:pt x="1653095" y="47089"/>
                  <a:pt x="1641100" y="44256"/>
                  <a:pt x="1628964" y="42389"/>
                </a:cubicBezTo>
                <a:cubicBezTo>
                  <a:pt x="1614857" y="40219"/>
                  <a:pt x="1600760" y="37910"/>
                  <a:pt x="1586574" y="36334"/>
                </a:cubicBezTo>
                <a:cubicBezTo>
                  <a:pt x="1564415" y="33872"/>
                  <a:pt x="1542148" y="32496"/>
                  <a:pt x="1519963" y="30278"/>
                </a:cubicBezTo>
                <a:cubicBezTo>
                  <a:pt x="1501775" y="28459"/>
                  <a:pt x="1483616" y="26359"/>
                  <a:pt x="1465462" y="24223"/>
                </a:cubicBezTo>
                <a:lnTo>
                  <a:pt x="1417017" y="18167"/>
                </a:lnTo>
                <a:cubicBezTo>
                  <a:pt x="1402869" y="16280"/>
                  <a:pt x="1388858" y="13206"/>
                  <a:pt x="1374627" y="12111"/>
                </a:cubicBezTo>
                <a:cubicBezTo>
                  <a:pt x="1096907" y="-9252"/>
                  <a:pt x="1373004" y="17400"/>
                  <a:pt x="1199014" y="0"/>
                </a:cubicBezTo>
                <a:lnTo>
                  <a:pt x="974956" y="6056"/>
                </a:lnTo>
                <a:cubicBezTo>
                  <a:pt x="954688" y="6918"/>
                  <a:pt x="934562" y="9871"/>
                  <a:pt x="914400" y="12111"/>
                </a:cubicBezTo>
                <a:cubicBezTo>
                  <a:pt x="889279" y="14902"/>
                  <a:pt x="855218" y="19104"/>
                  <a:pt x="829621" y="24223"/>
                </a:cubicBezTo>
                <a:cubicBezTo>
                  <a:pt x="772955" y="35556"/>
                  <a:pt x="833427" y="24785"/>
                  <a:pt x="787231" y="36334"/>
                </a:cubicBezTo>
                <a:cubicBezTo>
                  <a:pt x="777246" y="38830"/>
                  <a:pt x="767000" y="40156"/>
                  <a:pt x="756953" y="42389"/>
                </a:cubicBezTo>
                <a:cubicBezTo>
                  <a:pt x="748829" y="44194"/>
                  <a:pt x="740703" y="46054"/>
                  <a:pt x="732731" y="48445"/>
                </a:cubicBezTo>
                <a:cubicBezTo>
                  <a:pt x="720503" y="52113"/>
                  <a:pt x="709035" y="58750"/>
                  <a:pt x="696397" y="60556"/>
                </a:cubicBezTo>
                <a:cubicBezTo>
                  <a:pt x="669196" y="64442"/>
                  <a:pt x="644565" y="67626"/>
                  <a:pt x="617674" y="72668"/>
                </a:cubicBezTo>
                <a:cubicBezTo>
                  <a:pt x="597442" y="76462"/>
                  <a:pt x="577089" y="79787"/>
                  <a:pt x="557118" y="84779"/>
                </a:cubicBezTo>
                <a:lnTo>
                  <a:pt x="532895" y="8477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19817F8-4C1A-26FA-022A-C54DD19F165E}"/>
              </a:ext>
            </a:extLst>
          </p:cNvPr>
          <p:cNvCxnSpPr>
            <a:cxnSpLocks/>
          </p:cNvCxnSpPr>
          <p:nvPr/>
        </p:nvCxnSpPr>
        <p:spPr>
          <a:xfrm flipH="1" flipV="1">
            <a:off x="2738391" y="1554264"/>
            <a:ext cx="366201" cy="20160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B758540-6DC2-42BB-64F0-C2A4E0AB1F7C}"/>
              </a:ext>
            </a:extLst>
          </p:cNvPr>
          <p:cNvSpPr txBox="1"/>
          <p:nvPr/>
        </p:nvSpPr>
        <p:spPr>
          <a:xfrm>
            <a:off x="3463718" y="1054314"/>
            <a:ext cx="812625" cy="2456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E2DA7BA-0D5B-A3A1-E3C9-8846E49D9675}"/>
              </a:ext>
            </a:extLst>
          </p:cNvPr>
          <p:cNvCxnSpPr>
            <a:cxnSpLocks/>
          </p:cNvCxnSpPr>
          <p:nvPr/>
        </p:nvCxnSpPr>
        <p:spPr>
          <a:xfrm flipH="1" flipV="1">
            <a:off x="3992482" y="1177144"/>
            <a:ext cx="334631" cy="7525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EAFC806-1565-E6AC-6C5B-7B29B72651C4}"/>
              </a:ext>
            </a:extLst>
          </p:cNvPr>
          <p:cNvSpPr/>
          <p:nvPr/>
        </p:nvSpPr>
        <p:spPr>
          <a:xfrm>
            <a:off x="4327113" y="1071326"/>
            <a:ext cx="812625" cy="362140"/>
          </a:xfrm>
          <a:prstGeom prst="ellipse">
            <a:avLst/>
          </a:prstGeom>
          <a:noFill/>
          <a:ln w="19050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2228A8-04E9-86FF-381C-AEEC31E36B2A}"/>
              </a:ext>
            </a:extLst>
          </p:cNvPr>
          <p:cNvSpPr txBox="1"/>
          <p:nvPr/>
        </p:nvSpPr>
        <p:spPr>
          <a:xfrm>
            <a:off x="758702" y="2389933"/>
            <a:ext cx="1345174" cy="2456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 defTabSz="720000"/>
            <a:r>
              <a:rPr lang="en-US" sz="12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 load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1206B4B-2927-AD5E-7486-D2A3CFB3082C}"/>
              </a:ext>
            </a:extLst>
          </p:cNvPr>
          <p:cNvCxnSpPr>
            <a:cxnSpLocks/>
          </p:cNvCxnSpPr>
          <p:nvPr/>
        </p:nvCxnSpPr>
        <p:spPr>
          <a:xfrm flipH="1" flipV="1">
            <a:off x="1708852" y="2586149"/>
            <a:ext cx="270143" cy="8219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777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FDA44-5026-918E-610E-0D673EFB9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65BB7-1472-BCBC-C2E4-5972F467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Memory-side Controller Extension for Sparsity Handling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D0D62-DD99-9AC6-771F-B5F6CC2241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10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F52D4-24A1-2160-9D74-C66127C7F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438135" cy="275922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Key features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Decoupled core request and data movement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Semantic extension for native index handling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Accept index streams from both core and memory side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Narrow access coalescing 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Memory-side cache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E90006C-548B-E229-7B3E-34A35CA0CA46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09547-E5BF-B543-F774-BA84A0D00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269" y="1090372"/>
            <a:ext cx="4663129" cy="183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5107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12966</TotalTime>
  <Words>446</Words>
  <Application>Microsoft Macintosh PowerPoint</Application>
  <PresentationFormat>On-screen Show (16:9)</PresentationFormat>
  <Paragraphs>86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Helvetica</vt:lpstr>
      <vt:lpstr>Arial</vt:lpstr>
      <vt:lpstr>Calibri</vt:lpstr>
      <vt:lpstr>Calibri Light</vt:lpstr>
      <vt:lpstr>Consolas</vt:lpstr>
      <vt:lpstr>Wingdings</vt:lpstr>
      <vt:lpstr>Arial Narrow</vt:lpstr>
      <vt:lpstr>Simple Light</vt:lpstr>
      <vt:lpstr>PULP Triangle</vt:lpstr>
      <vt:lpstr>1_PULP Triangle</vt:lpstr>
      <vt:lpstr>Sparsity Support in Memory Endpoints</vt:lpstr>
      <vt:lpstr>Sparse Pattern Analysis Framework</vt:lpstr>
      <vt:lpstr>Example: Model Pruning</vt:lpstr>
      <vt:lpstr>Example: Contextual Activation Sparsity</vt:lpstr>
      <vt:lpstr>Example: Sparse Attention</vt:lpstr>
      <vt:lpstr>Example: Vector Quantization</vt:lpstr>
      <vt:lpstr>Example: MoE</vt:lpstr>
      <vt:lpstr>Example: Emerging ML Applications</vt:lpstr>
      <vt:lpstr>Overview Landscape</vt:lpstr>
      <vt:lpstr>Memory-side Controller Extension for Sparsity Handling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QuantSparse 3D Biweekly 2025-03-25</dc:title>
  <dc:creator>paulsc</dc:creator>
  <cp:lastModifiedBy>Wang, Bowen</cp:lastModifiedBy>
  <cp:revision>1363</cp:revision>
  <dcterms:modified xsi:type="dcterms:W3CDTF">2026-07-23T06:55:26Z</dcterms:modified>
</cp:coreProperties>
</file>