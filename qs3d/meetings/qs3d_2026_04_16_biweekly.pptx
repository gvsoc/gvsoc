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0"/>
  </p:notesMasterIdLst>
  <p:sldIdLst>
    <p:sldId id="256" r:id="rId4"/>
    <p:sldId id="257" r:id="rId5"/>
    <p:sldId id="607" r:id="rId6"/>
    <p:sldId id="608" r:id="rId7"/>
    <p:sldId id="614" r:id="rId8"/>
    <p:sldId id="613" r:id="rId9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1"/>
      <p:bold r:id="rId12"/>
      <p:italic r:id="rId13"/>
      <p:boldItalic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257"/>
          </p14:sldIdLst>
        </p14:section>
        <p14:section name="Recap" id="{870E3B29-350E-CE4E-9DFE-3645BAE98000}">
          <p14:sldIdLst>
            <p14:sldId id="607"/>
            <p14:sldId id="608"/>
            <p14:sldId id="614"/>
            <p14:sldId id="6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AB9F"/>
    <a:srgbClr val="A7127A"/>
    <a:srgbClr val="037491"/>
    <a:srgbClr val="168638"/>
    <a:srgbClr val="A6CAEC"/>
    <a:srgbClr val="BA362D"/>
    <a:srgbClr val="BBA471"/>
    <a:srgbClr val="C45D57"/>
    <a:srgbClr val="4C7CBD"/>
    <a:srgbClr val="B735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70"/>
    <p:restoredTop sz="94658"/>
  </p:normalViewPr>
  <p:slideViewPr>
    <p:cSldViewPr snapToGrid="0">
      <p:cViewPr varScale="1">
        <p:scale>
          <a:sx n="160" d="100"/>
          <a:sy n="160" d="100"/>
        </p:scale>
        <p:origin x="24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font" Target="fonts/font1.fntdata"/><Relationship Id="rId5" Type="http://schemas.openxmlformats.org/officeDocument/2006/relationships/slide" Target="slides/slide2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pn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QuantSparse 3D Biweekly 2026-04-</a:t>
            </a:r>
            <a:r>
              <a:rPr lang="en-US" dirty="0"/>
              <a:t>16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bowwang@iis.ee.ethz.ch</a:t>
            </a:r>
            <a:endParaRPr lang="en" dirty="0"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</a:pPr>
            <a:r>
              <a:rPr lang="en" b="1" dirty="0">
                <a:solidFill>
                  <a:srgbClr val="168638"/>
                </a:solidFill>
              </a:rPr>
              <a:t>Chi Zhang      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chizhang@iis.ee.ethz.ch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 dirty="0"/>
              <a:t>             </a:t>
            </a:r>
            <a:r>
              <a:rPr lang="en" dirty="0" err="1">
                <a:solidFill>
                  <a:schemeClr val="dk1"/>
                </a:solidFill>
              </a:rPr>
              <a:t>lbenini@iis.ee.ethz.ch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2165447"/>
            <a:ext cx="8000672" cy="270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Ventaglio – E2E framework adaptation, benchmark, and paper status</a:t>
            </a:r>
            <a:endParaRPr lang="en" dirty="0"/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3D System – </a:t>
            </a:r>
            <a:r>
              <a:rPr lang="en" b="1" dirty="0" err="1"/>
              <a:t>FlooNoC</a:t>
            </a:r>
            <a:r>
              <a:rPr lang="en" b="1" dirty="0"/>
              <a:t> model in GVSoC</a:t>
            </a:r>
            <a:endParaRPr lang="e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QuantSparse 3D - Bowen Wang, Paul Scheffler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6080" y="905715"/>
            <a:ext cx="8571836" cy="12594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EE44-D9E2-9168-D039-2367A50A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A0770-6DE0-B3B4-F256-283FFA439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Recap: Ventaglio E2E Simulation on SoftHier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6B099-9EDD-07C8-F02F-A183D35A83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99271-312B-38C3-FB6B-F2E11DF24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7650462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Work in progress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Spatz SUMMA optimizer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L1 capacity constraint for double-buffered tiling and dataflow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Adaptation to GEMV/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for autoregressive decoding</a:t>
            </a:r>
          </a:p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Next step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E2E pipeline integration: Add Spatz-base SUMMA implementations to the flow pipeline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3-way comparison (dense, 2:4 sparse, and 1:4 sparse) on Qwen-7B</a:t>
            </a:r>
          </a:p>
          <a:p>
            <a:pPr lvl="1"/>
            <a:endParaRPr lang="en-US" altLang="zh-CN" sz="1200" i="1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CBCD94-0F6F-AE66-52F2-1AA4670E5ABF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86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46C6A-1B43-CC89-74A3-073E6566F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1C43-207F-157D-A87A-9F76EE11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 E2E Simulation on SoftHier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DF0E1B-8262-89C4-39FE-B7C9BC1098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45B9E-EA0E-ED52-DB9C-BEFEA905D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8104184" cy="4243145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E2E flow integration finished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GVSoC modeling of the new Ventaglio instruction extensions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Multi-cluster Spatz sparse tensor contraction kernel using SUMMA dataflow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Drop-in replacement for the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RedMule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-based implementation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Sparse-aware SUMMA DMA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Loading weight with aware of sparsity formats</a:t>
            </a:r>
            <a:b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both DMA and compute scale with sparsity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Dense model runtime breakdown and analysis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Model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: Qwen-7B (embed=4096, 32 heads GQA, MLP=22016)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At seq=2048, attention grows ~2% runtime in both prefill and autoregressive decoding phases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  <a:sym typeface="Wingdings" pitchFamily="2" charset="2"/>
              </a:rPr>
              <a:t>Linear projection dominates runtime</a:t>
            </a:r>
          </a:p>
          <a:p>
            <a:pPr lvl="1"/>
            <a:endParaRPr lang="en-US" altLang="zh-CN" sz="1200" i="1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24D963-4DEC-8D72-CBCF-E62B55734A52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00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94FF-0D82-4389-A7E6-5F230D68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7975-D56F-50D0-F1D9-4F25AA06E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Ventaglio E2E Simulation on SoftHier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3F219-7158-CA7D-E4B1-4D749323D4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4709A-1DDD-6172-BB4E-9CDBBA603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8104184" cy="4243145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Performance analysis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Model level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(measured under Qwen-7B, seq=2048)</a:t>
            </a:r>
          </a:p>
          <a:p>
            <a:pPr lvl="2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Prefill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1.91x and 3.53x speedup</a:t>
            </a:r>
          </a:p>
          <a:p>
            <a:pPr lvl="2"/>
            <a:r>
              <a:rPr lang="en-US" altLang="zh-C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Autoregressive decode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1.85x and 3.41x speedup with 2:4 and 1:4 format, respectively</a:t>
            </a:r>
            <a:b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due to fixed attention and data movement overhead</a:t>
            </a:r>
          </a:p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Next step: add activation sparsity to the flow</a:t>
            </a:r>
          </a:p>
          <a:p>
            <a:pPr lvl="1"/>
            <a:r>
              <a:rPr lang="en-US" altLang="zh-CN" sz="140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ActSparse</a:t>
            </a:r>
            <a:r>
              <a:rPr lang="en-US" altLang="zh-CN" sz="14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-GEMM kernel implemented and integrated to the E2E flow</a:t>
            </a:r>
          </a:p>
          <a:p>
            <a:pPr lvl="1"/>
            <a:r>
              <a:rPr lang="en-US" altLang="zh-CN" sz="14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Benchmark on LlaMA-3-8B, with Duo-GPT pruned 50% activation sparsity + 50% weight sparsity</a:t>
            </a:r>
          </a:p>
          <a:p>
            <a:pPr lvl="1"/>
            <a:endParaRPr lang="en-US" altLang="zh-CN" sz="1200" i="1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8E27C9F-FCE1-2678-9A2C-215225A37801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14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5D70A-747C-CA93-EE16-76B1211A0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8CB04-FB5D-3BC5-DE85-F331879C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Updating </a:t>
            </a:r>
            <a:r>
              <a:rPr lang="en-US" altLang="zh-CN" dirty="0" err="1"/>
              <a:t>FlooNoC</a:t>
            </a:r>
            <a:r>
              <a:rPr lang="en-US" altLang="zh-CN" dirty="0"/>
              <a:t> Model in </a:t>
            </a:r>
            <a:r>
              <a:rPr lang="en-US" altLang="zh-CN" dirty="0" err="1"/>
              <a:t>GVSoC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E33F0-DD91-20F1-6E68-658E992B16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5DF6750-0822-54A2-C5D3-92D69D27B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374" y="557561"/>
            <a:ext cx="8579523" cy="3040565"/>
          </a:xfrm>
        </p:spPr>
        <p:txBody>
          <a:bodyPr/>
          <a:lstStyle/>
          <a:p>
            <a:r>
              <a:rPr lang="en-US" sz="1700" dirty="0"/>
              <a:t>In original </a:t>
            </a:r>
            <a:r>
              <a:rPr lang="en-US" sz="1700" dirty="0" err="1"/>
              <a:t>FlooNoC</a:t>
            </a:r>
            <a:r>
              <a:rPr lang="en-US" sz="1700" dirty="0"/>
              <a:t> model (both 2D and 3D mesh):</a:t>
            </a:r>
          </a:p>
          <a:p>
            <a:pPr lvl="1"/>
            <a:r>
              <a:rPr lang="en-GB" sz="1400" dirty="0"/>
              <a:t>Hard-coded Router-to-Router link with fixed latency.</a:t>
            </a:r>
          </a:p>
          <a:p>
            <a:pPr lvl="1"/>
            <a:r>
              <a:rPr lang="en-GB" sz="1400" dirty="0"/>
              <a:t>Homogeneous connections: every link has the same bandwidth.</a:t>
            </a:r>
            <a:endParaRPr lang="en-US" sz="1400" dirty="0"/>
          </a:p>
          <a:p>
            <a:r>
              <a:rPr lang="en-US" sz="1718" dirty="0"/>
              <a:t>We are refactoring </a:t>
            </a:r>
            <a:r>
              <a:rPr lang="en-US" altLang="zh-CN" sz="1718" dirty="0"/>
              <a:t>the </a:t>
            </a:r>
            <a:r>
              <a:rPr lang="en-US" altLang="zh-CN" sz="1718" dirty="0" err="1"/>
              <a:t>FlooNoC</a:t>
            </a:r>
            <a:r>
              <a:rPr lang="en-US" altLang="zh-CN" sz="1718" dirty="0"/>
              <a:t> </a:t>
            </a:r>
            <a:r>
              <a:rPr lang="en-US" altLang="zh-CN" sz="1718" dirty="0" err="1"/>
              <a:t>GVSoC</a:t>
            </a:r>
            <a:r>
              <a:rPr lang="en-US" altLang="zh-CN" sz="1718" dirty="0"/>
              <a:t> model</a:t>
            </a:r>
            <a:r>
              <a:rPr lang="en-US" sz="1718" dirty="0"/>
              <a:t>:</a:t>
            </a:r>
          </a:p>
          <a:p>
            <a:pPr lvl="1"/>
            <a:r>
              <a:rPr lang="de-CH" sz="1400" dirty="0"/>
              <a:t>For model close to reality:</a:t>
            </a:r>
          </a:p>
          <a:p>
            <a:pPr lvl="1"/>
            <a:r>
              <a:rPr lang="de-CH" sz="1400" dirty="0"/>
              <a:t>Eg, 3D Mesh’s Z direction links may have different latency and bandwidth than links on XY directions</a:t>
            </a:r>
          </a:p>
          <a:p>
            <a:pPr lvl="1"/>
            <a:r>
              <a:rPr lang="de-CH" sz="1400" dirty="0"/>
              <a:t>We need to give these flexibilities on NoC modeling</a:t>
            </a:r>
          </a:p>
          <a:p>
            <a:pPr lvl="1"/>
            <a:r>
              <a:rPr lang="de-CH" sz="1400" dirty="0"/>
              <a:t>We have a master student project working on this </a:t>
            </a:r>
            <a:r>
              <a:rPr lang="en-US" altLang="zh-CN" sz="1400" dirty="0"/>
              <a:t>topic</a:t>
            </a:r>
            <a:r>
              <a:rPr lang="de-CH" sz="1400" dirty="0"/>
              <a:t> currently</a:t>
            </a:r>
          </a:p>
          <a:p>
            <a:pPr lvl="1"/>
            <a:r>
              <a:rPr lang="de-CH" sz="1400" dirty="0"/>
              <a:t>Will futher discuss dataflow for applications once the new FlooNoC model is stable</a:t>
            </a:r>
          </a:p>
        </p:txBody>
      </p:sp>
    </p:spTree>
    <p:extLst>
      <p:ext uri="{BB962C8B-B14F-4D97-AF65-F5344CB8AC3E}">
        <p14:creationId xmlns:p14="http://schemas.microsoft.com/office/powerpoint/2010/main" val="33691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11041</TotalTime>
  <Words>416</Words>
  <Application>Microsoft Macintosh PowerPoint</Application>
  <PresentationFormat>On-screen Show (16:9)</PresentationFormat>
  <Paragraphs>54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 Narrow</vt:lpstr>
      <vt:lpstr>Arial</vt:lpstr>
      <vt:lpstr>Consolas</vt:lpstr>
      <vt:lpstr>Wingdings</vt:lpstr>
      <vt:lpstr>Calibri Light</vt:lpstr>
      <vt:lpstr>Calibri</vt:lpstr>
      <vt:lpstr>Simple Light</vt:lpstr>
      <vt:lpstr>PULP Triangle</vt:lpstr>
      <vt:lpstr>1_PULP Triangle</vt:lpstr>
      <vt:lpstr>QuantSparse 3D Biweekly 2026-04-16</vt:lpstr>
      <vt:lpstr>Agenda</vt:lpstr>
      <vt:lpstr>Recap: Ventaglio E2E Simulation on SoftHier</vt:lpstr>
      <vt:lpstr>Ventaglio E2E Simulation on SoftHier</vt:lpstr>
      <vt:lpstr>Ventaglio E2E Simulation on SoftHier</vt:lpstr>
      <vt:lpstr>Updating FlooNoC Model in GVSoC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1285</cp:revision>
  <dcterms:modified xsi:type="dcterms:W3CDTF">2026-04-16T07:00:04Z</dcterms:modified>
</cp:coreProperties>
</file>