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3"/>
  </p:notesMasterIdLst>
  <p:sldIdLst>
    <p:sldId id="256" r:id="rId4"/>
    <p:sldId id="257" r:id="rId5"/>
    <p:sldId id="603" r:id="rId6"/>
    <p:sldId id="595" r:id="rId7"/>
    <p:sldId id="604" r:id="rId8"/>
    <p:sldId id="605" r:id="rId9"/>
    <p:sldId id="592" r:id="rId10"/>
    <p:sldId id="593" r:id="rId11"/>
    <p:sldId id="594" r:id="rId12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257"/>
          </p14:sldIdLst>
        </p14:section>
        <p14:section name="Recap" id="{870E3B29-350E-CE4E-9DFE-3645BAE98000}">
          <p14:sldIdLst>
            <p14:sldId id="603"/>
            <p14:sldId id="595"/>
            <p14:sldId id="604"/>
            <p14:sldId id="605"/>
            <p14:sldId id="592"/>
            <p14:sldId id="593"/>
            <p14:sldId id="5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AB9F"/>
    <a:srgbClr val="A7127A"/>
    <a:srgbClr val="037491"/>
    <a:srgbClr val="168638"/>
    <a:srgbClr val="A6CAEC"/>
    <a:srgbClr val="BA362D"/>
    <a:srgbClr val="BBA471"/>
    <a:srgbClr val="C45D57"/>
    <a:srgbClr val="4C7CBD"/>
    <a:srgbClr val="B735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58"/>
  </p:normalViewPr>
  <p:slideViewPr>
    <p:cSldViewPr snapToGrid="0">
      <p:cViewPr varScale="1">
        <p:scale>
          <a:sx n="160" d="100"/>
          <a:sy n="160" d="100"/>
        </p:scale>
        <p:origin x="144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8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v>3D Speedup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Sheet1!$A$1:$A$3</c:f>
              <c:strCache>
                <c:ptCount val="3"/>
                <c:pt idx="0">
                  <c:v>4x4x1</c:v>
                </c:pt>
                <c:pt idx="1">
                  <c:v>4x4x2</c:v>
                </c:pt>
                <c:pt idx="2">
                  <c:v>4x4x4</c:v>
                </c:pt>
              </c:strCache>
            </c:strRef>
          </c:cat>
          <c:val>
            <c:numRef>
              <c:f>Sheet1!$B$1:$B$3</c:f>
              <c:numCache>
                <c:formatCode>General</c:formatCode>
                <c:ptCount val="3"/>
                <c:pt idx="0">
                  <c:v>1</c:v>
                </c:pt>
                <c:pt idx="1">
                  <c:v>1.784898858</c:v>
                </c:pt>
                <c:pt idx="2">
                  <c:v>2.9833279359999998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E5-48A1-A9A8-A510A5AF3D72}"/>
            </c:ext>
          </c:extLst>
        </c:ser>
        <c:ser>
          <c:idx val="2"/>
          <c:order val="1"/>
          <c:tx>
            <c:v>Ideal 3D Speedup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Sheet1!$A$1:$A$3</c:f>
              <c:strCache>
                <c:ptCount val="3"/>
                <c:pt idx="0">
                  <c:v>4x4x1</c:v>
                </c:pt>
                <c:pt idx="1">
                  <c:v>4x4x2</c:v>
                </c:pt>
                <c:pt idx="2">
                  <c:v>4x4x4</c:v>
                </c:pt>
              </c:strCache>
            </c:strRef>
          </c:cat>
          <c:val>
            <c:numRef>
              <c:f>Sheet1!$C$1:$C$3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E5-48A1-A9A8-A510A5AF3D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183567"/>
        <c:axId val="1304184047"/>
      </c:barChart>
      <c:catAx>
        <c:axId val="130418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150"/>
          </a:p>
        </c:txPr>
        <c:crossAx val="1304184047"/>
        <c:crosses val="autoZero"/>
        <c:auto val="1"/>
        <c:lblAlgn val="ctr"/>
        <c:lblOffset val="100"/>
        <c:noMultiLvlLbl val="0"/>
      </c:catAx>
      <c:valAx>
        <c:axId val="1304184047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150"/>
          </a:p>
        </c:txPr>
        <c:crossAx val="1304183567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581411698537682"/>
          <c:y val="0.8955770774573526"/>
          <c:w val="0.54837148481439824"/>
          <c:h val="7.91713228652753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150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150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v>3D Speedup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Sheet1!$A$1:$A$3</c:f>
              <c:strCache>
                <c:ptCount val="3"/>
                <c:pt idx="0">
                  <c:v>4x4x1</c:v>
                </c:pt>
                <c:pt idx="1">
                  <c:v>4x4x2</c:v>
                </c:pt>
                <c:pt idx="2">
                  <c:v>4x4x4</c:v>
                </c:pt>
              </c:strCache>
            </c:strRef>
          </c:cat>
          <c:val>
            <c:numRef>
              <c:f>Sheet1!$B$1:$B$3</c:f>
              <c:numCache>
                <c:formatCode>General</c:formatCode>
                <c:ptCount val="3"/>
                <c:pt idx="0">
                  <c:v>1</c:v>
                </c:pt>
                <c:pt idx="1">
                  <c:v>1.784898858</c:v>
                </c:pt>
                <c:pt idx="2">
                  <c:v>2.9833279359999998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B7-465F-B6EF-BFAD65776A90}"/>
            </c:ext>
          </c:extLst>
        </c:ser>
        <c:ser>
          <c:idx val="2"/>
          <c:order val="1"/>
          <c:tx>
            <c:v>Ideal 3D Speedup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Sheet1!$A$1:$A$3</c:f>
              <c:strCache>
                <c:ptCount val="3"/>
                <c:pt idx="0">
                  <c:v>4x4x1</c:v>
                </c:pt>
                <c:pt idx="1">
                  <c:v>4x4x2</c:v>
                </c:pt>
                <c:pt idx="2">
                  <c:v>4x4x4</c:v>
                </c:pt>
              </c:strCache>
            </c:strRef>
          </c:cat>
          <c:val>
            <c:numRef>
              <c:f>Sheet1!$C$1:$C$3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B7-465F-B6EF-BFAD65776A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183567"/>
        <c:axId val="1304184047"/>
      </c:barChart>
      <c:lineChart>
        <c:grouping val="stacked"/>
        <c:varyColors val="0"/>
        <c:ser>
          <c:idx val="0"/>
          <c:order val="2"/>
          <c:tx>
            <c:v>Local link util at (0,0,0)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Sheet1!$A$1:$A$3</c:f>
              <c:strCache>
                <c:ptCount val="3"/>
                <c:pt idx="0">
                  <c:v>4x4x1</c:v>
                </c:pt>
                <c:pt idx="1">
                  <c:v>4x4x2</c:v>
                </c:pt>
                <c:pt idx="2">
                  <c:v>4x4x4</c:v>
                </c:pt>
              </c:strCache>
            </c:strRef>
          </c:cat>
          <c:val>
            <c:numRef>
              <c:f>Sheet1!$D$1:$D$3</c:f>
              <c:numCache>
                <c:formatCode>0.00%</c:formatCode>
                <c:ptCount val="3"/>
                <c:pt idx="0">
                  <c:v>0.43219999999999997</c:v>
                </c:pt>
                <c:pt idx="1">
                  <c:v>0.59950000000000003</c:v>
                </c:pt>
                <c:pt idx="2">
                  <c:v>0.85760000000000003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CB7-465F-B6EF-BFAD65776A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6094687"/>
        <c:axId val="1116098047"/>
      </c:lineChart>
      <c:catAx>
        <c:axId val="130418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150"/>
          </a:p>
        </c:txPr>
        <c:crossAx val="1304184047"/>
        <c:crosses val="autoZero"/>
        <c:auto val="1"/>
        <c:lblAlgn val="ctr"/>
        <c:lblOffset val="100"/>
        <c:noMultiLvlLbl val="0"/>
      </c:catAx>
      <c:valAx>
        <c:axId val="1304184047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150"/>
          </a:p>
        </c:txPr>
        <c:crossAx val="1304183567"/>
        <c:crosses val="autoZero"/>
        <c:crossBetween val="between"/>
        <c:majorUnit val="1"/>
      </c:valAx>
      <c:valAx>
        <c:axId val="1116098047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150"/>
          </a:p>
        </c:txPr>
        <c:crossAx val="1116094687"/>
        <c:crosses val="max"/>
        <c:crossBetween val="between"/>
        <c:majorUnit val="0.2"/>
      </c:valAx>
      <c:catAx>
        <c:axId val="111609468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1609804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150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150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15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71026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11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8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QuantSparse 3D Biweekly 2026-02-</a:t>
            </a:r>
            <a:r>
              <a:rPr lang="en-US" dirty="0"/>
              <a:t>26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bowwang@iis.ee.ethz.ch</a:t>
            </a:r>
            <a:br>
              <a:rPr lang="en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Paul Scheffler</a:t>
            </a:r>
            <a:r>
              <a:rPr lang="en" dirty="0"/>
              <a:t>         </a:t>
            </a:r>
            <a:r>
              <a:rPr lang="en" dirty="0" err="1">
                <a:solidFill>
                  <a:schemeClr val="dk1"/>
                </a:solidFill>
              </a:rPr>
              <a:t>paulsc@iis.ee.ethz.ch</a:t>
            </a:r>
            <a:endParaRPr lang="en" dirty="0"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</a:pPr>
            <a:r>
              <a:rPr lang="en" b="1" dirty="0">
                <a:solidFill>
                  <a:srgbClr val="168638"/>
                </a:solidFill>
              </a:rPr>
              <a:t>Chi Zhang      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chizhang@iis.ee.ethz.ch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 dirty="0"/>
              <a:t>             </a:t>
            </a:r>
            <a:r>
              <a:rPr lang="en" dirty="0" err="1">
                <a:solidFill>
                  <a:schemeClr val="dk1"/>
                </a:solidFill>
              </a:rPr>
              <a:t>lbenini@iis.ee.ethz.ch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2165447"/>
            <a:ext cx="8000672" cy="270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Ventaglio – </a:t>
            </a:r>
            <a:r>
              <a:rPr lang="en" dirty="0"/>
              <a:t>Post-increment semantics for RVV, perf. </a:t>
            </a:r>
            <a:r>
              <a:rPr lang="en-US" dirty="0"/>
              <a:t>benchmark</a:t>
            </a:r>
            <a:endParaRPr lang="en" dirty="0"/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3D System – </a:t>
            </a:r>
            <a:r>
              <a:rPr lang="en-GB" dirty="0"/>
              <a:t>First systolic 3D GEMM evaluation and analysis</a:t>
            </a:r>
            <a:endParaRPr lang="e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QuantSparse 3D - Bowen Wang, Paul Scheffler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6074" y="905715"/>
            <a:ext cx="8571850" cy="12594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CE66F-DB80-0327-A110-D0CFE5C3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135F-6044-20C5-9028-6504BC27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Recap: Performance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BF668-7E10-9300-0E16-1F9F48485B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205B1-12DA-A032-B366-CFC2E4C7D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6" y="628031"/>
            <a:ext cx="4696786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Ventaglio status:</a:t>
            </a:r>
          </a:p>
          <a:p>
            <a:pPr lvl="1"/>
            <a:r>
              <a:rPr lang="en-US" altLang="zh-CN" sz="13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Ventaglio RTL wrap-up; </a:t>
            </a:r>
          </a:p>
          <a:p>
            <a:pPr lvl="1"/>
            <a:r>
              <a:rPr lang="en-US" altLang="zh-CN" sz="13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Roofline model for performance analysis;</a:t>
            </a:r>
          </a:p>
          <a:p>
            <a:pPr lvl="1"/>
            <a:r>
              <a:rPr lang="en-US" altLang="zh-CN" sz="13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Backend results analysis, area breakdown.</a:t>
            </a:r>
            <a:endParaRPr lang="en-US" altLang="zh-CN" sz="13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Current supported settings (SEW=32, unroll=2×):</a:t>
            </a:r>
          </a:p>
          <a:p>
            <a:pPr lvl="1"/>
            <a:r>
              <a:rPr lang="en-US" altLang="zh-CN" sz="1282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LMUL=2 </a:t>
            </a:r>
            <a: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@ 1:4 sparsity format</a:t>
            </a:r>
          </a:p>
          <a:p>
            <a:pPr lvl="1"/>
            <a: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Memory unit capacity: </a:t>
            </a:r>
            <a:r>
              <a:rPr lang="en-US" altLang="zh-CN" sz="1282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8192-bit</a:t>
            </a:r>
            <a: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 adding </a:t>
            </a:r>
            <a:r>
              <a:rPr lang="en-US" altLang="zh-CN" sz="1282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~8%</a:t>
            </a:r>
            <a: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area </a:t>
            </a:r>
            <a:b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@ Spatz core level.</a:t>
            </a:r>
          </a:p>
          <a:p>
            <a:pPr lvl="1"/>
            <a:r>
              <a:rPr lang="en-US" altLang="zh-CN" sz="1282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Cannot fully hide control overhead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Solution:</a:t>
            </a:r>
          </a:p>
          <a:p>
            <a:pPr lvl="1"/>
            <a:r>
              <a:rPr lang="en-US" altLang="zh-CN" sz="1282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Introduce ‘post-increment’ semantics into RVV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B80AC4-CE9D-830E-CD78-1C18D784554C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B1FF6E-8CCC-0329-8120-98AEB2EF8D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0651" y="915496"/>
            <a:ext cx="4313348" cy="31631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60ACD5-D1D1-0BAB-E508-F0CB363F7506}"/>
              </a:ext>
            </a:extLst>
          </p:cNvPr>
          <p:cNvSpPr txBox="1"/>
          <p:nvPr/>
        </p:nvSpPr>
        <p:spPr>
          <a:xfrm>
            <a:off x="5929136" y="1851139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84.1%</a:t>
            </a:r>
            <a:endParaRPr lang="en-US" sz="2000" b="1" i="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FABB54-7D15-DE56-60CC-134B0E302779}"/>
              </a:ext>
            </a:extLst>
          </p:cNvPr>
          <p:cNvSpPr txBox="1"/>
          <p:nvPr/>
        </p:nvSpPr>
        <p:spPr>
          <a:xfrm>
            <a:off x="7632834" y="2005732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60.1%</a:t>
            </a:r>
            <a:endParaRPr lang="en-US" sz="2000" b="1" i="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566137C3-159B-9E5A-AD19-90AAE80C74E0}"/>
              </a:ext>
            </a:extLst>
          </p:cNvPr>
          <p:cNvSpPr/>
          <p:nvPr/>
        </p:nvSpPr>
        <p:spPr>
          <a:xfrm rot="10800000">
            <a:off x="7343494" y="1683937"/>
            <a:ext cx="164461" cy="236961"/>
          </a:xfrm>
          <a:prstGeom prst="down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606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538F-34EE-0D14-526D-6787133E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F845-470D-67BE-1BA6-AE27539C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Post-increment instruction extension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C5034-073D-0B38-B1FB-731A1EC25D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1F49A-35BF-DBAD-60F9-326261702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58835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Ventaglio for high sparse ratio MatMul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Objective: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Eliminate explicit pointer updates </a:t>
            </a:r>
            <a:b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  Improving VPU utilization when LMUL is small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The post-increment semantics should be added to 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vle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*.v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weight vectors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fl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scalar activations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vlx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*.v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index vectors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Two possible implementation approaches:</a:t>
            </a:r>
          </a:p>
          <a:p>
            <a:pPr lvl="2"/>
            <a:r>
              <a:rPr lang="en-US" altLang="zh-CN" sz="1213" b="1" dirty="0">
                <a:solidFill>
                  <a:schemeClr val="tx1"/>
                </a:solidFill>
                <a:sym typeface="Wingdings" pitchFamily="2" charset="2"/>
              </a:rPr>
              <a:t>Option 1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Handle decoding in the Spatz controller</a:t>
            </a:r>
            <a:b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 Need to add logics in both Snitch and Spatz decoder</a:t>
            </a:r>
          </a:p>
          <a:p>
            <a:pPr lvl="2"/>
            <a:r>
              <a:rPr lang="en-US" altLang="zh-CN" sz="1213" b="1" dirty="0">
                <a:solidFill>
                  <a:schemeClr val="accent3"/>
                </a:solidFill>
                <a:sym typeface="Wingdings" pitchFamily="2" charset="2"/>
              </a:rPr>
              <a:t>Option 2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Strip the post-increment semantics in Snitch</a:t>
            </a:r>
            <a:b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 Forward </a:t>
            </a:r>
            <a:r>
              <a:rPr lang="en-US" altLang="zh-CN" sz="1213" i="1" dirty="0">
                <a:solidFill>
                  <a:schemeClr val="tx1"/>
                </a:solidFill>
                <a:sym typeface="Wingdings" pitchFamily="2" charset="2"/>
              </a:rPr>
              <a:t>bare load requests 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to Spatz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012277A-C2D4-C855-0D15-A4985344696E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708FCF08-D875-0D8F-DB0F-987177694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235" y="1258928"/>
            <a:ext cx="3162556" cy="201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5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386D2-43BE-D86B-FBBA-D42C87E5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3AC-59EA-6E89-3259-FF1DDA2A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Post-increment instruction extension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1F7BD-B689-DF96-8092-16A2C9772C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6F5B5-92B5-3158-4EBD-1E3504B81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58835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Implementation status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Starting from the vanilla Spatz cluster, implemented the new instructions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vle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*.v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weight vectors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fl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scalar activations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Passed functional verification. Adapted the single-precision MatMul kernel that uses the new instructions.</a:t>
            </a:r>
          </a:p>
          <a:p>
            <a:pPr lvl="2"/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Able to remove all pointer-update instructions. </a:t>
            </a:r>
            <a:b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 The number of instructions in the inner loop is reduced by ~50%. (Consider loop unrolling.)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7706E28-B63D-0737-2660-FEEE92C288DA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FC6C098-E993-D446-CE11-E9FB45644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911" y="1053436"/>
            <a:ext cx="3854089" cy="276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5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3BA5-C9B6-18D1-B7AA-72080B4B7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F1D7-53CB-8749-981E-1BAC788C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Post-increment instruction extension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3B2B7-45EC-0B22-DB91-E5EB74AC63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6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6C412-491D-63AE-C985-F85F27F5E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58835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64x64x64 GEMM workload with LMUL=2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With </a:t>
            </a:r>
            <a:r>
              <a:rPr lang="en-US" altLang="zh-CN" sz="1200" b="1" dirty="0">
                <a:solidFill>
                  <a:schemeClr val="tx1"/>
                </a:solidFill>
                <a:sym typeface="Wingdings" pitchFamily="2" charset="2"/>
              </a:rPr>
              <a:t>constrained LMUL settings</a:t>
            </a:r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, baseline VPU utilization is hindered by the overhead of control instructions.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Post-increment extension improves VPU utilization 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With the VLSU commit logic optimization, the utilization is expected to be </a:t>
            </a:r>
            <a:r>
              <a:rPr lang="en-US" altLang="zh-CN" sz="1200" i="1" dirty="0">
                <a:solidFill>
                  <a:schemeClr val="tx1"/>
                </a:solidFill>
                <a:sym typeface="Wingdings" pitchFamily="2" charset="2"/>
              </a:rPr>
              <a:t>`at-the-roofline`.</a:t>
            </a:r>
          </a:p>
          <a:p>
            <a:pPr lvl="1"/>
            <a:endParaRPr lang="en-US" altLang="zh-CN" sz="1200" i="1" dirty="0">
              <a:solidFill>
                <a:schemeClr val="tx1"/>
              </a:solidFill>
              <a:sym typeface="Wingdings" pitchFamily="2" charset="2"/>
            </a:endParaRPr>
          </a:p>
          <a:p>
            <a:r>
              <a:rPr lang="en-US" altLang="zh-CN" sz="1518" b="0" dirty="0">
                <a:solidFill>
                  <a:schemeClr val="tx1"/>
                </a:solidFill>
                <a:sym typeface="Wingdings" pitchFamily="2" charset="2"/>
              </a:rPr>
              <a:t>Next step: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Merge the change with Ventaglio, benchmark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Work with Chi on Ventaglio modeling and calibration</a:t>
            </a:r>
          </a:p>
          <a:p>
            <a:pPr lvl="1"/>
            <a:endParaRPr lang="en-US" altLang="zh-CN" sz="1200" i="1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6A2305-34B6-09B4-E86D-62621C6AAAA6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 descr="A graph of a graph showing the number of numbers and the number of numbers&#10;&#10;AI-generated content may be incorrect.">
            <a:extLst>
              <a:ext uri="{FF2B5EF4-FFF2-40B4-BE49-F238E27FC236}">
                <a16:creationId xmlns:a16="http://schemas.microsoft.com/office/drawing/2014/main" id="{66B4DCCF-E26E-1106-B1E1-0B46E6FA4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026" y="817087"/>
            <a:ext cx="4011973" cy="29421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5BBF50-74DE-5BA8-D20D-DE63D4D31949}"/>
              </a:ext>
            </a:extLst>
          </p:cNvPr>
          <p:cNvSpPr txBox="1"/>
          <p:nvPr/>
        </p:nvSpPr>
        <p:spPr>
          <a:xfrm>
            <a:off x="6377931" y="1249753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75.7%</a:t>
            </a:r>
            <a:endParaRPr lang="en-US" sz="1600" b="1" i="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61955-3D68-24F8-CCF2-AD84FDCF8D20}"/>
              </a:ext>
            </a:extLst>
          </p:cNvPr>
          <p:cNvSpPr txBox="1"/>
          <p:nvPr/>
        </p:nvSpPr>
        <p:spPr>
          <a:xfrm>
            <a:off x="6450219" y="2111738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16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45.9%</a:t>
            </a:r>
            <a:endParaRPr lang="en-US" sz="1600" b="1" i="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9657A-8977-C5CB-7B12-280139C94DE9}"/>
              </a:ext>
            </a:extLst>
          </p:cNvPr>
          <p:cNvSpPr txBox="1"/>
          <p:nvPr/>
        </p:nvSpPr>
        <p:spPr>
          <a:xfrm>
            <a:off x="7191895" y="1249753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90.5%</a:t>
            </a:r>
            <a:endParaRPr lang="en-US" sz="1600" b="1" i="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2CFC8E-C081-627A-9ECD-F48A8CF74C3C}"/>
              </a:ext>
            </a:extLst>
          </p:cNvPr>
          <p:cNvSpPr txBox="1"/>
          <p:nvPr/>
        </p:nvSpPr>
        <p:spPr>
          <a:xfrm>
            <a:off x="7228039" y="1814402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16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74.4%</a:t>
            </a:r>
            <a:endParaRPr lang="en-US" sz="1600" b="1" i="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A4C07EBE-9A9F-B26F-7232-5D4ACE70063F}"/>
              </a:ext>
            </a:extLst>
          </p:cNvPr>
          <p:cNvSpPr/>
          <p:nvPr/>
        </p:nvSpPr>
        <p:spPr>
          <a:xfrm rot="10800000">
            <a:off x="6164181" y="1760478"/>
            <a:ext cx="164461" cy="309187"/>
          </a:xfrm>
          <a:prstGeom prst="down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8948F7-5FF5-BAB5-DA54-B6499D79A5DA}"/>
              </a:ext>
            </a:extLst>
          </p:cNvPr>
          <p:cNvSpPr txBox="1"/>
          <p:nvPr/>
        </p:nvSpPr>
        <p:spPr>
          <a:xfrm>
            <a:off x="5821358" y="1802551"/>
            <a:ext cx="440753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16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1.6</a:t>
            </a:r>
            <a:r>
              <a:rPr lang="en-US" sz="1600" b="1" i="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161D3139-AC0C-C3F1-A6CB-1605FDF0BB2E}"/>
              </a:ext>
            </a:extLst>
          </p:cNvPr>
          <p:cNvSpPr/>
          <p:nvPr/>
        </p:nvSpPr>
        <p:spPr>
          <a:xfrm rot="10800000">
            <a:off x="7002808" y="1576171"/>
            <a:ext cx="164461" cy="154594"/>
          </a:xfrm>
          <a:prstGeom prst="down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3712A-A278-A64D-5874-1137680ECC8D}"/>
              </a:ext>
            </a:extLst>
          </p:cNvPr>
          <p:cNvSpPr txBox="1"/>
          <p:nvPr/>
        </p:nvSpPr>
        <p:spPr>
          <a:xfrm>
            <a:off x="6644285" y="1526151"/>
            <a:ext cx="440753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16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1.2</a:t>
            </a:r>
            <a:r>
              <a:rPr lang="en-US" sz="1600" b="1" i="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3E854A-64D8-96F9-4944-2F746F77551B}"/>
              </a:ext>
            </a:extLst>
          </p:cNvPr>
          <p:cNvSpPr txBox="1"/>
          <p:nvPr/>
        </p:nvSpPr>
        <p:spPr>
          <a:xfrm>
            <a:off x="7992468" y="1249753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97.4%</a:t>
            </a:r>
            <a:endParaRPr lang="en-US" sz="1600" b="1" i="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473855-4FC2-9307-C7EB-B0BEA19282A4}"/>
              </a:ext>
            </a:extLst>
          </p:cNvPr>
          <p:cNvSpPr txBox="1"/>
          <p:nvPr/>
        </p:nvSpPr>
        <p:spPr>
          <a:xfrm>
            <a:off x="8597297" y="1254906"/>
            <a:ext cx="516911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98.1%</a:t>
            </a:r>
            <a:endParaRPr lang="en-US" sz="1600" b="1" i="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08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 animBg="1"/>
      <p:bldP spid="13" grpId="0"/>
      <p:bldP spid="14" grpId="0" animBg="1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4C7F-E7B1-E158-169C-37CE97FA4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Systolic GEMM on Cluster-Stacked System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508E4-3442-9879-A4B5-3D6E08652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375" y="742932"/>
            <a:ext cx="4240055" cy="3980418"/>
          </a:xfrm>
        </p:spPr>
        <p:txBody>
          <a:bodyPr/>
          <a:lstStyle/>
          <a:p>
            <a:pPr marL="358775" indent="-238125"/>
            <a:r>
              <a:rPr lang="en-US" sz="1700" dirty="0"/>
              <a:t>First measurements on systolic GEMM</a:t>
            </a:r>
          </a:p>
          <a:p>
            <a:pPr marL="815967" lvl="1" indent="-238125"/>
            <a:r>
              <a:rPr lang="en-US" sz="1382" dirty="0"/>
              <a:t>Improved weight dataflow</a:t>
            </a:r>
          </a:p>
          <a:p>
            <a:pPr marL="358775" indent="-238125"/>
            <a:r>
              <a:rPr lang="en-US" sz="1700" dirty="0"/>
              <a:t>What remains the same</a:t>
            </a:r>
          </a:p>
          <a:p>
            <a:pPr marL="815967" lvl="1" indent="-238125"/>
            <a:r>
              <a:rPr lang="en-US" sz="1382" dirty="0"/>
              <a:t>Same in-layer dataflow:</a:t>
            </a:r>
            <a:br>
              <a:rPr lang="en-US" sz="1382" dirty="0"/>
            </a:br>
            <a:r>
              <a:rPr lang="en-US" sz="1382" dirty="0"/>
              <a:t>X east-west, W south-north, Y stored south</a:t>
            </a:r>
          </a:p>
          <a:p>
            <a:pPr marL="815967" lvl="1" indent="-238125"/>
            <a:r>
              <a:rPr lang="en-US" sz="1382" dirty="0"/>
              <a:t>Same X tile, different W tiles per layer</a:t>
            </a:r>
          </a:p>
          <a:p>
            <a:pPr marL="358775" indent="-238125"/>
            <a:r>
              <a:rPr lang="en-US" sz="1700" dirty="0"/>
              <a:t>What changed: W tile distribution</a:t>
            </a:r>
          </a:p>
          <a:p>
            <a:pPr marL="815967" lvl="1" indent="-238125"/>
            <a:r>
              <a:rPr lang="en-US" sz="1400" i="1" dirty="0"/>
              <a:t>Before</a:t>
            </a:r>
            <a:r>
              <a:rPr lang="en-US" sz="1400" dirty="0"/>
              <a:t>: partition W tiles, pass along sub-tiles</a:t>
            </a:r>
          </a:p>
          <a:p>
            <a:pPr marL="815967" lvl="1" indent="-238125"/>
            <a:r>
              <a:rPr lang="en-US" sz="1400" i="1" dirty="0"/>
              <a:t>Now</a:t>
            </a:r>
            <a:r>
              <a:rPr lang="en-US" sz="1400" dirty="0"/>
              <a:t>: each layer gets its own full W tile</a:t>
            </a:r>
            <a:br>
              <a:rPr lang="en-US" sz="1400" dirty="0"/>
            </a:br>
            <a:r>
              <a:rPr lang="en-US" sz="1400" i="1" dirty="0"/>
              <a:t>directly </a:t>
            </a:r>
            <a:r>
              <a:rPr lang="en-US" sz="1400" dirty="0"/>
              <a:t>from HBM (no systolic Z movement)</a:t>
            </a:r>
          </a:p>
          <a:p>
            <a:pPr marL="806450" lvl="1" indent="-230188">
              <a:buSzPct val="65000"/>
              <a:buFont typeface="Wingdings" panose="05000000000000000000" pitchFamily="2" charset="2"/>
              <a:buChar char="Ø"/>
            </a:pPr>
            <a:r>
              <a:rPr lang="en-US" sz="1400" dirty="0"/>
              <a:t>No risk of underutilizing RedMulE</a:t>
            </a:r>
          </a:p>
          <a:p>
            <a:pPr marL="806450" lvl="1" indent="-230188">
              <a:buSzPct val="65000"/>
              <a:buFont typeface="Wingdings" panose="05000000000000000000" pitchFamily="2" charset="2"/>
              <a:buChar char="Ø"/>
            </a:pPr>
            <a:r>
              <a:rPr lang="en-US" sz="1400" dirty="0"/>
              <a:t>Better TCDM utilization &amp; arith. intensity</a:t>
            </a:r>
          </a:p>
          <a:p>
            <a:pPr marL="815967" lvl="1" indent="-238125"/>
            <a:endParaRPr lang="de-CH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E1135-39E3-B02E-FED0-4DE52F99DF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 dirty="0"/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86B89BE-1C47-E496-B587-2317774F17BC}"/>
              </a:ext>
            </a:extLst>
          </p:cNvPr>
          <p:cNvGrpSpPr/>
          <p:nvPr/>
        </p:nvGrpSpPr>
        <p:grpSpPr>
          <a:xfrm>
            <a:off x="5207245" y="1194255"/>
            <a:ext cx="2961443" cy="1461650"/>
            <a:chOff x="5123934" y="984150"/>
            <a:chExt cx="3240000" cy="1616158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E9D29E52-7ABD-F44C-EA87-970DD30CE536}"/>
                </a:ext>
              </a:extLst>
            </p:cNvPr>
            <p:cNvGrpSpPr/>
            <p:nvPr/>
          </p:nvGrpSpPr>
          <p:grpSpPr>
            <a:xfrm>
              <a:off x="5123934" y="984150"/>
              <a:ext cx="3240000" cy="1587600"/>
              <a:chOff x="5591489" y="1202838"/>
              <a:chExt cx="2507275" cy="1231445"/>
            </a:xfrm>
          </p:grpSpPr>
          <p:sp>
            <p:nvSpPr>
              <p:cNvPr id="86" name="Parallelogram 85">
                <a:extLst>
                  <a:ext uri="{FF2B5EF4-FFF2-40B4-BE49-F238E27FC236}">
                    <a16:creationId xmlns:a16="http://schemas.microsoft.com/office/drawing/2014/main" id="{A70A3145-8892-7F63-BB2A-853E8515EA82}"/>
                  </a:ext>
                </a:extLst>
              </p:cNvPr>
              <p:cNvSpPr/>
              <p:nvPr/>
            </p:nvSpPr>
            <p:spPr>
              <a:xfrm>
                <a:off x="5591489" y="2001795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87" name="Parallelogram 86">
                <a:extLst>
                  <a:ext uri="{FF2B5EF4-FFF2-40B4-BE49-F238E27FC236}">
                    <a16:creationId xmlns:a16="http://schemas.microsoft.com/office/drawing/2014/main" id="{AC2EE888-F541-88D5-EF04-BFE9B86923D4}"/>
                  </a:ext>
                </a:extLst>
              </p:cNvPr>
              <p:cNvSpPr/>
              <p:nvPr/>
            </p:nvSpPr>
            <p:spPr>
              <a:xfrm>
                <a:off x="6017797" y="2001794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0" name="Parallelogram 89">
                <a:extLst>
                  <a:ext uri="{FF2B5EF4-FFF2-40B4-BE49-F238E27FC236}">
                    <a16:creationId xmlns:a16="http://schemas.microsoft.com/office/drawing/2014/main" id="{CE6F341B-C43E-24FD-4FCA-3D1CECA7E77F}"/>
                  </a:ext>
                </a:extLst>
              </p:cNvPr>
              <p:cNvSpPr/>
              <p:nvPr/>
            </p:nvSpPr>
            <p:spPr>
              <a:xfrm>
                <a:off x="6444105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2" name="Parallelogram 91">
                <a:extLst>
                  <a:ext uri="{FF2B5EF4-FFF2-40B4-BE49-F238E27FC236}">
                    <a16:creationId xmlns:a16="http://schemas.microsoft.com/office/drawing/2014/main" id="{C12EFECC-06D2-F733-2986-60ECF119A6A9}"/>
                  </a:ext>
                </a:extLst>
              </p:cNvPr>
              <p:cNvSpPr/>
              <p:nvPr/>
            </p:nvSpPr>
            <p:spPr>
              <a:xfrm>
                <a:off x="6870413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3" name="Parallelogram 92">
                <a:extLst>
                  <a:ext uri="{FF2B5EF4-FFF2-40B4-BE49-F238E27FC236}">
                    <a16:creationId xmlns:a16="http://schemas.microsoft.com/office/drawing/2014/main" id="{4CEAEFA0-3AE2-2A17-107C-5D3A8997A387}"/>
                  </a:ext>
                </a:extLst>
              </p:cNvPr>
              <p:cNvSpPr/>
              <p:nvPr/>
            </p:nvSpPr>
            <p:spPr>
              <a:xfrm>
                <a:off x="7296721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4" name="Parallelogram 93">
                <a:extLst>
                  <a:ext uri="{FF2B5EF4-FFF2-40B4-BE49-F238E27FC236}">
                    <a16:creationId xmlns:a16="http://schemas.microsoft.com/office/drawing/2014/main" id="{86AF3911-2746-AD92-EEE2-8B5538217551}"/>
                  </a:ext>
                </a:extLst>
              </p:cNvPr>
              <p:cNvSpPr/>
              <p:nvPr/>
            </p:nvSpPr>
            <p:spPr>
              <a:xfrm>
                <a:off x="5778782" y="17422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5" name="Parallelogram 94">
                <a:extLst>
                  <a:ext uri="{FF2B5EF4-FFF2-40B4-BE49-F238E27FC236}">
                    <a16:creationId xmlns:a16="http://schemas.microsoft.com/office/drawing/2014/main" id="{87E14DAB-3B57-E426-2C99-8432EC60F6B6}"/>
                  </a:ext>
                </a:extLst>
              </p:cNvPr>
              <p:cNvSpPr/>
              <p:nvPr/>
            </p:nvSpPr>
            <p:spPr>
              <a:xfrm>
                <a:off x="6205090" y="1742298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6" name="Parallelogram 95">
                <a:extLst>
                  <a:ext uri="{FF2B5EF4-FFF2-40B4-BE49-F238E27FC236}">
                    <a16:creationId xmlns:a16="http://schemas.microsoft.com/office/drawing/2014/main" id="{52B9E20C-202B-4A17-F467-7E25DA53F9AF}"/>
                  </a:ext>
                </a:extLst>
              </p:cNvPr>
              <p:cNvSpPr/>
              <p:nvPr/>
            </p:nvSpPr>
            <p:spPr>
              <a:xfrm>
                <a:off x="6631398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7" name="Parallelogram 96">
                <a:extLst>
                  <a:ext uri="{FF2B5EF4-FFF2-40B4-BE49-F238E27FC236}">
                    <a16:creationId xmlns:a16="http://schemas.microsoft.com/office/drawing/2014/main" id="{C30F6F21-4A2C-A5EA-BA74-1B684FA5498E}"/>
                  </a:ext>
                </a:extLst>
              </p:cNvPr>
              <p:cNvSpPr/>
              <p:nvPr/>
            </p:nvSpPr>
            <p:spPr>
              <a:xfrm>
                <a:off x="7057706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8" name="Parallelogram 97">
                <a:extLst>
                  <a:ext uri="{FF2B5EF4-FFF2-40B4-BE49-F238E27FC236}">
                    <a16:creationId xmlns:a16="http://schemas.microsoft.com/office/drawing/2014/main" id="{97237790-161A-16C8-4AA0-525B5C5AE0E2}"/>
                  </a:ext>
                </a:extLst>
              </p:cNvPr>
              <p:cNvSpPr/>
              <p:nvPr/>
            </p:nvSpPr>
            <p:spPr>
              <a:xfrm>
                <a:off x="7484014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9" name="Parallelogram 98">
                <a:extLst>
                  <a:ext uri="{FF2B5EF4-FFF2-40B4-BE49-F238E27FC236}">
                    <a16:creationId xmlns:a16="http://schemas.microsoft.com/office/drawing/2014/main" id="{01DF4A46-90E1-38DD-2705-83FB3A411137}"/>
                  </a:ext>
                </a:extLst>
              </p:cNvPr>
              <p:cNvSpPr/>
              <p:nvPr/>
            </p:nvSpPr>
            <p:spPr>
              <a:xfrm>
                <a:off x="5967224" y="1482801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0" name="Parallelogram 99">
                <a:extLst>
                  <a:ext uri="{FF2B5EF4-FFF2-40B4-BE49-F238E27FC236}">
                    <a16:creationId xmlns:a16="http://schemas.microsoft.com/office/drawing/2014/main" id="{221E4F88-8873-6BB2-7512-3EAA2182B196}"/>
                  </a:ext>
                </a:extLst>
              </p:cNvPr>
              <p:cNvSpPr/>
              <p:nvPr/>
            </p:nvSpPr>
            <p:spPr>
              <a:xfrm>
                <a:off x="6393532" y="14828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1" name="Parallelogram 100">
                <a:extLst>
                  <a:ext uri="{FF2B5EF4-FFF2-40B4-BE49-F238E27FC236}">
                    <a16:creationId xmlns:a16="http://schemas.microsoft.com/office/drawing/2014/main" id="{E1960433-3F19-EAE0-9D90-E83AD8ADCEF2}"/>
                  </a:ext>
                </a:extLst>
              </p:cNvPr>
              <p:cNvSpPr/>
              <p:nvPr/>
            </p:nvSpPr>
            <p:spPr>
              <a:xfrm>
                <a:off x="6819840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2" name="Parallelogram 101">
                <a:extLst>
                  <a:ext uri="{FF2B5EF4-FFF2-40B4-BE49-F238E27FC236}">
                    <a16:creationId xmlns:a16="http://schemas.microsoft.com/office/drawing/2014/main" id="{0493DF23-B66E-7307-D429-C6AA1E4687E9}"/>
                  </a:ext>
                </a:extLst>
              </p:cNvPr>
              <p:cNvSpPr/>
              <p:nvPr/>
            </p:nvSpPr>
            <p:spPr>
              <a:xfrm>
                <a:off x="7246148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3" name="Parallelogram 102">
                <a:extLst>
                  <a:ext uri="{FF2B5EF4-FFF2-40B4-BE49-F238E27FC236}">
                    <a16:creationId xmlns:a16="http://schemas.microsoft.com/office/drawing/2014/main" id="{0CFD0D64-CB3C-E7D7-2E3B-3BE881833437}"/>
                  </a:ext>
                </a:extLst>
              </p:cNvPr>
              <p:cNvSpPr/>
              <p:nvPr/>
            </p:nvSpPr>
            <p:spPr>
              <a:xfrm>
                <a:off x="7672456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5" name="Parallelogram 104">
                <a:extLst>
                  <a:ext uri="{FF2B5EF4-FFF2-40B4-BE49-F238E27FC236}">
                    <a16:creationId xmlns:a16="http://schemas.microsoft.com/office/drawing/2014/main" id="{3CE9CB49-3350-3222-C8E8-6C11E73D3517}"/>
                  </a:ext>
                </a:extLst>
              </p:cNvPr>
              <p:cNvSpPr/>
              <p:nvPr/>
            </p:nvSpPr>
            <p:spPr>
              <a:xfrm>
                <a:off x="6594330" y="1223301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6" name="Parallelogram 105">
                <a:extLst>
                  <a:ext uri="{FF2B5EF4-FFF2-40B4-BE49-F238E27FC236}">
                    <a16:creationId xmlns:a16="http://schemas.microsoft.com/office/drawing/2014/main" id="{976E86AE-1F4F-D317-A206-5004DF5908FB}"/>
                  </a:ext>
                </a:extLst>
              </p:cNvPr>
              <p:cNvSpPr/>
              <p:nvPr/>
            </p:nvSpPr>
            <p:spPr>
              <a:xfrm>
                <a:off x="7020638" y="12233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7" name="Parallelogram 106">
                <a:extLst>
                  <a:ext uri="{FF2B5EF4-FFF2-40B4-BE49-F238E27FC236}">
                    <a16:creationId xmlns:a16="http://schemas.microsoft.com/office/drawing/2014/main" id="{EA3D53BD-EC76-7E55-B04E-06406B5F420D}"/>
                  </a:ext>
                </a:extLst>
              </p:cNvPr>
              <p:cNvSpPr/>
              <p:nvPr/>
            </p:nvSpPr>
            <p:spPr>
              <a:xfrm>
                <a:off x="7446946" y="12233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9" name="Parallelogram 108">
                <a:extLst>
                  <a:ext uri="{FF2B5EF4-FFF2-40B4-BE49-F238E27FC236}">
                    <a16:creationId xmlns:a16="http://schemas.microsoft.com/office/drawing/2014/main" id="{6A2E3C55-A276-6E5F-AEA5-D37AE55539AB}"/>
                  </a:ext>
                </a:extLst>
              </p:cNvPr>
              <p:cNvSpPr/>
              <p:nvPr/>
            </p:nvSpPr>
            <p:spPr>
              <a:xfrm>
                <a:off x="5829355" y="2261288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10" name="Parallelogram 109">
                <a:extLst>
                  <a:ext uri="{FF2B5EF4-FFF2-40B4-BE49-F238E27FC236}">
                    <a16:creationId xmlns:a16="http://schemas.microsoft.com/office/drawing/2014/main" id="{947FCD12-4104-7A62-9552-00CC11C6AAF8}"/>
                  </a:ext>
                </a:extLst>
              </p:cNvPr>
              <p:cNvSpPr/>
              <p:nvPr/>
            </p:nvSpPr>
            <p:spPr>
              <a:xfrm>
                <a:off x="6255663" y="226128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11" name="Parallelogram 110">
                <a:extLst>
                  <a:ext uri="{FF2B5EF4-FFF2-40B4-BE49-F238E27FC236}">
                    <a16:creationId xmlns:a16="http://schemas.microsoft.com/office/drawing/2014/main" id="{A1D5A5AF-45B0-1F52-E570-5E29B2ED12CC}"/>
                  </a:ext>
                </a:extLst>
              </p:cNvPr>
              <p:cNvSpPr/>
              <p:nvPr/>
            </p:nvSpPr>
            <p:spPr>
              <a:xfrm>
                <a:off x="6681971" y="226128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730046D0-176F-E7C6-19DA-341BDB85E3B9}"/>
                  </a:ext>
                </a:extLst>
              </p:cNvPr>
              <p:cNvGrpSpPr/>
              <p:nvPr/>
            </p:nvGrpSpPr>
            <p:grpSpPr>
              <a:xfrm>
                <a:off x="6043083" y="1342819"/>
                <a:ext cx="1654659" cy="691990"/>
                <a:chOff x="6373907" y="2355556"/>
                <a:chExt cx="1654659" cy="691990"/>
              </a:xfrm>
            </p:grpSpPr>
            <p:sp>
              <p:nvSpPr>
                <p:cNvPr id="121" name="Parallelogram 120">
                  <a:extLst>
                    <a:ext uri="{FF2B5EF4-FFF2-40B4-BE49-F238E27FC236}">
                      <a16:creationId xmlns:a16="http://schemas.microsoft.com/office/drawing/2014/main" id="{55267643-6859-CBD8-A287-B4A577A2529D}"/>
                    </a:ext>
                  </a:extLst>
                </p:cNvPr>
                <p:cNvSpPr/>
                <p:nvPr/>
              </p:nvSpPr>
              <p:spPr>
                <a:xfrm>
                  <a:off x="6373907" y="2874551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2" name="Parallelogram 121">
                  <a:extLst>
                    <a:ext uri="{FF2B5EF4-FFF2-40B4-BE49-F238E27FC236}">
                      <a16:creationId xmlns:a16="http://schemas.microsoft.com/office/drawing/2014/main" id="{87BBC0D0-31D6-A996-061B-42BB106FC84A}"/>
                    </a:ext>
                  </a:extLst>
                </p:cNvPr>
                <p:cNvSpPr/>
                <p:nvPr/>
              </p:nvSpPr>
              <p:spPr>
                <a:xfrm>
                  <a:off x="6800215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3" name="Parallelogram 122">
                  <a:extLst>
                    <a:ext uri="{FF2B5EF4-FFF2-40B4-BE49-F238E27FC236}">
                      <a16:creationId xmlns:a16="http://schemas.microsoft.com/office/drawing/2014/main" id="{2E6466A4-EAF2-F971-3DF8-86C5C7CA0BD7}"/>
                    </a:ext>
                  </a:extLst>
                </p:cNvPr>
                <p:cNvSpPr/>
                <p:nvPr/>
              </p:nvSpPr>
              <p:spPr>
                <a:xfrm>
                  <a:off x="7226523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4" name="Parallelogram 123">
                  <a:extLst>
                    <a:ext uri="{FF2B5EF4-FFF2-40B4-BE49-F238E27FC236}">
                      <a16:creationId xmlns:a16="http://schemas.microsoft.com/office/drawing/2014/main" id="{52CD19E6-820B-6752-B92D-308720A5C3BB}"/>
                    </a:ext>
                  </a:extLst>
                </p:cNvPr>
                <p:cNvSpPr/>
                <p:nvPr/>
              </p:nvSpPr>
              <p:spPr>
                <a:xfrm>
                  <a:off x="6561200" y="2615055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5" name="Parallelogram 124">
                  <a:extLst>
                    <a:ext uri="{FF2B5EF4-FFF2-40B4-BE49-F238E27FC236}">
                      <a16:creationId xmlns:a16="http://schemas.microsoft.com/office/drawing/2014/main" id="{A94C204A-7F9B-E65A-5D1C-2DE76B5DA994}"/>
                    </a:ext>
                  </a:extLst>
                </p:cNvPr>
                <p:cNvSpPr/>
                <p:nvPr/>
              </p:nvSpPr>
              <p:spPr>
                <a:xfrm>
                  <a:off x="6987508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6" name="Parallelogram 125">
                  <a:extLst>
                    <a:ext uri="{FF2B5EF4-FFF2-40B4-BE49-F238E27FC236}">
                      <a16:creationId xmlns:a16="http://schemas.microsoft.com/office/drawing/2014/main" id="{8D7A2ADE-CF00-5DE7-BDDF-087EA1EF4AFC}"/>
                    </a:ext>
                  </a:extLst>
                </p:cNvPr>
                <p:cNvSpPr/>
                <p:nvPr/>
              </p:nvSpPr>
              <p:spPr>
                <a:xfrm>
                  <a:off x="7413816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7" name="Parallelogram 126">
                  <a:extLst>
                    <a:ext uri="{FF2B5EF4-FFF2-40B4-BE49-F238E27FC236}">
                      <a16:creationId xmlns:a16="http://schemas.microsoft.com/office/drawing/2014/main" id="{EE3A84D0-FE64-4F7A-01D8-B3CF9E3303FE}"/>
                    </a:ext>
                  </a:extLst>
                </p:cNvPr>
                <p:cNvSpPr/>
                <p:nvPr/>
              </p:nvSpPr>
              <p:spPr>
                <a:xfrm>
                  <a:off x="6749642" y="2355557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8" name="Parallelogram 127">
                  <a:extLst>
                    <a:ext uri="{FF2B5EF4-FFF2-40B4-BE49-F238E27FC236}">
                      <a16:creationId xmlns:a16="http://schemas.microsoft.com/office/drawing/2014/main" id="{BCFA430C-E94D-0753-FA70-E0CE5006D216}"/>
                    </a:ext>
                  </a:extLst>
                </p:cNvPr>
                <p:cNvSpPr/>
                <p:nvPr/>
              </p:nvSpPr>
              <p:spPr>
                <a:xfrm>
                  <a:off x="7175950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9" name="Parallelogram 128">
                  <a:extLst>
                    <a:ext uri="{FF2B5EF4-FFF2-40B4-BE49-F238E27FC236}">
                      <a16:creationId xmlns:a16="http://schemas.microsoft.com/office/drawing/2014/main" id="{79FFAF33-4B25-E356-F032-EB2133641B0B}"/>
                    </a:ext>
                  </a:extLst>
                </p:cNvPr>
                <p:cNvSpPr/>
                <p:nvPr/>
              </p:nvSpPr>
              <p:spPr>
                <a:xfrm>
                  <a:off x="7602258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7F922BAA-FB82-A340-9203-AE2BE0D8276B}"/>
                  </a:ext>
                </a:extLst>
              </p:cNvPr>
              <p:cNvGrpSpPr/>
              <p:nvPr/>
            </p:nvGrpSpPr>
            <p:grpSpPr>
              <a:xfrm>
                <a:off x="6044509" y="1202838"/>
                <a:ext cx="1654659" cy="691990"/>
                <a:chOff x="6373907" y="2355556"/>
                <a:chExt cx="1654659" cy="691990"/>
              </a:xfrm>
            </p:grpSpPr>
            <p:sp>
              <p:nvSpPr>
                <p:cNvPr id="132" name="Parallelogram 131">
                  <a:extLst>
                    <a:ext uri="{FF2B5EF4-FFF2-40B4-BE49-F238E27FC236}">
                      <a16:creationId xmlns:a16="http://schemas.microsoft.com/office/drawing/2014/main" id="{3E929092-71DD-4D59-A945-50B899589A64}"/>
                    </a:ext>
                  </a:extLst>
                </p:cNvPr>
                <p:cNvSpPr/>
                <p:nvPr/>
              </p:nvSpPr>
              <p:spPr>
                <a:xfrm>
                  <a:off x="6373907" y="2874551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3" name="Parallelogram 132">
                  <a:extLst>
                    <a:ext uri="{FF2B5EF4-FFF2-40B4-BE49-F238E27FC236}">
                      <a16:creationId xmlns:a16="http://schemas.microsoft.com/office/drawing/2014/main" id="{95937C32-6A13-D4F0-4C8D-678A348E88DE}"/>
                    </a:ext>
                  </a:extLst>
                </p:cNvPr>
                <p:cNvSpPr/>
                <p:nvPr/>
              </p:nvSpPr>
              <p:spPr>
                <a:xfrm>
                  <a:off x="6800215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4" name="Parallelogram 133">
                  <a:extLst>
                    <a:ext uri="{FF2B5EF4-FFF2-40B4-BE49-F238E27FC236}">
                      <a16:creationId xmlns:a16="http://schemas.microsoft.com/office/drawing/2014/main" id="{538D2E0E-8D70-1EE8-5D26-AB93266321E2}"/>
                    </a:ext>
                  </a:extLst>
                </p:cNvPr>
                <p:cNvSpPr/>
                <p:nvPr/>
              </p:nvSpPr>
              <p:spPr>
                <a:xfrm>
                  <a:off x="7226523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5" name="Parallelogram 134">
                  <a:extLst>
                    <a:ext uri="{FF2B5EF4-FFF2-40B4-BE49-F238E27FC236}">
                      <a16:creationId xmlns:a16="http://schemas.microsoft.com/office/drawing/2014/main" id="{841C68BF-FFE5-5CA5-DCC4-0ED38D668A44}"/>
                    </a:ext>
                  </a:extLst>
                </p:cNvPr>
                <p:cNvSpPr/>
                <p:nvPr/>
              </p:nvSpPr>
              <p:spPr>
                <a:xfrm>
                  <a:off x="6561200" y="2615055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6" name="Parallelogram 135">
                  <a:extLst>
                    <a:ext uri="{FF2B5EF4-FFF2-40B4-BE49-F238E27FC236}">
                      <a16:creationId xmlns:a16="http://schemas.microsoft.com/office/drawing/2014/main" id="{9E6105E4-AB13-6E5D-E2BA-D7B190EBA579}"/>
                    </a:ext>
                  </a:extLst>
                </p:cNvPr>
                <p:cNvSpPr/>
                <p:nvPr/>
              </p:nvSpPr>
              <p:spPr>
                <a:xfrm>
                  <a:off x="6987508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7" name="Parallelogram 136">
                  <a:extLst>
                    <a:ext uri="{FF2B5EF4-FFF2-40B4-BE49-F238E27FC236}">
                      <a16:creationId xmlns:a16="http://schemas.microsoft.com/office/drawing/2014/main" id="{38A82349-D3CC-99FA-3039-4176C362B106}"/>
                    </a:ext>
                  </a:extLst>
                </p:cNvPr>
                <p:cNvSpPr/>
                <p:nvPr/>
              </p:nvSpPr>
              <p:spPr>
                <a:xfrm>
                  <a:off x="7413816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8" name="Parallelogram 137">
                  <a:extLst>
                    <a:ext uri="{FF2B5EF4-FFF2-40B4-BE49-F238E27FC236}">
                      <a16:creationId xmlns:a16="http://schemas.microsoft.com/office/drawing/2014/main" id="{615B374A-F26C-7058-A2B8-3CACAF19734F}"/>
                    </a:ext>
                  </a:extLst>
                </p:cNvPr>
                <p:cNvSpPr/>
                <p:nvPr/>
              </p:nvSpPr>
              <p:spPr>
                <a:xfrm>
                  <a:off x="6749642" y="2355557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9" name="Parallelogram 138">
                  <a:extLst>
                    <a:ext uri="{FF2B5EF4-FFF2-40B4-BE49-F238E27FC236}">
                      <a16:creationId xmlns:a16="http://schemas.microsoft.com/office/drawing/2014/main" id="{523A20BE-3A33-244A-A03A-5D8D3609A45E}"/>
                    </a:ext>
                  </a:extLst>
                </p:cNvPr>
                <p:cNvSpPr/>
                <p:nvPr/>
              </p:nvSpPr>
              <p:spPr>
                <a:xfrm>
                  <a:off x="7175950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40" name="Parallelogram 139">
                  <a:extLst>
                    <a:ext uri="{FF2B5EF4-FFF2-40B4-BE49-F238E27FC236}">
                      <a16:creationId xmlns:a16="http://schemas.microsoft.com/office/drawing/2014/main" id="{61CE9D61-752E-B8EC-8050-6B657F4BEC83}"/>
                    </a:ext>
                  </a:extLst>
                </p:cNvPr>
                <p:cNvSpPr/>
                <p:nvPr/>
              </p:nvSpPr>
              <p:spPr>
                <a:xfrm>
                  <a:off x="7602258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</p:grp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783EF5F-2E6F-94DF-2109-87F01603DC0B}"/>
                </a:ext>
              </a:extLst>
            </p:cNvPr>
            <p:cNvSpPr txBox="1"/>
            <p:nvPr/>
          </p:nvSpPr>
          <p:spPr>
            <a:xfrm>
              <a:off x="6688985" y="2377279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C05E484-2724-B44B-6197-DE40129A1686}"/>
                </a:ext>
              </a:extLst>
            </p:cNvPr>
            <p:cNvSpPr txBox="1"/>
            <p:nvPr/>
          </p:nvSpPr>
          <p:spPr>
            <a:xfrm>
              <a:off x="6154060" y="2368801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727FBD8-E242-CF37-CDE5-E1F2F4AEB847}"/>
                </a:ext>
              </a:extLst>
            </p:cNvPr>
            <p:cNvSpPr txBox="1"/>
            <p:nvPr/>
          </p:nvSpPr>
          <p:spPr>
            <a:xfrm>
              <a:off x="5603168" y="2368800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CFF792D-994B-3AA3-661F-4E64103DCBC8}"/>
                </a:ext>
              </a:extLst>
            </p:cNvPr>
            <p:cNvSpPr txBox="1"/>
            <p:nvPr/>
          </p:nvSpPr>
          <p:spPr>
            <a:xfrm>
              <a:off x="7491327" y="2031516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F5DD315-5723-468F-F83E-09CBDEFDC5FF}"/>
                </a:ext>
              </a:extLst>
            </p:cNvPr>
            <p:cNvSpPr txBox="1"/>
            <p:nvPr/>
          </p:nvSpPr>
          <p:spPr>
            <a:xfrm>
              <a:off x="7735251" y="1703114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47A4677-B675-80F1-4FDF-2A708140342A}"/>
                </a:ext>
              </a:extLst>
            </p:cNvPr>
            <p:cNvSpPr txBox="1"/>
            <p:nvPr/>
          </p:nvSpPr>
          <p:spPr>
            <a:xfrm>
              <a:off x="7975070" y="1368564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17D8AD3-A428-44CA-B9A6-847A26C9ADF1}"/>
                </a:ext>
              </a:extLst>
            </p:cNvPr>
            <p:cNvSpPr txBox="1"/>
            <p:nvPr/>
          </p:nvSpPr>
          <p:spPr>
            <a:xfrm>
              <a:off x="5282607" y="2031516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AE101CF-6F13-32B3-5E1A-4794D90CB9AA}"/>
                </a:ext>
              </a:extLst>
            </p:cNvPr>
            <p:cNvSpPr txBox="1"/>
            <p:nvPr/>
          </p:nvSpPr>
          <p:spPr>
            <a:xfrm>
              <a:off x="5530108" y="1700976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E67BD39-40C8-F6CA-A866-4C0B6BF8CD4F}"/>
                </a:ext>
              </a:extLst>
            </p:cNvPr>
            <p:cNvSpPr txBox="1"/>
            <p:nvPr/>
          </p:nvSpPr>
          <p:spPr>
            <a:xfrm>
              <a:off x="5757002" y="1359689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260E0F2-77CF-BC8A-D73F-A8110D67A505}"/>
              </a:ext>
            </a:extLst>
          </p:cNvPr>
          <p:cNvGrpSpPr/>
          <p:nvPr/>
        </p:nvGrpSpPr>
        <p:grpSpPr>
          <a:xfrm>
            <a:off x="5270760" y="1597546"/>
            <a:ext cx="1736812" cy="1253604"/>
            <a:chOff x="5270760" y="1597546"/>
            <a:chExt cx="1736812" cy="1253604"/>
          </a:xfrm>
        </p:grpSpPr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97270AD2-3A66-8C40-E929-018B2DB6E7DB}"/>
                </a:ext>
              </a:extLst>
            </p:cNvPr>
            <p:cNvCxnSpPr>
              <a:cxnSpLocks/>
            </p:cNvCxnSpPr>
            <p:nvPr/>
          </p:nvCxnSpPr>
          <p:spPr>
            <a:xfrm>
              <a:off x="5654953" y="2209302"/>
              <a:ext cx="1347995" cy="1027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Arrow Connector 216">
              <a:extLst>
                <a:ext uri="{FF2B5EF4-FFF2-40B4-BE49-F238E27FC236}">
                  <a16:creationId xmlns:a16="http://schemas.microsoft.com/office/drawing/2014/main" id="{8BA6C69D-94C4-A6D9-D443-03E96994E6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0463" y="1897810"/>
              <a:ext cx="758713" cy="108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Arrow Connector 217">
              <a:extLst>
                <a:ext uri="{FF2B5EF4-FFF2-40B4-BE49-F238E27FC236}">
                  <a16:creationId xmlns:a16="http://schemas.microsoft.com/office/drawing/2014/main" id="{43741331-4195-1C43-E1AF-6D4825C487DE}"/>
                </a:ext>
              </a:extLst>
            </p:cNvPr>
            <p:cNvCxnSpPr>
              <a:cxnSpLocks/>
              <a:endCxn id="135" idx="2"/>
            </p:cNvCxnSpPr>
            <p:nvPr/>
          </p:nvCxnSpPr>
          <p:spPr>
            <a:xfrm flipV="1">
              <a:off x="6050450" y="1597675"/>
              <a:ext cx="341664" cy="9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5EE7A935-4F9A-CEBE-CC16-200255063774}"/>
                </a:ext>
              </a:extLst>
            </p:cNvPr>
            <p:cNvCxnSpPr>
              <a:cxnSpLocks/>
              <a:stCxn id="144" idx="0"/>
            </p:cNvCxnSpPr>
            <p:nvPr/>
          </p:nvCxnSpPr>
          <p:spPr>
            <a:xfrm flipV="1">
              <a:off x="5781877" y="1597546"/>
              <a:ext cx="622073" cy="84898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432F9E50-9106-839F-7A7C-D1B31D428F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8893" y="1904628"/>
              <a:ext cx="344731" cy="523742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8F114B4C-73B5-5217-0FC5-3DCB5DE6E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156" y="2224410"/>
              <a:ext cx="169416" cy="20332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8E5C8BE8-6D79-2E0B-3924-8FF1BC0F3CC1}"/>
                </a:ext>
              </a:extLst>
            </p:cNvPr>
            <p:cNvSpPr txBox="1"/>
            <p:nvPr/>
          </p:nvSpPr>
          <p:spPr>
            <a:xfrm>
              <a:off x="6057900" y="2647950"/>
              <a:ext cx="2159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 defTabSz="720000"/>
              <a:r>
                <a:rPr lang="en-US" sz="1200" b="1" i="0" dirty="0">
                  <a:solidFill>
                    <a:srgbClr val="00B050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W</a:t>
              </a:r>
              <a:endParaRPr lang="en-150" sz="1200" b="1" i="0" dirty="0">
                <a:solidFill>
                  <a:srgbClr val="00B050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F88EEE0F-234C-0A47-9E91-71441DB9BB31}"/>
                </a:ext>
              </a:extLst>
            </p:cNvPr>
            <p:cNvSpPr txBox="1"/>
            <p:nvPr/>
          </p:nvSpPr>
          <p:spPr>
            <a:xfrm>
              <a:off x="5270760" y="1778390"/>
              <a:ext cx="2159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 defTabSz="720000"/>
              <a:r>
                <a:rPr lang="en-US" sz="1200" b="1" dirty="0">
                  <a:solidFill>
                    <a:srgbClr val="A8322C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X</a:t>
              </a:r>
              <a:endParaRPr lang="en-150" sz="1200" b="1" i="0" dirty="0">
                <a:solidFill>
                  <a:srgbClr val="A8322C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D32FDFB-0FA4-5276-999F-FD002A98A7CF}"/>
              </a:ext>
            </a:extLst>
          </p:cNvPr>
          <p:cNvGrpSpPr/>
          <p:nvPr/>
        </p:nvGrpSpPr>
        <p:grpSpPr>
          <a:xfrm>
            <a:off x="4453288" y="3220165"/>
            <a:ext cx="4367460" cy="1109807"/>
            <a:chOff x="4453288" y="3220165"/>
            <a:chExt cx="4367460" cy="110980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47E56DB-59DA-A786-6643-464995107352}"/>
                </a:ext>
              </a:extLst>
            </p:cNvPr>
            <p:cNvSpPr/>
            <p:nvPr/>
          </p:nvSpPr>
          <p:spPr>
            <a:xfrm>
              <a:off x="4757403" y="3220165"/>
              <a:ext cx="1715823" cy="110638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8E6C73E-34D7-A067-CA3E-B1B8A869FB8E}"/>
                </a:ext>
              </a:extLst>
            </p:cNvPr>
            <p:cNvGrpSpPr/>
            <p:nvPr/>
          </p:nvGrpSpPr>
          <p:grpSpPr>
            <a:xfrm>
              <a:off x="4780170" y="3241838"/>
              <a:ext cx="642944" cy="1048971"/>
              <a:chOff x="1332797" y="3398412"/>
              <a:chExt cx="382489" cy="2362942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6807F5B-9F22-0EE4-51C2-7DA13E987B16}"/>
                  </a:ext>
                </a:extLst>
              </p:cNvPr>
              <p:cNvSpPr/>
              <p:nvPr/>
            </p:nvSpPr>
            <p:spPr>
              <a:xfrm>
                <a:off x="1334348" y="5368704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EAFAB16-679D-71E2-C6BE-C2669B44E265}"/>
                  </a:ext>
                </a:extLst>
              </p:cNvPr>
              <p:cNvSpPr/>
              <p:nvPr/>
            </p:nvSpPr>
            <p:spPr>
              <a:xfrm>
                <a:off x="1332797" y="4703995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03767E5-B877-FD0D-57D2-4A8EAE7B9048}"/>
                  </a:ext>
                </a:extLst>
              </p:cNvPr>
              <p:cNvSpPr/>
              <p:nvPr/>
            </p:nvSpPr>
            <p:spPr>
              <a:xfrm>
                <a:off x="1335474" y="4056446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479505B-7DD8-CEA0-E033-F14F3191A33C}"/>
                  </a:ext>
                </a:extLst>
              </p:cNvPr>
              <p:cNvSpPr/>
              <p:nvPr/>
            </p:nvSpPr>
            <p:spPr>
              <a:xfrm>
                <a:off x="1338298" y="3398412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19D6C1BA-808F-7A86-84DC-B406974D38E6}"/>
                </a:ext>
              </a:extLst>
            </p:cNvPr>
            <p:cNvSpPr/>
            <p:nvPr/>
          </p:nvSpPr>
          <p:spPr>
            <a:xfrm>
              <a:off x="5469680" y="3241838"/>
              <a:ext cx="927678" cy="1048971"/>
            </a:xfrm>
            <a:prstGeom prst="triangle">
              <a:avLst>
                <a:gd name="adj" fmla="val 0"/>
              </a:avLst>
            </a:prstGeom>
            <a:solidFill>
              <a:srgbClr val="156082">
                <a:lumMod val="40000"/>
                <a:lumOff val="60000"/>
                <a:alpha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952A44B-8934-5585-FC78-212F4D6274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7728" y="4205753"/>
              <a:ext cx="171405" cy="843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3C6A565-1D97-AF1A-8570-C591736BF531}"/>
                </a:ext>
              </a:extLst>
            </p:cNvPr>
            <p:cNvCxnSpPr>
              <a:cxnSpLocks/>
            </p:cNvCxnSpPr>
            <p:nvPr/>
          </p:nvCxnSpPr>
          <p:spPr>
            <a:xfrm>
              <a:off x="4968875" y="3330858"/>
              <a:ext cx="56904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6E79C00-0763-4674-C835-DCAB2C466D01}"/>
                </a:ext>
              </a:extLst>
            </p:cNvPr>
            <p:cNvCxnSpPr>
              <a:cxnSpLocks/>
            </p:cNvCxnSpPr>
            <p:nvPr/>
          </p:nvCxnSpPr>
          <p:spPr>
            <a:xfrm>
              <a:off x="5106265" y="3624833"/>
              <a:ext cx="69827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82CC0C5-CD15-D991-9955-97A1B219A87D}"/>
                </a:ext>
              </a:extLst>
            </p:cNvPr>
            <p:cNvGrpSpPr/>
            <p:nvPr/>
          </p:nvGrpSpPr>
          <p:grpSpPr>
            <a:xfrm>
              <a:off x="6002257" y="3264000"/>
              <a:ext cx="534881" cy="493356"/>
              <a:chOff x="288879" y="5895604"/>
              <a:chExt cx="1084515" cy="985945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C3E64D5A-8B5E-8623-46BE-86175B9062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0729" y="5917647"/>
                <a:ext cx="0" cy="558265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1B8E2DCB-B8BB-4A3B-4E9F-12E8A4A7BB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063" y="6466491"/>
                <a:ext cx="508734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D6F410A-2B50-1059-9ABB-063F5CBE3D01}"/>
                  </a:ext>
                </a:extLst>
              </p:cNvPr>
              <p:cNvSpPr txBox="1"/>
              <p:nvPr/>
            </p:nvSpPr>
            <p:spPr>
              <a:xfrm>
                <a:off x="288879" y="5895604"/>
                <a:ext cx="240771" cy="246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z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FA6156F-F3A0-A199-E498-C2708069FFD6}"/>
                  </a:ext>
                </a:extLst>
              </p:cNvPr>
              <p:cNvSpPr txBox="1"/>
              <p:nvPr/>
            </p:nvSpPr>
            <p:spPr>
              <a:xfrm>
                <a:off x="881961" y="6389490"/>
                <a:ext cx="491433" cy="492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y</a:t>
                </a: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9855D77-D69A-7FB2-F7D4-B12A17D7A339}"/>
                </a:ext>
              </a:extLst>
            </p:cNvPr>
            <p:cNvCxnSpPr>
              <a:cxnSpLocks/>
            </p:cNvCxnSpPr>
            <p:nvPr/>
          </p:nvCxnSpPr>
          <p:spPr>
            <a:xfrm>
              <a:off x="5235575" y="3910695"/>
              <a:ext cx="81942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D8728DF-B6F9-B488-9016-334289246788}"/>
                </a:ext>
              </a:extLst>
            </p:cNvPr>
            <p:cNvCxnSpPr>
              <a:cxnSpLocks/>
            </p:cNvCxnSpPr>
            <p:nvPr/>
          </p:nvCxnSpPr>
          <p:spPr>
            <a:xfrm>
              <a:off x="5347016" y="4200991"/>
              <a:ext cx="96817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25C706E5-1BB6-7401-1ED2-00E4DF97AC10}"/>
                </a:ext>
              </a:extLst>
            </p:cNvPr>
            <p:cNvSpPr/>
            <p:nvPr/>
          </p:nvSpPr>
          <p:spPr>
            <a:xfrm rot="5400000">
              <a:off x="4333395" y="4024026"/>
              <a:ext cx="425839" cy="186053"/>
            </a:xfrm>
            <a:prstGeom prst="rect">
              <a:avLst/>
            </a:prstGeom>
            <a:solidFill>
              <a:srgbClr val="156082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54000" rIns="54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HBM</a:t>
              </a:r>
              <a:endPara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00FC757-67AA-B319-A035-9634088F0957}"/>
                </a:ext>
              </a:extLst>
            </p:cNvPr>
            <p:cNvGrpSpPr/>
            <p:nvPr/>
          </p:nvGrpSpPr>
          <p:grpSpPr>
            <a:xfrm>
              <a:off x="6764289" y="3254876"/>
              <a:ext cx="2056459" cy="1068336"/>
              <a:chOff x="7143099" y="1420935"/>
              <a:chExt cx="2056459" cy="106833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3CF170E-E5E5-69D1-E019-AC10369B195F}"/>
                  </a:ext>
                </a:extLst>
              </p:cNvPr>
              <p:cNvSpPr/>
              <p:nvPr/>
            </p:nvSpPr>
            <p:spPr>
              <a:xfrm>
                <a:off x="7433978" y="1433390"/>
                <a:ext cx="1734186" cy="1052279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229B3E8-FC2A-E470-6ED8-13D892FB974B}"/>
                  </a:ext>
                </a:extLst>
              </p:cNvPr>
              <p:cNvGrpSpPr/>
              <p:nvPr/>
            </p:nvGrpSpPr>
            <p:grpSpPr>
              <a:xfrm>
                <a:off x="7456989" y="1454003"/>
                <a:ext cx="649825" cy="997673"/>
                <a:chOff x="1332797" y="3398412"/>
                <a:chExt cx="382489" cy="2362942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3D5E2C3-5C03-47D1-A67F-C7D94F15D03D}"/>
                    </a:ext>
                  </a:extLst>
                </p:cNvPr>
                <p:cNvSpPr/>
                <p:nvPr/>
              </p:nvSpPr>
              <p:spPr>
                <a:xfrm>
                  <a:off x="1334348" y="5368704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C913AFFA-12AE-4DC5-9D05-056413024AE6}"/>
                    </a:ext>
                  </a:extLst>
                </p:cNvPr>
                <p:cNvSpPr/>
                <p:nvPr/>
              </p:nvSpPr>
              <p:spPr>
                <a:xfrm>
                  <a:off x="1332797" y="4703995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81617CC-53B3-801F-91BC-974DF77DD687}"/>
                    </a:ext>
                  </a:extLst>
                </p:cNvPr>
                <p:cNvSpPr/>
                <p:nvPr/>
              </p:nvSpPr>
              <p:spPr>
                <a:xfrm>
                  <a:off x="1335474" y="4056446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9E253C0-8ED9-CF57-CB3E-5AA6C24526A8}"/>
                    </a:ext>
                  </a:extLst>
                </p:cNvPr>
                <p:cNvSpPr/>
                <p:nvPr/>
              </p:nvSpPr>
              <p:spPr>
                <a:xfrm>
                  <a:off x="1338298" y="3398412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A7E971AF-AADD-E0D6-5CBE-58A3CC46A4A0}"/>
                  </a:ext>
                </a:extLst>
              </p:cNvPr>
              <p:cNvSpPr/>
              <p:nvPr/>
            </p:nvSpPr>
            <p:spPr>
              <a:xfrm>
                <a:off x="8153878" y="1454003"/>
                <a:ext cx="937606" cy="997673"/>
              </a:xfrm>
              <a:prstGeom prst="triangle">
                <a:avLst>
                  <a:gd name="adj" fmla="val 0"/>
                </a:avLst>
              </a:prstGeom>
              <a:solidFill>
                <a:srgbClr val="156082">
                  <a:lumMod val="40000"/>
                  <a:lumOff val="60000"/>
                  <a:alpha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05026587-639C-30A9-D01D-0D75D04921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13022" y="2418288"/>
                <a:ext cx="189646" cy="1845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9E7FB30-437B-5A97-9192-4FA7F3B78E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3818" y="1540691"/>
                <a:ext cx="190154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25D59D5-9289-2876-F5F2-FDD55902C7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6199" y="1804873"/>
                <a:ext cx="43947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FE54AA6-4C2F-F35E-1F1C-3104B4D3C0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1437" y="2075345"/>
                <a:ext cx="70008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598BBCB1-D728-2A61-3128-D84A9E1F7BA4}"/>
                  </a:ext>
                </a:extLst>
              </p:cNvPr>
              <p:cNvCxnSpPr>
                <a:cxnSpLocks/>
                <a:stCxn id="54" idx="3"/>
              </p:cNvCxnSpPr>
              <p:nvPr/>
            </p:nvCxnSpPr>
            <p:spPr>
              <a:xfrm flipV="1">
                <a:off x="8040960" y="2364568"/>
                <a:ext cx="976313" cy="3719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8B74BDE-65C0-3183-199E-4B643173BEB3}"/>
                  </a:ext>
                </a:extLst>
              </p:cNvPr>
              <p:cNvGrpSpPr/>
              <p:nvPr/>
            </p:nvGrpSpPr>
            <p:grpSpPr>
              <a:xfrm>
                <a:off x="8664823" y="1454132"/>
                <a:ext cx="534735" cy="505746"/>
                <a:chOff x="295453" y="5844178"/>
                <a:chExt cx="1072738" cy="1062670"/>
              </a:xfrm>
            </p:grpSpPr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CC050723-A4D2-8FA9-E7E4-B0D189DD75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3064" y="5917646"/>
                  <a:ext cx="7665" cy="566637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Text" lastClr="000000">
                      <a:lumMod val="65000"/>
                      <a:lumOff val="35000"/>
                    </a:sys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BAFA178B-324B-CFAB-3AD5-457B61E977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3063" y="6466491"/>
                  <a:ext cx="508734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Text" lastClr="000000">
                      <a:lumMod val="65000"/>
                      <a:lumOff val="35000"/>
                    </a:sys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E99275E-03CA-2B6E-F8A1-80920F37D708}"/>
                    </a:ext>
                  </a:extLst>
                </p:cNvPr>
                <p:cNvSpPr txBox="1"/>
                <p:nvPr/>
              </p:nvSpPr>
              <p:spPr>
                <a:xfrm>
                  <a:off x="295453" y="5844178"/>
                  <a:ext cx="240771" cy="246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z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F32B2D1-53C7-D12F-F09E-17CA31CF8C33}"/>
                    </a:ext>
                  </a:extLst>
                </p:cNvPr>
                <p:cNvSpPr txBox="1"/>
                <p:nvPr/>
              </p:nvSpPr>
              <p:spPr>
                <a:xfrm>
                  <a:off x="881962" y="6389490"/>
                  <a:ext cx="486229" cy="517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y</a:t>
                  </a:r>
                </a:p>
              </p:txBody>
            </p:sp>
          </p:grp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3A47461-B995-C24C-00C4-201906AEC949}"/>
                  </a:ext>
                </a:extLst>
              </p:cNvPr>
              <p:cNvSpPr/>
              <p:nvPr/>
            </p:nvSpPr>
            <p:spPr>
              <a:xfrm>
                <a:off x="7502668" y="2315120"/>
                <a:ext cx="538292" cy="106334"/>
              </a:xfrm>
              <a:prstGeom prst="rect">
                <a:avLst/>
              </a:prstGeom>
              <a:solidFill>
                <a:srgbClr val="4EA72E">
                  <a:lumMod val="60000"/>
                  <a:lumOff val="40000"/>
                </a:srgbClr>
              </a:solidFill>
              <a:ln w="9525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347FAE63-2F06-0259-C39F-DE562B28B913}"/>
                  </a:ext>
                </a:extLst>
              </p:cNvPr>
              <p:cNvSpPr/>
              <p:nvPr/>
            </p:nvSpPr>
            <p:spPr>
              <a:xfrm>
                <a:off x="7504296" y="2029259"/>
                <a:ext cx="538292" cy="106334"/>
              </a:xfrm>
              <a:prstGeom prst="rect">
                <a:avLst/>
              </a:prstGeom>
              <a:solidFill>
                <a:srgbClr val="4EA72E">
                  <a:lumMod val="60000"/>
                  <a:lumOff val="40000"/>
                </a:srgbClr>
              </a:solidFill>
              <a:ln w="9525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9905AA70-A7B6-491C-173D-673EE689840C}"/>
                  </a:ext>
                </a:extLst>
              </p:cNvPr>
              <p:cNvSpPr/>
              <p:nvPr/>
            </p:nvSpPr>
            <p:spPr>
              <a:xfrm>
                <a:off x="7504862" y="1758771"/>
                <a:ext cx="538292" cy="106334"/>
              </a:xfrm>
              <a:prstGeom prst="rect">
                <a:avLst/>
              </a:prstGeom>
              <a:solidFill>
                <a:srgbClr val="4EA72E">
                  <a:lumMod val="60000"/>
                  <a:lumOff val="40000"/>
                </a:srgbClr>
              </a:solidFill>
              <a:ln w="9525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3318F57A-95DA-8F78-2FE4-74F8B88B5B22}"/>
                  </a:ext>
                </a:extLst>
              </p:cNvPr>
              <p:cNvSpPr/>
              <p:nvPr/>
            </p:nvSpPr>
            <p:spPr>
              <a:xfrm>
                <a:off x="7506677" y="1482290"/>
                <a:ext cx="538292" cy="106334"/>
              </a:xfrm>
              <a:prstGeom prst="rect">
                <a:avLst/>
              </a:prstGeom>
              <a:solidFill>
                <a:srgbClr val="4EA72E">
                  <a:lumMod val="60000"/>
                  <a:lumOff val="40000"/>
                </a:srgbClr>
              </a:solidFill>
              <a:ln w="9525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FAAA488E-F757-FD04-2BCE-2C9124BD5B1A}"/>
                  </a:ext>
                </a:extLst>
              </p:cNvPr>
              <p:cNvSpPr/>
              <p:nvPr/>
            </p:nvSpPr>
            <p:spPr>
              <a:xfrm rot="5400000">
                <a:off x="7018650" y="2187866"/>
                <a:ext cx="425854" cy="176955"/>
              </a:xfrm>
              <a:prstGeom prst="rect">
                <a:avLst/>
              </a:prstGeom>
              <a:solidFill>
                <a:srgbClr val="156082">
                  <a:lumMod val="60000"/>
                  <a:lumOff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54000" rIns="5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HBM</a:t>
                </a:r>
                <a:endPara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66191714-0512-A099-F975-7FB0308BF65A}"/>
                  </a:ext>
                </a:extLst>
              </p:cNvPr>
              <p:cNvSpPr txBox="1"/>
              <p:nvPr/>
            </p:nvSpPr>
            <p:spPr>
              <a:xfrm>
                <a:off x="7635191" y="2256966"/>
                <a:ext cx="59629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i="1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w</a:t>
                </a:r>
                <a:r>
                  <a:rPr lang="en-US" sz="700" i="1" kern="1200" baseline="-250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0</a:t>
                </a:r>
                <a:endParaRPr kumimoji="0" lang="en-US" sz="7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EB3DC97E-BC98-F4A2-8073-F1CDFAA0FD33}"/>
                  </a:ext>
                </a:extLst>
              </p:cNvPr>
              <p:cNvSpPr txBox="1"/>
              <p:nvPr/>
            </p:nvSpPr>
            <p:spPr>
              <a:xfrm>
                <a:off x="7637318" y="1968880"/>
                <a:ext cx="59629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i="1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w</a:t>
                </a:r>
                <a:r>
                  <a:rPr lang="en-US" sz="700" i="1" kern="1200" baseline="-250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1</a:t>
                </a:r>
                <a:endParaRPr kumimoji="0" lang="en-US" sz="7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E287C30-120B-B8AC-CB5B-3C107AD3E8E4}"/>
                  </a:ext>
                </a:extLst>
              </p:cNvPr>
              <p:cNvSpPr txBox="1"/>
              <p:nvPr/>
            </p:nvSpPr>
            <p:spPr>
              <a:xfrm>
                <a:off x="7635191" y="1699625"/>
                <a:ext cx="59629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i="1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w</a:t>
                </a:r>
                <a:r>
                  <a:rPr lang="en-US" sz="700" i="1" kern="1200" baseline="-250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2</a:t>
                </a:r>
                <a:endParaRPr kumimoji="0" lang="en-US" sz="7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A4922917-5D19-1419-516C-436F1C6C4FAB}"/>
                  </a:ext>
                </a:extLst>
              </p:cNvPr>
              <p:cNvSpPr txBox="1"/>
              <p:nvPr/>
            </p:nvSpPr>
            <p:spPr>
              <a:xfrm>
                <a:off x="7636760" y="1420935"/>
                <a:ext cx="59629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i="1" kern="12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w</a:t>
                </a:r>
                <a:r>
                  <a:rPr lang="en-US" sz="700" i="1" kern="1200" baseline="-25000" dirty="0">
                    <a:solidFill>
                      <a:prstClr val="black"/>
                    </a:solidFill>
                    <a:latin typeface="Aptos" panose="02110004020202020204"/>
                    <a:ea typeface="+mn-ea"/>
                    <a:cs typeface="+mn-cs"/>
                  </a:rPr>
                  <a:t>3</a:t>
                </a:r>
                <a:endParaRPr kumimoji="0" lang="en-US" sz="7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74F67A46-9D81-C45C-23F8-94C0AF26A3B1}"/>
                  </a:ext>
                </a:extLst>
              </p:cNvPr>
              <p:cNvSpPr/>
              <p:nvPr/>
            </p:nvSpPr>
            <p:spPr>
              <a:xfrm>
                <a:off x="7319798" y="2135592"/>
                <a:ext cx="538291" cy="248867"/>
              </a:xfrm>
              <a:custGeom>
                <a:avLst/>
                <a:gdLst>
                  <a:gd name="csX0" fmla="*/ 0 w 307975"/>
                  <a:gd name="csY0" fmla="*/ 428625 h 428625"/>
                  <a:gd name="csX1" fmla="*/ 292100 w 307975"/>
                  <a:gd name="csY1" fmla="*/ 412750 h 428625"/>
                  <a:gd name="csX2" fmla="*/ 307975 w 307975"/>
                  <a:gd name="csY2" fmla="*/ 0 h 428625"/>
                  <a:gd name="csX0" fmla="*/ 0 w 307975"/>
                  <a:gd name="csY0" fmla="*/ 428625 h 428625"/>
                  <a:gd name="csX1" fmla="*/ 296862 w 307975"/>
                  <a:gd name="csY1" fmla="*/ 427037 h 428625"/>
                  <a:gd name="csX2" fmla="*/ 307975 w 307975"/>
                  <a:gd name="csY2" fmla="*/ 0 h 428625"/>
                  <a:gd name="csX0" fmla="*/ 0 w 308123"/>
                  <a:gd name="csY0" fmla="*/ 428625 h 429418"/>
                  <a:gd name="csX1" fmla="*/ 306387 w 308123"/>
                  <a:gd name="csY1" fmla="*/ 429418 h 429418"/>
                  <a:gd name="csX2" fmla="*/ 307975 w 308123"/>
                  <a:gd name="csY2" fmla="*/ 0 h 4294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123" h="429418">
                    <a:moveTo>
                      <a:pt x="0" y="428625"/>
                    </a:moveTo>
                    <a:lnTo>
                      <a:pt x="306387" y="429418"/>
                    </a:lnTo>
                    <a:cubicBezTo>
                      <a:pt x="311679" y="291835"/>
                      <a:pt x="302683" y="137583"/>
                      <a:pt x="307975" y="0"/>
                    </a:cubicBezTo>
                  </a:path>
                </a:pathLst>
              </a:custGeom>
              <a:noFill/>
              <a:ln w="19050">
                <a:solidFill>
                  <a:srgbClr val="156082"/>
                </a:solidFill>
                <a:headEnd type="none" w="med" len="med"/>
                <a:tailEnd type="triangl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150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1EFAF58E-5DC1-ECF6-FC60-BD987FB4E559}"/>
                  </a:ext>
                </a:extLst>
              </p:cNvPr>
              <p:cNvSpPr/>
              <p:nvPr/>
            </p:nvSpPr>
            <p:spPr>
              <a:xfrm>
                <a:off x="7319529" y="1865106"/>
                <a:ext cx="433948" cy="489526"/>
              </a:xfrm>
              <a:custGeom>
                <a:avLst/>
                <a:gdLst>
                  <a:gd name="csX0" fmla="*/ 0 w 307975"/>
                  <a:gd name="csY0" fmla="*/ 428625 h 428625"/>
                  <a:gd name="csX1" fmla="*/ 292100 w 307975"/>
                  <a:gd name="csY1" fmla="*/ 412750 h 428625"/>
                  <a:gd name="csX2" fmla="*/ 307975 w 307975"/>
                  <a:gd name="csY2" fmla="*/ 0 h 428625"/>
                  <a:gd name="csX0" fmla="*/ 0 w 307975"/>
                  <a:gd name="csY0" fmla="*/ 428625 h 428625"/>
                  <a:gd name="csX1" fmla="*/ 296862 w 307975"/>
                  <a:gd name="csY1" fmla="*/ 427037 h 428625"/>
                  <a:gd name="csX2" fmla="*/ 307975 w 307975"/>
                  <a:gd name="csY2" fmla="*/ 0 h 428625"/>
                  <a:gd name="csX0" fmla="*/ 0 w 308123"/>
                  <a:gd name="csY0" fmla="*/ 428625 h 429418"/>
                  <a:gd name="csX1" fmla="*/ 306387 w 308123"/>
                  <a:gd name="csY1" fmla="*/ 429418 h 429418"/>
                  <a:gd name="csX2" fmla="*/ 307975 w 308123"/>
                  <a:gd name="csY2" fmla="*/ 0 h 4294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123" h="429418">
                    <a:moveTo>
                      <a:pt x="0" y="428625"/>
                    </a:moveTo>
                    <a:lnTo>
                      <a:pt x="306387" y="429418"/>
                    </a:lnTo>
                    <a:cubicBezTo>
                      <a:pt x="311679" y="291835"/>
                      <a:pt x="302683" y="137583"/>
                      <a:pt x="307975" y="0"/>
                    </a:cubicBezTo>
                  </a:path>
                </a:pathLst>
              </a:custGeom>
              <a:noFill/>
              <a:ln w="19050">
                <a:solidFill>
                  <a:srgbClr val="156082"/>
                </a:solidFill>
                <a:headEnd type="none" w="med" len="med"/>
                <a:tailEnd type="triangl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150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7B25431-CD1A-F029-070D-E1C97518ED18}"/>
                  </a:ext>
                </a:extLst>
              </p:cNvPr>
              <p:cNvSpPr/>
              <p:nvPr/>
            </p:nvSpPr>
            <p:spPr>
              <a:xfrm>
                <a:off x="7319529" y="1588625"/>
                <a:ext cx="339068" cy="734287"/>
              </a:xfrm>
              <a:custGeom>
                <a:avLst/>
                <a:gdLst>
                  <a:gd name="csX0" fmla="*/ 0 w 307975"/>
                  <a:gd name="csY0" fmla="*/ 428625 h 428625"/>
                  <a:gd name="csX1" fmla="*/ 292100 w 307975"/>
                  <a:gd name="csY1" fmla="*/ 412750 h 428625"/>
                  <a:gd name="csX2" fmla="*/ 307975 w 307975"/>
                  <a:gd name="csY2" fmla="*/ 0 h 428625"/>
                  <a:gd name="csX0" fmla="*/ 0 w 307975"/>
                  <a:gd name="csY0" fmla="*/ 428625 h 428625"/>
                  <a:gd name="csX1" fmla="*/ 296862 w 307975"/>
                  <a:gd name="csY1" fmla="*/ 427037 h 428625"/>
                  <a:gd name="csX2" fmla="*/ 307975 w 307975"/>
                  <a:gd name="csY2" fmla="*/ 0 h 428625"/>
                  <a:gd name="csX0" fmla="*/ 0 w 308123"/>
                  <a:gd name="csY0" fmla="*/ 428625 h 429418"/>
                  <a:gd name="csX1" fmla="*/ 306387 w 308123"/>
                  <a:gd name="csY1" fmla="*/ 429418 h 429418"/>
                  <a:gd name="csX2" fmla="*/ 307975 w 308123"/>
                  <a:gd name="csY2" fmla="*/ 0 h 4294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8123" h="429418">
                    <a:moveTo>
                      <a:pt x="0" y="428625"/>
                    </a:moveTo>
                    <a:lnTo>
                      <a:pt x="306387" y="429418"/>
                    </a:lnTo>
                    <a:cubicBezTo>
                      <a:pt x="311679" y="291835"/>
                      <a:pt x="302683" y="137583"/>
                      <a:pt x="307975" y="0"/>
                    </a:cubicBezTo>
                  </a:path>
                </a:pathLst>
              </a:custGeom>
              <a:noFill/>
              <a:ln w="19050">
                <a:solidFill>
                  <a:srgbClr val="156082"/>
                </a:solidFill>
                <a:headEnd type="none" w="med" len="med"/>
                <a:tailEnd type="triangl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150"/>
              </a:p>
            </p:txBody>
          </p:sp>
        </p:grpSp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67F2664C-0DAC-051F-207C-56B3F471A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96633" y="3253274"/>
              <a:ext cx="660835" cy="1055406"/>
            </a:xfrm>
            <a:prstGeom prst="rect">
              <a:avLst/>
            </a:prstGeom>
          </p:spPr>
        </p:pic>
        <p:sp>
          <p:nvSpPr>
            <p:cNvPr id="248" name="Arrow: Right 247">
              <a:extLst>
                <a:ext uri="{FF2B5EF4-FFF2-40B4-BE49-F238E27FC236}">
                  <a16:creationId xmlns:a16="http://schemas.microsoft.com/office/drawing/2014/main" id="{65B45876-8AC9-C15E-6280-24FB31A62710}"/>
                </a:ext>
              </a:extLst>
            </p:cNvPr>
            <p:cNvSpPr/>
            <p:nvPr/>
          </p:nvSpPr>
          <p:spPr>
            <a:xfrm>
              <a:off x="6527800" y="3644900"/>
              <a:ext cx="488950" cy="20955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150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688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1A0DF-2B46-C2BC-9549-A2B97E0D0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52467D21-A8AF-E30A-2BAF-77B1ECC96237}"/>
              </a:ext>
            </a:extLst>
          </p:cNvPr>
          <p:cNvGraphicFramePr>
            <a:graphicFrameLocks/>
          </p:cNvGraphicFramePr>
          <p:nvPr/>
        </p:nvGraphicFramePr>
        <p:xfrm>
          <a:off x="4626042" y="1114035"/>
          <a:ext cx="3556000" cy="2934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oup 33">
            <a:extLst>
              <a:ext uri="{FF2B5EF4-FFF2-40B4-BE49-F238E27FC236}">
                <a16:creationId xmlns:a16="http://schemas.microsoft.com/office/drawing/2014/main" id="{9973D54B-943C-496A-08CF-768947735BBB}"/>
              </a:ext>
            </a:extLst>
          </p:cNvPr>
          <p:cNvGrpSpPr/>
          <p:nvPr/>
        </p:nvGrpSpPr>
        <p:grpSpPr>
          <a:xfrm>
            <a:off x="4537142" y="898581"/>
            <a:ext cx="3949700" cy="3159125"/>
            <a:chOff x="4692650" y="444500"/>
            <a:chExt cx="3949700" cy="315912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B17AEC4-90E3-1FB5-10BF-6FA29EFB0CC4}"/>
                </a:ext>
              </a:extLst>
            </p:cNvPr>
            <p:cNvSpPr/>
            <p:nvPr/>
          </p:nvSpPr>
          <p:spPr>
            <a:xfrm>
              <a:off x="4692650" y="444500"/>
              <a:ext cx="3905250" cy="315912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150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graphicFrame>
          <p:nvGraphicFramePr>
            <p:cNvPr id="28" name="Chart 27">
              <a:extLst>
                <a:ext uri="{FF2B5EF4-FFF2-40B4-BE49-F238E27FC236}">
                  <a16:creationId xmlns:a16="http://schemas.microsoft.com/office/drawing/2014/main" id="{52467D21-A8AF-E30A-2BAF-77B1ECC9623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81550" y="658019"/>
            <a:ext cx="3860800" cy="2936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A53554-B096-2B45-8FF7-9BCEDB72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Systolic GEMM: Performance Results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2BBCA-96D4-5628-050D-C3C77B695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375" y="742931"/>
            <a:ext cx="4075133" cy="4143263"/>
          </a:xfrm>
        </p:spPr>
        <p:txBody>
          <a:bodyPr/>
          <a:lstStyle/>
          <a:p>
            <a:pPr marL="361950" indent="-241300"/>
            <a:r>
              <a:rPr lang="en-US" sz="1700" dirty="0"/>
              <a:t>Good scaling for stacked layers</a:t>
            </a:r>
          </a:p>
          <a:p>
            <a:pPr marL="819142" lvl="1" indent="-241300"/>
            <a:r>
              <a:rPr lang="en-US" sz="1380" i="1" dirty="0"/>
              <a:t>2 layers</a:t>
            </a:r>
            <a:r>
              <a:rPr lang="en-US" sz="1380" dirty="0"/>
              <a:t>: </a:t>
            </a:r>
            <a:r>
              <a:rPr lang="en-US" sz="1380" b="1" dirty="0"/>
              <a:t>1.78× </a:t>
            </a:r>
            <a:r>
              <a:rPr lang="en-US" sz="1380" dirty="0"/>
              <a:t>faster</a:t>
            </a:r>
          </a:p>
          <a:p>
            <a:pPr marL="819142" lvl="1" indent="-241300"/>
            <a:r>
              <a:rPr lang="en-US" sz="1380" i="1" dirty="0"/>
              <a:t>4 layers: </a:t>
            </a:r>
            <a:r>
              <a:rPr lang="en-US" sz="1380" b="1" dirty="0"/>
              <a:t>2.98× </a:t>
            </a:r>
            <a:r>
              <a:rPr lang="en-US" sz="1380" dirty="0"/>
              <a:t>faster</a:t>
            </a:r>
          </a:p>
          <a:p>
            <a:pPr marL="406400" indent="-285750">
              <a:buSzPct val="65000"/>
              <a:buFont typeface="Wingdings" panose="05000000000000000000" pitchFamily="2" charset="2"/>
              <a:buChar char="Ø"/>
            </a:pPr>
            <a:r>
              <a:rPr lang="en-US" sz="1698" dirty="0"/>
              <a:t>Scaling losses due to</a:t>
            </a:r>
          </a:p>
          <a:p>
            <a:pPr marL="808038" lvl="1" indent="-231775">
              <a:buSzPct val="100000"/>
              <a:buFont typeface="Arial" panose="020B0604020202020204" pitchFamily="34" charset="0"/>
              <a:buChar char="•"/>
            </a:pPr>
            <a:r>
              <a:rPr lang="en-US" sz="1380" dirty="0"/>
              <a:t>Increased systolic delay</a:t>
            </a:r>
          </a:p>
          <a:p>
            <a:pPr marL="808038" lvl="1" indent="-231775">
              <a:buSzPct val="100000"/>
              <a:buFont typeface="Arial" panose="020B0604020202020204" pitchFamily="34" charset="0"/>
              <a:buChar char="•"/>
            </a:pPr>
            <a:r>
              <a:rPr lang="en-US" sz="1380" dirty="0"/>
              <a:t>Longer writeback phase</a:t>
            </a:r>
          </a:p>
          <a:p>
            <a:pPr marL="808038" lvl="1" indent="-231775">
              <a:buSzPct val="100000"/>
              <a:buFont typeface="Arial" panose="020B0604020202020204" pitchFamily="34" charset="0"/>
              <a:buChar char="•"/>
            </a:pPr>
            <a:r>
              <a:rPr lang="en-US" sz="1380" i="1" dirty="0"/>
              <a:t>At ≥4 layers</a:t>
            </a:r>
            <a:r>
              <a:rPr lang="en-US" sz="1380" dirty="0"/>
              <a:t>: </a:t>
            </a:r>
            <a:r>
              <a:rPr lang="en-US" sz="1380" b="1" dirty="0"/>
              <a:t>local link bottleneck</a:t>
            </a:r>
          </a:p>
          <a:p>
            <a:pPr marL="406400" indent="-285750">
              <a:buSzPct val="100000"/>
              <a:buFont typeface="Arial" panose="020B0604020202020204" pitchFamily="34" charset="0"/>
              <a:buChar char="•"/>
            </a:pPr>
            <a:r>
              <a:rPr lang="en-US" sz="1698" dirty="0"/>
              <a:t>Limitation: local link at origin must </a:t>
            </a:r>
            <a:br>
              <a:rPr lang="en-US" sz="1698" dirty="0"/>
            </a:br>
            <a:r>
              <a:rPr lang="en-US" sz="1698" dirty="0"/>
              <a:t>move </a:t>
            </a:r>
            <a:r>
              <a:rPr lang="en-US" sz="1698" i="1" dirty="0"/>
              <a:t>twice </a:t>
            </a:r>
            <a:r>
              <a:rPr lang="en-US" sz="1698" dirty="0"/>
              <a:t>the HBM data</a:t>
            </a:r>
          </a:p>
          <a:p>
            <a:pPr marL="808038" lvl="1" indent="-231775">
              <a:buSzPct val="100000"/>
              <a:buFont typeface="Arial" panose="020B0604020202020204" pitchFamily="34" charset="0"/>
              <a:buChar char="•"/>
            </a:pPr>
            <a:r>
              <a:rPr lang="en-US" sz="1360" dirty="0"/>
              <a:t>Must copy in weights (S) </a:t>
            </a:r>
            <a:r>
              <a:rPr lang="en-US" sz="1360" i="1" dirty="0"/>
              <a:t>and </a:t>
            </a:r>
            <a:r>
              <a:rPr lang="en-US" sz="1360" dirty="0"/>
              <a:t>inputs (W)</a:t>
            </a:r>
          </a:p>
          <a:p>
            <a:pPr marL="808038" lvl="1" indent="-231775">
              <a:buSzPct val="65000"/>
              <a:buFont typeface="Wingdings" panose="05000000000000000000" pitchFamily="2" charset="2"/>
              <a:buChar char="Ø"/>
            </a:pPr>
            <a:r>
              <a:rPr lang="en-US" sz="1360" dirty="0"/>
              <a:t>Limits</a:t>
            </a:r>
            <a:r>
              <a:rPr lang="en-US" sz="1360" i="1" dirty="0"/>
              <a:t> sum </a:t>
            </a:r>
            <a:r>
              <a:rPr lang="en-US" sz="1360" dirty="0"/>
              <a:t>of S and W HBM utils to 100%</a:t>
            </a:r>
          </a:p>
          <a:p>
            <a:pPr marL="808038" lvl="1" indent="-231775">
              <a:buSzPct val="65000"/>
              <a:buFont typeface="Wingdings" panose="05000000000000000000" pitchFamily="2" charset="2"/>
              <a:buChar char="Ø"/>
            </a:pPr>
            <a:r>
              <a:rPr lang="en-US" sz="1360" dirty="0"/>
              <a:t>Local link util </a:t>
            </a:r>
            <a:r>
              <a:rPr lang="en-US" sz="1360" i="1" dirty="0"/>
              <a:t>saturates</a:t>
            </a:r>
            <a:r>
              <a:rPr lang="en-US" sz="1360" dirty="0"/>
              <a:t> at 4 layers (86%)</a:t>
            </a:r>
          </a:p>
        </p:txBody>
      </p:sp>
      <p:sp>
        <p:nvSpPr>
          <p:cNvPr id="746" name="Slide Number Placeholder 4">
            <a:extLst>
              <a:ext uri="{FF2B5EF4-FFF2-40B4-BE49-F238E27FC236}">
                <a16:creationId xmlns:a16="http://schemas.microsoft.com/office/drawing/2014/main" id="{FAC36EF8-F5C9-073E-6C0C-9E09C817280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02A193-724A-592A-EA04-997B769B3979}"/>
              </a:ext>
            </a:extLst>
          </p:cNvPr>
          <p:cNvSpPr txBox="1"/>
          <p:nvPr/>
        </p:nvSpPr>
        <p:spPr>
          <a:xfrm rot="16200000">
            <a:off x="4282226" y="2189405"/>
            <a:ext cx="521593" cy="17386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800" b="0" i="0" dirty="0">
                <a:solidFill>
                  <a:schemeClr val="tx2"/>
                </a:solidFill>
                <a:latin typeface="Aptos" panose="020B0004020202020204" pitchFamily="34" charset="0"/>
                <a:cs typeface="Arial Narrow" panose="020B0604020202020204" pitchFamily="34" charset="0"/>
              </a:rPr>
              <a:t>Speedup</a:t>
            </a:r>
            <a:endParaRPr lang="en-150" sz="800" b="0" i="0" dirty="0">
              <a:solidFill>
                <a:schemeClr val="tx2"/>
              </a:solidFill>
              <a:latin typeface="Aptos" panose="020B00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33E34C-FCA1-7853-F045-85B4811E574B}"/>
              </a:ext>
            </a:extLst>
          </p:cNvPr>
          <p:cNvSpPr txBox="1"/>
          <p:nvPr/>
        </p:nvSpPr>
        <p:spPr>
          <a:xfrm rot="16200000">
            <a:off x="8096521" y="2249504"/>
            <a:ext cx="899373" cy="17386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800" b="0" i="0" dirty="0">
                <a:solidFill>
                  <a:schemeClr val="tx2"/>
                </a:solidFill>
                <a:latin typeface="Aptos" panose="020B0004020202020204" pitchFamily="34" charset="0"/>
                <a:cs typeface="Arial Narrow" panose="020B0604020202020204" pitchFamily="34" charset="0"/>
              </a:rPr>
              <a:t>Local link utilization</a:t>
            </a:r>
            <a:endParaRPr lang="en-150" sz="800" b="0" i="0" dirty="0">
              <a:solidFill>
                <a:schemeClr val="tx2"/>
              </a:solidFill>
              <a:latin typeface="Aptos" panose="020B00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42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9" grpId="0">
        <p:bldAsOne/>
      </p:bldGraphic>
      <p:bldP spid="3" grpId="0" uiExpand="1" build="p"/>
      <p:bldP spid="3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33CC-E7C6-B613-53FA-43D4E601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Systolic GEMM: Status and Next Steps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C3CCA-A5B0-B3C6-CCA3-6A7EEE25C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Current status:</a:t>
            </a:r>
          </a:p>
          <a:p>
            <a:pPr lvl="1"/>
            <a:r>
              <a:rPr lang="en-US" sz="1400" dirty="0"/>
              <a:t>3D Systolic kernel running, demonstrating speedups until bound by local link</a:t>
            </a:r>
          </a:p>
          <a:p>
            <a:r>
              <a:rPr lang="en-US" sz="1718" dirty="0"/>
              <a:t>Next steps:</a:t>
            </a:r>
          </a:p>
          <a:p>
            <a:pPr lvl="1"/>
            <a:r>
              <a:rPr lang="de-CH" sz="1400" dirty="0"/>
              <a:t>Investigate dataflows that avoid local link bottleneck (perhaps input/weight stationary)</a:t>
            </a:r>
          </a:p>
          <a:p>
            <a:pPr lvl="1"/>
            <a:r>
              <a:rPr lang="de-CH" sz="1400" dirty="0"/>
              <a:t>Implement parametric 3D links (BW, arity)</a:t>
            </a:r>
          </a:p>
          <a:p>
            <a:pPr lvl="1"/>
            <a:r>
              <a:rPr lang="de-CH" sz="1400" dirty="0"/>
              <a:t>Implement further kernels (e.g. Attention)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8F88-484B-40C4-1BC7-6EE3DA2EC05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BE2E-C02F-2B75-515B-DBBC8DC80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736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10774</TotalTime>
  <Words>676</Words>
  <Application>Microsoft Macintosh PowerPoint</Application>
  <PresentationFormat>On-screen Show (16:9)</PresentationFormat>
  <Paragraphs>121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 Narrow</vt:lpstr>
      <vt:lpstr>Consolas</vt:lpstr>
      <vt:lpstr>Aptos</vt:lpstr>
      <vt:lpstr>Calibri</vt:lpstr>
      <vt:lpstr>Arial</vt:lpstr>
      <vt:lpstr>Wingdings</vt:lpstr>
      <vt:lpstr>Calibri Light</vt:lpstr>
      <vt:lpstr>Simple Light</vt:lpstr>
      <vt:lpstr>PULP Triangle</vt:lpstr>
      <vt:lpstr>1_PULP Triangle</vt:lpstr>
      <vt:lpstr>QuantSparse 3D Biweekly 2026-02-26</vt:lpstr>
      <vt:lpstr>Agenda</vt:lpstr>
      <vt:lpstr>Recap: Performance Analysis</vt:lpstr>
      <vt:lpstr>Post-increment instruction extension</vt:lpstr>
      <vt:lpstr>Post-increment instruction extension</vt:lpstr>
      <vt:lpstr>Post-increment instruction extension</vt:lpstr>
      <vt:lpstr>3D Systolic GEMM on Cluster-Stacked System</vt:lpstr>
      <vt:lpstr>3D Systolic GEMM: Performance Results</vt:lpstr>
      <vt:lpstr>3D Systolic GEMM: Status and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1237</cp:revision>
  <dcterms:modified xsi:type="dcterms:W3CDTF">2026-02-26T07:39:38Z</dcterms:modified>
</cp:coreProperties>
</file>