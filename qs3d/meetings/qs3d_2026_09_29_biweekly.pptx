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  <p:sldMasterId id="2147483679" r:id="rId3"/>
  </p:sldMasterIdLst>
  <p:notesMasterIdLst>
    <p:notesMasterId r:id="rId15"/>
  </p:notesMasterIdLst>
  <p:sldIdLst>
    <p:sldId id="256" r:id="rId4"/>
    <p:sldId id="257" r:id="rId5"/>
    <p:sldId id="629" r:id="rId6"/>
    <p:sldId id="630" r:id="rId7"/>
    <p:sldId id="631" r:id="rId8"/>
    <p:sldId id="632" r:id="rId9"/>
    <p:sldId id="633" r:id="rId10"/>
    <p:sldId id="634" r:id="rId11"/>
    <p:sldId id="635" r:id="rId12"/>
    <p:sldId id="636" r:id="rId13"/>
    <p:sldId id="637" r:id="rId14"/>
  </p:sldIdLst>
  <p:sldSz cx="9144000" cy="5143500" type="screen16x9"/>
  <p:notesSz cx="6858000" cy="9144000"/>
  <p:embeddedFontLst>
    <p:embeddedFont>
      <p:font typeface="Arial Narrow" panose="020B0604020202020204" pitchFamily="34" charset="0"/>
      <p:regular r:id="rId16"/>
      <p:bold r:id="rId17"/>
      <p:italic r:id="rId18"/>
      <p:boldItalic r:id="rId19"/>
    </p:embeddedFont>
    <p:embeddedFont>
      <p:font typeface="Consolas" panose="020B0609020204030204" pitchFamily="49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865A6A1-EB45-4525-89A6-CB3BD430D531}">
          <p14:sldIdLst>
            <p14:sldId id="256"/>
            <p14:sldId id="257"/>
          </p14:sldIdLst>
        </p14:section>
        <p14:section name="Recap" id="{870E3B29-350E-CE4E-9DFE-3645BAE98000}">
          <p14:sldIdLst>
            <p14:sldId id="629"/>
            <p14:sldId id="630"/>
            <p14:sldId id="631"/>
            <p14:sldId id="632"/>
            <p14:sldId id="633"/>
            <p14:sldId id="634"/>
            <p14:sldId id="635"/>
            <p14:sldId id="636"/>
            <p14:sldId id="6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69B0"/>
    <a:srgbClr val="A9FFA9"/>
    <a:srgbClr val="67AB9F"/>
    <a:srgbClr val="A7127A"/>
    <a:srgbClr val="037491"/>
    <a:srgbClr val="168638"/>
    <a:srgbClr val="A6CAEC"/>
    <a:srgbClr val="BA362D"/>
    <a:srgbClr val="BBA471"/>
    <a:srgbClr val="C45D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EF3602-E09C-4FB3-88FD-0AF07CCC1424}">
  <a:tblStyle styleId="{90EF3602-E09C-4FB3-88FD-0AF07CCC14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8"/>
    <p:restoredTop sz="94680"/>
  </p:normalViewPr>
  <p:slideViewPr>
    <p:cSldViewPr snapToGrid="0">
      <p:cViewPr varScale="1">
        <p:scale>
          <a:sx n="194" d="100"/>
          <a:sy n="194" d="100"/>
        </p:scale>
        <p:origin x="800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6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7.xml"/><Relationship Id="rId19" Type="http://schemas.openxmlformats.org/officeDocument/2006/relationships/font" Target="fonts/font4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9ca6226cd_2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39ca6226cd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9ca6226cd_2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g339ca6226cd_2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4"/>
          <p:cNvGrpSpPr/>
          <p:nvPr/>
        </p:nvGrpSpPr>
        <p:grpSpPr>
          <a:xfrm>
            <a:off x="1823465" y="163205"/>
            <a:ext cx="1581805" cy="342091"/>
            <a:chOff x="3645356" y="188193"/>
            <a:chExt cx="5677387" cy="1227805"/>
          </a:xfrm>
        </p:grpSpPr>
        <p:pic>
          <p:nvPicPr>
            <p:cNvPr id="66" name="Google Shape;66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4"/>
          <p:cNvSpPr/>
          <p:nvPr/>
        </p:nvSpPr>
        <p:spPr>
          <a:xfrm>
            <a:off x="5653737" y="1653177"/>
            <a:ext cx="3490273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6117" y="212211"/>
            <a:ext cx="1325875" cy="22097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286116" y="2336781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  <a:defRPr sz="19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286114" y="1391112"/>
            <a:ext cx="8000670" cy="857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/>
          <p:nvPr/>
        </p:nvSpPr>
        <p:spPr>
          <a:xfrm rot="2700024">
            <a:off x="7461825" y="2614213"/>
            <a:ext cx="1213073" cy="1213073"/>
          </a:xfrm>
          <a:prstGeom prst="roundRect">
            <a:avLst>
              <a:gd name="adj" fmla="val 415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 rot="2700024">
            <a:off x="7104894" y="2891492"/>
            <a:ext cx="646325" cy="662609"/>
          </a:xfrm>
          <a:prstGeom prst="roundRect">
            <a:avLst>
              <a:gd name="adj" fmla="val 838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1348" y="2434954"/>
            <a:ext cx="1836547" cy="157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95899" y="4503916"/>
            <a:ext cx="260270" cy="223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 descr="A picture containing ax, vector graphics, tool&#10;&#10;Description automatically generated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22972" y="4258967"/>
            <a:ext cx="223066" cy="183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06373" y="4781048"/>
            <a:ext cx="256264" cy="17728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6949019" y="4480217"/>
            <a:ext cx="165735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pulp-platform.org</a:t>
            </a:r>
            <a:endParaRPr sz="1100"/>
          </a:p>
        </p:txBody>
      </p:sp>
      <p:sp>
        <p:nvSpPr>
          <p:cNvPr id="79" name="Google Shape;79;p14"/>
          <p:cNvSpPr txBox="1"/>
          <p:nvPr/>
        </p:nvSpPr>
        <p:spPr>
          <a:xfrm>
            <a:off x="7360145" y="4233920"/>
            <a:ext cx="1246228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@pulp_platform</a:t>
            </a:r>
            <a:endParaRPr sz="1100"/>
          </a:p>
        </p:txBody>
      </p:sp>
      <p:sp>
        <p:nvSpPr>
          <p:cNvPr id="80" name="Google Shape;80;p14"/>
          <p:cNvSpPr txBox="1"/>
          <p:nvPr/>
        </p:nvSpPr>
        <p:spPr>
          <a:xfrm>
            <a:off x="6573889" y="4726513"/>
            <a:ext cx="203248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youtube.com/pulp_platform</a:t>
            </a:r>
            <a:endParaRPr sz="1100"/>
          </a:p>
        </p:txBody>
      </p:sp>
      <p:sp>
        <p:nvSpPr>
          <p:cNvPr id="81" name="Google Shape;81;p14"/>
          <p:cNvSpPr txBox="1"/>
          <p:nvPr/>
        </p:nvSpPr>
        <p:spPr>
          <a:xfrm>
            <a:off x="286115" y="4412057"/>
            <a:ext cx="4538560" cy="53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PULP Platform</a:t>
            </a:r>
            <a:b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Hardware, the way it should be!</a:t>
            </a:r>
            <a:endParaRPr sz="1100"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2"/>
          </p:nvPr>
        </p:nvSpPr>
        <p:spPr>
          <a:xfrm>
            <a:off x="286116" y="291366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>
                <a:solidFill>
                  <a:schemeClr val="accent3"/>
                </a:solidFill>
              </a:defRPr>
            </a:lvl1pPr>
            <a:lvl2pPr lvl="1">
              <a:buNone/>
              <a:defRPr sz="1300">
                <a:solidFill>
                  <a:schemeClr val="accent3"/>
                </a:solidFill>
              </a:defRPr>
            </a:lvl2pPr>
            <a:lvl3pPr lvl="2">
              <a:buNone/>
              <a:defRPr sz="1300">
                <a:solidFill>
                  <a:schemeClr val="accent3"/>
                </a:solidFill>
              </a:defRPr>
            </a:lvl3pPr>
            <a:lvl4pPr lvl="3">
              <a:buNone/>
              <a:defRPr sz="1300">
                <a:solidFill>
                  <a:schemeClr val="accent3"/>
                </a:solidFill>
              </a:defRPr>
            </a:lvl4pPr>
            <a:lvl5pPr lvl="4">
              <a:buNone/>
              <a:defRPr sz="1300">
                <a:solidFill>
                  <a:schemeClr val="accent3"/>
                </a:solidFill>
              </a:defRPr>
            </a:lvl5pPr>
            <a:lvl6pPr lvl="5">
              <a:buNone/>
              <a:defRPr sz="1300">
                <a:solidFill>
                  <a:schemeClr val="accent3"/>
                </a:solidFill>
              </a:defRPr>
            </a:lvl6pPr>
            <a:lvl7pPr lvl="6">
              <a:buNone/>
              <a:defRPr sz="1300">
                <a:solidFill>
                  <a:schemeClr val="accent3"/>
                </a:solidFill>
              </a:defRPr>
            </a:lvl7pPr>
            <a:lvl8pPr lvl="7">
              <a:buNone/>
              <a:defRPr sz="1300">
                <a:solidFill>
                  <a:schemeClr val="accent3"/>
                </a:solidFill>
              </a:defRPr>
            </a:lvl8pPr>
            <a:lvl9pPr lvl="8">
              <a:buNone/>
              <a:defRPr sz="13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by-side">
  <p:cSld name="Two-by-sid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2"/>
          </p:nvPr>
        </p:nvSpPr>
        <p:spPr>
          <a:xfrm>
            <a:off x="4237713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plus two">
  <p:cSld name="One plus two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8000670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2"/>
          </p:nvPr>
        </p:nvSpPr>
        <p:spPr>
          <a:xfrm>
            <a:off x="237378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3"/>
          </p:nvPr>
        </p:nvSpPr>
        <p:spPr>
          <a:xfrm>
            <a:off x="4237713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n-Thick">
  <p:cSld name="Thin-Thic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3094760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2"/>
          </p:nvPr>
        </p:nvSpPr>
        <p:spPr>
          <a:xfrm>
            <a:off x="237378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ck-Thin">
  <p:cSld name="Thick-Thi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body" idx="2"/>
          </p:nvPr>
        </p:nvSpPr>
        <p:spPr>
          <a:xfrm>
            <a:off x="5380666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by-side">
  <p:cSld name="3-by-s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body" idx="1"/>
          </p:nvPr>
        </p:nvSpPr>
        <p:spPr>
          <a:xfrm>
            <a:off x="24454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2"/>
          </p:nvPr>
        </p:nvSpPr>
        <p:spPr>
          <a:xfrm>
            <a:off x="2959060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3"/>
          </p:nvPr>
        </p:nvSpPr>
        <p:spPr>
          <a:xfrm>
            <a:off x="567357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box">
  <p:cSld name="4-box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240763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2"/>
          </p:nvPr>
        </p:nvSpPr>
        <p:spPr>
          <a:xfrm>
            <a:off x="4241101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3"/>
          </p:nvPr>
        </p:nvSpPr>
        <p:spPr>
          <a:xfrm>
            <a:off x="240763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4"/>
          </p:nvPr>
        </p:nvSpPr>
        <p:spPr>
          <a:xfrm>
            <a:off x="4241101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Background">
  <p:cSld name="Title Background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Only">
  <p:cSld name="Background 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/>
        </p:nvSpPr>
        <p:spPr>
          <a:xfrm>
            <a:off x="748938" y="392233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5" name="Google Shape;135;p2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o Background">
  <p:cSld name="No Background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Only">
  <p:cSld name="Body 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244839" y="284195"/>
            <a:ext cx="8000672" cy="471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1">
  <p:cSld name="Code Slide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52" name="Google Shape;152;p27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53" name="Google Shape;153;p27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55" name="Google Shape;155;p27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7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2">
  <p:cSld name="Code Slide 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62" name="Google Shape;162;p28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63" name="Google Shape;163;p28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64" name="Google Shape;164;p28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65" name="Google Shape;165;p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28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White">
  <p:cSld name="Empty White">
    <p:bg>
      <p:bgPr>
        <a:solidFill>
          <a:schemeClr val="lt2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Black">
  <p:cSld name="Empty Black">
    <p:bg>
      <p:bgPr>
        <a:solidFill>
          <a:schemeClr val="dk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+ Q&amp;A">
  <p:cSld name="Thank you + Q&amp;A">
    <p:bg>
      <p:bgPr>
        <a:solidFill>
          <a:srgbClr val="B4B4B6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/>
        </p:nvSpPr>
        <p:spPr>
          <a:xfrm>
            <a:off x="1532192" y="1567205"/>
            <a:ext cx="2474929" cy="65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0" i="0" u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1100"/>
          </a:p>
        </p:txBody>
      </p:sp>
      <p:sp>
        <p:nvSpPr>
          <p:cNvPr id="174" name="Google Shape;174;p31"/>
          <p:cNvSpPr/>
          <p:nvPr/>
        </p:nvSpPr>
        <p:spPr>
          <a:xfrm>
            <a:off x="5152847" y="1180109"/>
            <a:ext cx="2574971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72575" tIns="72575" rIns="72575" bIns="72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5545468" y="1591635"/>
            <a:ext cx="1160552" cy="610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i="0" u="none">
                <a:solidFill>
                  <a:srgbClr val="B4B4B6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sz="1100"/>
          </a:p>
        </p:txBody>
      </p:sp>
      <p:sp>
        <p:nvSpPr>
          <p:cNvPr id="176" name="Google Shape;176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03646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192FC1B-B3A0-78B7-C079-3AD8A4EDAFEE}"/>
              </a:ext>
            </a:extLst>
          </p:cNvPr>
          <p:cNvGrpSpPr/>
          <p:nvPr userDrawn="1"/>
        </p:nvGrpSpPr>
        <p:grpSpPr>
          <a:xfrm>
            <a:off x="1823463" y="163206"/>
            <a:ext cx="1581803" cy="342091"/>
            <a:chOff x="3645356" y="188193"/>
            <a:chExt cx="5677387" cy="1227805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FDC3554-F5A8-F2B0-CDD0-9503A1DE3A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449E88C-0CCF-054C-1626-D1593E596C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8D234E9D-C054-5674-1BA3-6CDBCAEC8DE6}"/>
              </a:ext>
            </a:extLst>
          </p:cNvPr>
          <p:cNvSpPr/>
          <p:nvPr userDrawn="1"/>
        </p:nvSpPr>
        <p:spPr>
          <a:xfrm>
            <a:off x="5653731" y="1653177"/>
            <a:ext cx="3490269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E74E66C-D0DE-D973-3A0F-2E71084138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117" y="212211"/>
            <a:ext cx="1325873" cy="220982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86116" y="2336781"/>
            <a:ext cx="4571806" cy="285742"/>
          </a:xfrm>
        </p:spPr>
        <p:txBody>
          <a:bodyPr lIns="0" tIns="0" rIns="0" bIns="0" anchor="b"/>
          <a:lstStyle>
            <a:lvl1pPr marL="0" indent="0" algn="l">
              <a:buNone/>
              <a:defRPr sz="1905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342885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5" indent="0" algn="ctr">
              <a:buNone/>
              <a:defRPr sz="1200"/>
            </a:lvl4pPr>
            <a:lvl5pPr marL="1371540" indent="0" algn="ctr">
              <a:buNone/>
              <a:defRPr sz="1200"/>
            </a:lvl5pPr>
            <a:lvl6pPr marL="1714425" indent="0" algn="ctr">
              <a:buNone/>
              <a:defRPr sz="1200"/>
            </a:lvl6pPr>
            <a:lvl7pPr marL="2057310" indent="0" algn="ctr">
              <a:buNone/>
              <a:defRPr sz="1200"/>
            </a:lvl7pPr>
            <a:lvl8pPr marL="2400195" indent="0" algn="ctr">
              <a:buNone/>
              <a:defRPr sz="1200"/>
            </a:lvl8pPr>
            <a:lvl9pPr marL="274308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86114" y="1391112"/>
            <a:ext cx="8000661" cy="857227"/>
          </a:xfrm>
        </p:spPr>
        <p:txBody>
          <a:bodyPr anchor="t"/>
          <a:lstStyle>
            <a:lvl1pPr>
              <a:defRPr sz="2857" b="0">
                <a:solidFill>
                  <a:schemeClr val="accent3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 dirty="0"/>
              <a:t>Click to edit Master title style (in case you have a</a:t>
            </a:r>
            <a:br>
              <a:rPr lang="en-US" noProof="0" dirty="0"/>
            </a:br>
            <a:r>
              <a:rPr lang="en-US" noProof="0" dirty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7461812" y="2614218"/>
            <a:ext cx="1213082" cy="1213063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7104883" y="2891495"/>
            <a:ext cx="646330" cy="662603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4F58EB-B7F2-49D6-1DDD-84753A25C0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1340" y="2434955"/>
            <a:ext cx="1836545" cy="1576054"/>
          </a:xfrm>
          <a:prstGeom prst="rect">
            <a:avLst/>
          </a:prstGeom>
          <a:ln w="66675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722F6A-3AA4-BFC3-F572-3A7E83CD6F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5890" y="4503916"/>
            <a:ext cx="260270" cy="223355"/>
          </a:xfrm>
          <a:prstGeom prst="rect">
            <a:avLst/>
          </a:prstGeom>
        </p:spPr>
      </p:pic>
      <p:pic>
        <p:nvPicPr>
          <p:cNvPr id="22" name="Picture 21" descr="A picture containing ax, vector graphics, tool&#10;&#10;Description automatically generated">
            <a:extLst>
              <a:ext uri="{FF2B5EF4-FFF2-40B4-BE49-F238E27FC236}">
                <a16:creationId xmlns:a16="http://schemas.microsoft.com/office/drawing/2014/main" id="{4DD662A7-2596-572A-621E-FC676E54EA9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22963" y="4258967"/>
            <a:ext cx="223066" cy="183508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C50372-BF19-6EDB-06B0-B684360D324B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06364" y="4781048"/>
            <a:ext cx="256264" cy="17729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0F954B-C9F2-7811-FBF9-F2B6708CE96A}"/>
              </a:ext>
            </a:extLst>
          </p:cNvPr>
          <p:cNvSpPr txBox="1"/>
          <p:nvPr userDrawn="1"/>
        </p:nvSpPr>
        <p:spPr>
          <a:xfrm>
            <a:off x="6949011" y="4480217"/>
            <a:ext cx="1657353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pulp-platform.org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E24402-6167-3DAC-15F7-96A8C18DA6C3}"/>
              </a:ext>
            </a:extLst>
          </p:cNvPr>
          <p:cNvSpPr txBox="1"/>
          <p:nvPr userDrawn="1"/>
        </p:nvSpPr>
        <p:spPr>
          <a:xfrm>
            <a:off x="7360137" y="4233920"/>
            <a:ext cx="1246227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@pulp_platform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0316D-DDCE-8E08-F033-57AFE61CA03C}"/>
              </a:ext>
            </a:extLst>
          </p:cNvPr>
          <p:cNvSpPr txBox="1"/>
          <p:nvPr userDrawn="1"/>
        </p:nvSpPr>
        <p:spPr>
          <a:xfrm>
            <a:off x="6573881" y="4726513"/>
            <a:ext cx="2032482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youtube.com/pulp_platform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09BED-6F4B-D060-60EF-CB1FD4E4F544}"/>
              </a:ext>
            </a:extLst>
          </p:cNvPr>
          <p:cNvSpPr txBox="1"/>
          <p:nvPr userDrawn="1"/>
        </p:nvSpPr>
        <p:spPr>
          <a:xfrm>
            <a:off x="286115" y="4412057"/>
            <a:ext cx="4538555" cy="53911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571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29" b="1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1429" b="0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1429" b="0" i="0" noProof="0" dirty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Open Source Hardware, the way it should be!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6116" y="2913663"/>
            <a:ext cx="4571806" cy="1285416"/>
          </a:xfrm>
        </p:spPr>
        <p:txBody>
          <a:bodyPr/>
          <a:lstStyle>
            <a:lvl1pPr marL="0" indent="0">
              <a:buNone/>
              <a:defRPr sz="1587" b="0">
                <a:solidFill>
                  <a:schemeClr val="accent3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noProof="0" dirty="0">
                <a:latin typeface="+mj-lt"/>
              </a:rPr>
              <a:t>Author Name 1    </a:t>
            </a:r>
            <a:r>
              <a:rPr lang="en-US" noProof="0" dirty="0">
                <a:solidFill>
                  <a:schemeClr val="tx1"/>
                </a:solidFill>
              </a:rPr>
              <a:t>mail1@iis.ee.ethz.ch</a:t>
            </a:r>
            <a:br>
              <a:rPr lang="en-US" noProof="0" dirty="0">
                <a:solidFill>
                  <a:schemeClr val="tx1"/>
                </a:solidFill>
              </a:rPr>
            </a:br>
            <a:r>
              <a:rPr lang="en-US" b="1" noProof="0" dirty="0">
                <a:latin typeface="+mj-lt"/>
              </a:rPr>
              <a:t>Author Name 2    </a:t>
            </a:r>
            <a:r>
              <a:rPr lang="en-US" noProof="0" dirty="0">
                <a:solidFill>
                  <a:schemeClr val="tx1"/>
                </a:solidFill>
              </a:rPr>
              <a:t>mail2@iis.ee.ethz.ch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3    </a:t>
            </a:r>
            <a:r>
              <a:rPr lang="en-US" noProof="0" dirty="0">
                <a:solidFill>
                  <a:schemeClr val="tx1"/>
                </a:solidFill>
              </a:rPr>
              <a:t>mail3@unibo.it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4    </a:t>
            </a:r>
            <a:r>
              <a:rPr lang="en-US" noProof="0" dirty="0">
                <a:solidFill>
                  <a:schemeClr val="tx1"/>
                </a:solidFill>
              </a:rPr>
              <a:t>mail4@unibo.it</a:t>
            </a:r>
            <a:endParaRPr lang="en-US" b="1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9964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E741D-DF86-4A3D-DF9D-A4FFA6F777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87C1C-F0E1-9B48-6BC9-7FFF56ADE9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94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7708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B5078-341C-4154-4064-BE0AD2B3F9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ADA4-720D-7361-338C-106924EF74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204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-Th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4757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BB8B8-3BA4-B4B8-A5C5-6B943984B6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55C4-9751-FC37-00B6-D3B10C1817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849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ck-Th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80660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29531-4266-41D8-C902-18438A77E80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ADBFD-8297-D7FA-8C82-37223A28A9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074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lus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1930-E256-A84E-8AC4-067EFE37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A658AA-5F13-9145-AA9C-7217BB8AFC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8000661" cy="2000196"/>
          </a:xfrm>
          <a:effectLst/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BBDF1A2-5CF8-E945-BD80-7B75AF0E1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37377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52D67F4-7CD9-7D48-9F3C-897EB7BBCA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37708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C37B2-5C80-94D6-1AEA-FC88E0D7A6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1DA4-BFA2-822A-E2BF-DBC2248BD7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681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4543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5905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466C897-17D8-464D-80AC-5BEDA0432F9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67356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B2C5F9-4358-A05F-BE1B-DC3232E3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2525F-FE6F-3F2A-87F8-E53C217DF6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30934-A358-D4CE-05CE-858B26903D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6780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0763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41096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A7A6DD52-705F-8C4E-BFBD-BE67BF0FB65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40763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3ED5591-6176-CF4B-A32B-DDE9257B1FB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41096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C3703-F424-8B60-F39C-21AD97BE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A470E-C584-A4A1-8BE3-D0FEE79024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D1A2-6488-61E8-64DC-5E07F8B192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68455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ECC96-5C3D-1CA7-88A0-A48C5307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98AFC-21DE-CE33-4051-59D40FE7A6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132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950E2-5B08-DE4D-85C1-073281664B68}"/>
              </a:ext>
            </a:extLst>
          </p:cNvPr>
          <p:cNvSpPr txBox="1"/>
          <p:nvPr userDrawn="1"/>
        </p:nvSpPr>
        <p:spPr>
          <a:xfrm>
            <a:off x="748937" y="39223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83599-52C6-66B6-B195-3B42A9179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86D1-30CD-4299-12D8-EE049F90D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804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51172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6407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56A24-FE4F-CC41-AE52-8BE952BA28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4839" y="284194"/>
            <a:ext cx="8000663" cy="47147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E65FE-2553-922C-9C05-7425A35329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E03E8-F737-F054-80B2-299F72A0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423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6085998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38137312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228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0703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Q&amp;A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150BE-61A2-B1E2-756A-7134BE7E136A}"/>
              </a:ext>
            </a:extLst>
          </p:cNvPr>
          <p:cNvSpPr txBox="1"/>
          <p:nvPr userDrawn="1"/>
        </p:nvSpPr>
        <p:spPr>
          <a:xfrm>
            <a:off x="1532190" y="1567205"/>
            <a:ext cx="2474926" cy="678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10" b="0" i="0" u="none" dirty="0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Thank you!</a:t>
            </a:r>
          </a:p>
        </p:txBody>
      </p:sp>
      <p:sp>
        <p:nvSpPr>
          <p:cNvPr id="7" name="Google Shape;1096;p28">
            <a:extLst>
              <a:ext uri="{FF2B5EF4-FFF2-40B4-BE49-F238E27FC236}">
                <a16:creationId xmlns:a16="http://schemas.microsoft.com/office/drawing/2014/main" id="{9EB57577-2B72-4910-D401-BBB6EDA09B5E}"/>
              </a:ext>
            </a:extLst>
          </p:cNvPr>
          <p:cNvSpPr/>
          <p:nvPr userDrawn="1"/>
        </p:nvSpPr>
        <p:spPr>
          <a:xfrm>
            <a:off x="5152842" y="1180109"/>
            <a:ext cx="2574968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72566" tIns="72566" rIns="72566" bIns="7256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1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D5AEE-A9BE-AED9-1997-707BCB05F17E}"/>
              </a:ext>
            </a:extLst>
          </p:cNvPr>
          <p:cNvSpPr txBox="1"/>
          <p:nvPr userDrawn="1"/>
        </p:nvSpPr>
        <p:spPr>
          <a:xfrm>
            <a:off x="5545462" y="1591634"/>
            <a:ext cx="1160551" cy="629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92" b="1" i="0" u="none" dirty="0">
                <a:solidFill>
                  <a:srgbClr val="B4B4B6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8895371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1_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9" y="135245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1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192" lvl="0" indent="-33654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384" lvl="1" indent="-31749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576" lvl="2" indent="-31114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768" lvl="3" indent="-28574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5960" lvl="4" indent="-27939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153" lvl="5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344" lvl="6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536" lvl="7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729" lvl="8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1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7273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image" Target="../media/image11.png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image" Target="../media/image10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 rot="-5400000">
            <a:off x="8255518" y="5"/>
            <a:ext cx="888498" cy="888486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37378" y="74351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5613176" y="372158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5" name="Google Shape;55;p13"/>
          <p:cNvSpPr/>
          <p:nvPr/>
        </p:nvSpPr>
        <p:spPr>
          <a:xfrm rot="2700024">
            <a:off x="8314439" y="285449"/>
            <a:ext cx="284473" cy="28447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6" name="Google Shape;56;p13"/>
          <p:cNvSpPr/>
          <p:nvPr/>
        </p:nvSpPr>
        <p:spPr>
          <a:xfrm rot="2700024">
            <a:off x="8466252" y="172389"/>
            <a:ext cx="510593" cy="51059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2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2290" y="111860"/>
            <a:ext cx="736049" cy="631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21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378" y="4887852"/>
            <a:ext cx="877914" cy="1463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3"/>
          <p:cNvGrpSpPr/>
          <p:nvPr/>
        </p:nvGrpSpPr>
        <p:grpSpPr>
          <a:xfrm>
            <a:off x="1218693" y="4855937"/>
            <a:ext cx="1063846" cy="230074"/>
            <a:chOff x="3645356" y="188193"/>
            <a:chExt cx="5677387" cy="1227805"/>
          </a:xfrm>
        </p:grpSpPr>
        <p:pic>
          <p:nvPicPr>
            <p:cNvPr id="60" name="Google Shape;60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99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A68F4BE-4FA3-A584-7D5F-A0B5C00AA917}"/>
              </a:ext>
            </a:extLst>
          </p:cNvPr>
          <p:cNvSpPr/>
          <p:nvPr userDrawn="1"/>
        </p:nvSpPr>
        <p:spPr>
          <a:xfrm rot="16200000">
            <a:off x="8255509" y="5"/>
            <a:ext cx="888498" cy="888485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7378" y="135245"/>
            <a:ext cx="8000661" cy="492787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377" y="743510"/>
            <a:ext cx="8000663" cy="414326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noProof="0" dirty="0"/>
              <a:t>First line of text</a:t>
            </a:r>
          </a:p>
          <a:p>
            <a:pPr lvl="1"/>
            <a:r>
              <a:rPr lang="en-US" noProof="0" dirty="0"/>
              <a:t>Subtitle</a:t>
            </a:r>
          </a:p>
          <a:p>
            <a:pPr lvl="2"/>
            <a:r>
              <a:rPr lang="en-US" noProof="0" dirty="0"/>
              <a:t>Sub-subtitle</a:t>
            </a:r>
          </a:p>
          <a:p>
            <a:pPr lvl="3"/>
            <a:r>
              <a:rPr lang="en-US" noProof="0" dirty="0"/>
              <a:t>This level should not be used</a:t>
            </a:r>
          </a:p>
          <a:p>
            <a:pPr lvl="4"/>
            <a:r>
              <a:rPr lang="en-US" noProof="0" dirty="0"/>
              <a:t>This level should not be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254CD-0FE2-BE4E-B26C-04DE1C684BCF}"/>
              </a:ext>
            </a:extLst>
          </p:cNvPr>
          <p:cNvSpPr txBox="1"/>
          <p:nvPr userDrawn="1"/>
        </p:nvSpPr>
        <p:spPr>
          <a:xfrm>
            <a:off x="5613169" y="372158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noProof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8314429" y="285451"/>
            <a:ext cx="284475" cy="28447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8466240" y="172391"/>
            <a:ext cx="510597" cy="510589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EA5A80-7EE5-E82F-A70F-F148FEF32070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302281" y="111861"/>
            <a:ext cx="736048" cy="631650"/>
          </a:xfrm>
          <a:prstGeom prst="rect">
            <a:avLst/>
          </a:prstGeom>
          <a:ln w="66675">
            <a:noFill/>
          </a:ln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E150080-BAE7-649E-4121-028FCE97E9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37378" y="4887852"/>
            <a:ext cx="877913" cy="14632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131B79E-8CB6-5631-3915-CC4CDC568AD6}"/>
              </a:ext>
            </a:extLst>
          </p:cNvPr>
          <p:cNvGrpSpPr/>
          <p:nvPr userDrawn="1"/>
        </p:nvGrpSpPr>
        <p:grpSpPr>
          <a:xfrm>
            <a:off x="1218691" y="4855937"/>
            <a:ext cx="1063845" cy="230074"/>
            <a:chOff x="3645356" y="188193"/>
            <a:chExt cx="5677387" cy="1227805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FF2B1B9-AABB-9441-96A8-CE0074DD28E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3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0E9E285-4AAB-8031-4F60-6404016D57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3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B8319E33-4883-AE4B-34D5-D48A9C68F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82696" y="4871789"/>
            <a:ext cx="5429020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QuantSparse 3D - Bowen Wang, Paul Scheffler</a:t>
            </a:r>
            <a:endParaRPr lang="en-US" dirty="0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9C8C412-C6D2-5E89-86AA-4DBE57662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9781" y="4871177"/>
            <a:ext cx="428607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1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</p:sldLayoutIdLst>
  <p:hf hdr="0" ftr="0"/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2857" b="0" i="0" kern="1200" spc="-79" baseline="0">
          <a:ln w="15875" cmpd="sng">
            <a:noFill/>
            <a:round/>
          </a:ln>
          <a:solidFill>
            <a:schemeClr val="accent3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589" indent="-228589" algn="l" defTabSz="571464" rtl="0" eaLnBrk="1" latinLnBrk="0" hangingPunct="1">
        <a:lnSpc>
          <a:spcPct val="100000"/>
        </a:lnSpc>
        <a:spcBef>
          <a:spcPts val="952"/>
        </a:spcBef>
        <a:buClr>
          <a:schemeClr val="tx1"/>
        </a:buClr>
        <a:buSzPct val="90000"/>
        <a:buFont typeface="Arial" panose="020B0604020202020204" pitchFamily="34" charset="0"/>
        <a:buChar char="•"/>
        <a:defRPr sz="1905" b="1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400025" indent="-171442" algn="l" defTabSz="571464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587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571464" indent="-171442" algn="l" defTabSz="685770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429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742903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952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914342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873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1885868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7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8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4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subTitle" idx="1"/>
          </p:nvPr>
        </p:nvSpPr>
        <p:spPr>
          <a:xfrm>
            <a:off x="286116" y="2364675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Integrated Systems Laboratory (ETH Zürich)</a:t>
            </a:r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286116" y="1382921"/>
            <a:ext cx="8000670" cy="830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-US" dirty="0"/>
              <a:t>QuantSparse3D 2026-09-29 Bi-weekly</a:t>
            </a:r>
            <a:endParaRPr dirty="0"/>
          </a:p>
        </p:txBody>
      </p:sp>
      <p:sp>
        <p:nvSpPr>
          <p:cNvPr id="183" name="Google Shape;183;p32"/>
          <p:cNvSpPr txBox="1">
            <a:spLocks noGrp="1"/>
          </p:cNvSpPr>
          <p:nvPr>
            <p:ph type="body" idx="2"/>
          </p:nvPr>
        </p:nvSpPr>
        <p:spPr>
          <a:xfrm>
            <a:off x="286116" y="295254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solidFill>
                  <a:srgbClr val="168638"/>
                </a:solidFill>
                <a:latin typeface="Calibri"/>
                <a:ea typeface="Calibri"/>
                <a:cs typeface="Calibri"/>
                <a:sym typeface="Calibri"/>
              </a:rPr>
              <a:t>Bowen Wang</a:t>
            </a:r>
            <a:r>
              <a:rPr lang="en" dirty="0">
                <a:solidFill>
                  <a:srgbClr val="168638"/>
                </a:solidFill>
              </a:rPr>
              <a:t>          </a:t>
            </a:r>
            <a:r>
              <a:rPr lang="en" dirty="0" err="1">
                <a:solidFill>
                  <a:srgbClr val="000000"/>
                </a:solidFill>
              </a:rPr>
              <a:t>bowwang@iis.ee.ethz.ch</a:t>
            </a:r>
            <a:endParaRPr lang="en" dirty="0">
              <a:solidFill>
                <a:schemeClr val="dk1"/>
              </a:solidFill>
            </a:endParaRPr>
          </a:p>
          <a:p>
            <a:pPr marL="0" lvl="0" indent="0">
              <a:spcBef>
                <a:spcPts val="0"/>
              </a:spcBef>
            </a:pPr>
            <a:r>
              <a:rPr lang="en" b="1" dirty="0">
                <a:solidFill>
                  <a:srgbClr val="168638"/>
                </a:solidFill>
              </a:rPr>
              <a:t>Chi Zhang      </a:t>
            </a:r>
            <a:r>
              <a:rPr lang="en" dirty="0">
                <a:solidFill>
                  <a:srgbClr val="168638"/>
                </a:solidFill>
              </a:rPr>
              <a:t>          </a:t>
            </a:r>
            <a:r>
              <a:rPr lang="en" dirty="0" err="1">
                <a:solidFill>
                  <a:srgbClr val="000000"/>
                </a:solidFill>
              </a:rPr>
              <a:t>chizhang@iis.ee.ethz.ch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latin typeface="Calibri"/>
                <a:ea typeface="Calibri"/>
                <a:cs typeface="Calibri"/>
                <a:sym typeface="Calibri"/>
              </a:rPr>
              <a:t>Luca Benini</a:t>
            </a:r>
            <a:r>
              <a:rPr lang="en" b="1" dirty="0"/>
              <a:t>             </a:t>
            </a:r>
            <a:r>
              <a:rPr lang="en" dirty="0" err="1">
                <a:solidFill>
                  <a:schemeClr val="dk1"/>
                </a:solidFill>
              </a:rPr>
              <a:t>lbenini@iis.ee.ethz.ch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84" name="Google Shape;184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190" name="Google Shape;190;p33"/>
          <p:cNvSpPr txBox="1">
            <a:spLocks noGrp="1"/>
          </p:cNvSpPr>
          <p:nvPr>
            <p:ph type="body" idx="1"/>
          </p:nvPr>
        </p:nvSpPr>
        <p:spPr>
          <a:xfrm>
            <a:off x="237376" y="2165447"/>
            <a:ext cx="8000672" cy="2705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Progress Update</a:t>
            </a:r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dirty="0"/>
              <a:t>Sparsity handling in memory endpoints, multi-node GVSoC model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dirty="0"/>
              <a:t>Timeline</a:t>
            </a: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Discussion</a:t>
            </a:r>
            <a:endParaRPr dirty="0"/>
          </a:p>
        </p:txBody>
      </p:sp>
      <p:sp>
        <p:nvSpPr>
          <p:cNvPr id="191" name="Google Shape;191;p3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QuantSparse 3D - Bowen Wang, Chi Zhang</a:t>
            </a:r>
            <a:endParaRPr dirty="0"/>
          </a:p>
        </p:txBody>
      </p:sp>
      <p:sp>
        <p:nvSpPr>
          <p:cNvPr id="192" name="Google Shape;192;p3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2" name="图片 5">
            <a:extLst>
              <a:ext uri="{FF2B5EF4-FFF2-40B4-BE49-F238E27FC236}">
                <a16:creationId xmlns:a16="http://schemas.microsoft.com/office/drawing/2014/main" id="{9FC1C4D1-DFD0-711B-F068-3F3A837693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2840" y="956662"/>
            <a:ext cx="7878316" cy="11575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12E8F-39B4-4236-A8C2-69C4DCDAC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CDCA5-6076-47FF-AB5A-E157FCD5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i="1" dirty="0"/>
              <a:t>Recap</a:t>
            </a:r>
            <a:r>
              <a:rPr lang="en-US" sz="2400" dirty="0"/>
              <a:t>: Sparse DMA in GVSoC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13BCE-5439-4933-9025-54F93E9E45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3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01" name="Target achieved"/>
          <p:cNvSpPr txBox="1"/>
          <p:nvPr/>
        </p:nvSpPr>
        <p:spPr>
          <a:xfrm>
            <a:off x="338328" y="2551176"/>
            <a:ext cx="42976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spc="0" baseline="0" dirty="0">
                <a:solidFill>
                  <a:srgbClr val="168638"/>
                </a:solidFill>
                <a:latin typeface="Calibri"/>
              </a:rPr>
              <a:t>Calibration against the RTL model</a:t>
            </a:r>
            <a:endParaRPr lang="en-US" sz="1600" b="1" dirty="0"/>
          </a:p>
        </p:txBody>
      </p:sp>
      <p:sp>
        <p:nvSpPr>
          <p:cNvPr id="102" name="All 12 comparisons within 10%"/>
          <p:cNvSpPr txBox="1"/>
          <p:nvPr/>
        </p:nvSpPr>
        <p:spPr>
          <a:xfrm>
            <a:off x="484632" y="2953512"/>
            <a:ext cx="4142232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1" i="0" spc="0" baseline="0" dirty="0">
                <a:solidFill>
                  <a:srgbClr val="168638"/>
                </a:solidFill>
                <a:latin typeface="Calibri"/>
              </a:rPr>
              <a:t>Cycle count deviation within 10%</a:t>
            </a:r>
            <a:endParaRPr lang="en-US" sz="1400" b="1" dirty="0"/>
          </a:p>
        </p:txBody>
      </p:sp>
      <p:sp>
        <p:nvSpPr>
          <p:cNvPr id="103" name="Worst cycle deviation: 8.80%"/>
          <p:cNvSpPr txBox="1"/>
          <p:nvPr/>
        </p:nvSpPr>
        <p:spPr>
          <a:xfrm>
            <a:off x="484632" y="3298797"/>
            <a:ext cx="4142232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Worst cycle deviation: 8.80%</a:t>
            </a:r>
            <a:endParaRPr lang="en-US" sz="1400" b="0" dirty="0"/>
          </a:p>
        </p:txBody>
      </p:sp>
      <p:sp>
        <p:nvSpPr>
          <p:cNvPr id="104" name="Worst DMA-window deviation: 8.94%"/>
          <p:cNvSpPr txBox="1"/>
          <p:nvPr/>
        </p:nvSpPr>
        <p:spPr>
          <a:xfrm>
            <a:off x="493776" y="3686149"/>
            <a:ext cx="4142232" cy="60350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Worst DMA-window deviation: 8.94%</a:t>
            </a:r>
            <a:endParaRPr lang="en-US" sz="1400" b="0" dirty="0"/>
          </a:p>
        </p:txBody>
      </p:sp>
      <p:sp>
        <p:nvSpPr>
          <p:cNvPr id="108" name="Result plot title"/>
          <p:cNvSpPr txBox="1"/>
          <p:nvPr/>
        </p:nvSpPr>
        <p:spPr>
          <a:xfrm>
            <a:off x="4983480" y="886968"/>
            <a:ext cx="388620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spc="0" baseline="0" dirty="0">
                <a:solidFill>
                  <a:srgbClr val="000000"/>
                </a:solidFill>
                <a:latin typeface="Calibri"/>
              </a:rPr>
              <a:t>Original gather experiment</a:t>
            </a:r>
            <a:endParaRPr lang="en-US" sz="1400" b="1"/>
          </a:p>
        </p:txBody>
      </p:sp>
      <p:sp>
        <p:nvSpPr>
          <p:cNvPr id="109" name="RTL legend swatch"/>
          <p:cNvSpPr txBox="1"/>
          <p:nvPr/>
        </p:nvSpPr>
        <p:spPr>
          <a:xfrm>
            <a:off x="5733288" y="1307592"/>
            <a:ext cx="164592" cy="118872"/>
          </a:xfrm>
          <a:prstGeom prst="rect">
            <a:avLst/>
          </a:prstGeom>
          <a:solidFill>
            <a:srgbClr val="B9B9B9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RTL legend"/>
          <p:cNvSpPr txBox="1"/>
          <p:nvPr/>
        </p:nvSpPr>
        <p:spPr>
          <a:xfrm>
            <a:off x="5952744" y="1252728"/>
            <a:ext cx="585216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 baseline="0" dirty="0">
                <a:solidFill>
                  <a:srgbClr val="000000"/>
                </a:solidFill>
                <a:latin typeface="Calibri"/>
              </a:rPr>
              <a:t>RTL</a:t>
            </a:r>
            <a:endParaRPr lang="en-US" sz="1200" b="0"/>
          </a:p>
        </p:txBody>
      </p:sp>
      <p:sp>
        <p:nvSpPr>
          <p:cNvPr id="111" name="GVSoC legend swatch"/>
          <p:cNvSpPr txBox="1"/>
          <p:nvPr/>
        </p:nvSpPr>
        <p:spPr>
          <a:xfrm>
            <a:off x="6885432" y="1307592"/>
            <a:ext cx="164592" cy="118872"/>
          </a:xfrm>
          <a:prstGeom prst="rect">
            <a:avLst/>
          </a:prstGeom>
          <a:solidFill>
            <a:srgbClr val="168638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GVSoC legend"/>
          <p:cNvSpPr txBox="1"/>
          <p:nvPr/>
        </p:nvSpPr>
        <p:spPr>
          <a:xfrm>
            <a:off x="7104888" y="1252728"/>
            <a:ext cx="987552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 baseline="0" dirty="0">
                <a:solidFill>
                  <a:srgbClr val="000000"/>
                </a:solidFill>
                <a:latin typeface="Calibri"/>
              </a:rPr>
              <a:t>GVSoC</a:t>
            </a:r>
            <a:endParaRPr lang="en-US" sz="1200" b="0"/>
          </a:p>
        </p:txBody>
      </p:sp>
      <p:cxnSp>
        <p:nvCxnSpPr>
          <p:cNvPr id="113" name="Grid 0"/>
          <p:cNvCxnSpPr/>
          <p:nvPr/>
        </p:nvCxnSpPr>
        <p:spPr>
          <a:xfrm>
            <a:off x="5193792" y="3950208"/>
            <a:ext cx="3739896" cy="0"/>
          </a:xfrm>
          <a:prstGeom prst="line">
            <a:avLst/>
          </a:prstGeom>
          <a:ln w="7620" cap="flat">
            <a:solidFill>
              <a:srgbClr val="D9D9D9"/>
            </a:solidFill>
            <a:prstDash val="solid"/>
          </a:ln>
        </p:spPr>
      </p:cxnSp>
      <p:sp>
        <p:nvSpPr>
          <p:cNvPr id="114" name="Tick 0"/>
          <p:cNvSpPr txBox="1"/>
          <p:nvPr/>
        </p:nvSpPr>
        <p:spPr>
          <a:xfrm>
            <a:off x="4636008" y="3858768"/>
            <a:ext cx="466344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spc="0" baseline="0" dirty="0">
                <a:solidFill>
                  <a:srgbClr val="595959"/>
                </a:solidFill>
                <a:latin typeface="Calibri"/>
              </a:rPr>
              <a:t>0</a:t>
            </a:r>
            <a:endParaRPr lang="en-US" sz="1000" b="0"/>
          </a:p>
        </p:txBody>
      </p:sp>
      <p:cxnSp>
        <p:nvCxnSpPr>
          <p:cNvPr id="115" name="Grid 1000"/>
          <p:cNvCxnSpPr/>
          <p:nvPr/>
        </p:nvCxnSpPr>
        <p:spPr>
          <a:xfrm>
            <a:off x="5193792" y="3310128"/>
            <a:ext cx="3739896" cy="0"/>
          </a:xfrm>
          <a:prstGeom prst="line">
            <a:avLst/>
          </a:prstGeom>
          <a:ln w="7620" cap="flat">
            <a:solidFill>
              <a:srgbClr val="D9D9D9"/>
            </a:solidFill>
            <a:prstDash val="solid"/>
          </a:ln>
        </p:spPr>
      </p:cxnSp>
      <p:sp>
        <p:nvSpPr>
          <p:cNvPr id="116" name="Tick 1000"/>
          <p:cNvSpPr txBox="1"/>
          <p:nvPr/>
        </p:nvSpPr>
        <p:spPr>
          <a:xfrm>
            <a:off x="4636008" y="3218688"/>
            <a:ext cx="466344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spc="0" baseline="0" dirty="0">
                <a:solidFill>
                  <a:srgbClr val="595959"/>
                </a:solidFill>
                <a:latin typeface="Calibri"/>
              </a:rPr>
              <a:t>1,000</a:t>
            </a:r>
            <a:endParaRPr lang="en-US" sz="1000" b="0"/>
          </a:p>
        </p:txBody>
      </p:sp>
      <p:cxnSp>
        <p:nvCxnSpPr>
          <p:cNvPr id="117" name="Grid 2000"/>
          <p:cNvCxnSpPr/>
          <p:nvPr/>
        </p:nvCxnSpPr>
        <p:spPr>
          <a:xfrm>
            <a:off x="5193792" y="2670048"/>
            <a:ext cx="3739896" cy="0"/>
          </a:xfrm>
          <a:prstGeom prst="line">
            <a:avLst/>
          </a:prstGeom>
          <a:ln w="7620" cap="flat">
            <a:solidFill>
              <a:srgbClr val="D9D9D9"/>
            </a:solidFill>
            <a:prstDash val="solid"/>
          </a:ln>
        </p:spPr>
      </p:cxnSp>
      <p:sp>
        <p:nvSpPr>
          <p:cNvPr id="118" name="Tick 2000"/>
          <p:cNvSpPr txBox="1"/>
          <p:nvPr/>
        </p:nvSpPr>
        <p:spPr>
          <a:xfrm>
            <a:off x="4636008" y="2578608"/>
            <a:ext cx="466344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spc="0" baseline="0" dirty="0">
                <a:solidFill>
                  <a:srgbClr val="595959"/>
                </a:solidFill>
                <a:latin typeface="Calibri"/>
              </a:rPr>
              <a:t>2,000</a:t>
            </a:r>
            <a:endParaRPr lang="en-US" sz="1000" b="0"/>
          </a:p>
        </p:txBody>
      </p:sp>
      <p:cxnSp>
        <p:nvCxnSpPr>
          <p:cNvPr id="119" name="Grid 3000"/>
          <p:cNvCxnSpPr/>
          <p:nvPr/>
        </p:nvCxnSpPr>
        <p:spPr>
          <a:xfrm>
            <a:off x="5193792" y="2029968"/>
            <a:ext cx="3739896" cy="0"/>
          </a:xfrm>
          <a:prstGeom prst="line">
            <a:avLst/>
          </a:prstGeom>
          <a:ln w="7620" cap="flat">
            <a:solidFill>
              <a:srgbClr val="D9D9D9"/>
            </a:solidFill>
            <a:prstDash val="solid"/>
          </a:ln>
        </p:spPr>
      </p:cxnSp>
      <p:sp>
        <p:nvSpPr>
          <p:cNvPr id="120" name="Tick 3000"/>
          <p:cNvSpPr txBox="1"/>
          <p:nvPr/>
        </p:nvSpPr>
        <p:spPr>
          <a:xfrm>
            <a:off x="4636008" y="1938528"/>
            <a:ext cx="466344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spc="0" baseline="0" dirty="0">
                <a:solidFill>
                  <a:srgbClr val="595959"/>
                </a:solidFill>
                <a:latin typeface="Calibri"/>
              </a:rPr>
              <a:t>3,000</a:t>
            </a:r>
            <a:endParaRPr lang="en-US" sz="1000" b="0"/>
          </a:p>
        </p:txBody>
      </p:sp>
      <p:sp>
        <p:nvSpPr>
          <p:cNvPr id="121" name="rtl gather 3099 cycles"/>
          <p:cNvSpPr txBox="1"/>
          <p:nvPr/>
        </p:nvSpPr>
        <p:spPr>
          <a:xfrm>
            <a:off x="5385816" y="1966600"/>
            <a:ext cx="329184" cy="1983608"/>
          </a:xfrm>
          <a:prstGeom prst="rect">
            <a:avLst/>
          </a:prstGeom>
          <a:solidFill>
            <a:srgbClr val="B9B9B9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rtl gather value"/>
          <p:cNvSpPr txBox="1"/>
          <p:nvPr/>
        </p:nvSpPr>
        <p:spPr>
          <a:xfrm>
            <a:off x="5276088" y="1673992"/>
            <a:ext cx="54864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spc="0" baseline="0" dirty="0">
                <a:solidFill>
                  <a:srgbClr val="000000"/>
                </a:solidFill>
                <a:latin typeface="Calibri"/>
              </a:rPr>
              <a:t>3099</a:t>
            </a:r>
            <a:endParaRPr lang="en-US" sz="1150" b="0"/>
          </a:p>
        </p:txBody>
      </p:sp>
      <p:sp>
        <p:nvSpPr>
          <p:cNvPr id="123" name="gvsoc gather 3056 cycles"/>
          <p:cNvSpPr txBox="1"/>
          <p:nvPr/>
        </p:nvSpPr>
        <p:spPr>
          <a:xfrm>
            <a:off x="5824728" y="1994124"/>
            <a:ext cx="329184" cy="1956084"/>
          </a:xfrm>
          <a:prstGeom prst="rect">
            <a:avLst/>
          </a:prstGeom>
          <a:solidFill>
            <a:srgbClr val="168638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gvsoc gather value"/>
          <p:cNvSpPr txBox="1"/>
          <p:nvPr/>
        </p:nvSpPr>
        <p:spPr>
          <a:xfrm>
            <a:off x="5715000" y="1701516"/>
            <a:ext cx="54864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spc="0" baseline="0" dirty="0">
                <a:solidFill>
                  <a:srgbClr val="000000"/>
                </a:solidFill>
                <a:latin typeface="Calibri"/>
              </a:rPr>
              <a:t>3056</a:t>
            </a:r>
            <a:endParaRPr lang="en-US" sz="1150" b="0"/>
          </a:p>
        </p:txBody>
      </p:sp>
      <p:sp>
        <p:nvSpPr>
          <p:cNvPr id="125" name="Variant gather"/>
          <p:cNvSpPr txBox="1"/>
          <p:nvPr/>
        </p:nvSpPr>
        <p:spPr>
          <a:xfrm>
            <a:off x="5330952" y="4023360"/>
            <a:ext cx="960120" cy="47548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 baseline="0" dirty="0">
                <a:solidFill>
                  <a:srgbClr val="000000"/>
                </a:solidFill>
                <a:latin typeface="Calibri"/>
              </a:rPr>
              <a:t>Core</a:t>
            </a:r>
            <a:br/>
            <a:r>
              <a:rPr lang="en-US" sz="1200" b="0" i="0" spc="0" baseline="0" dirty="0">
                <a:solidFill>
                  <a:srgbClr val="000000"/>
                </a:solidFill>
                <a:latin typeface="Calibri"/>
              </a:rPr>
              <a:t>loop</a:t>
            </a:r>
            <a:endParaRPr lang="en-US" sz="1200" b="0"/>
          </a:p>
        </p:txBody>
      </p:sp>
      <p:sp>
        <p:nvSpPr>
          <p:cNvPr id="126" name="rtl gather-opt 1952 cycles"/>
          <p:cNvSpPr txBox="1"/>
          <p:nvPr/>
        </p:nvSpPr>
        <p:spPr>
          <a:xfrm>
            <a:off x="6611112" y="2700772"/>
            <a:ext cx="329184" cy="1249436"/>
          </a:xfrm>
          <a:prstGeom prst="rect">
            <a:avLst/>
          </a:prstGeom>
          <a:solidFill>
            <a:srgbClr val="B9B9B9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rtl gather-opt value"/>
          <p:cNvSpPr txBox="1"/>
          <p:nvPr/>
        </p:nvSpPr>
        <p:spPr>
          <a:xfrm>
            <a:off x="6501384" y="2408164"/>
            <a:ext cx="54864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spc="0" baseline="0" dirty="0">
                <a:solidFill>
                  <a:srgbClr val="000000"/>
                </a:solidFill>
                <a:latin typeface="Calibri"/>
              </a:rPr>
              <a:t>1952</a:t>
            </a:r>
            <a:endParaRPr lang="en-US" sz="1150" b="0"/>
          </a:p>
        </p:txBody>
      </p:sp>
      <p:sp>
        <p:nvSpPr>
          <p:cNvPr id="128" name="gvsoc gather-opt 1914 cycles"/>
          <p:cNvSpPr txBox="1"/>
          <p:nvPr/>
        </p:nvSpPr>
        <p:spPr>
          <a:xfrm>
            <a:off x="7050024" y="2725095"/>
            <a:ext cx="329184" cy="1225113"/>
          </a:xfrm>
          <a:prstGeom prst="rect">
            <a:avLst/>
          </a:prstGeom>
          <a:solidFill>
            <a:srgbClr val="168638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gvsoc gather-opt value"/>
          <p:cNvSpPr txBox="1"/>
          <p:nvPr/>
        </p:nvSpPr>
        <p:spPr>
          <a:xfrm>
            <a:off x="6940296" y="2432487"/>
            <a:ext cx="54864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spc="0" baseline="0" dirty="0">
                <a:solidFill>
                  <a:srgbClr val="000000"/>
                </a:solidFill>
                <a:latin typeface="Calibri"/>
              </a:rPr>
              <a:t>1914</a:t>
            </a:r>
            <a:endParaRPr lang="en-US" sz="1150" b="0"/>
          </a:p>
        </p:txBody>
      </p:sp>
      <p:sp>
        <p:nvSpPr>
          <p:cNvPr id="130" name="Variant gather-opt"/>
          <p:cNvSpPr txBox="1"/>
          <p:nvPr/>
        </p:nvSpPr>
        <p:spPr>
          <a:xfrm>
            <a:off x="6556248" y="4023360"/>
            <a:ext cx="960120" cy="47548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 baseline="0" dirty="0">
                <a:solidFill>
                  <a:srgbClr val="000000"/>
                </a:solidFill>
                <a:latin typeface="Calibri"/>
              </a:rPr>
              <a:t>Inlined</a:t>
            </a:r>
            <a:br/>
            <a:r>
              <a:rPr lang="en-US" sz="1200" b="0" i="0" spc="0" baseline="0" dirty="0">
                <a:solidFill>
                  <a:srgbClr val="000000"/>
                </a:solidFill>
                <a:latin typeface="Calibri"/>
              </a:rPr>
              <a:t>loop</a:t>
            </a:r>
            <a:endParaRPr lang="en-US" sz="1200" b="0"/>
          </a:p>
        </p:txBody>
      </p:sp>
      <p:sp>
        <p:nvSpPr>
          <p:cNvPr id="131" name="rtl gather-hw 1236 cycles"/>
          <p:cNvSpPr txBox="1"/>
          <p:nvPr/>
        </p:nvSpPr>
        <p:spPr>
          <a:xfrm>
            <a:off x="7836408" y="3159069"/>
            <a:ext cx="329184" cy="791139"/>
          </a:xfrm>
          <a:prstGeom prst="rect">
            <a:avLst/>
          </a:prstGeom>
          <a:solidFill>
            <a:srgbClr val="B9B9B9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rtl gather-hw value"/>
          <p:cNvSpPr txBox="1"/>
          <p:nvPr/>
        </p:nvSpPr>
        <p:spPr>
          <a:xfrm>
            <a:off x="7726680" y="2866461"/>
            <a:ext cx="54864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spc="0" baseline="0" dirty="0">
                <a:solidFill>
                  <a:srgbClr val="000000"/>
                </a:solidFill>
                <a:latin typeface="Calibri"/>
              </a:rPr>
              <a:t>1236</a:t>
            </a:r>
            <a:endParaRPr lang="en-US" sz="1150" b="0"/>
          </a:p>
        </p:txBody>
      </p:sp>
      <p:sp>
        <p:nvSpPr>
          <p:cNvPr id="133" name="gvsoc gather-hw 1159 cycles"/>
          <p:cNvSpPr txBox="1"/>
          <p:nvPr/>
        </p:nvSpPr>
        <p:spPr>
          <a:xfrm>
            <a:off x="8275320" y="3208355"/>
            <a:ext cx="329184" cy="741853"/>
          </a:xfrm>
          <a:prstGeom prst="rect">
            <a:avLst/>
          </a:prstGeom>
          <a:solidFill>
            <a:srgbClr val="168638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gvsoc gather-hw value"/>
          <p:cNvSpPr txBox="1"/>
          <p:nvPr/>
        </p:nvSpPr>
        <p:spPr>
          <a:xfrm>
            <a:off x="8165592" y="2915747"/>
            <a:ext cx="54864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spc="0" baseline="0" dirty="0">
                <a:solidFill>
                  <a:srgbClr val="000000"/>
                </a:solidFill>
                <a:latin typeface="Calibri"/>
              </a:rPr>
              <a:t>1159</a:t>
            </a:r>
            <a:endParaRPr lang="en-US" sz="1150" b="0"/>
          </a:p>
        </p:txBody>
      </p:sp>
      <p:sp>
        <p:nvSpPr>
          <p:cNvPr id="135" name="Variant gather-hw"/>
          <p:cNvSpPr txBox="1"/>
          <p:nvPr/>
        </p:nvSpPr>
        <p:spPr>
          <a:xfrm>
            <a:off x="7781544" y="4023360"/>
            <a:ext cx="960120" cy="47548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 baseline="0" dirty="0">
                <a:solidFill>
                  <a:srgbClr val="000000"/>
                </a:solidFill>
                <a:latin typeface="Calibri"/>
              </a:rPr>
              <a:t>HW</a:t>
            </a:r>
            <a:br/>
            <a:r>
              <a:rPr lang="en-US" sz="1200" b="0" i="0" spc="0" baseline="0" dirty="0">
                <a:solidFill>
                  <a:srgbClr val="000000"/>
                </a:solidFill>
                <a:latin typeface="Calibri"/>
              </a:rPr>
              <a:t>gather</a:t>
            </a:r>
            <a:endParaRPr lang="en-US" sz="1200" b="0"/>
          </a:p>
        </p:txBody>
      </p:sp>
      <p:sp>
        <p:nvSpPr>
          <p:cNvPr id="136" name="Plot unit"/>
          <p:cNvSpPr txBox="1"/>
          <p:nvPr/>
        </p:nvSpPr>
        <p:spPr>
          <a:xfrm>
            <a:off x="4754880" y="4562856"/>
            <a:ext cx="4151376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spc="0" baseline="0" dirty="0">
                <a:solidFill>
                  <a:srgbClr val="595959"/>
                </a:solidFill>
                <a:latin typeface="Calibri"/>
              </a:rPr>
              <a:t>Software-measured cycles • 128 gathered rows</a:t>
            </a:r>
            <a:endParaRPr lang="en-US" sz="1050" b="0"/>
          </a:p>
        </p:txBody>
      </p:sp>
      <p:sp>
        <p:nvSpPr>
          <p:cNvPr id="137" name="Accuracy scope"/>
          <p:cNvSpPr txBox="1"/>
          <p:nvPr/>
        </p:nvSpPr>
        <p:spPr>
          <a:xfrm>
            <a:off x="420624" y="4590288"/>
            <a:ext cx="4069080" cy="21031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spc="0" baseline="0" dirty="0">
                <a:solidFill>
                  <a:srgbClr val="595959"/>
                </a:solidFill>
                <a:latin typeface="Calibri"/>
              </a:rPr>
              <a:t>Accuracy validated on the measured gather workloads.</a:t>
            </a:r>
            <a:endParaRPr lang="en-US" sz="1050" b="0"/>
          </a:p>
        </p:txBody>
      </p:sp>
      <p:sp>
        <p:nvSpPr>
          <p:cNvPr id="3" name="Implementation">
            <a:extLst>
              <a:ext uri="{FF2B5EF4-FFF2-40B4-BE49-F238E27FC236}">
                <a16:creationId xmlns:a16="http://schemas.microsoft.com/office/drawing/2014/main" id="{5344B615-093C-A00A-CAE9-B41EEC953AF4}"/>
              </a:ext>
            </a:extLst>
          </p:cNvPr>
          <p:cNvSpPr txBox="1"/>
          <p:nvPr/>
        </p:nvSpPr>
        <p:spPr>
          <a:xfrm>
            <a:off x="274320" y="822960"/>
            <a:ext cx="42976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spc="0" baseline="0" dirty="0">
                <a:solidFill>
                  <a:srgbClr val="000000"/>
                </a:solidFill>
                <a:latin typeface="Calibri"/>
              </a:rPr>
              <a:t>Implementation</a:t>
            </a:r>
            <a:endParaRPr lang="en-US" sz="1600" b="1" dirty="0"/>
          </a:p>
        </p:txBody>
      </p:sp>
      <p:sp>
        <p:nvSpPr>
          <p:cNvPr id="5" name="Sparse gather added to the GVSoC iDMA model">
            <a:extLst>
              <a:ext uri="{FF2B5EF4-FFF2-40B4-BE49-F238E27FC236}">
                <a16:creationId xmlns:a16="http://schemas.microsoft.com/office/drawing/2014/main" id="{1E748D43-65EB-9F5E-BEF3-541BF26DDDA6}"/>
              </a:ext>
            </a:extLst>
          </p:cNvPr>
          <p:cNvSpPr txBox="1"/>
          <p:nvPr/>
        </p:nvSpPr>
        <p:spPr>
          <a:xfrm>
            <a:off x="420624" y="1225296"/>
            <a:ext cx="4142232" cy="59436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Sparse gather added to the GVSoC iDMA model</a:t>
            </a:r>
            <a:endParaRPr lang="en-US" sz="1400" b="0"/>
          </a:p>
        </p:txBody>
      </p:sp>
      <p:sp>
        <p:nvSpPr>
          <p:cNvPr id="6" name="Indices select scattered source rows">
            <a:extLst>
              <a:ext uri="{FF2B5EF4-FFF2-40B4-BE49-F238E27FC236}">
                <a16:creationId xmlns:a16="http://schemas.microsoft.com/office/drawing/2014/main" id="{8D203A6C-F023-D68C-2257-CFABDE40A361}"/>
              </a:ext>
            </a:extLst>
          </p:cNvPr>
          <p:cNvSpPr txBox="1"/>
          <p:nvPr/>
        </p:nvSpPr>
        <p:spPr>
          <a:xfrm>
            <a:off x="420624" y="1583105"/>
            <a:ext cx="4142232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Indices select scattered source rows</a:t>
            </a:r>
            <a:endParaRPr lang="en-US" sz="1400" b="0" dirty="0"/>
          </a:p>
        </p:txBody>
      </p:sp>
      <p:sp>
        <p:nvSpPr>
          <p:cNvPr id="7" name="DMA gathers rows into local memory">
            <a:extLst>
              <a:ext uri="{FF2B5EF4-FFF2-40B4-BE49-F238E27FC236}">
                <a16:creationId xmlns:a16="http://schemas.microsoft.com/office/drawing/2014/main" id="{D84F5F8B-375C-D6FF-C0EC-C0084C1BE7C4}"/>
              </a:ext>
            </a:extLst>
          </p:cNvPr>
          <p:cNvSpPr txBox="1"/>
          <p:nvPr/>
        </p:nvSpPr>
        <p:spPr>
          <a:xfrm>
            <a:off x="438912" y="1942902"/>
            <a:ext cx="4142232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DMA gathers rows into local memory</a:t>
            </a:r>
            <a:endParaRPr 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564299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0055D-24C5-FFA7-D96A-FAEB9EBD8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CD7B3-EE91-73E3-AC6E-42EECB21D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Extending</a:t>
            </a:r>
            <a:r>
              <a:rPr lang="en-US" altLang="zh-CN" sz="2400" i="1" dirty="0"/>
              <a:t> </a:t>
            </a:r>
            <a:r>
              <a:rPr lang="en-US" altLang="zh-CN" sz="2400" dirty="0"/>
              <a:t>Sparse DMA to Multi-node System</a:t>
            </a:r>
            <a:endParaRPr lang="en-US" sz="2400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1C724-8AD4-D44F-8355-5466436496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4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08B8A74-9D64-3728-163F-4F88714EB525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1417198-5800-F11B-40F2-BF867B28F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4536"/>
            <a:ext cx="4907262" cy="4088695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Implementation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Extended the iDMA engine in SoftHier with updated gather support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Same modeling methodology as standalone iDMA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Instantiated 4x4 clusters, 16 HBM nodes on all 4 edges</a:t>
            </a:r>
          </a:p>
          <a:p>
            <a:pPr lvl="1"/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Sanity test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Cluster 0 issues gather requests to HBM node 0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Same workload: 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Top-k sparse attention gather access patterns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128 entries with 256-byte each in a 2k context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Same performance gain comparing with standalone iDMA modeling</a:t>
            </a:r>
            <a:b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lvl="1"/>
            <a:endParaRPr lang="en-US" altLang="zh-CN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AB2E74-BD66-1865-757B-82E78A804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461" y="1280160"/>
            <a:ext cx="4011328" cy="267163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DDB2D52-9A38-69CF-CD17-7D9AEF5EF51A}"/>
              </a:ext>
            </a:extLst>
          </p:cNvPr>
          <p:cNvCxnSpPr/>
          <p:nvPr/>
        </p:nvCxnSpPr>
        <p:spPr>
          <a:xfrm flipV="1">
            <a:off x="6329238" y="2313830"/>
            <a:ext cx="0" cy="842838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73B52E-4DF6-5449-84FB-E7AB371C36A9}"/>
              </a:ext>
            </a:extLst>
          </p:cNvPr>
          <p:cNvCxnSpPr/>
          <p:nvPr/>
        </p:nvCxnSpPr>
        <p:spPr>
          <a:xfrm>
            <a:off x="6130456" y="2313830"/>
            <a:ext cx="2107593" cy="0"/>
          </a:xfrm>
          <a:prstGeom prst="line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58A2E8-E2E1-0B24-4309-8821A938A483}"/>
              </a:ext>
            </a:extLst>
          </p:cNvPr>
          <p:cNvSpPr txBox="1"/>
          <p:nvPr/>
        </p:nvSpPr>
        <p:spPr>
          <a:xfrm>
            <a:off x="5438692" y="492980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2" name="Implementation">
            <a:extLst>
              <a:ext uri="{FF2B5EF4-FFF2-40B4-BE49-F238E27FC236}">
                <a16:creationId xmlns:a16="http://schemas.microsoft.com/office/drawing/2014/main" id="{6D5C2AB8-B2DA-88A6-FFAC-0F62D54383EC}"/>
              </a:ext>
            </a:extLst>
          </p:cNvPr>
          <p:cNvSpPr txBox="1"/>
          <p:nvPr/>
        </p:nvSpPr>
        <p:spPr>
          <a:xfrm>
            <a:off x="7071248" y="2002934"/>
            <a:ext cx="649765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spc="0" baseline="0" dirty="0">
                <a:solidFill>
                  <a:schemeClr val="accent3"/>
                </a:solidFill>
                <a:latin typeface="Calibri"/>
              </a:rPr>
              <a:t>3.10x</a:t>
            </a:r>
            <a:endParaRPr lang="en-US" sz="16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505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7C9CE-AFE5-04AB-2EE3-55F4D283B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FD2C-28B4-8EC5-9A45-D328FE538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Extending</a:t>
            </a:r>
            <a:r>
              <a:rPr lang="en-US" altLang="zh-CN" sz="2400" i="1" dirty="0"/>
              <a:t> </a:t>
            </a:r>
            <a:r>
              <a:rPr lang="en-US" altLang="zh-CN" sz="2400" dirty="0"/>
              <a:t>Sparse DMA to Multi-node System</a:t>
            </a:r>
            <a:endParaRPr lang="en-US" sz="2400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40DD6-6DC7-0828-5446-5B3C42717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5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4E407B-6081-A048-0FFB-68C926125E51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6DE9A35-9AE9-BAB5-C027-F7C6AE170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757" y="756518"/>
            <a:ext cx="4907262" cy="3956777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Multi-node test setup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4 x 4 clusters, one independent user context per cluster; 16 HBM nodes on all four edges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Each cluster workload: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Gather 128 KV entries out of 2k context, each is 128 x FP16 (32 KiB payload in total)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System-wise 0.5 MiB read payload, from 4 MiB of non-overlapping context address space, fully interleaved in 16 HBM nodes</a:t>
            </a:r>
          </a:p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Benchmark Settings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3 software implementations: 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Core-loop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Inline-loop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HW-gather with sparse DMA</a:t>
            </a:r>
            <a:b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lvl="1"/>
            <a:endParaRPr lang="en-US" altLang="zh-CN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518EC8-01FD-1045-5A76-496FB432F1C5}"/>
              </a:ext>
            </a:extLst>
          </p:cNvPr>
          <p:cNvSpPr txBox="1"/>
          <p:nvPr/>
        </p:nvSpPr>
        <p:spPr>
          <a:xfrm>
            <a:off x="5438692" y="492980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4C40CA-E9B4-33D8-0093-981293974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833" y="1095378"/>
            <a:ext cx="3193261" cy="295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11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5B8C4-135B-2BEB-4C60-715119A90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E3EDD-5C62-5128-49B4-38BCF5B3D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Visualizing NoC traffic</a:t>
            </a:r>
            <a:endParaRPr lang="en-US" sz="2400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AAB24-0CBB-7C09-EDA2-5B28E3B875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6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E0DDC3D-89F7-3645-FD08-344F3DE47D69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0DD1E6D-DE2D-4485-8AA3-4F79B376B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757" y="756518"/>
            <a:ext cx="4907262" cy="2841876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Baseline result analysis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Core-loop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implementation</a:t>
            </a:r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consistently shows less efficient gathering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NoC traffic is far from being saturated, throughput is limited by DMA request issuing frequency, achieving avg. 212.43 GiB/s HBM throughput (</a:t>
            </a:r>
            <a:r>
              <a:rPr lang="en-US" altLang="zh-CN" sz="14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23.07%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HBM util.)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Inline-loop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implementation increased the NoC traffic through software optimizations, improved HBM throughput to 302.01 GiB/s (</a:t>
            </a:r>
            <a:r>
              <a:rPr lang="en-US" altLang="zh-CN" sz="14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32.80%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HBM util.)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The improvement is aligned with the single-node benchmark </a:t>
            </a:r>
            <a:b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lvl="1"/>
            <a:endParaRPr lang="en-US" altLang="zh-CN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27BADF-2370-8955-704D-3C32CCC5AA3B}"/>
              </a:ext>
            </a:extLst>
          </p:cNvPr>
          <p:cNvSpPr txBox="1"/>
          <p:nvPr/>
        </p:nvSpPr>
        <p:spPr>
          <a:xfrm>
            <a:off x="5438692" y="492980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2BC8F9-00D1-A169-468B-AFD2E63EE52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91401" y="101587"/>
            <a:ext cx="2907660" cy="25493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D0B546-3EC8-5277-B375-36A13CF4E2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549"/>
          <a:stretch>
            <a:fillRect/>
          </a:stretch>
        </p:blipFill>
        <p:spPr>
          <a:xfrm>
            <a:off x="5491401" y="2901082"/>
            <a:ext cx="2921595" cy="2230358"/>
          </a:xfrm>
          <a:prstGeom prst="rect">
            <a:avLst/>
          </a:prstGeom>
        </p:spPr>
      </p:pic>
      <p:sp>
        <p:nvSpPr>
          <p:cNvPr id="10" name="Implementation">
            <a:extLst>
              <a:ext uri="{FF2B5EF4-FFF2-40B4-BE49-F238E27FC236}">
                <a16:creationId xmlns:a16="http://schemas.microsoft.com/office/drawing/2014/main" id="{75D55B74-A73A-94AA-5810-7EA5EFD6EF52}"/>
              </a:ext>
            </a:extLst>
          </p:cNvPr>
          <p:cNvSpPr txBox="1"/>
          <p:nvPr/>
        </p:nvSpPr>
        <p:spPr>
          <a:xfrm>
            <a:off x="5074019" y="445622"/>
            <a:ext cx="888637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spc="0" baseline="0" dirty="0">
                <a:solidFill>
                  <a:schemeClr val="accent2"/>
                </a:solidFill>
                <a:latin typeface="Calibri"/>
              </a:rPr>
              <a:t>Core-loop</a:t>
            </a:r>
            <a:endParaRPr lang="en-US" sz="1600" b="1" dirty="0">
              <a:solidFill>
                <a:schemeClr val="accent2"/>
              </a:solidFill>
            </a:endParaRPr>
          </a:p>
        </p:txBody>
      </p:sp>
      <p:sp>
        <p:nvSpPr>
          <p:cNvPr id="12" name="Implementation">
            <a:extLst>
              <a:ext uri="{FF2B5EF4-FFF2-40B4-BE49-F238E27FC236}">
                <a16:creationId xmlns:a16="http://schemas.microsoft.com/office/drawing/2014/main" id="{2E15DEB6-4E33-7260-2309-8EF6B685831C}"/>
              </a:ext>
            </a:extLst>
          </p:cNvPr>
          <p:cNvSpPr txBox="1"/>
          <p:nvPr/>
        </p:nvSpPr>
        <p:spPr>
          <a:xfrm>
            <a:off x="5074019" y="2936057"/>
            <a:ext cx="1065385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Calibri"/>
              </a:rPr>
              <a:t>Inline</a:t>
            </a:r>
            <a:r>
              <a:rPr lang="en-US" sz="1600" b="1" i="0" spc="0" baseline="0" dirty="0">
                <a:solidFill>
                  <a:schemeClr val="accent2"/>
                </a:solidFill>
                <a:latin typeface="Calibri"/>
              </a:rPr>
              <a:t>-loop</a:t>
            </a:r>
            <a:endParaRPr lang="en-US" sz="16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357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64E80-AADF-EE62-0D69-52BCAAFBD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824A8-5AFE-9C6F-4767-69FEA67B5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Visualizing NoC traffic</a:t>
            </a:r>
            <a:endParaRPr lang="en-US" sz="2400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D0769-0424-6B36-7200-F4D1081B3C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7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9FAC537-D72C-5AED-020B-C40CC3118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4245" y="628032"/>
            <a:ext cx="4907262" cy="3152773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Sparse-DMA result analysis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Increased the NoC traffic by offloading the request generation to DMA </a:t>
            </a:r>
            <a:r>
              <a:rPr lang="en-US" altLang="zh-CN" sz="14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midend</a:t>
            </a:r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,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achieving avg. 455.90 GiB/s HBM throughput (</a:t>
            </a:r>
            <a:r>
              <a:rPr lang="en-US" altLang="zh-CN" sz="14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49.51%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HBM util.)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Achieved </a:t>
            </a:r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2.14x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improvement comparing with core-loop implementation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Comparing with the single-node results, the HBM avg. utilization reduced from 63.8% to 49.5%</a:t>
            </a:r>
          </a:p>
          <a:p>
            <a:pPr lvl="1"/>
            <a:r>
              <a:rPr lang="en-US" altLang="zh-CN" sz="14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Potential reasons: 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NoC request contention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Larger gathering context reduced memory endpoint serving efficiency</a:t>
            </a:r>
            <a:b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lvl="1"/>
            <a:endParaRPr lang="en-US" altLang="zh-CN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A9D3D1-2691-999E-2926-C0BCDF76E64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01800" y="135245"/>
            <a:ext cx="2957991" cy="25489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67CC84-6DF8-7BD9-A148-2069F6FAF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903" y="2713210"/>
            <a:ext cx="2979472" cy="229504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52C7AF-703F-00A5-CDB8-B64492A645B7}"/>
              </a:ext>
            </a:extLst>
          </p:cNvPr>
          <p:cNvCxnSpPr>
            <a:cxnSpLocks/>
          </p:cNvCxnSpPr>
          <p:nvPr/>
        </p:nvCxnSpPr>
        <p:spPr>
          <a:xfrm flipV="1">
            <a:off x="6559483" y="3909290"/>
            <a:ext cx="0" cy="504828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A681D-9ADE-41EA-5E80-A54A3E956BEC}"/>
              </a:ext>
            </a:extLst>
          </p:cNvPr>
          <p:cNvCxnSpPr/>
          <p:nvPr/>
        </p:nvCxnSpPr>
        <p:spPr>
          <a:xfrm>
            <a:off x="6064672" y="3909290"/>
            <a:ext cx="2107593" cy="0"/>
          </a:xfrm>
          <a:prstGeom prst="line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Implementation">
            <a:extLst>
              <a:ext uri="{FF2B5EF4-FFF2-40B4-BE49-F238E27FC236}">
                <a16:creationId xmlns:a16="http://schemas.microsoft.com/office/drawing/2014/main" id="{D556BBE8-A4E6-4898-2467-901300C74D86}"/>
              </a:ext>
            </a:extLst>
          </p:cNvPr>
          <p:cNvSpPr txBox="1"/>
          <p:nvPr/>
        </p:nvSpPr>
        <p:spPr>
          <a:xfrm>
            <a:off x="7005464" y="3598394"/>
            <a:ext cx="649765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3"/>
                </a:solidFill>
                <a:latin typeface="Calibri"/>
              </a:rPr>
              <a:t>2.14</a:t>
            </a:r>
            <a:r>
              <a:rPr lang="en-US" sz="1600" b="1" i="0" spc="0" baseline="0" dirty="0">
                <a:solidFill>
                  <a:schemeClr val="accent3"/>
                </a:solidFill>
                <a:latin typeface="Calibri"/>
              </a:rPr>
              <a:t>x</a:t>
            </a:r>
            <a:endParaRPr lang="en-US" sz="1600" b="1" dirty="0">
              <a:solidFill>
                <a:schemeClr val="accent3"/>
              </a:solidFill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269AF9E-B3A7-53AA-E30D-BFE62BBB143F}"/>
              </a:ext>
            </a:extLst>
          </p:cNvPr>
          <p:cNvSpPr txBox="1">
            <a:spLocks/>
          </p:cNvSpPr>
          <p:nvPr/>
        </p:nvSpPr>
        <p:spPr>
          <a:xfrm>
            <a:off x="403257" y="3640792"/>
            <a:ext cx="4907262" cy="10418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7150" rIns="0" bIns="36275" rtlCol="0" anchor="t" anchorCtr="0">
            <a:noAutofit/>
          </a:bodyPr>
          <a:lstStyle>
            <a:lvl1pPr marL="457192" lvl="0" indent="-336544" algn="l" defTabSz="571464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905" b="1" i="0" kern="1200">
                <a:solidFill>
                  <a:schemeClr val="dk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914384" lvl="1" indent="-317494" algn="l" defTabSz="571464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87" b="0" i="0" kern="1200">
                <a:solidFill>
                  <a:schemeClr val="dk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1371576" lvl="2" indent="-311145" algn="l" defTabSz="68577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 b="0" i="0" kern="1200">
                <a:solidFill>
                  <a:schemeClr val="dk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1828768" lvl="3" indent="-285745" algn="l" defTabSz="6857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52" b="0" i="0" kern="1200">
                <a:solidFill>
                  <a:schemeClr val="dk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2285960" lvl="4" indent="-279395" algn="l" defTabSz="6857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73" b="0" i="0" kern="1200">
                <a:solidFill>
                  <a:schemeClr val="dk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743153" lvl="5" indent="-317494" algn="l" defTabSz="68577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344" lvl="6" indent="-317494" algn="l" defTabSz="68577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536" lvl="7" indent="-317494" algn="l" defTabSz="68577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729" lvl="8" indent="-317494" algn="l" defTabSz="68577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Next step: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Impact of KV mapping and context range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Serving mythology (e.g., all cluster serve the same user)</a:t>
            </a:r>
            <a:b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lvl="1"/>
            <a:endParaRPr lang="en-US" altLang="zh-CN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35877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EF6D1-D1AB-38CA-7148-26588E0E2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DF2D7-C510-1AA2-C702-65C2C993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i="1" dirty="0"/>
              <a:t>Backup</a:t>
            </a:r>
            <a:r>
              <a:rPr lang="en-US" altLang="zh-CN" sz="2400" dirty="0"/>
              <a:t>: Individual HBM Utilization Breakdown</a:t>
            </a:r>
            <a:endParaRPr lang="en-US" sz="2400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B4A90-AE1D-CEFA-8706-CF82DFD2D3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8</a:t>
            </a:fld>
            <a:endParaRPr lang="en" kern="1200">
              <a:solidFill>
                <a:srgbClr val="0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DA6F1B-A7F3-A772-ED81-D056925BA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06" y="1062421"/>
            <a:ext cx="8624306" cy="346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410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C8774-05BC-A8D3-686E-CDB532E8A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22940-D127-D25E-A265-C1A7E4586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i="1" dirty="0"/>
              <a:t>Backup</a:t>
            </a:r>
            <a:r>
              <a:rPr lang="en-US" altLang="zh-CN" sz="2400" dirty="0"/>
              <a:t>: Core-Loop Read Request &amp; Response Visualization</a:t>
            </a:r>
            <a:endParaRPr lang="en-US" sz="2400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542A2-9E81-D40F-17CF-5CDF6129CA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9</a:t>
            </a:fld>
            <a:endParaRPr lang="en" kern="120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548CD7-9E28-0B27-37FD-6609B1E6F3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55" r="34490" b="7676"/>
          <a:stretch>
            <a:fillRect/>
          </a:stretch>
        </p:blipFill>
        <p:spPr>
          <a:xfrm>
            <a:off x="703890" y="940714"/>
            <a:ext cx="7420455" cy="337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2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DB40D-494B-7BFB-5E89-F30203DB6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075C5-71E1-0A17-DA67-2C9EB8367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i="1" dirty="0"/>
              <a:t>Backup</a:t>
            </a:r>
            <a:r>
              <a:rPr lang="en-US" altLang="zh-CN" sz="2400" dirty="0"/>
              <a:t>: Inline-Loop Read Request &amp; Response Visualization</a:t>
            </a:r>
            <a:endParaRPr lang="en-US" sz="2400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AAFAD-A6C9-8570-F010-B2174057DB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10</a:t>
            </a:fld>
            <a:endParaRPr lang="en" kern="1200">
              <a:solidFill>
                <a:srgbClr val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E6526B-2523-E22C-04F3-E268B61527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56" r="34659" b="11368"/>
          <a:stretch>
            <a:fillRect/>
          </a:stretch>
        </p:blipFill>
        <p:spPr>
          <a:xfrm>
            <a:off x="968898" y="934135"/>
            <a:ext cx="7269151" cy="317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063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21A05-3B1F-A019-305C-59CC59268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264EE-ED65-B8B1-9D1B-48DE8BF61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i="1" dirty="0"/>
              <a:t>Backup</a:t>
            </a:r>
            <a:r>
              <a:rPr lang="en-US" altLang="zh-CN" sz="2400" dirty="0"/>
              <a:t>: HW-Gather Read Request &amp; Response Visualization</a:t>
            </a:r>
            <a:endParaRPr lang="en-US" sz="2400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76A7A-3973-8CD7-DA51-39F034B088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11</a:t>
            </a:fld>
            <a:endParaRPr lang="en" kern="120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E1BF8D-00BA-0A73-4D42-E55684ADD3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17" r="34829" b="15801"/>
          <a:stretch>
            <a:fillRect/>
          </a:stretch>
        </p:blipFill>
        <p:spPr>
          <a:xfrm>
            <a:off x="828749" y="1022533"/>
            <a:ext cx="7409300" cy="309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48774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>
            <a:ln>
              <a:noFill/>
            </a:ln>
            <a:solidFill>
              <a:schemeClr val="bg2"/>
            </a:solidFill>
            <a:effectLst/>
            <a:latin typeface="Arial Narrow" panose="020B0604020202020204" pitchFamily="34" charset="0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tx2"/>
            </a:solidFill>
            <a:latin typeface="Arial Narrow" panose="020B0604020202020204" pitchFamily="34" charset="0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D778353-C828-49F6-8D8D-2AB4582EB5C2}" vid="{5F78B0AA-AA4A-4887-80EB-632809F14C64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13694</TotalTime>
  <Words>534</Words>
  <Application>Microsoft Macintosh PowerPoint</Application>
  <PresentationFormat>On-screen Show (16:9)</PresentationFormat>
  <Paragraphs>97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Arial Narrow</vt:lpstr>
      <vt:lpstr>Calibri Light</vt:lpstr>
      <vt:lpstr>Consolas</vt:lpstr>
      <vt:lpstr>Simple Light</vt:lpstr>
      <vt:lpstr>PULP Triangle</vt:lpstr>
      <vt:lpstr>1_PULP Triangle</vt:lpstr>
      <vt:lpstr>QuantSparse3D 2026-09-29 Bi-weekly</vt:lpstr>
      <vt:lpstr>Agenda</vt:lpstr>
      <vt:lpstr>Recap: Sparse DMA in GVSoC</vt:lpstr>
      <vt:lpstr>Extending Sparse DMA to Multi-node System</vt:lpstr>
      <vt:lpstr>Extending Sparse DMA to Multi-node System</vt:lpstr>
      <vt:lpstr>Visualizing NoC traffic</vt:lpstr>
      <vt:lpstr>Visualizing NoC traffic</vt:lpstr>
      <vt:lpstr>Backup: Individual HBM Utilization Breakdown</vt:lpstr>
      <vt:lpstr>Backup: Core-Loop Read Request &amp; Response Visualization</vt:lpstr>
      <vt:lpstr>Backup: Inline-Loop Read Request &amp; Response Visualization</vt:lpstr>
      <vt:lpstr>Backup: HW-Gather Read Request &amp; Response Visualization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QuantSparse 3D Biweekly 2025-03-25</dc:title>
  <dc:creator>paulsc</dc:creator>
  <cp:lastModifiedBy>Wang, Bowen</cp:lastModifiedBy>
  <cp:revision>1441</cp:revision>
  <dcterms:modified xsi:type="dcterms:W3CDTF">2026-09-28T14:05:00Z</dcterms:modified>
</cp:coreProperties>
</file>