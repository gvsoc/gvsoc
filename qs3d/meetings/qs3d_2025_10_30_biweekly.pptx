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  <p:sldMasterId id="2147483679" r:id="rId3"/>
  </p:sldMasterIdLst>
  <p:notesMasterIdLst>
    <p:notesMasterId r:id="rId17"/>
  </p:notesMasterIdLst>
  <p:sldIdLst>
    <p:sldId id="256" r:id="rId4"/>
    <p:sldId id="476" r:id="rId5"/>
    <p:sldId id="257" r:id="rId6"/>
    <p:sldId id="547" r:id="rId7"/>
    <p:sldId id="579" r:id="rId8"/>
    <p:sldId id="580" r:id="rId9"/>
    <p:sldId id="581" r:id="rId10"/>
    <p:sldId id="582" r:id="rId11"/>
    <p:sldId id="583" r:id="rId12"/>
    <p:sldId id="568" r:id="rId13"/>
    <p:sldId id="584" r:id="rId14"/>
    <p:sldId id="585" r:id="rId15"/>
    <p:sldId id="458" r:id="rId16"/>
  </p:sldIdLst>
  <p:sldSz cx="9144000" cy="5143500" type="screen16x9"/>
  <p:notesSz cx="6858000" cy="9144000"/>
  <p:embeddedFontLst>
    <p:embeddedFont>
      <p:font typeface="Arial Narrow" panose="020B0604020202020204" pitchFamily="34" charset="0"/>
      <p:regular r:id="rId18"/>
      <p:bold r:id="rId19"/>
      <p:italic r:id="rId20"/>
      <p:boldItalic r:id="rId21"/>
    </p:embeddedFon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Roboto Light" panose="02000000000000000000" pitchFamily="2" charset="0"/>
      <p:regular r:id="rId26"/>
      <p: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A865A6A1-EB45-4525-89A6-CB3BD430D531}">
          <p14:sldIdLst>
            <p14:sldId id="256"/>
            <p14:sldId id="476"/>
            <p14:sldId id="257"/>
          </p14:sldIdLst>
        </p14:section>
        <p14:section name="Recap" id="{870E3B29-350E-CE4E-9DFE-3645BAE98000}">
          <p14:sldIdLst>
            <p14:sldId id="547"/>
            <p14:sldId id="579"/>
            <p14:sldId id="580"/>
            <p14:sldId id="581"/>
            <p14:sldId id="582"/>
            <p14:sldId id="583"/>
            <p14:sldId id="568"/>
            <p14:sldId id="584"/>
            <p14:sldId id="585"/>
          </p14:sldIdLst>
        </p14:section>
        <p14:section name="vfwxmacc.vf" id="{38B6E92E-D135-924B-B665-0D38440C685E}">
          <p14:sldIdLst>
            <p14:sldId id="4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27A"/>
    <a:srgbClr val="037491"/>
    <a:srgbClr val="168638"/>
    <a:srgbClr val="A6CAEC"/>
    <a:srgbClr val="BA362D"/>
    <a:srgbClr val="BBA471"/>
    <a:srgbClr val="C45D57"/>
    <a:srgbClr val="4C7CBD"/>
    <a:srgbClr val="B7352C"/>
    <a:srgbClr val="8D6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EF3602-E09C-4FB3-88FD-0AF07CCC1424}">
  <a:tblStyle styleId="{90EF3602-E09C-4FB3-88FD-0AF07CCC14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58"/>
  </p:normalViewPr>
  <p:slideViewPr>
    <p:cSldViewPr snapToGrid="0">
      <p:cViewPr varScale="1">
        <p:scale>
          <a:sx n="160" d="100"/>
          <a:sy n="160" d="100"/>
        </p:scale>
        <p:origin x="1440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51960-8988-33AA-433E-8E9499057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6E5E02-F3C8-F879-D04C-30938C465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254E8-E32F-132E-2018-1605F1C212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957BA-C1FD-C576-822D-494F73B44A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778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A2291-75C3-A334-02F0-7711A0358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048AD6-20FB-4A3C-CC02-749B6938D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F6E60-1C73-2C73-08C5-A76F0B1D7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0A0C8-038E-715D-E756-4BADBC945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35ABEB-D898-3E42-AE61-56CF49C1D6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665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7.png"/><Relationship Id="rId5" Type="http://schemas.openxmlformats.org/officeDocument/2006/relationships/image" Target="../media/image9.png"/><Relationship Id="rId4" Type="http://schemas.openxmlformats.org/officeDocument/2006/relationships/image" Target="../media/image11.sv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1823465" y="163205"/>
            <a:ext cx="1581805" cy="342091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5653737" y="1653177"/>
            <a:ext cx="3490273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6117" y="212211"/>
            <a:ext cx="1325875" cy="22097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286116" y="2336781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  <a:defRPr sz="19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286114" y="1391112"/>
            <a:ext cx="8000670" cy="857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7461825" y="2614213"/>
            <a:ext cx="1213073" cy="1213073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7104894" y="2891492"/>
            <a:ext cx="646325" cy="662609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1348" y="2434954"/>
            <a:ext cx="1836547" cy="1576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95899" y="4503916"/>
            <a:ext cx="260270" cy="223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22972" y="4258967"/>
            <a:ext cx="223066" cy="1835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06373" y="4781048"/>
            <a:ext cx="256264" cy="17728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6949019" y="4480217"/>
            <a:ext cx="165735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1100"/>
          </a:p>
        </p:txBody>
      </p:sp>
      <p:sp>
        <p:nvSpPr>
          <p:cNvPr id="79" name="Google Shape;79;p14"/>
          <p:cNvSpPr txBox="1"/>
          <p:nvPr/>
        </p:nvSpPr>
        <p:spPr>
          <a:xfrm>
            <a:off x="7360145" y="4233920"/>
            <a:ext cx="1246228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1100"/>
          </a:p>
        </p:txBody>
      </p:sp>
      <p:sp>
        <p:nvSpPr>
          <p:cNvPr id="80" name="Google Shape;80;p14"/>
          <p:cNvSpPr txBox="1"/>
          <p:nvPr/>
        </p:nvSpPr>
        <p:spPr>
          <a:xfrm>
            <a:off x="6573889" y="4726513"/>
            <a:ext cx="2032485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1100"/>
          </a:p>
        </p:txBody>
      </p:sp>
      <p:sp>
        <p:nvSpPr>
          <p:cNvPr id="81" name="Google Shape;81;p14"/>
          <p:cNvSpPr txBox="1"/>
          <p:nvPr/>
        </p:nvSpPr>
        <p:spPr>
          <a:xfrm>
            <a:off x="286115" y="4412057"/>
            <a:ext cx="4538560" cy="53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11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286116" y="291366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6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>
                <a:solidFill>
                  <a:schemeClr val="accent3"/>
                </a:solidFill>
              </a:defRPr>
            </a:lvl1pPr>
            <a:lvl2pPr lvl="1">
              <a:buNone/>
              <a:defRPr sz="1300">
                <a:solidFill>
                  <a:schemeClr val="accent3"/>
                </a:solidFill>
              </a:defRPr>
            </a:lvl2pPr>
            <a:lvl3pPr lvl="2">
              <a:buNone/>
              <a:defRPr sz="1300">
                <a:solidFill>
                  <a:schemeClr val="accent3"/>
                </a:solidFill>
              </a:defRPr>
            </a:lvl3pPr>
            <a:lvl4pPr lvl="3">
              <a:buNone/>
              <a:defRPr sz="1300">
                <a:solidFill>
                  <a:schemeClr val="accent3"/>
                </a:solidFill>
              </a:defRPr>
            </a:lvl4pPr>
            <a:lvl5pPr lvl="4">
              <a:buNone/>
              <a:defRPr sz="1300">
                <a:solidFill>
                  <a:schemeClr val="accent3"/>
                </a:solidFill>
              </a:defRPr>
            </a:lvl5pPr>
            <a:lvl6pPr lvl="5">
              <a:buNone/>
              <a:defRPr sz="1300">
                <a:solidFill>
                  <a:schemeClr val="accent3"/>
                </a:solidFill>
              </a:defRPr>
            </a:lvl6pPr>
            <a:lvl7pPr lvl="6">
              <a:buNone/>
              <a:defRPr sz="1300">
                <a:solidFill>
                  <a:schemeClr val="accent3"/>
                </a:solidFill>
              </a:defRPr>
            </a:lvl7pPr>
            <a:lvl8pPr lvl="7">
              <a:buNone/>
              <a:defRPr sz="1300">
                <a:solidFill>
                  <a:schemeClr val="accent3"/>
                </a:solidFill>
              </a:defRPr>
            </a:lvl8pPr>
            <a:lvl9pPr lvl="8">
              <a:buNone/>
              <a:defRPr sz="13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by-side">
  <p:cSld name="Two-by-side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body" idx="2"/>
          </p:nvPr>
        </p:nvSpPr>
        <p:spPr>
          <a:xfrm>
            <a:off x="4237713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plus two">
  <p:cSld name="One plus tw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8000670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body" idx="2"/>
          </p:nvPr>
        </p:nvSpPr>
        <p:spPr>
          <a:xfrm>
            <a:off x="237378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body" idx="3"/>
          </p:nvPr>
        </p:nvSpPr>
        <p:spPr>
          <a:xfrm>
            <a:off x="4237713" y="2745388"/>
            <a:ext cx="4000335" cy="2143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7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n-Thick">
  <p:cSld name="Thin-Thic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body" idx="1"/>
          </p:nvPr>
        </p:nvSpPr>
        <p:spPr>
          <a:xfrm>
            <a:off x="3094760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2"/>
          </p:nvPr>
        </p:nvSpPr>
        <p:spPr>
          <a:xfrm>
            <a:off x="237378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ick-Thin">
  <p:cSld name="Thick-Thi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237378" y="742930"/>
            <a:ext cx="5143288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2"/>
          </p:nvPr>
        </p:nvSpPr>
        <p:spPr>
          <a:xfrm>
            <a:off x="5380666" y="742930"/>
            <a:ext cx="285738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-by-side">
  <p:cSld name="3-by-sid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body" idx="1"/>
          </p:nvPr>
        </p:nvSpPr>
        <p:spPr>
          <a:xfrm>
            <a:off x="24454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2"/>
          </p:nvPr>
        </p:nvSpPr>
        <p:spPr>
          <a:xfrm>
            <a:off x="2959060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body" idx="3"/>
          </p:nvPr>
        </p:nvSpPr>
        <p:spPr>
          <a:xfrm>
            <a:off x="5673573" y="742930"/>
            <a:ext cx="2571644" cy="4000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-box">
  <p:cSld name="4-box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240763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2"/>
          </p:nvPr>
        </p:nvSpPr>
        <p:spPr>
          <a:xfrm>
            <a:off x="4241101" y="742930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body" idx="3"/>
          </p:nvPr>
        </p:nvSpPr>
        <p:spPr>
          <a:xfrm>
            <a:off x="240763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body" idx="4"/>
          </p:nvPr>
        </p:nvSpPr>
        <p:spPr>
          <a:xfrm>
            <a:off x="4241101" y="2743126"/>
            <a:ext cx="4000335" cy="2000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1450" tIns="37150" rIns="0" bIns="3627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 sz="15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 sz="1200"/>
            </a:lvl3pPr>
            <a:lvl4pPr marL="1828800" lvl="3" indent="-2857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Char char="•"/>
              <a:defRPr sz="1100"/>
            </a:lvl4pPr>
            <a:lvl5pPr marL="2286000" lvl="4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•"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1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Background">
  <p:cSld name="Title Background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Only">
  <p:cSld name="Background Onl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/>
        </p:nvSpPr>
        <p:spPr>
          <a:xfrm>
            <a:off x="748938" y="392233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5" name="Google Shape;135;p2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No Background">
  <p:cSld name="No Background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800" lvl="3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6000" lvl="4" indent="-279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Only">
  <p:cSld name="Body Only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244839" y="284195"/>
            <a:ext cx="8000672" cy="47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1">
  <p:cSld name="Code Slide 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7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52" name="Google Shape;152;p27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53" name="Google Shape;153;p27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54" name="Google Shape;154;p27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55" name="Google Shape;155;p27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27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de Slide 2">
  <p:cSld name="Code Slide 2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4572005" y="0"/>
            <a:ext cx="4572005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>
            <a:off x="237375" y="742930"/>
            <a:ext cx="4000335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grpSp>
        <p:nvGrpSpPr>
          <p:cNvPr id="162" name="Google Shape;162;p28"/>
          <p:cNvGrpSpPr/>
          <p:nvPr/>
        </p:nvGrpSpPr>
        <p:grpSpPr>
          <a:xfrm>
            <a:off x="8255524" y="66639"/>
            <a:ext cx="827065" cy="722093"/>
            <a:chOff x="10401089" y="83956"/>
            <a:chExt cx="1042015" cy="909748"/>
          </a:xfrm>
        </p:grpSpPr>
        <p:sp>
          <p:nvSpPr>
            <p:cNvPr id="163" name="Google Shape;163;p28"/>
            <p:cNvSpPr/>
            <p:nvPr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sp>
          <p:nvSpPr>
            <p:cNvPr id="164" name="Google Shape;164;p28"/>
            <p:cNvSpPr/>
            <p:nvPr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1" i="0" cap="none">
                <a:solidFill>
                  <a:schemeClr val="lt2"/>
                </a:solidFill>
                <a:latin typeface="Arial Narrow"/>
                <a:ea typeface="Arial Narrow"/>
                <a:cs typeface="Arial Narrow"/>
                <a:sym typeface="Arial Narrow"/>
              </a:endParaRPr>
            </a:p>
          </p:txBody>
        </p:sp>
        <p:pic>
          <p:nvPicPr>
            <p:cNvPr id="165" name="Google Shape;165;p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8"/>
          <p:cNvSpPr txBox="1">
            <a:spLocks noGrp="1"/>
          </p:cNvSpPr>
          <p:nvPr>
            <p:ph type="body" idx="2"/>
          </p:nvPr>
        </p:nvSpPr>
        <p:spPr>
          <a:xfrm>
            <a:off x="4572005" y="742930"/>
            <a:ext cx="4576563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50" tIns="200025" rIns="0" bIns="36275" anchor="t" anchorCtr="0">
            <a:noAutofit/>
          </a:bodyPr>
          <a:lstStyle>
            <a:lvl1pPr marL="457200" lvl="0" indent="-228600" algn="l">
              <a:lnSpc>
                <a:spcPct val="55555"/>
              </a:lnSpc>
              <a:spcBef>
                <a:spcPts val="1000"/>
              </a:spcBef>
              <a:spcAft>
                <a:spcPts val="0"/>
              </a:spcAft>
              <a:buSzPts val="1300"/>
              <a:buNone/>
              <a:defRPr sz="1400" b="0">
                <a:solidFill>
                  <a:schemeClr val="lt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marL="914400" lvl="1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2pPr>
            <a:lvl3pPr marL="1371600" lvl="2" indent="-3111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300"/>
              <a:buChar char="•"/>
              <a:defRPr/>
            </a:lvl3pPr>
            <a:lvl4pPr marL="1828800" lvl="3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2286000" lvl="4" indent="-3111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White">
  <p:cSld name="Empty White">
    <p:bg>
      <p:bgPr>
        <a:solidFill>
          <a:schemeClr val="lt2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mpty Black">
  <p:cSld name="Empty Black">
    <p:bg>
      <p:bgPr>
        <a:solidFill>
          <a:schemeClr val="dk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+ Q&amp;A">
  <p:cSld name="Thank you + Q&amp;A">
    <p:bg>
      <p:bgPr>
        <a:solidFill>
          <a:srgbClr val="B4B4B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/>
        </p:nvSpPr>
        <p:spPr>
          <a:xfrm>
            <a:off x="1532192" y="1567205"/>
            <a:ext cx="2474929" cy="659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0" i="0" u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1100"/>
          </a:p>
        </p:txBody>
      </p:sp>
      <p:sp>
        <p:nvSpPr>
          <p:cNvPr id="174" name="Google Shape;174;p31"/>
          <p:cNvSpPr/>
          <p:nvPr/>
        </p:nvSpPr>
        <p:spPr>
          <a:xfrm>
            <a:off x="5152847" y="1180109"/>
            <a:ext cx="2574971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72575" tIns="72575" rIns="72575" bIns="725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5545468" y="1591635"/>
            <a:ext cx="1160552" cy="610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b="1" i="0" u="none">
                <a:solidFill>
                  <a:srgbClr val="B4B4B6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1100"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991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1823463" y="163206"/>
            <a:ext cx="1581803" cy="342091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5653731" y="1653177"/>
            <a:ext cx="3490269" cy="3490323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117" y="212211"/>
            <a:ext cx="1325873" cy="220982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286116" y="2336781"/>
            <a:ext cx="4571806" cy="285742"/>
          </a:xfrm>
        </p:spPr>
        <p:txBody>
          <a:bodyPr lIns="0" tIns="0" rIns="0" bIns="0" anchor="b"/>
          <a:lstStyle>
            <a:lvl1pPr marL="0" indent="0" algn="l">
              <a:buNone/>
              <a:defRPr sz="1905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342885" indent="0" algn="ctr">
              <a:buNone/>
              <a:defRPr sz="1500"/>
            </a:lvl2pPr>
            <a:lvl3pPr marL="685770" indent="0" algn="ctr">
              <a:buNone/>
              <a:defRPr sz="1350"/>
            </a:lvl3pPr>
            <a:lvl4pPr marL="1028655" indent="0" algn="ctr">
              <a:buNone/>
              <a:defRPr sz="1200"/>
            </a:lvl4pPr>
            <a:lvl5pPr marL="1371540" indent="0" algn="ctr">
              <a:buNone/>
              <a:defRPr sz="1200"/>
            </a:lvl5pPr>
            <a:lvl6pPr marL="1714425" indent="0" algn="ctr">
              <a:buNone/>
              <a:defRPr sz="1200"/>
            </a:lvl6pPr>
            <a:lvl7pPr marL="2057310" indent="0" algn="ctr">
              <a:buNone/>
              <a:defRPr sz="1200"/>
            </a:lvl7pPr>
            <a:lvl8pPr marL="2400195" indent="0" algn="ctr">
              <a:buNone/>
              <a:defRPr sz="1200"/>
            </a:lvl8pPr>
            <a:lvl9pPr marL="2743080" indent="0" algn="ctr">
              <a:buNone/>
              <a:defRPr sz="12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86114" y="1391112"/>
            <a:ext cx="8000661" cy="857227"/>
          </a:xfrm>
        </p:spPr>
        <p:txBody>
          <a:bodyPr anchor="t"/>
          <a:lstStyle>
            <a:lvl1pPr>
              <a:defRPr sz="2857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 dirty="0"/>
              <a:t>Click to edit Master title style (in case you have a</a:t>
            </a:r>
            <a:br>
              <a:rPr lang="en-US" noProof="0" dirty="0"/>
            </a:br>
            <a:r>
              <a:rPr lang="en-US" noProof="0" dirty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7461812" y="2614218"/>
            <a:ext cx="1213082" cy="1213063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7104883" y="2891495"/>
            <a:ext cx="646330" cy="662603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1340" y="2434955"/>
            <a:ext cx="1836545" cy="1576054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95890" y="4503916"/>
            <a:ext cx="260270" cy="223355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2963" y="4258967"/>
            <a:ext cx="223066" cy="18350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06364" y="4781048"/>
            <a:ext cx="256264" cy="17729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6949011" y="4480217"/>
            <a:ext cx="1657353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7360137" y="4233920"/>
            <a:ext cx="1246227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6573881" y="4726513"/>
            <a:ext cx="2032482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9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286115" y="4412057"/>
            <a:ext cx="4538555" cy="539114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5714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29" b="1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1429" b="0" i="0" noProof="0" dirty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1429" b="0" i="0" noProof="0" dirty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6116" y="2913663"/>
            <a:ext cx="4571806" cy="1285416"/>
          </a:xfrm>
        </p:spPr>
        <p:txBody>
          <a:bodyPr/>
          <a:lstStyle>
            <a:lvl1pPr marL="0" indent="0">
              <a:buNone/>
              <a:defRPr sz="1587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 dirty="0">
                <a:latin typeface="+mj-lt"/>
              </a:rPr>
              <a:t>Author Name 1    </a:t>
            </a:r>
            <a:r>
              <a:rPr lang="en-US" noProof="0" dirty="0">
                <a:solidFill>
                  <a:schemeClr val="tx1"/>
                </a:solidFill>
              </a:rPr>
              <a:t>mail1@iis.ee.ethz.ch</a:t>
            </a:r>
            <a:br>
              <a:rPr lang="en-US" noProof="0" dirty="0">
                <a:solidFill>
                  <a:schemeClr val="tx1"/>
                </a:solidFill>
              </a:rPr>
            </a:br>
            <a:r>
              <a:rPr lang="en-US" b="1" noProof="0" dirty="0">
                <a:latin typeface="+mj-lt"/>
              </a:rPr>
              <a:t>Author Name 2    </a:t>
            </a:r>
            <a:r>
              <a:rPr lang="en-US" noProof="0" dirty="0">
                <a:solidFill>
                  <a:schemeClr val="tx1"/>
                </a:solidFill>
              </a:rPr>
              <a:t>mail2@iis.ee.ethz.ch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3    </a:t>
            </a:r>
            <a:r>
              <a:rPr lang="en-US" noProof="0" dirty="0">
                <a:solidFill>
                  <a:schemeClr val="tx1"/>
                </a:solidFill>
              </a:rPr>
              <a:t>mail3@unibo.it</a:t>
            </a:r>
            <a:br>
              <a:rPr lang="en-US" b="1" noProof="0" dirty="0">
                <a:latin typeface="+mj-lt"/>
              </a:rPr>
            </a:br>
            <a:r>
              <a:rPr lang="en-US" b="1" noProof="0" dirty="0">
                <a:latin typeface="+mj-lt"/>
              </a:rPr>
              <a:t>Author Name 4    </a:t>
            </a:r>
            <a:r>
              <a:rPr lang="en-US" noProof="0" dirty="0">
                <a:solidFill>
                  <a:schemeClr val="tx1"/>
                </a:solidFill>
              </a:rPr>
              <a:t>mail4@unibo.it</a:t>
            </a:r>
            <a:endParaRPr lang="en-US" b="1" noProof="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199645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E741D-DF86-4A3D-DF9D-A4FFA6F777A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594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37708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5078-341C-4154-4064-BE0AD2B3F9D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2204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94757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BBB8B8-3BA4-B4B8-A5C5-6B943984B6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849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5143282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80660" y="742930"/>
            <a:ext cx="2857379" cy="41432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29531-4266-41D8-C902-18438A77E80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8" y="742930"/>
            <a:ext cx="8000661" cy="2000196"/>
          </a:xfrm>
          <a:effectLst/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7377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237708" y="2745388"/>
            <a:ext cx="4000331" cy="2143067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8C37B2-5C80-94D6-1AEA-FC88E0D7A64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81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4543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5905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673566" y="742930"/>
            <a:ext cx="257164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E2525F-FE6F-3F2A-87F8-E53C217DF63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678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40763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1096" y="742930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240763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41096" y="2743126"/>
            <a:ext cx="4000331" cy="2000196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375"/>
              </a:spcBef>
              <a:defRPr sz="1500"/>
            </a:lvl1pPr>
            <a:lvl2pPr>
              <a:lnSpc>
                <a:spcPct val="100000"/>
              </a:lnSpc>
              <a:spcBef>
                <a:spcPts val="300"/>
              </a:spcBef>
              <a:defRPr sz="1350"/>
            </a:lvl2pPr>
            <a:lvl3pPr>
              <a:lnSpc>
                <a:spcPct val="100000"/>
              </a:lnSpc>
              <a:spcBef>
                <a:spcPts val="300"/>
              </a:spcBef>
              <a:defRPr sz="1200"/>
            </a:lvl3pPr>
            <a:lvl4pPr marL="808399" indent="-133344">
              <a:lnSpc>
                <a:spcPct val="100000"/>
              </a:lnSpc>
              <a:spcBef>
                <a:spcPts val="300"/>
              </a:spcBef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9A470E-C584-A4A1-8BE3-D0FEE790247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68455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ECC96-5C3D-1CA7-88A0-A48C53075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132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748937" y="3922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3599-52C6-66B6-B195-3B42A917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804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6" y="742930"/>
            <a:ext cx="8000663" cy="4143263"/>
          </a:xfrm>
        </p:spPr>
        <p:txBody>
          <a:bodyPr lIns="0"/>
          <a:lstStyle>
            <a:lvl1pPr marL="228589" indent="-228589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400025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571464" indent="-171442">
              <a:buClrTx/>
              <a:buFont typeface="Arial" panose="020B0604020202020204" pitchFamily="34" charset="0"/>
              <a:buChar char="•"/>
              <a:defRPr sz="1429">
                <a:solidFill>
                  <a:schemeClr val="tx1"/>
                </a:solidFill>
              </a:defRPr>
            </a:lvl3pPr>
            <a:lvl4pPr marL="742903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14342" indent="-171442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51172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6407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44839" y="284194"/>
            <a:ext cx="8000663" cy="471474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QuantSparse 3D - Bowen Wang, Paul Scheffler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423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60859986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7375" y="742930"/>
            <a:ext cx="4000331" cy="4143263"/>
          </a:xfrm>
        </p:spPr>
        <p:txBody>
          <a:bodyPr l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8302281" y="111861"/>
            <a:ext cx="736048" cy="63165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1111" b="1" i="0" cap="none" spc="0" dirty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0" y="742930"/>
            <a:ext cx="4576558" cy="4143263"/>
          </a:xfrm>
        </p:spPr>
        <p:txBody>
          <a:bodyPr lIns="468000" tIns="252000"/>
          <a:lstStyle>
            <a:lvl1pPr marL="0" indent="0">
              <a:lnSpc>
                <a:spcPts val="794"/>
              </a:lnSpc>
              <a:buNone/>
              <a:defRPr sz="1429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 dirty="0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38137312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228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10703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1532190" y="1567205"/>
            <a:ext cx="2474926" cy="678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10" b="0" i="0" u="none" dirty="0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5152842" y="1180109"/>
            <a:ext cx="2574968" cy="2575008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72566" tIns="72566" rIns="72566" bIns="72566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11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5545462" y="1591634"/>
            <a:ext cx="1160551" cy="62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2" b="1" i="0" u="none" dirty="0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88953714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237379" y="135245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237375" y="742931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192" lvl="0" indent="-336544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914384" lvl="1" indent="-317494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1371576" lvl="2" indent="-31114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>
                <a:solidFill>
                  <a:schemeClr val="dk1"/>
                </a:solidFill>
              </a:defRPr>
            </a:lvl3pPr>
            <a:lvl4pPr marL="1828768" lvl="3" indent="-28574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2285960" lvl="4" indent="-27939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2743153" lvl="5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344" lvl="6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536" lvl="7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729" lvl="8" indent="-31749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659791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7273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3.xml"/><Relationship Id="rId21" Type="http://schemas.openxmlformats.org/officeDocument/2006/relationships/image" Target="../media/image9.png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image" Target="../media/image12.png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 rot="-5400000">
            <a:off x="8255518" y="5"/>
            <a:ext cx="888498" cy="888486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2900" b="0" i="0" u="none" strike="noStrike" cap="non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1"/>
          </p:nvPr>
        </p:nvSpPr>
        <p:spPr>
          <a:xfrm>
            <a:off x="237378" y="743510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457200" marR="0" lvl="0" indent="-3365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9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/>
          <p:nvPr/>
        </p:nvSpPr>
        <p:spPr>
          <a:xfrm>
            <a:off x="5613176" y="372158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b="0" i="0" u="none" strike="noStrike" cap="none">
              <a:solidFill>
                <a:schemeClr val="dk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5" name="Google Shape;55;p13"/>
          <p:cNvSpPr/>
          <p:nvPr/>
        </p:nvSpPr>
        <p:spPr>
          <a:xfrm rot="2700024">
            <a:off x="8314439" y="285449"/>
            <a:ext cx="284473" cy="28447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56" name="Google Shape;56;p13"/>
          <p:cNvSpPr/>
          <p:nvPr/>
        </p:nvSpPr>
        <p:spPr>
          <a:xfrm rot="2700024">
            <a:off x="8466252" y="172389"/>
            <a:ext cx="510593" cy="510593"/>
          </a:xfrm>
          <a:prstGeom prst="roundRect">
            <a:avLst>
              <a:gd name="adj" fmla="val 523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21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2290" y="111860"/>
            <a:ext cx="736049" cy="631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 rotWithShape="1">
          <a:blip r:embed="rId2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7378" y="4887852"/>
            <a:ext cx="877914" cy="1463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3"/>
          <p:cNvGrpSpPr/>
          <p:nvPr/>
        </p:nvGrpSpPr>
        <p:grpSpPr>
          <a:xfrm>
            <a:off x="1218693" y="4855937"/>
            <a:ext cx="1063846" cy="230074"/>
            <a:chOff x="3645356" y="188193"/>
            <a:chExt cx="5677387" cy="1227805"/>
          </a:xfrm>
        </p:grpSpPr>
        <p:pic>
          <p:nvPicPr>
            <p:cNvPr id="60" name="Google Shape;60;p13"/>
            <p:cNvPicPr preferRelativeResize="0"/>
            <p:nvPr/>
          </p:nvPicPr>
          <p:blipFill rotWithShape="1">
            <a:blip r:embed="rId2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3"/>
            <p:cNvPicPr preferRelativeResize="0"/>
            <p:nvPr/>
          </p:nvPicPr>
          <p:blipFill rotWithShape="1">
            <a:blip r:embed="rId2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99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8255509" y="5"/>
            <a:ext cx="888498" cy="888485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7378" y="135245"/>
            <a:ext cx="8000661" cy="492787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377" y="743510"/>
            <a:ext cx="8000663" cy="4143263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 dirty="0"/>
              <a:t>First line of text</a:t>
            </a:r>
          </a:p>
          <a:p>
            <a:pPr lvl="1"/>
            <a:r>
              <a:rPr lang="en-US" noProof="0" dirty="0"/>
              <a:t>Subtitle</a:t>
            </a:r>
          </a:p>
          <a:p>
            <a:pPr lvl="2"/>
            <a:r>
              <a:rPr lang="en-US" noProof="0" dirty="0"/>
              <a:t>Sub-subtitle</a:t>
            </a:r>
          </a:p>
          <a:p>
            <a:pPr lvl="3"/>
            <a:r>
              <a:rPr lang="en-US" noProof="0" dirty="0"/>
              <a:t>This level should not be used</a:t>
            </a:r>
          </a:p>
          <a:p>
            <a:pPr lvl="4"/>
            <a:r>
              <a:rPr lang="en-US" noProof="0" dirty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5613169" y="372158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571464"/>
            <a:endParaRPr lang="en-US" sz="1905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8314429" y="285451"/>
            <a:ext cx="284475" cy="28447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8466240" y="172391"/>
            <a:ext cx="510597" cy="510589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111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8302281" y="111861"/>
            <a:ext cx="736048" cy="63165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37378" y="4887852"/>
            <a:ext cx="877913" cy="14632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1218691" y="4855937"/>
            <a:ext cx="1063845" cy="230074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" name="Date Placeholder 12">
            <a:extLst>
              <a:ext uri="{FF2B5EF4-FFF2-40B4-BE49-F238E27FC236}">
                <a16:creationId xmlns:a16="http://schemas.microsoft.com/office/drawing/2014/main" id="{B8319E33-4883-AE4B-34D5-D48A9C68F7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82696" y="4871789"/>
            <a:ext cx="5429020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r>
              <a:rPr lang="en-US"/>
              <a:t>QuantSparse 3D - Bowen Wang, Paul Scheffler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59781" y="4871177"/>
            <a:ext cx="428607" cy="2285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2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1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</p:sldLayoutIdLst>
  <p:hf hdr="0" ftr="0"/>
  <p:txStyles>
    <p:titleStyle>
      <a:lvl1pPr algn="l" defTabSz="685770" rtl="0" eaLnBrk="1" latinLnBrk="0" hangingPunct="1">
        <a:lnSpc>
          <a:spcPct val="90000"/>
        </a:lnSpc>
        <a:spcBef>
          <a:spcPct val="0"/>
        </a:spcBef>
        <a:buNone/>
        <a:defRPr sz="2857" b="0" i="0" kern="1200" spc="-7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228589" indent="-228589" algn="l" defTabSz="571464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400025" indent="-171442" algn="l" defTabSz="571464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58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571464" indent="-171442" algn="l" defTabSz="685770" rtl="0" eaLnBrk="1" latinLnBrk="0" hangingPunct="1">
        <a:lnSpc>
          <a:spcPct val="100000"/>
        </a:lnSpc>
        <a:spcBef>
          <a:spcPts val="476"/>
        </a:spcBef>
        <a:buClr>
          <a:schemeClr val="tx1"/>
        </a:buClr>
        <a:buSzPct val="90000"/>
        <a:buFont typeface="Arial" panose="020B0604020202020204" pitchFamily="34" charset="0"/>
        <a:buChar char="•"/>
        <a:defRPr sz="1429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742903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952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914342" indent="-171442" algn="l" defTabSz="685770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873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1885868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5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37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22" indent="-171442" algn="l" defTabSz="68577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2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95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80" algn="l" defTabSz="68577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286116" y="2364675"/>
            <a:ext cx="4571811" cy="28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286116" y="1382921"/>
            <a:ext cx="8000670" cy="83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QuantSparse 3D Biweekly 2025-10-</a:t>
            </a:r>
            <a:r>
              <a:rPr lang="en-US" dirty="0"/>
              <a:t>30</a:t>
            </a:r>
            <a:br>
              <a:rPr lang="en-US" dirty="0"/>
            </a:br>
            <a:r>
              <a:rPr lang="en-US" dirty="0"/>
              <a:t>Pre-Discussion on Stage Report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286116" y="2952542"/>
            <a:ext cx="4571811" cy="128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b="1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>
                <a:solidFill>
                  <a:srgbClr val="168638"/>
                </a:solidFill>
              </a:rPr>
              <a:t>          </a:t>
            </a:r>
            <a:r>
              <a:rPr lang="en">
                <a:solidFill>
                  <a:srgbClr val="000000"/>
                </a:solidFill>
              </a:rPr>
              <a:t>bowwang@iis.ee.ethz.ch</a:t>
            </a:r>
            <a:br>
              <a:rPr lang="en" b="1">
                <a:latin typeface="Calibri"/>
                <a:ea typeface="Calibri"/>
                <a:cs typeface="Calibri"/>
                <a:sym typeface="Calibri"/>
              </a:rPr>
            </a:br>
            <a:r>
              <a:rPr lang="en" b="1">
                <a:latin typeface="Calibri"/>
                <a:ea typeface="Calibri"/>
                <a:cs typeface="Calibri"/>
                <a:sym typeface="Calibri"/>
              </a:rPr>
              <a:t>Paul Scheffler</a:t>
            </a:r>
            <a:r>
              <a:rPr lang="en"/>
              <a:t>         </a:t>
            </a:r>
            <a:r>
              <a:rPr lang="en">
                <a:solidFill>
                  <a:schemeClr val="dk1"/>
                </a:solidFill>
              </a:rPr>
              <a:t>paulsc@iis.ee.ethz.ch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</a:pPr>
            <a:r>
              <a:rPr lang="en" b="1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/>
              <a:t>             </a:t>
            </a:r>
            <a:r>
              <a:rPr lang="en">
                <a:solidFill>
                  <a:schemeClr val="dk1"/>
                </a:solidFill>
              </a:rPr>
              <a:t>lbenini@iis.ee.ethz.ch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D1143-5066-D218-6D53-BC8AEADED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9940B-6759-954B-D60B-9490A089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C0699-2A8D-3B90-EEC5-B85DAE9B145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 err="1"/>
              <a:t>QuantSparse</a:t>
            </a:r>
            <a:r>
              <a:rPr lang="en-US" dirty="0"/>
              <a:t> 3D - Bowen Wang, Paul Scheffler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A175E-005B-5B59-E6B9-549548762C1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6B0C12-360B-D4E1-C6D2-4A7862FF43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3882" y="795637"/>
            <a:ext cx="8571863" cy="227499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B79F8037-82BA-1CBD-BB07-26D3D176B977}"/>
              </a:ext>
            </a:extLst>
          </p:cNvPr>
          <p:cNvSpPr/>
          <p:nvPr/>
        </p:nvSpPr>
        <p:spPr>
          <a:xfrm>
            <a:off x="1991001" y="3150662"/>
            <a:ext cx="3541448" cy="809602"/>
          </a:xfrm>
          <a:prstGeom prst="rect">
            <a:avLst/>
          </a:prstGeom>
          <a:solidFill>
            <a:srgbClr val="B7D9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11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F5162D8-EB5C-97DE-98D3-31B82428E6ED}"/>
              </a:ext>
            </a:extLst>
          </p:cNvPr>
          <p:cNvSpPr txBox="1">
            <a:spLocks/>
          </p:cNvSpPr>
          <p:nvPr/>
        </p:nvSpPr>
        <p:spPr>
          <a:xfrm>
            <a:off x="1869330" y="3150660"/>
            <a:ext cx="3541448" cy="729577"/>
          </a:xfrm>
          <a:prstGeom prst="rect">
            <a:avLst/>
          </a:prstGeom>
        </p:spPr>
        <p:txBody>
          <a:bodyPr vert="horz" lIns="0" tIns="37146" rIns="0" bIns="36289" rtlCol="0" anchor="t">
            <a:noAutofit/>
          </a:bodyPr>
          <a:lstStyle>
            <a:lvl1pPr marL="288290" indent="-288290" algn="l" defTabSz="72009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defRPr sz="2400" b="1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04190" indent="-215900" algn="l" defTabSz="72009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20090" indent="-215900" algn="l" defTabSz="864235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35990" indent="-215900" algn="l" defTabSz="864235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151890" indent="-215900" algn="l" defTabSz="864235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816" lvl="1" indent="0">
              <a:buNone/>
            </a:pPr>
            <a:r>
              <a:rPr lang="en-US" sz="1100" b="1" dirty="0">
                <a:solidFill>
                  <a:srgbClr val="007894"/>
                </a:solidFill>
                <a:ea typeface="Roboto Light"/>
                <a:cs typeface="Calibri"/>
              </a:rPr>
              <a:t>WP1</a:t>
            </a:r>
          </a:p>
          <a:p>
            <a:pPr marL="500976" lvl="1" indent="-272160"/>
            <a:r>
              <a:rPr lang="en-US" sz="1050" b="1" i="1" dirty="0">
                <a:ea typeface="Roboto Light"/>
                <a:cs typeface="Calibri"/>
              </a:rPr>
              <a:t>Proposal for the unstructured </a:t>
            </a:r>
            <a:r>
              <a:rPr lang="en-US" sz="1050" b="1" i="1" dirty="0" err="1">
                <a:ea typeface="Roboto Light"/>
                <a:cs typeface="Calibri"/>
              </a:rPr>
              <a:t>SpMV</a:t>
            </a:r>
            <a:r>
              <a:rPr lang="en-US" sz="1050" b="1" i="1" dirty="0">
                <a:ea typeface="Roboto Light"/>
                <a:cs typeface="Calibri"/>
              </a:rPr>
              <a:t> dataflow and custom ELLPACK data format</a:t>
            </a:r>
          </a:p>
        </p:txBody>
      </p:sp>
    </p:spTree>
    <p:extLst>
      <p:ext uri="{BB962C8B-B14F-4D97-AF65-F5344CB8AC3E}">
        <p14:creationId xmlns:p14="http://schemas.microsoft.com/office/powerpoint/2010/main" val="81541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237378" y="135244"/>
            <a:ext cx="8000670" cy="492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237376" y="727914"/>
            <a:ext cx="8000672" cy="414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Progress Update</a:t>
            </a:r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Ventaglio – Scatter and gather </a:t>
            </a:r>
            <a:r>
              <a:rPr lang="en" b="1" dirty="0" err="1"/>
              <a:t>datapath</a:t>
            </a:r>
            <a:endParaRPr lang="en" b="1" dirty="0"/>
          </a:p>
          <a:p>
            <a:pPr lvl="1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b="1" dirty="0"/>
              <a:t>Pre-discussion on the stage report</a:t>
            </a:r>
          </a:p>
          <a:p>
            <a:pPr lvl="2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-US" dirty="0"/>
              <a:t>Work package revisit</a:t>
            </a:r>
          </a:p>
          <a:p>
            <a:pPr lvl="2" indent="-33655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-US" dirty="0"/>
              <a:t>Proposed structure of stage report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dirty="0"/>
              <a:t>Timeline</a:t>
            </a: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•"/>
            </a:pPr>
            <a:r>
              <a:rPr lang="en" dirty="0"/>
              <a:t>Discussion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2782699" y="4871789"/>
            <a:ext cx="5429026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8659790" y="4871177"/>
            <a:ext cx="428607" cy="22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C603-D6C0-1565-E849-5245F12A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25DD3-6824-DB16-0F7B-B1692F0A2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Ventaglio – Scatter/Gather Datapath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46B76-4C18-4116-E10E-716239E881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4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C032AC-9596-27B3-DBD2-69406D84E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4859554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Memory unit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Configurable number of rows, currently 4 rows per channel to support LMUL=8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Currently implemented with arrays of clock-gated flip-flops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Scatter/Gather datapath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To select the effective elements based on the index vector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sym typeface="Wingdings" pitchFamily="2" charset="2"/>
              </a:rPr>
              <a:t>Provides symmetrical interfaces</a:t>
            </a: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355C2C1-F818-D7F7-30EE-A53E6CA843A8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083E8D70-969C-B3A3-20D5-5429F4C1A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419" y="657735"/>
            <a:ext cx="3609891" cy="421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6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64760-9D5A-4061-7807-E9D9C7729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73280-DE0A-05DB-4621-4C280916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Ventaglio – Scatter/Gather Datapath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42ED8-23DE-1551-41F7-8B0E18BC66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5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F17AA2-105C-981A-F943-392FCDB0D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4859554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Gather/Scatter crossbars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Actively switching connections  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(Load/Store phase)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Route the data stream from VLSU directly into the memory units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(Compute phase)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Route the data stream through the scatter/gather datapath</a:t>
            </a:r>
          </a:p>
          <a:p>
            <a:pPr marL="120648" indent="0">
              <a:buNone/>
            </a:pP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F41A51B-D455-319F-26E8-52FFBD5FDFB1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45B47F24-A4BE-C097-D54B-6C23BD9EA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419" y="657735"/>
            <a:ext cx="3609891" cy="421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3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6690F-7ACE-C7E5-3607-B5D8DEFA6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1D5B-093F-538C-8CA5-F5BC817A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Ventaglio – Spatz Integration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FD4FE-1C0A-0CE2-BDB4-E9609B6AA2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6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21777-CD94-D291-C070-2E1A34CA8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4859554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VSLDU substitution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 is capable of </a:t>
            </a:r>
            <a:r>
              <a:rPr lang="en-US" altLang="zh-CN" sz="14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all the functions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of VSLDU, exposing the same interface towards VRF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VAU Crossbar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gather operation can be applied to both activation and accumulation tensors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If gather and scatter are applied to the accumulation (i.e., with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Gustavson’s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dataflow), it is written back to the 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VTL memory units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With </a:t>
            </a:r>
            <a:r>
              <a:rPr lang="en-US" altLang="zh-CN" sz="1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mixed, Inner-product-based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dataflow, the gather operation is only applied to the activation tensor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accumulations are stored back in the 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VRF</a:t>
            </a:r>
          </a:p>
          <a:p>
            <a:pPr marL="120648" indent="0">
              <a:buNone/>
            </a:pP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0803405-478D-17B0-2F31-99BF8D4A3B56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B7136E-50AF-EBB7-1C88-FC337C05E0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44494" y="784726"/>
            <a:ext cx="3609891" cy="378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9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324C5-CCF8-5BD1-69E8-E3E098DFE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E9E9-922C-6724-9777-2DCAA993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Ventaglio – Spatz Integration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9CA3E-E3BF-956C-2A47-7559836810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7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1CC24-9C08-AD30-DA40-35384480F2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4859554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Gustavson’s dataflow example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of weight elements is streamed from VRF (rs1)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Scalar activation elements are read from scalar registers</a:t>
            </a:r>
          </a:p>
          <a:p>
            <a:pPr lvl="1"/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of 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output accumulations 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is gathered-read from VTL, and scattered-write back to VTL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Indices are read from the VRF</a:t>
            </a:r>
          </a:p>
          <a:p>
            <a:pPr marL="120648" indent="0">
              <a:buNone/>
            </a:pP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815333D-1325-583C-375D-A44FE09DA739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9AD3A7-3FA6-585F-999F-1F93AA9BA6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44494" y="784726"/>
            <a:ext cx="3609890" cy="378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60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6AFFE-6748-9081-94C3-CD66AB312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5C1A-152C-6AF8-01A5-5D88DBB4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Ventaglio – Spatz Integration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107BB-5C18-5A1F-6D74-9D4377CE5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8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8049B-0CF3-DECE-85FB-6A2283DC9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4859554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Mixed- inner-product dataflow example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of activation elements is loaded from L1 through VLSU, and written to the memory units in VTL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zh-CN" sz="14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bypassing VRF</a:t>
            </a: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F43EA1B-233F-5FF9-94A9-08D08B81AA82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F8E453-415A-4BE5-9EE9-DE406AB7F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44494" y="784726"/>
            <a:ext cx="3609890" cy="378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47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C4B4-2602-7AA1-4654-11753BAC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9895-2927-D812-E309-B9B85697A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Ventaglio – Spatz Integration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11AAB-B7CA-CAF7-D2EE-BC7E78C62C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9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71E35-9528-0F17-28F6-37689D4E4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4859554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Mixed- inner-product dataflow example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Vector of activation elements is loaded from L1 through VLSU, and written to the memory units in VTL</a:t>
            </a:r>
            <a:b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zh-CN" sz="140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bypassing VRF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Compute stage</a:t>
            </a:r>
          </a:p>
          <a:p>
            <a:pPr lvl="1"/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Effective </a:t>
            </a:r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activation</a:t>
            </a:r>
            <a:r>
              <a:rPr lang="en-US" altLang="zh-CN" sz="14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elements are gathered with indices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vector of weight elements and output accumulations are streamed from VRF</a:t>
            </a:r>
          </a:p>
          <a:p>
            <a:pPr lvl="1"/>
            <a:endParaRPr lang="en-US" altLang="zh-CN" sz="14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marL="120648" indent="0">
              <a:buNone/>
            </a:pP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7154D5-3320-01DC-6622-FF1B880773D7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D3FD6F-9D57-709F-D4DB-F1CB8BA9A3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144494" y="784726"/>
            <a:ext cx="3609889" cy="378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4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FF6DA-8E5F-665C-0B01-C2237927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3B997-CDD7-0456-5171-C1847E60C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Review of First-Year Work Package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7948A-719D-F726-4AC0-EE756B9062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10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123EC6F-9DCE-3828-A15F-14C05BEE9EC9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64FD7-43BE-2BA8-9BE1-38B658ABC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8588716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(WP1) Chiplet architecture and building blocks 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Architectural modeling, simulation, and design of the chiplet architecture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including processing engines, on-chip interconnect, memories, 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and main memory endpoints (controllers and near/in memory compute units). 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Parameterized</a:t>
            </a:r>
            <a:r>
              <a:rPr lang="en-US" altLang="zh-CN" sz="1400" b="0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</a:t>
            </a:r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RTL models </a:t>
            </a:r>
            <a:r>
              <a:rPr lang="en-US" altLang="zh-CN" sz="1400" b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will be built and synthesized on advanced technology models representative of state-of-the-art technologies to assess PPA.</a:t>
            </a:r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(WP2) System and software design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Architectural modeling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of multi-chiplet fabrics and 3D-stacked memories. 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Software environment for mapping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LLM models to the hardware architecture, leveraging open-source environments (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PyTorch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, TVM, LLVM) and open specifications (ONNX). </a:t>
            </a:r>
          </a:p>
          <a:p>
            <a:pPr lvl="1"/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Design space exploration of system configurations using a set of simplified end-to-end models and microkernels, such as autoregressive inference using a KV-cache for long input sequences, also using micro-scaling formats to reduce memory and energy footprints. </a:t>
            </a:r>
            <a:endParaRPr lang="en-US" altLang="zh-CN" sz="1400" dirty="0">
              <a:solidFill>
                <a:schemeClr val="accent2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marL="120648" indent="0">
              <a:buNone/>
            </a:pP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28844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4B477-1E14-84B3-2003-C14A5540C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D8C94-6607-B83F-4CA5-6DE083FF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Review of First-Year Work Package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FAD4D-0CB3-53A1-D978-E6A5FAE7FA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11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A289952-120E-A93C-D9D9-8D8FA991F00D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EE10AD-6B76-EC53-8669-C1D7AB18CA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3865" y="657736"/>
            <a:ext cx="8588716" cy="4034914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(WP1.1) Architectural modeling, simulation, and design of the chiplet architecture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Modeled (widened) 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indexed-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macc</a:t>
            </a:r>
            <a:r>
              <a:rPr lang="en-US" altLang="zh-CN" sz="12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 the vector processor Spatz for sparsity handling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Modeled </a:t>
            </a:r>
            <a:r>
              <a:rPr lang="en-US" altLang="zh-CN" sz="12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  <a:sym typeface="Wingdings" pitchFamily="2" charset="2"/>
              </a:rPr>
              <a:t>vmxdotp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instructions in Spatz for block quantization data format handling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Modeled on-chip interconnect, memories, and main memory endpoints.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[Finishing]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Modeled controller and coalescer in main memory endpoint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(WP1.2) Parameterized RTL models 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MXDOTP operation group has been integrated into Spatz. It is synthesized with the GF12 technology node and performs PPA analysis.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RTL implementation of controller and coalescer in main memory endpoint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[Ongoing]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The Ventaglio gather and scatter datapath is being integrated into Spatz. </a:t>
            </a:r>
            <a:r>
              <a:rPr lang="en-US" altLang="zh-CN" sz="14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– Expect to finish in November (M9)</a:t>
            </a:r>
          </a:p>
          <a:p>
            <a:pPr marL="120648" indent="0">
              <a:buNone/>
            </a:pP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74257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6880B-8B01-3C0B-31E8-7FED3F098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770A-A561-FBFC-807D-51A37A803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Review of First-Year Work Package</a:t>
            </a:r>
            <a:endParaRPr lang="en-US" i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8ED2B-1FA8-C4E4-2EB1-017CC0D0A8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362880">
              <a:buClrTx/>
            </a:pPr>
            <a:fld id="{00000000-1234-1234-1234-123412341234}" type="slidenum">
              <a:rPr lang="en" kern="1200" smtClean="0">
                <a:solidFill>
                  <a:srgbClr val="000000"/>
                </a:solidFill>
              </a:rPr>
              <a:pPr defTabSz="362880">
                <a:buClrTx/>
              </a:pPr>
              <a:t>12</a:t>
            </a:fld>
            <a:endParaRPr lang="en" kern="1200">
              <a:solidFill>
                <a:srgbClr val="000000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462C47-E505-5364-4D8D-F6443880741D}"/>
              </a:ext>
            </a:extLst>
          </p:cNvPr>
          <p:cNvSpPr txBox="1"/>
          <p:nvPr/>
        </p:nvSpPr>
        <p:spPr>
          <a:xfrm>
            <a:off x="5186050" y="492574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720000"/>
            <a:endParaRPr lang="en-US" sz="24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BF199-BBF2-589F-5E53-447E127C2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768" y="588154"/>
            <a:ext cx="8588716" cy="4213441"/>
          </a:xfrm>
        </p:spPr>
        <p:txBody>
          <a:bodyPr/>
          <a:lstStyle/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(WP2.1) Architectural modeling of 3D-stacked memories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[Ongoing]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Extend the router model with optional 3D (z-up and z-down) routing </a:t>
            </a:r>
            <a:r>
              <a:rPr lang="en-US" altLang="zh-CN" sz="14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– Expect to finish in December (M10)</a:t>
            </a:r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(WP2.2) Software environment for LLM Deployment 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Extended SoftHier runtime with dynamic memory allocation in both L1 SPM and HBM. 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Integrated the SoftHier runtime and basic kernel templates into the Deeploy framework. Achieved single-cluster microkernel deployment.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[Ongoing]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Extending the deployment framework to support multi-node architectures. </a:t>
            </a:r>
            <a:r>
              <a:rPr lang="en-US" altLang="zh-CN" sz="14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– Expect to finish in January (M11)</a:t>
            </a:r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r>
              <a:rPr lang="en-US" altLang="zh-CN" sz="1718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(WP2.3) DSE for simplified end-to-end models and microkernels</a:t>
            </a:r>
          </a:p>
          <a:p>
            <a:pPr lvl="1"/>
            <a:r>
              <a:rPr lang="en-US" altLang="zh-CN" sz="14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[Done]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Implemented microkernels for SpMM and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kernels with structured sparse weight matrix and unstructured activations. GEMM and GEMV kernels with MX block quantization format.</a:t>
            </a:r>
          </a:p>
          <a:p>
            <a:pPr lvl="1"/>
            <a:r>
              <a:rPr lang="en-US" altLang="zh-CN" sz="1400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[Ongoing]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Proposed multi-level ELLPACK format for </a:t>
            </a:r>
            <a:r>
              <a:rPr lang="en-US" altLang="zh-CN" sz="1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SpMV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 kernel with unstructured sparse weight matrix. HW-SW co-design with Ventaglio scatter/gather datapath. </a:t>
            </a:r>
            <a:r>
              <a:rPr lang="en-US" altLang="zh-CN" sz="14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– Expect to finish in December (M10)</a:t>
            </a:r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r>
              <a:rPr lang="en-US" altLang="zh-CN" sz="1400" b="1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[Pending] </a:t>
            </a:r>
            <a:r>
              <a:rPr lang="en-US" altLang="zh-CN" sz="1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Implementation of end-to-end model deployment. </a:t>
            </a:r>
            <a:r>
              <a:rPr lang="en-US" altLang="zh-CN" sz="1400" i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– Expect to finish in February (M12)</a:t>
            </a:r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lvl="1"/>
            <a:endParaRPr lang="en-US" altLang="zh-CN" sz="1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  <a:sym typeface="Wingdings" pitchFamily="2" charset="2"/>
            </a:endParaRPr>
          </a:p>
          <a:p>
            <a:pPr marL="120648" indent="0">
              <a:buNone/>
            </a:pPr>
            <a:br>
              <a:rPr lang="en-US" altLang="zh-CN" sz="1400" dirty="0">
                <a:solidFill>
                  <a:schemeClr val="accent1"/>
                </a:solidFill>
                <a:sym typeface="Wingdings" pitchFamily="2" charset="2"/>
              </a:rPr>
            </a:br>
            <a:endParaRPr lang="en-US" altLang="zh-CN" sz="1400" dirty="0">
              <a:solidFill>
                <a:schemeClr val="accent1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9967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107A6-F9E8-E08B-34D3-D4FC8BA1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BC898-E43F-7742-8B67-49114046E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ADD8D-C0CF-EB29-762F-FBF1CDBBA43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dirty="0" err="1"/>
              <a:t>QuantSparse</a:t>
            </a:r>
            <a:r>
              <a:rPr lang="en-US" dirty="0"/>
              <a:t> 3D - Bowen Wang, Paul Scheffler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5D70BC-97EA-D549-B1E0-43B1FC156C7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69BFE5-CF78-B398-5412-25D0DC1FAA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3882" y="795637"/>
            <a:ext cx="8571863" cy="2274996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89514261-74F9-4EF2-99A2-B3FAB99BF2F3}"/>
              </a:ext>
            </a:extLst>
          </p:cNvPr>
          <p:cNvSpPr/>
          <p:nvPr/>
        </p:nvSpPr>
        <p:spPr>
          <a:xfrm>
            <a:off x="1991001" y="3150661"/>
            <a:ext cx="3778428" cy="844869"/>
          </a:xfrm>
          <a:prstGeom prst="rect">
            <a:avLst/>
          </a:prstGeom>
          <a:solidFill>
            <a:srgbClr val="B7D9E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11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10063D35-5441-3548-BECA-C1B2A7C16AC4}"/>
              </a:ext>
            </a:extLst>
          </p:cNvPr>
          <p:cNvSpPr txBox="1">
            <a:spLocks/>
          </p:cNvSpPr>
          <p:nvPr/>
        </p:nvSpPr>
        <p:spPr>
          <a:xfrm>
            <a:off x="1869329" y="3150660"/>
            <a:ext cx="3778427" cy="796233"/>
          </a:xfrm>
          <a:prstGeom prst="rect">
            <a:avLst/>
          </a:prstGeom>
        </p:spPr>
        <p:txBody>
          <a:bodyPr vert="horz" lIns="0" tIns="37146" rIns="0" bIns="36289" rtlCol="0" anchor="t">
            <a:noAutofit/>
          </a:bodyPr>
          <a:lstStyle>
            <a:lvl1pPr marL="288290" indent="-288290" algn="l" defTabSz="720090" rtl="0" eaLnBrk="1" latinLnBrk="0" hangingPunct="1">
              <a:lnSpc>
                <a:spcPct val="100000"/>
              </a:lnSpc>
              <a:spcBef>
                <a:spcPts val="1200"/>
              </a:spcBef>
              <a:buClrTx/>
              <a:buSzPct val="90000"/>
              <a:buFont typeface="Arial" panose="020B0604020202020204" pitchFamily="34" charset="0"/>
              <a:buChar char="•"/>
              <a:defRPr sz="2400" b="1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504190" indent="-215900" algn="l" defTabSz="720090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720090" indent="-215900" algn="l" defTabSz="864235" rtl="0" eaLnBrk="1" latinLnBrk="0" hangingPunct="1">
              <a:lnSpc>
                <a:spcPct val="100000"/>
              </a:lnSpc>
              <a:spcBef>
                <a:spcPts val="600"/>
              </a:spcBef>
              <a:buClrTx/>
              <a:buSzPct val="90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935990" indent="-215900" algn="l" defTabSz="864235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151890" indent="-215900" algn="l" defTabSz="864235" rtl="0" eaLnBrk="1" latinLnBrk="0" hangingPunct="1">
              <a:lnSpc>
                <a:spcPct val="100000"/>
              </a:lnSpc>
              <a:spcBef>
                <a:spcPts val="0"/>
              </a:spcBef>
              <a:buClrTx/>
              <a:buSzPct val="90000"/>
              <a:buFont typeface="Arial" panose="020B0604020202020204" pitchFamily="34" charset="0"/>
              <a:buChar char="•"/>
              <a:defRPr sz="110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23761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39770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72205" indent="-215900" algn="l" defTabSz="864235" rtl="0" eaLnBrk="1" latinLnBrk="0" hangingPunct="1">
              <a:lnSpc>
                <a:spcPct val="90000"/>
              </a:lnSpc>
              <a:spcBef>
                <a:spcPts val="47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816" lvl="1" indent="0">
              <a:buNone/>
            </a:pPr>
            <a:r>
              <a:rPr lang="en-US" sz="1100" b="1" dirty="0">
                <a:solidFill>
                  <a:srgbClr val="007894"/>
                </a:solidFill>
                <a:ea typeface="Roboto Light"/>
                <a:cs typeface="Calibri"/>
              </a:rPr>
              <a:t>WP1</a:t>
            </a:r>
          </a:p>
          <a:p>
            <a:pPr marL="500976" lvl="1" indent="-272160"/>
            <a:r>
              <a:rPr lang="en-US" sz="1050" b="1" i="1" dirty="0">
                <a:ea typeface="Roboto Light"/>
                <a:cs typeface="Calibri"/>
              </a:rPr>
              <a:t>Pre-discussion for Stage Report</a:t>
            </a:r>
          </a:p>
        </p:txBody>
      </p:sp>
    </p:spTree>
    <p:extLst>
      <p:ext uri="{BB962C8B-B14F-4D97-AF65-F5344CB8AC3E}">
        <p14:creationId xmlns:p14="http://schemas.microsoft.com/office/powerpoint/2010/main" val="36421412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8158</TotalTime>
  <Words>943</Words>
  <Application>Microsoft Macintosh PowerPoint</Application>
  <PresentationFormat>On-screen Show (16:9)</PresentationFormat>
  <Paragraphs>106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Consolas</vt:lpstr>
      <vt:lpstr>Arial</vt:lpstr>
      <vt:lpstr>Roboto Light</vt:lpstr>
      <vt:lpstr>Arial Narrow</vt:lpstr>
      <vt:lpstr>Calibri</vt:lpstr>
      <vt:lpstr>Wingdings</vt:lpstr>
      <vt:lpstr>Calibri Light</vt:lpstr>
      <vt:lpstr>Simple Light</vt:lpstr>
      <vt:lpstr>PULP Triangle</vt:lpstr>
      <vt:lpstr>1_PULP Triangle</vt:lpstr>
      <vt:lpstr>QuantSparse 3D Biweekly 2025-10-30 Pre-Discussion on Stage Report</vt:lpstr>
      <vt:lpstr>Progress Recap</vt:lpstr>
      <vt:lpstr>Agenda</vt:lpstr>
      <vt:lpstr>Ventaglio – Scatter/Gather Datapath</vt:lpstr>
      <vt:lpstr>Ventaglio – Scatter/Gather Datapath</vt:lpstr>
      <vt:lpstr>Ventaglio – Spatz Integration</vt:lpstr>
      <vt:lpstr>Ventaglio – Spatz Integration</vt:lpstr>
      <vt:lpstr>Ventaglio – Spatz Integration</vt:lpstr>
      <vt:lpstr>Ventaglio – Spatz Integration</vt:lpstr>
      <vt:lpstr>Review of First-Year Work Package</vt:lpstr>
      <vt:lpstr>Review of First-Year Work Package</vt:lpstr>
      <vt:lpstr>Review of First-Year Work Package</vt:lpstr>
      <vt:lpstr>Progress Update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QuantSparse 3D Biweekly 2025-03-25</dc:title>
  <dc:creator>paulsc</dc:creator>
  <cp:lastModifiedBy>Wang, Bowen</cp:lastModifiedBy>
  <cp:revision>987</cp:revision>
  <dcterms:modified xsi:type="dcterms:W3CDTF">2025-10-30T08:54:35Z</dcterms:modified>
</cp:coreProperties>
</file>