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4"/>
  </p:notesMasterIdLst>
  <p:sldIdLst>
    <p:sldId id="256" r:id="rId4"/>
    <p:sldId id="257" r:id="rId5"/>
    <p:sldId id="588" r:id="rId6"/>
    <p:sldId id="589" r:id="rId7"/>
    <p:sldId id="549" r:id="rId8"/>
    <p:sldId id="591" r:id="rId9"/>
    <p:sldId id="592" r:id="rId10"/>
    <p:sldId id="593" r:id="rId11"/>
    <p:sldId id="590" r:id="rId12"/>
    <p:sldId id="594" r:id="rId13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588"/>
            <p14:sldId id="589"/>
            <p14:sldId id="549"/>
            <p14:sldId id="591"/>
            <p14:sldId id="592"/>
            <p14:sldId id="593"/>
            <p14:sldId id="590"/>
            <p14:sldId id="5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B9F"/>
    <a:srgbClr val="A7127A"/>
    <a:srgbClr val="037491"/>
    <a:srgbClr val="168638"/>
    <a:srgbClr val="A6CAEC"/>
    <a:srgbClr val="BA362D"/>
    <a:srgbClr val="BBA471"/>
    <a:srgbClr val="C45D57"/>
    <a:srgbClr val="4C7CBD"/>
    <a:srgbClr val="B73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658"/>
  </p:normalViewPr>
  <p:slideViewPr>
    <p:cSldViewPr snapToGrid="0">
      <p:cViewPr varScale="1">
        <p:scale>
          <a:sx n="160" d="100"/>
          <a:sy n="160" d="100"/>
        </p:scale>
        <p:origin x="2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1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2026-01-</a:t>
            </a:r>
            <a:r>
              <a:rPr lang="en-US" dirty="0"/>
              <a:t>29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>
                <a:solidFill>
                  <a:srgbClr val="168638"/>
                </a:solidFill>
              </a:rPr>
              <a:t>          </a:t>
            </a:r>
            <a:r>
              <a:rPr lang="en">
                <a:solidFill>
                  <a:srgbClr val="000000"/>
                </a:solidFill>
              </a:rPr>
              <a:t>bowwang@iis.ee.ethz.ch</a:t>
            </a:r>
            <a:br>
              <a:rPr lang="en" b="1">
                <a:latin typeface="Calibri"/>
                <a:ea typeface="Calibri"/>
                <a:cs typeface="Calibri"/>
                <a:sym typeface="Calibri"/>
              </a:rPr>
            </a:br>
            <a:r>
              <a:rPr lang="en" b="1">
                <a:latin typeface="Calibri"/>
                <a:ea typeface="Calibri"/>
                <a:cs typeface="Calibri"/>
                <a:sym typeface="Calibri"/>
              </a:rPr>
              <a:t>Paul Scheffler</a:t>
            </a:r>
            <a:r>
              <a:rPr lang="en"/>
              <a:t>         </a:t>
            </a:r>
            <a:r>
              <a:rPr lang="en">
                <a:solidFill>
                  <a:schemeClr val="dk1"/>
                </a:solidFill>
              </a:rPr>
              <a:t>paulsc@iis.ee.ethz.ch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/>
              <a:t>             </a:t>
            </a:r>
            <a:r>
              <a:rPr lang="en">
                <a:solidFill>
                  <a:schemeClr val="dk1"/>
                </a:solidFill>
              </a:rPr>
              <a:t>lbenini@iis.ee.ethz.ch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</a:t>
            </a:r>
            <a:r>
              <a:rPr lang="en" dirty="0"/>
              <a:t>Performance improvement; </a:t>
            </a:r>
            <a:r>
              <a:rPr lang="en-GB" dirty="0"/>
              <a:t>instructions,</a:t>
            </a:r>
            <a:r>
              <a:rPr lang="en" dirty="0"/>
              <a:t> semantic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3D System – </a:t>
            </a:r>
            <a:r>
              <a:rPr lang="en" dirty="0"/>
              <a:t>Fixes and progress update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71" y="905715"/>
            <a:ext cx="8571857" cy="1259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D9A9-C9F7-9DF0-D98E-2EF5B8DB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2EE1-EBDC-D910-40F2-8FFF3541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 Ventaglio 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5E62-AAFC-21D8-C288-A1EC051C43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D1A06-8055-C300-D60E-5604D6059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494701"/>
            <a:ext cx="4943022" cy="4376476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Datapath behavior under an </a:t>
            </a:r>
            <a:r>
              <a:rPr lang="en-US" altLang="zh-CN" sz="1600" b="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(Gustavson’s dataflow).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Ideal waveform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Should be only 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one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cycle latency between consecutive </a:t>
            </a:r>
            <a:r>
              <a:rPr lang="en-US" altLang="zh-CN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vfxmacc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operation (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unavoidable in current design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Comes from loading indices from L1 into the VRF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Weight matrix is not reused under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 VLSU bandwidth matches that of the VPU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Theoretical maximum VPU utilization is 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94.1% </a:t>
            </a:r>
            <a:r>
              <a:rPr lang="en-US" altLang="zh-CN" sz="14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(LMUL=8)</a:t>
            </a:r>
            <a:r>
              <a:rPr lang="en-US" altLang="zh-CN" sz="14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VTL_v0.2 design</a:t>
            </a:r>
          </a:p>
          <a:p>
            <a:pPr lvl="1"/>
            <a:r>
              <a:rPr lang="en-US" altLang="zh-CN" sz="1400" b="1" dirty="0">
                <a:solidFill>
                  <a:schemeClr val="accent1"/>
                </a:solidFill>
                <a:sym typeface="Wingdings" pitchFamily="2" charset="2"/>
              </a:rPr>
              <a:t>Two additional stall cycles are observed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Root cause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VLSU behavior when two load instructions arrive back-to-back. 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VLSU requires a </a:t>
            </a:r>
            <a:r>
              <a:rPr lang="en-US" altLang="zh-CN" sz="1400" b="1" dirty="0">
                <a:solidFill>
                  <a:schemeClr val="accent1"/>
                </a:solidFill>
                <a:sym typeface="Wingdings" pitchFamily="2" charset="2"/>
              </a:rPr>
              <a:t>transition cycle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to commit the previous instruction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F48D59-6561-A236-F845-41671EF37C15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 descr="A diagram of datapaths&#10;&#10;AI-generated content may be incorrect.">
            <a:extLst>
              <a:ext uri="{FF2B5EF4-FFF2-40B4-BE49-F238E27FC236}">
                <a16:creationId xmlns:a16="http://schemas.microsoft.com/office/drawing/2014/main" id="{7A1D7116-AAD6-5B2A-E583-F68C43CAF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87" y="1127232"/>
            <a:ext cx="4011511" cy="276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7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678F-C271-0EA0-3F0F-44412F0D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C9F3-38E6-03CD-6507-2ADB7E2D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D64FA-AEDD-9708-A98C-D920842AD3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7738C-DFB9-3D93-1255-79FABFE73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4302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Datapath behavior under an </a:t>
            </a:r>
            <a:r>
              <a:rPr lang="en-US" altLang="zh-CN" sz="1600" b="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(Gustavson’s dataflow).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VTL_v0.3 design:</a:t>
            </a:r>
            <a:endParaRPr lang="en-US" altLang="zh-CN" sz="1600" b="0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These two extra cycles can be removed by modifying the VLSU commit logic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Modifying VLSU commit logic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allowed early commit for consecutive vector load operations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sym typeface="Wingdings" pitchFamily="2" charset="2"/>
              </a:rPr>
              <a:t>Result: </a:t>
            </a:r>
            <a:r>
              <a:rPr lang="en-US" altLang="zh-CN" sz="1400" dirty="0">
                <a:solidFill>
                  <a:schemeClr val="accent3"/>
                </a:solidFill>
                <a:sym typeface="Wingdings" pitchFamily="2" charset="2"/>
              </a:rPr>
              <a:t>VPU utilization reaches 93.7% (LMUL=8) on </a:t>
            </a:r>
            <a:r>
              <a:rPr lang="en-US" altLang="zh-CN" sz="1400" dirty="0" err="1">
                <a:solidFill>
                  <a:schemeClr val="accent3"/>
                </a:solidFill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accent3"/>
                </a:solidFill>
                <a:sym typeface="Wingdings" pitchFamily="2" charset="2"/>
              </a:rPr>
              <a:t> (reaching the ideal case)</a:t>
            </a:r>
          </a:p>
          <a:p>
            <a:pPr lvl="1"/>
            <a:r>
              <a:rPr lang="en-US" altLang="zh-CN" sz="1400" b="1" dirty="0">
                <a:solidFill>
                  <a:schemeClr val="accent1"/>
                </a:solidFill>
                <a:sym typeface="Wingdings" pitchFamily="2" charset="2"/>
              </a:rPr>
              <a:t>Observation</a:t>
            </a:r>
            <a: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  <a:t>:  VPU utilization drops at smaller LMUL (LMUL=2/4)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Root cause: Shorter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MACC compute phase, so loop-control overhead can't hide behind computation. 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  <a:t>More prominent in sparse kernels.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sym typeface="Wingdings" pitchFamily="2" charset="2"/>
              </a:rPr>
              <a:t>Solution</a:t>
            </a:r>
            <a:r>
              <a:rPr lang="en-US" altLang="zh-CN" sz="1400" dirty="0">
                <a:solidFill>
                  <a:schemeClr val="accent2"/>
                </a:solidFill>
                <a:sym typeface="Wingdings" pitchFamily="2" charset="2"/>
              </a:rPr>
              <a:t>: Loop unrolling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6CC3FC-5250-F1CD-8D79-E65976FBD8CA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 descr="A diagram of datapaths&#10;&#10;AI-generated content may be incorrect.">
            <a:extLst>
              <a:ext uri="{FF2B5EF4-FFF2-40B4-BE49-F238E27FC236}">
                <a16:creationId xmlns:a16="http://schemas.microsoft.com/office/drawing/2014/main" id="{71CA2427-19CD-D6BB-609C-7594463A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87" y="1127232"/>
            <a:ext cx="4011511" cy="276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1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4FD9-D828-C2A1-1920-7F345B68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19B7-70C8-94D3-8FDF-33E051D5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Existing Instructions Semantics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6FC4D-A0F1-9B9D-F129-05E4463548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D7B38-4076-BD7E-6025-E5C401D7E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207" y="628032"/>
            <a:ext cx="5155685" cy="2569083"/>
          </a:xfrm>
        </p:spPr>
        <p:txBody>
          <a:bodyPr/>
          <a:lstStyle/>
          <a:p>
            <a:pPr marL="120648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Vector load index 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</a:t>
            </a:r>
            <a:r>
              <a:rPr lang="en-US" altLang="zh-CN" sz="1400" b="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x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.v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vd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Reuse a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vacant VRF slot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 store index vectors</a:t>
            </a:r>
          </a:p>
          <a:p>
            <a:pPr marL="120648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Indexed MACC operation </a:t>
            </a:r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</a:t>
            </a:r>
            <a:r>
              <a:rPr lang="en-US" altLang="zh-CN" sz="1400" b="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x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macc.vf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vd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, rs1, vs2</a:t>
            </a:r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)</a:t>
            </a:r>
          </a:p>
          <a:p>
            <a:pPr lvl="1"/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index vector </a:t>
            </a:r>
            <a:r>
              <a:rPr lang="en-US" altLang="zh-CN" sz="1387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implicitly shares the same VID </a:t>
            </a:r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as the vector register mapped to VTL</a:t>
            </a:r>
            <a:b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Enables non-intrusive instruction encoding</a:t>
            </a:r>
            <a:b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54358-0B29-61A4-A10D-024089C3AD5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026C99F-7A58-825E-28CC-5BDB8850A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64" y="628032"/>
            <a:ext cx="2928157" cy="376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5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5DEC-343D-EA24-1061-C876AA2A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3EB6-7031-435F-B743-FC8B93C6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 with Loop Unrolling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CEBC9-A63D-3C52-5247-81F3F138CB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A6B2F1-C5BB-B896-BFBC-448828D37C05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AEDAC-E2D0-0709-0F12-854EC6CF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24572" y="449271"/>
            <a:ext cx="2596649" cy="424495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07DDEE5-6781-CA16-38F7-703FC0839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4302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Datapath behavior under an </a:t>
            </a:r>
            <a:r>
              <a:rPr lang="en-US" altLang="zh-CN" sz="1600" b="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(Gustavson’s dataflow).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VTL_v0.3 design:</a:t>
            </a:r>
            <a:endParaRPr lang="en-US" altLang="zh-CN" sz="1600" b="0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The </a:t>
            </a:r>
            <a:r>
              <a:rPr lang="en-US" altLang="zh-CN" sz="1400" b="1" dirty="0">
                <a:solidFill>
                  <a:schemeClr val="accent2"/>
                </a:solidFill>
                <a:sym typeface="Wingdings" pitchFamily="2" charset="2"/>
              </a:rPr>
              <a:t>accumulation/output vector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is mapped to VTL</a:t>
            </a:r>
          </a:p>
          <a:p>
            <a:pPr lvl="1"/>
            <a:r>
              <a:rPr lang="en-US" altLang="zh-CN" sz="1400" b="1" dirty="0">
                <a:solidFill>
                  <a:schemeClr val="accent1"/>
                </a:solidFill>
                <a:sym typeface="Wingdings" pitchFamily="2" charset="2"/>
              </a:rPr>
              <a:t>Issue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We can no longer distinguish index vectors across consecutive </a:t>
            </a:r>
            <a:r>
              <a:rPr lang="en-US" altLang="zh-CN" sz="1400" dirty="0" err="1">
                <a:solidFill>
                  <a:schemeClr val="tx1"/>
                </a:solidFill>
                <a:sym typeface="Wingdings" pitchFamily="2" charset="2"/>
              </a:rPr>
              <a:t>vfxmacc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operations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sym typeface="Wingdings" pitchFamily="2" charset="2"/>
              </a:rPr>
              <a:t>Root cause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</a:t>
            </a:r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vlx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and </a:t>
            </a:r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vfxmacc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implicitly bind the index </a:t>
            </a:r>
            <a:r>
              <a:rPr lang="en-US" altLang="zh-CN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%vid</a:t>
            </a:r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to the accumulation tensor, not the corresponding weight tensor.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sym typeface="Wingdings" pitchFamily="2" charset="2"/>
              </a:rPr>
              <a:t>Insight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the instruction semantics needs to change so that the index </a:t>
            </a:r>
            <a:r>
              <a:rPr lang="en-US" altLang="zh-CN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%vid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is bound to the tensor that is encoded with  </a:t>
            </a:r>
            <a:r>
              <a:rPr lang="en-US" altLang="zh-CN" sz="1400" dirty="0">
                <a:solidFill>
                  <a:schemeClr val="accent3"/>
                </a:solidFill>
                <a:sym typeface="Wingdings" pitchFamily="2" charset="2"/>
              </a:rPr>
              <a:t>cleaner semantics</a:t>
            </a:r>
          </a:p>
        </p:txBody>
      </p:sp>
    </p:spTree>
    <p:extLst>
      <p:ext uri="{BB962C8B-B14F-4D97-AF65-F5344CB8AC3E}">
        <p14:creationId xmlns:p14="http://schemas.microsoft.com/office/powerpoint/2010/main" val="82710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3717-6A1C-6DC3-AAAB-C63FD2D8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519E-F478-9404-BA3A-ABB587AC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Semantics Update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6C38D-531F-A3D9-5555-E7CC7821B6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7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C86742-4962-8F0C-8B1F-B5CD5E362493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0CB725-3C4F-7DF9-1FA6-62807CDA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24572" y="456629"/>
            <a:ext cx="2596649" cy="4230242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B1A4BFD-4250-D12A-22BC-04050BA8C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4302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Datapath behavior under an </a:t>
            </a:r>
            <a:r>
              <a:rPr lang="en-US" altLang="zh-CN" sz="1600" b="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(Gustavson’s dataflow).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VTL_v0.4 design:</a:t>
            </a:r>
            <a:endParaRPr lang="en-US" altLang="zh-CN" sz="1600" b="0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Key difficulty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Weights can be loaded into </a:t>
            </a:r>
            <a:r>
              <a:rPr lang="en-US" altLang="zh-CN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%v8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with: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              </a:t>
            </a:r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vle.v</a:t>
            </a:r>
            <a:r>
              <a:rPr lang="en-US" altLang="zh-CN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v8, </a:t>
            </a:r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addr_w</a:t>
            </a:r>
            <a:br>
              <a:rPr lang="en-US" altLang="zh-CN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ndices should </a:t>
            </a: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conceptually bind to 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%v8</a:t>
            </a:r>
            <a:r>
              <a:rPr lang="en-US" altLang="zh-CN" sz="1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ISA would express:</a:t>
            </a:r>
            <a:b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              </a:t>
            </a:r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vlx.v</a:t>
            </a:r>
            <a:r>
              <a:rPr lang="en-US" altLang="zh-CN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v8</a:t>
            </a:r>
            <a:r>
              <a:rPr lang="en-US" altLang="zh-CN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, </a:t>
            </a:r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addr_idx</a:t>
            </a:r>
            <a:b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But indices cannot </a:t>
            </a:r>
            <a:r>
              <a:rPr lang="en-US" altLang="zh-CN" sz="1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physically occupy the same VRF slot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as the weights.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Solution: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added a small %vid mapping table in the Spatz controller  </a:t>
            </a:r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map “encoded </a:t>
            </a:r>
            <a:r>
              <a:rPr lang="en-US" altLang="zh-CN" sz="1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%vid</a:t>
            </a:r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” to the “vacant VRF slot”</a:t>
            </a:r>
            <a:b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b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</a:br>
            <a:endParaRPr lang="en-US" altLang="zh-CN" sz="1213" dirty="0">
              <a:solidFill>
                <a:schemeClr val="accent3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7676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AFC7-54B3-6F55-15AE-DC4A793E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1070-B9C2-7D7E-EF7F-3DAC1D60D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Semantics Update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447FC-6E61-D24D-8309-4C10967461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8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E42823-0755-D588-4887-23FE95AB566F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97186-2B3A-0CE3-AC97-01ABA5A0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24572" y="456629"/>
            <a:ext cx="2596649" cy="4230242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BDF5E29-57EF-F8FE-98E6-9444B7FED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4302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Datapath behavior under an </a:t>
            </a:r>
            <a:r>
              <a:rPr lang="en-US" altLang="zh-CN" sz="1600" b="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(Gustavson’s dataflow).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VTL_v0.4 design:</a:t>
            </a:r>
            <a:endParaRPr lang="en-US" altLang="zh-CN" sz="1600" b="0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On </a:t>
            </a:r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vlx.v</a:t>
            </a:r>
            <a:r>
              <a:rPr lang="en-US" altLang="zh-CN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</a:t>
            </a:r>
            <a:r>
              <a:rPr lang="en-US" altLang="zh-CN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vid_encoded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</a:t>
            </a:r>
          </a:p>
          <a:p>
            <a:pPr lvl="2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find a vacant VRF slot 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vid_real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</a:t>
            </a:r>
          </a:p>
          <a:p>
            <a:pPr lvl="2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record mapping 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vid_encoded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→ %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vid_real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</a:t>
            </a:r>
          </a:p>
          <a:p>
            <a:pPr lvl="2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send the VLSU request using 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vid_real</a:t>
            </a:r>
            <a:endParaRPr lang="en-US" altLang="zh-CN" sz="1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  <a:sym typeface="Wingdings" pitchFamily="2" charset="2"/>
            </a:endParaRP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On </a:t>
            </a:r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vfxmacc.v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issued to VTL:</a:t>
            </a:r>
          </a:p>
          <a:p>
            <a:pPr lvl="2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 generates an index read using 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vid_encoded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</a:t>
            </a:r>
          </a:p>
          <a:p>
            <a:pPr lvl="2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mapping table translates it to 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%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vid_real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b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</a:b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VRF reads the correct index vector.</a:t>
            </a:r>
            <a:b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br>
              <a:rPr lang="en-US" altLang="zh-CN" sz="1026" dirty="0">
                <a:solidFill>
                  <a:schemeClr val="tx1"/>
                </a:solidFill>
                <a:sym typeface="Wingdings" pitchFamily="2" charset="2"/>
              </a:rPr>
            </a:br>
            <a:endParaRPr lang="en-US" altLang="zh-CN" sz="1026" dirty="0">
              <a:solidFill>
                <a:schemeClr val="accent3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3172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66EF-0553-7CBC-F0C5-45C6C037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4108-5062-C73F-AAB6-D7EB9FD2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Ventaglio: Status and Next Steps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0D5E9-8869-EC37-4152-B63B5DA001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9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D96E6-9BAB-0697-618A-B69418D1A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6748566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Status: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</a:t>
            </a:r>
            <a:r>
              <a:rPr lang="en-US" altLang="zh-CN" sz="14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v0.4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RTL done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; finished functional verification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VPU utilization returns to </a:t>
            </a:r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ideal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under small LMUL + loop unrolling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Rerun the backend flow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</a:t>
            </a:r>
            <a:r>
              <a:rPr lang="en-US" altLang="zh-CN" sz="1400" b="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negligible area overhead and no critical timing impact</a:t>
            </a: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Remaining tasks: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[HW]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More N:M formats  cost estimation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[SW]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SpMM kernel and collect performance benchmarks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Design cleanup, back to GVSoC</a:t>
            </a:r>
          </a:p>
          <a:p>
            <a:pPr marL="596890" lvl="1" indent="0">
              <a:buNone/>
            </a:pPr>
            <a:endParaRPr lang="en-US" altLang="zh-CN" sz="1082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377CF0-14E6-25F8-C34D-F4F8DE0FDCA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3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EAA4-B717-616E-E190-E12C1F43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System: Status and Next Steps 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BCAD1-3CBC-6E26-0E6D-B583B10357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D2F5591-57E0-914D-CAE2-1203830CB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4302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Status: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Resolved 3D barrier issues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Extending the collective transfer primitive in the SoftHier runtime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Added support for layer-masked collectives in the iDMA GVSoC model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Start computing kernels implementation on 3D mesh (</a:t>
            </a:r>
            <a:r>
              <a:rPr lang="en-US" altLang="zh-CN" sz="14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i.e.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systolic GEMM)</a:t>
            </a: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Next step: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Porting other kernels available on 2.5D SoftHier (</a:t>
            </a:r>
            <a:r>
              <a:rPr lang="en-US" altLang="zh-CN" sz="14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e.g.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attention)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Performance comparison between 2.5D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Softhier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and 3.5D architecture</a:t>
            </a:r>
          </a:p>
          <a:p>
            <a:pPr lvl="1"/>
            <a:endParaRPr lang="en-US" altLang="zh-CN" sz="1082" dirty="0">
              <a:solidFill>
                <a:schemeClr val="tx1"/>
              </a:solidFill>
              <a:sym typeface="Wingdings" pitchFamily="2" charset="2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78F614-EC44-04EE-7C50-E4FE02247AD1}"/>
              </a:ext>
            </a:extLst>
          </p:cNvPr>
          <p:cNvGrpSpPr/>
          <p:nvPr/>
        </p:nvGrpSpPr>
        <p:grpSpPr>
          <a:xfrm>
            <a:off x="5334693" y="1519325"/>
            <a:ext cx="3240000" cy="1616158"/>
            <a:chOff x="5123934" y="984150"/>
            <a:chExt cx="3240000" cy="16161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AD442C8-8D7E-2E63-D43E-DF18FB84D60A}"/>
                </a:ext>
              </a:extLst>
            </p:cNvPr>
            <p:cNvGrpSpPr/>
            <p:nvPr/>
          </p:nvGrpSpPr>
          <p:grpSpPr>
            <a:xfrm>
              <a:off x="5123934" y="984150"/>
              <a:ext cx="3240000" cy="1587600"/>
              <a:chOff x="5591489" y="1202838"/>
              <a:chExt cx="2507275" cy="1231445"/>
            </a:xfrm>
          </p:grpSpPr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4A2F68C4-8E7F-404A-7F35-B69E73103AF0}"/>
                  </a:ext>
                </a:extLst>
              </p:cNvPr>
              <p:cNvSpPr/>
              <p:nvPr/>
            </p:nvSpPr>
            <p:spPr>
              <a:xfrm>
                <a:off x="5591489" y="2001795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BF967785-3112-12FA-8673-FF1E9E87C8FF}"/>
                  </a:ext>
                </a:extLst>
              </p:cNvPr>
              <p:cNvSpPr/>
              <p:nvPr/>
            </p:nvSpPr>
            <p:spPr>
              <a:xfrm>
                <a:off x="6017797" y="2001794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8" name="Parallelogram 17">
                <a:extLst>
                  <a:ext uri="{FF2B5EF4-FFF2-40B4-BE49-F238E27FC236}">
                    <a16:creationId xmlns:a16="http://schemas.microsoft.com/office/drawing/2014/main" id="{AE1D8226-493C-E147-50C9-EE02483543E9}"/>
                  </a:ext>
                </a:extLst>
              </p:cNvPr>
              <p:cNvSpPr/>
              <p:nvPr/>
            </p:nvSpPr>
            <p:spPr>
              <a:xfrm>
                <a:off x="6444105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7697345A-35FC-C3F0-692B-E9FD656332CD}"/>
                  </a:ext>
                </a:extLst>
              </p:cNvPr>
              <p:cNvSpPr/>
              <p:nvPr/>
            </p:nvSpPr>
            <p:spPr>
              <a:xfrm>
                <a:off x="6870413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DD8AD033-4063-7C7C-8FD2-926D7F62773E}"/>
                  </a:ext>
                </a:extLst>
              </p:cNvPr>
              <p:cNvSpPr/>
              <p:nvPr/>
            </p:nvSpPr>
            <p:spPr>
              <a:xfrm>
                <a:off x="7296721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1" name="Parallelogram 20">
                <a:extLst>
                  <a:ext uri="{FF2B5EF4-FFF2-40B4-BE49-F238E27FC236}">
                    <a16:creationId xmlns:a16="http://schemas.microsoft.com/office/drawing/2014/main" id="{9BB96A74-4BCA-4322-8BF0-280A7805AE89}"/>
                  </a:ext>
                </a:extLst>
              </p:cNvPr>
              <p:cNvSpPr/>
              <p:nvPr/>
            </p:nvSpPr>
            <p:spPr>
              <a:xfrm>
                <a:off x="5778782" y="17422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2" name="Parallelogram 21">
                <a:extLst>
                  <a:ext uri="{FF2B5EF4-FFF2-40B4-BE49-F238E27FC236}">
                    <a16:creationId xmlns:a16="http://schemas.microsoft.com/office/drawing/2014/main" id="{26B8F925-3EDC-D610-DF8E-670BB4C46EC7}"/>
                  </a:ext>
                </a:extLst>
              </p:cNvPr>
              <p:cNvSpPr/>
              <p:nvPr/>
            </p:nvSpPr>
            <p:spPr>
              <a:xfrm>
                <a:off x="6205090" y="1742298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3" name="Parallelogram 22">
                <a:extLst>
                  <a:ext uri="{FF2B5EF4-FFF2-40B4-BE49-F238E27FC236}">
                    <a16:creationId xmlns:a16="http://schemas.microsoft.com/office/drawing/2014/main" id="{33B14B81-BD3C-785F-56AF-3B3232B7497F}"/>
                  </a:ext>
                </a:extLst>
              </p:cNvPr>
              <p:cNvSpPr/>
              <p:nvPr/>
            </p:nvSpPr>
            <p:spPr>
              <a:xfrm>
                <a:off x="6631398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4" name="Parallelogram 23">
                <a:extLst>
                  <a:ext uri="{FF2B5EF4-FFF2-40B4-BE49-F238E27FC236}">
                    <a16:creationId xmlns:a16="http://schemas.microsoft.com/office/drawing/2014/main" id="{1046A337-021A-4D8D-FA64-5EDDD4883CFC}"/>
                  </a:ext>
                </a:extLst>
              </p:cNvPr>
              <p:cNvSpPr/>
              <p:nvPr/>
            </p:nvSpPr>
            <p:spPr>
              <a:xfrm>
                <a:off x="7057706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5" name="Parallelogram 24">
                <a:extLst>
                  <a:ext uri="{FF2B5EF4-FFF2-40B4-BE49-F238E27FC236}">
                    <a16:creationId xmlns:a16="http://schemas.microsoft.com/office/drawing/2014/main" id="{AD91B0CF-6E53-0117-1AC9-9314BBB2536D}"/>
                  </a:ext>
                </a:extLst>
              </p:cNvPr>
              <p:cNvSpPr/>
              <p:nvPr/>
            </p:nvSpPr>
            <p:spPr>
              <a:xfrm>
                <a:off x="7484014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6" name="Parallelogram 25">
                <a:extLst>
                  <a:ext uri="{FF2B5EF4-FFF2-40B4-BE49-F238E27FC236}">
                    <a16:creationId xmlns:a16="http://schemas.microsoft.com/office/drawing/2014/main" id="{00D0D99B-979A-0822-376E-646D56593B17}"/>
                  </a:ext>
                </a:extLst>
              </p:cNvPr>
              <p:cNvSpPr/>
              <p:nvPr/>
            </p:nvSpPr>
            <p:spPr>
              <a:xfrm>
                <a:off x="5967224" y="1482801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7" name="Parallelogram 26">
                <a:extLst>
                  <a:ext uri="{FF2B5EF4-FFF2-40B4-BE49-F238E27FC236}">
                    <a16:creationId xmlns:a16="http://schemas.microsoft.com/office/drawing/2014/main" id="{F12574F4-147F-7EF7-7936-BD855463A75D}"/>
                  </a:ext>
                </a:extLst>
              </p:cNvPr>
              <p:cNvSpPr/>
              <p:nvPr/>
            </p:nvSpPr>
            <p:spPr>
              <a:xfrm>
                <a:off x="6393532" y="14828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8" name="Parallelogram 27">
                <a:extLst>
                  <a:ext uri="{FF2B5EF4-FFF2-40B4-BE49-F238E27FC236}">
                    <a16:creationId xmlns:a16="http://schemas.microsoft.com/office/drawing/2014/main" id="{B4D7A3DA-657E-4525-EE79-978E94B14C92}"/>
                  </a:ext>
                </a:extLst>
              </p:cNvPr>
              <p:cNvSpPr/>
              <p:nvPr/>
            </p:nvSpPr>
            <p:spPr>
              <a:xfrm>
                <a:off x="6819840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9" name="Parallelogram 28">
                <a:extLst>
                  <a:ext uri="{FF2B5EF4-FFF2-40B4-BE49-F238E27FC236}">
                    <a16:creationId xmlns:a16="http://schemas.microsoft.com/office/drawing/2014/main" id="{C71CF1DC-4C65-2B5C-5C1A-0C45FB1477F0}"/>
                  </a:ext>
                </a:extLst>
              </p:cNvPr>
              <p:cNvSpPr/>
              <p:nvPr/>
            </p:nvSpPr>
            <p:spPr>
              <a:xfrm>
                <a:off x="7246148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30" name="Parallelogram 29">
                <a:extLst>
                  <a:ext uri="{FF2B5EF4-FFF2-40B4-BE49-F238E27FC236}">
                    <a16:creationId xmlns:a16="http://schemas.microsoft.com/office/drawing/2014/main" id="{903B3F18-5CEF-CCCC-21A6-FB75F3A950DA}"/>
                  </a:ext>
                </a:extLst>
              </p:cNvPr>
              <p:cNvSpPr/>
              <p:nvPr/>
            </p:nvSpPr>
            <p:spPr>
              <a:xfrm>
                <a:off x="7672456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0C609683-4481-75F5-659E-DDF7A5BE42F7}"/>
                  </a:ext>
                </a:extLst>
              </p:cNvPr>
              <p:cNvSpPr/>
              <p:nvPr/>
            </p:nvSpPr>
            <p:spPr>
              <a:xfrm>
                <a:off x="6594330" y="1223301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32" name="Parallelogram 31">
                <a:extLst>
                  <a:ext uri="{FF2B5EF4-FFF2-40B4-BE49-F238E27FC236}">
                    <a16:creationId xmlns:a16="http://schemas.microsoft.com/office/drawing/2014/main" id="{A51AF14E-9369-A46E-F8D8-38B11ACD6412}"/>
                  </a:ext>
                </a:extLst>
              </p:cNvPr>
              <p:cNvSpPr/>
              <p:nvPr/>
            </p:nvSpPr>
            <p:spPr>
              <a:xfrm>
                <a:off x="7020638" y="12233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33" name="Parallelogram 32">
                <a:extLst>
                  <a:ext uri="{FF2B5EF4-FFF2-40B4-BE49-F238E27FC236}">
                    <a16:creationId xmlns:a16="http://schemas.microsoft.com/office/drawing/2014/main" id="{EA621462-7012-B852-CD08-98EBE9DB50EC}"/>
                  </a:ext>
                </a:extLst>
              </p:cNvPr>
              <p:cNvSpPr/>
              <p:nvPr/>
            </p:nvSpPr>
            <p:spPr>
              <a:xfrm>
                <a:off x="7446946" y="12233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34" name="Parallelogram 33">
                <a:extLst>
                  <a:ext uri="{FF2B5EF4-FFF2-40B4-BE49-F238E27FC236}">
                    <a16:creationId xmlns:a16="http://schemas.microsoft.com/office/drawing/2014/main" id="{CD328164-3A16-50C9-3099-D4A613789B24}"/>
                  </a:ext>
                </a:extLst>
              </p:cNvPr>
              <p:cNvSpPr/>
              <p:nvPr/>
            </p:nvSpPr>
            <p:spPr>
              <a:xfrm>
                <a:off x="5829355" y="2261288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35" name="Parallelogram 34">
                <a:extLst>
                  <a:ext uri="{FF2B5EF4-FFF2-40B4-BE49-F238E27FC236}">
                    <a16:creationId xmlns:a16="http://schemas.microsoft.com/office/drawing/2014/main" id="{43A7ED9D-198E-251E-F961-5B19C3150CC5}"/>
                  </a:ext>
                </a:extLst>
              </p:cNvPr>
              <p:cNvSpPr/>
              <p:nvPr/>
            </p:nvSpPr>
            <p:spPr>
              <a:xfrm>
                <a:off x="6255663" y="226128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36" name="Parallelogram 35">
                <a:extLst>
                  <a:ext uri="{FF2B5EF4-FFF2-40B4-BE49-F238E27FC236}">
                    <a16:creationId xmlns:a16="http://schemas.microsoft.com/office/drawing/2014/main" id="{F3FCDCC1-1DA8-2485-701D-4B9CBAAB0D6A}"/>
                  </a:ext>
                </a:extLst>
              </p:cNvPr>
              <p:cNvSpPr/>
              <p:nvPr/>
            </p:nvSpPr>
            <p:spPr>
              <a:xfrm>
                <a:off x="6681971" y="226128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747A186-0067-8FA6-0F8A-025A12D66D3E}"/>
                  </a:ext>
                </a:extLst>
              </p:cNvPr>
              <p:cNvGrpSpPr/>
              <p:nvPr/>
            </p:nvGrpSpPr>
            <p:grpSpPr>
              <a:xfrm>
                <a:off x="6043083" y="1342819"/>
                <a:ext cx="1654659" cy="691990"/>
                <a:chOff x="6373907" y="2355556"/>
                <a:chExt cx="1654659" cy="691990"/>
              </a:xfrm>
            </p:grpSpPr>
            <p:sp>
              <p:nvSpPr>
                <p:cNvPr id="48" name="Parallelogram 47">
                  <a:extLst>
                    <a:ext uri="{FF2B5EF4-FFF2-40B4-BE49-F238E27FC236}">
                      <a16:creationId xmlns:a16="http://schemas.microsoft.com/office/drawing/2014/main" id="{8BAF5370-436F-7E1E-7CE3-4EBD8FB0AB0B}"/>
                    </a:ext>
                  </a:extLst>
                </p:cNvPr>
                <p:cNvSpPr/>
                <p:nvPr/>
              </p:nvSpPr>
              <p:spPr>
                <a:xfrm>
                  <a:off x="6373907" y="2874551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9" name="Parallelogram 48">
                  <a:extLst>
                    <a:ext uri="{FF2B5EF4-FFF2-40B4-BE49-F238E27FC236}">
                      <a16:creationId xmlns:a16="http://schemas.microsoft.com/office/drawing/2014/main" id="{E30D00B3-90A5-93A1-6000-D9BA2AFA0E35}"/>
                    </a:ext>
                  </a:extLst>
                </p:cNvPr>
                <p:cNvSpPr/>
                <p:nvPr/>
              </p:nvSpPr>
              <p:spPr>
                <a:xfrm>
                  <a:off x="6800215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50" name="Parallelogram 49">
                  <a:extLst>
                    <a:ext uri="{FF2B5EF4-FFF2-40B4-BE49-F238E27FC236}">
                      <a16:creationId xmlns:a16="http://schemas.microsoft.com/office/drawing/2014/main" id="{1677B36B-CFC2-3E4F-2A3B-DA265787A0A1}"/>
                    </a:ext>
                  </a:extLst>
                </p:cNvPr>
                <p:cNvSpPr/>
                <p:nvPr/>
              </p:nvSpPr>
              <p:spPr>
                <a:xfrm>
                  <a:off x="7226523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51" name="Parallelogram 50">
                  <a:extLst>
                    <a:ext uri="{FF2B5EF4-FFF2-40B4-BE49-F238E27FC236}">
                      <a16:creationId xmlns:a16="http://schemas.microsoft.com/office/drawing/2014/main" id="{0DBEDB3B-86AD-DF02-269B-50A8438CCD81}"/>
                    </a:ext>
                  </a:extLst>
                </p:cNvPr>
                <p:cNvSpPr/>
                <p:nvPr/>
              </p:nvSpPr>
              <p:spPr>
                <a:xfrm>
                  <a:off x="6561200" y="2615055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52" name="Parallelogram 51">
                  <a:extLst>
                    <a:ext uri="{FF2B5EF4-FFF2-40B4-BE49-F238E27FC236}">
                      <a16:creationId xmlns:a16="http://schemas.microsoft.com/office/drawing/2014/main" id="{75CF79EF-91AC-CF9A-58B2-51FA3CAFBE1D}"/>
                    </a:ext>
                  </a:extLst>
                </p:cNvPr>
                <p:cNvSpPr/>
                <p:nvPr/>
              </p:nvSpPr>
              <p:spPr>
                <a:xfrm>
                  <a:off x="6987508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53" name="Parallelogram 52">
                  <a:extLst>
                    <a:ext uri="{FF2B5EF4-FFF2-40B4-BE49-F238E27FC236}">
                      <a16:creationId xmlns:a16="http://schemas.microsoft.com/office/drawing/2014/main" id="{FE60D216-E75B-FE07-F76E-96D8D153EE9E}"/>
                    </a:ext>
                  </a:extLst>
                </p:cNvPr>
                <p:cNvSpPr/>
                <p:nvPr/>
              </p:nvSpPr>
              <p:spPr>
                <a:xfrm>
                  <a:off x="7413816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54" name="Parallelogram 53">
                  <a:extLst>
                    <a:ext uri="{FF2B5EF4-FFF2-40B4-BE49-F238E27FC236}">
                      <a16:creationId xmlns:a16="http://schemas.microsoft.com/office/drawing/2014/main" id="{E473EA32-F282-A8ED-9DC2-671F4B14C826}"/>
                    </a:ext>
                  </a:extLst>
                </p:cNvPr>
                <p:cNvSpPr/>
                <p:nvPr/>
              </p:nvSpPr>
              <p:spPr>
                <a:xfrm>
                  <a:off x="6749642" y="2355557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55" name="Parallelogram 54">
                  <a:extLst>
                    <a:ext uri="{FF2B5EF4-FFF2-40B4-BE49-F238E27FC236}">
                      <a16:creationId xmlns:a16="http://schemas.microsoft.com/office/drawing/2014/main" id="{43E7660F-F3A3-795A-3FD3-2CC976C3EAAB}"/>
                    </a:ext>
                  </a:extLst>
                </p:cNvPr>
                <p:cNvSpPr/>
                <p:nvPr/>
              </p:nvSpPr>
              <p:spPr>
                <a:xfrm>
                  <a:off x="7175950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56" name="Parallelogram 55">
                  <a:extLst>
                    <a:ext uri="{FF2B5EF4-FFF2-40B4-BE49-F238E27FC236}">
                      <a16:creationId xmlns:a16="http://schemas.microsoft.com/office/drawing/2014/main" id="{5E27EC84-5B0F-A581-1EB1-AEC839EBD20D}"/>
                    </a:ext>
                  </a:extLst>
                </p:cNvPr>
                <p:cNvSpPr/>
                <p:nvPr/>
              </p:nvSpPr>
              <p:spPr>
                <a:xfrm>
                  <a:off x="7602258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F047AC00-B3C7-C111-7CF9-6A7D877B3408}"/>
                  </a:ext>
                </a:extLst>
              </p:cNvPr>
              <p:cNvGrpSpPr/>
              <p:nvPr/>
            </p:nvGrpSpPr>
            <p:grpSpPr>
              <a:xfrm>
                <a:off x="6044509" y="1202838"/>
                <a:ext cx="1654659" cy="691990"/>
                <a:chOff x="6373907" y="2355556"/>
                <a:chExt cx="1654659" cy="691990"/>
              </a:xfrm>
            </p:grpSpPr>
            <p:sp>
              <p:nvSpPr>
                <p:cNvPr id="39" name="Parallelogram 38">
                  <a:extLst>
                    <a:ext uri="{FF2B5EF4-FFF2-40B4-BE49-F238E27FC236}">
                      <a16:creationId xmlns:a16="http://schemas.microsoft.com/office/drawing/2014/main" id="{8CD07360-90E6-565F-A9A4-AD7ADB051A11}"/>
                    </a:ext>
                  </a:extLst>
                </p:cNvPr>
                <p:cNvSpPr/>
                <p:nvPr/>
              </p:nvSpPr>
              <p:spPr>
                <a:xfrm>
                  <a:off x="6373907" y="2874551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0" name="Parallelogram 39">
                  <a:extLst>
                    <a:ext uri="{FF2B5EF4-FFF2-40B4-BE49-F238E27FC236}">
                      <a16:creationId xmlns:a16="http://schemas.microsoft.com/office/drawing/2014/main" id="{724AECDC-5E3B-300B-F52A-D7D09DBC7386}"/>
                    </a:ext>
                  </a:extLst>
                </p:cNvPr>
                <p:cNvSpPr/>
                <p:nvPr/>
              </p:nvSpPr>
              <p:spPr>
                <a:xfrm>
                  <a:off x="6800215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1" name="Parallelogram 40">
                  <a:extLst>
                    <a:ext uri="{FF2B5EF4-FFF2-40B4-BE49-F238E27FC236}">
                      <a16:creationId xmlns:a16="http://schemas.microsoft.com/office/drawing/2014/main" id="{A79F21E3-ACBF-6626-BB56-CB63ED49D82C}"/>
                    </a:ext>
                  </a:extLst>
                </p:cNvPr>
                <p:cNvSpPr/>
                <p:nvPr/>
              </p:nvSpPr>
              <p:spPr>
                <a:xfrm>
                  <a:off x="7226523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2" name="Parallelogram 41">
                  <a:extLst>
                    <a:ext uri="{FF2B5EF4-FFF2-40B4-BE49-F238E27FC236}">
                      <a16:creationId xmlns:a16="http://schemas.microsoft.com/office/drawing/2014/main" id="{6A8194D4-E4FD-C76C-60F0-9885BBA296AB}"/>
                    </a:ext>
                  </a:extLst>
                </p:cNvPr>
                <p:cNvSpPr/>
                <p:nvPr/>
              </p:nvSpPr>
              <p:spPr>
                <a:xfrm>
                  <a:off x="6561200" y="2615055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3" name="Parallelogram 42">
                  <a:extLst>
                    <a:ext uri="{FF2B5EF4-FFF2-40B4-BE49-F238E27FC236}">
                      <a16:creationId xmlns:a16="http://schemas.microsoft.com/office/drawing/2014/main" id="{4D0941B7-B124-C118-F3B7-637C6F203B03}"/>
                    </a:ext>
                  </a:extLst>
                </p:cNvPr>
                <p:cNvSpPr/>
                <p:nvPr/>
              </p:nvSpPr>
              <p:spPr>
                <a:xfrm>
                  <a:off x="6987508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4" name="Parallelogram 43">
                  <a:extLst>
                    <a:ext uri="{FF2B5EF4-FFF2-40B4-BE49-F238E27FC236}">
                      <a16:creationId xmlns:a16="http://schemas.microsoft.com/office/drawing/2014/main" id="{3012B23F-74E0-4492-8BD7-1244CAE372DD}"/>
                    </a:ext>
                  </a:extLst>
                </p:cNvPr>
                <p:cNvSpPr/>
                <p:nvPr/>
              </p:nvSpPr>
              <p:spPr>
                <a:xfrm>
                  <a:off x="7413816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5" name="Parallelogram 44">
                  <a:extLst>
                    <a:ext uri="{FF2B5EF4-FFF2-40B4-BE49-F238E27FC236}">
                      <a16:creationId xmlns:a16="http://schemas.microsoft.com/office/drawing/2014/main" id="{DA571F1B-3B4C-7412-2B6F-09F7F99CB1C9}"/>
                    </a:ext>
                  </a:extLst>
                </p:cNvPr>
                <p:cNvSpPr/>
                <p:nvPr/>
              </p:nvSpPr>
              <p:spPr>
                <a:xfrm>
                  <a:off x="6749642" y="2355557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6" name="Parallelogram 45">
                  <a:extLst>
                    <a:ext uri="{FF2B5EF4-FFF2-40B4-BE49-F238E27FC236}">
                      <a16:creationId xmlns:a16="http://schemas.microsoft.com/office/drawing/2014/main" id="{E6E3D5BE-06C8-6E06-0C16-B596C8A3A193}"/>
                    </a:ext>
                  </a:extLst>
                </p:cNvPr>
                <p:cNvSpPr/>
                <p:nvPr/>
              </p:nvSpPr>
              <p:spPr>
                <a:xfrm>
                  <a:off x="7175950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47" name="Parallelogram 46">
                  <a:extLst>
                    <a:ext uri="{FF2B5EF4-FFF2-40B4-BE49-F238E27FC236}">
                      <a16:creationId xmlns:a16="http://schemas.microsoft.com/office/drawing/2014/main" id="{3F68A1D3-A272-99E2-C98D-5EE841151880}"/>
                    </a:ext>
                  </a:extLst>
                </p:cNvPr>
                <p:cNvSpPr/>
                <p:nvPr/>
              </p:nvSpPr>
              <p:spPr>
                <a:xfrm>
                  <a:off x="7602258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FFA16B-3331-D617-A5D1-DE3880298D97}"/>
                </a:ext>
              </a:extLst>
            </p:cNvPr>
            <p:cNvSpPr txBox="1"/>
            <p:nvPr/>
          </p:nvSpPr>
          <p:spPr>
            <a:xfrm>
              <a:off x="6688985" y="2377279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23F8A7-AA79-5B2E-60B8-6A24C394584F}"/>
                </a:ext>
              </a:extLst>
            </p:cNvPr>
            <p:cNvSpPr txBox="1"/>
            <p:nvPr/>
          </p:nvSpPr>
          <p:spPr>
            <a:xfrm>
              <a:off x="6154060" y="2368801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F7E4358-F2EB-B964-98D6-4AC372ECC0A1}"/>
                </a:ext>
              </a:extLst>
            </p:cNvPr>
            <p:cNvSpPr txBox="1"/>
            <p:nvPr/>
          </p:nvSpPr>
          <p:spPr>
            <a:xfrm>
              <a:off x="5603168" y="2368800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89656D-6ED5-F999-D415-E7DFBCD901E0}"/>
                </a:ext>
              </a:extLst>
            </p:cNvPr>
            <p:cNvSpPr txBox="1"/>
            <p:nvPr/>
          </p:nvSpPr>
          <p:spPr>
            <a:xfrm>
              <a:off x="7491327" y="203151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953071-606E-30C8-4B15-36CC9DEDCA7E}"/>
                </a:ext>
              </a:extLst>
            </p:cNvPr>
            <p:cNvSpPr txBox="1"/>
            <p:nvPr/>
          </p:nvSpPr>
          <p:spPr>
            <a:xfrm>
              <a:off x="7735251" y="170311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84F22F-98E3-1581-7591-CD854A7AD6F8}"/>
                </a:ext>
              </a:extLst>
            </p:cNvPr>
            <p:cNvSpPr txBox="1"/>
            <p:nvPr/>
          </p:nvSpPr>
          <p:spPr>
            <a:xfrm>
              <a:off x="7975070" y="136856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C9E960-09D3-1744-9291-75DB20EE5827}"/>
                </a:ext>
              </a:extLst>
            </p:cNvPr>
            <p:cNvSpPr txBox="1"/>
            <p:nvPr/>
          </p:nvSpPr>
          <p:spPr>
            <a:xfrm>
              <a:off x="5282607" y="203151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C58B5F-7159-7625-B374-60693A72559A}"/>
                </a:ext>
              </a:extLst>
            </p:cNvPr>
            <p:cNvSpPr txBox="1"/>
            <p:nvPr/>
          </p:nvSpPr>
          <p:spPr>
            <a:xfrm>
              <a:off x="5530107" y="168693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06D91A-2F32-7B3A-FD23-9714EDB71B23}"/>
                </a:ext>
              </a:extLst>
            </p:cNvPr>
            <p:cNvSpPr txBox="1"/>
            <p:nvPr/>
          </p:nvSpPr>
          <p:spPr>
            <a:xfrm>
              <a:off x="5757002" y="1359689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693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8632</TotalTime>
  <Words>794</Words>
  <Application>Microsoft Macintosh PowerPoint</Application>
  <PresentationFormat>On-screen Show (16:9)</PresentationFormat>
  <Paragraphs>94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Wingdings</vt:lpstr>
      <vt:lpstr>Calibri Light</vt:lpstr>
      <vt:lpstr>Arial Narrow</vt:lpstr>
      <vt:lpstr>Consolas</vt:lpstr>
      <vt:lpstr>Calibri</vt:lpstr>
      <vt:lpstr>Arial</vt:lpstr>
      <vt:lpstr>Simple Light</vt:lpstr>
      <vt:lpstr>PULP Triangle</vt:lpstr>
      <vt:lpstr>1_PULP Triangle</vt:lpstr>
      <vt:lpstr>QuantSparse 3D Biweekly 2026-01-29</vt:lpstr>
      <vt:lpstr>Agenda</vt:lpstr>
      <vt:lpstr>Recap: Ventaglio Performance Analysis</vt:lpstr>
      <vt:lpstr>Ventaglio Performance Analysis</vt:lpstr>
      <vt:lpstr>Existing Instructions Semantics</vt:lpstr>
      <vt:lpstr>Issue with Loop Unrolling</vt:lpstr>
      <vt:lpstr>Instruction Semantics Update</vt:lpstr>
      <vt:lpstr>Instruction Semantics Update</vt:lpstr>
      <vt:lpstr>Ventaglio: Status and Next Steps</vt:lpstr>
      <vt:lpstr>3D System: Status and Next Steps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1137</cp:revision>
  <dcterms:modified xsi:type="dcterms:W3CDTF">2026-01-29T07:47:06Z</dcterms:modified>
</cp:coreProperties>
</file>