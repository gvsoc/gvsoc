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8"/>
  </p:notesMasterIdLst>
  <p:sldIdLst>
    <p:sldId id="256" r:id="rId4"/>
    <p:sldId id="257" r:id="rId5"/>
    <p:sldId id="590" r:id="rId6"/>
    <p:sldId id="595" r:id="rId7"/>
    <p:sldId id="596" r:id="rId8"/>
    <p:sldId id="597" r:id="rId9"/>
    <p:sldId id="598" r:id="rId10"/>
    <p:sldId id="599" r:id="rId11"/>
    <p:sldId id="600" r:id="rId12"/>
    <p:sldId id="601" r:id="rId13"/>
    <p:sldId id="602" r:id="rId14"/>
    <p:sldId id="592" r:id="rId15"/>
    <p:sldId id="593" r:id="rId16"/>
    <p:sldId id="594" r:id="rId17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590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592"/>
            <p14:sldId id="593"/>
            <p14:sldId id="5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15"/>
    <p:restoredTop sz="94680"/>
  </p:normalViewPr>
  <p:slideViewPr>
    <p:cSldViewPr snapToGrid="0">
      <p:cViewPr varScale="1">
        <p:scale>
          <a:sx n="194" d="100"/>
          <a:sy n="194" d="100"/>
        </p:scale>
        <p:origin x="80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2026-02-</a:t>
            </a:r>
            <a:r>
              <a:rPr lang="en-US" dirty="0"/>
              <a:t>12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>
                <a:solidFill>
                  <a:srgbClr val="168638"/>
                </a:solidFill>
              </a:rPr>
              <a:t>          </a:t>
            </a:r>
            <a:r>
              <a:rPr lang="en">
                <a:solidFill>
                  <a:srgbClr val="000000"/>
                </a:solidFill>
              </a:rPr>
              <a:t>bowwang@iis.ee.ethz.ch</a:t>
            </a:r>
            <a:br>
              <a:rPr lang="en" b="1"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latin typeface="Calibri"/>
                <a:ea typeface="Calibri"/>
                <a:cs typeface="Calibri"/>
                <a:sym typeface="Calibri"/>
              </a:rPr>
              <a:t>Paul Scheffler</a:t>
            </a:r>
            <a:r>
              <a:rPr lang="en"/>
              <a:t>         </a:t>
            </a:r>
            <a:r>
              <a:rPr lang="en">
                <a:solidFill>
                  <a:schemeClr val="dk1"/>
                </a:solidFill>
              </a:rPr>
              <a:t>paulsc@iis.ee.ethz.ch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/>
              <a:t>             </a:t>
            </a:r>
            <a:r>
              <a:rPr lang="en">
                <a:solidFill>
                  <a:schemeClr val="dk1"/>
                </a:solidFill>
              </a:rPr>
              <a:t>lbenini@iis.ee.ethz.ch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</a:t>
            </a:r>
            <a:r>
              <a:rPr lang="en" dirty="0"/>
              <a:t>Format extensions, loop-unrolled SpMM kernel, perf. </a:t>
            </a:r>
            <a:r>
              <a:rPr lang="en-US" dirty="0"/>
              <a:t>benchmark</a:t>
            </a:r>
            <a:endParaRPr lang="en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-GB" dirty="0"/>
              <a:t>3D Systolic GEMM: dataflow and implementation</a:t>
            </a:r>
            <a:endParaRPr lang="e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74" y="905715"/>
            <a:ext cx="8571850" cy="1259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66EF-0553-7CBC-F0C5-45C6C037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4108-5062-C73F-AAB6-D7EB9FD2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Status Recap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0D5E9-8869-EC37-4152-B63B5DA001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96E6-9BAB-0697-618A-B69418D1A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28031"/>
            <a:ext cx="7062923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Status: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</a:t>
            </a:r>
            <a:r>
              <a:rPr lang="en-US" altLang="zh-CN" sz="14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v0.4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RTL done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; finished functional verification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VPU utilization returns to </a:t>
            </a:r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ideal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under small LMUL + loop unrolling (VLSU commit)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Rerun the backend flow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</a:t>
            </a:r>
            <a:r>
              <a:rPr lang="en-US" altLang="zh-CN" sz="1400" b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negligible area overhead and no critical timing impact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Remaining tasks: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[HW]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More N:M formats  cost estimation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[SW]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SpMM kernel and collect performance benchmarks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Design cleanup, back to GVSoC</a:t>
            </a:r>
          </a:p>
          <a:p>
            <a:pPr marL="596890" lvl="1" indent="0">
              <a:buNone/>
            </a:pPr>
            <a:endParaRPr lang="en-US" altLang="zh-CN" sz="1082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377CF0-14E6-25F8-C34D-F4F8DE0FDCA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32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538F-34EE-0D14-526D-6787133E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F845-470D-67BE-1BA6-AE27539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Extending Ventaglio Supported Format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C5034-073D-0B38-B1FB-731A1EC25D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1F49A-35BF-DBAD-60F9-32626170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8194411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Modular scatter/gather datapath in VTL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Main goal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keep the design maintainable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Approach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Refactored the datapath. New formats can be enabled by instantiating the additional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datapaths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with the proper N:M configuration.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The control logic (e.g., index preloading and buffered indices) </a:t>
            </a:r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shared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across all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datapaths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to avoid duplication.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Results: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Extended with 1:4 format. Passed functional verification.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Adding one more format increases area by </a:t>
            </a:r>
            <a:r>
              <a:rPr lang="en-US" altLang="zh-CN" b="1" dirty="0">
                <a:solidFill>
                  <a:schemeClr val="accent2"/>
                </a:solidFill>
                <a:sym typeface="Wingdings" pitchFamily="2" charset="2"/>
              </a:rPr>
              <a:t>12% (~6.9 </a:t>
            </a:r>
            <a:r>
              <a:rPr lang="en-US" altLang="zh-CN" b="1" dirty="0" err="1">
                <a:solidFill>
                  <a:schemeClr val="accent2"/>
                </a:solidFill>
                <a:sym typeface="Wingdings" pitchFamily="2" charset="2"/>
              </a:rPr>
              <a:t>kGE</a:t>
            </a:r>
            <a:r>
              <a:rPr lang="en-US" altLang="zh-CN" b="1" dirty="0">
                <a:solidFill>
                  <a:schemeClr val="accent2"/>
                </a:solidFill>
                <a:sym typeface="Wingdings" pitchFamily="2" charset="2"/>
              </a:rPr>
              <a:t>) </a:t>
            </a:r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@ VTL unit level</a:t>
            </a:r>
            <a:br>
              <a:rPr lang="en-US" altLang="zh-CN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 Matches expectations given the v0.4 area breakdown</a:t>
            </a:r>
          </a:p>
          <a:p>
            <a:pPr lvl="3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Memory unit: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41.6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kGE</a:t>
            </a:r>
            <a:endParaRPr lang="en-US" altLang="zh-CN" sz="1400" dirty="0">
              <a:solidFill>
                <a:schemeClr val="tx1"/>
              </a:solidFill>
              <a:sym typeface="Wingdings" pitchFamily="2" charset="2"/>
            </a:endParaRPr>
          </a:p>
          <a:p>
            <a:pPr lvl="3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Datapath: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7.8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kGE</a:t>
            </a:r>
            <a:endParaRPr lang="en-US" altLang="zh-CN" sz="1400" dirty="0">
              <a:solidFill>
                <a:schemeClr val="tx1"/>
              </a:solidFill>
              <a:sym typeface="Wingdings" pitchFamily="2" charset="2"/>
            </a:endParaRPr>
          </a:p>
          <a:p>
            <a:pPr lvl="3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Control: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5.7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kGE</a:t>
            </a:r>
            <a:endParaRPr lang="en-US" altLang="zh-CN" sz="1400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12277A-C2D4-C855-0D15-A4985344696E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5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D30E-0CEF-5DE3-6449-6CDEB62D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32D5-8C66-113C-6088-AA458378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Loop-Unrolled SpMM Kernel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8D459-32DB-0F24-18F4-1936E0338F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422DE-E4FC-CE3F-ED56-CBBE37D5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5924857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done and passed functional verification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Currently supported settings:</a:t>
            </a:r>
          </a:p>
          <a:p>
            <a:pPr lvl="2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LMUL=4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@ 50% sparsity, 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LMUL=2</a:t>
            </a: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@ 25% sparsity</a:t>
            </a:r>
            <a:b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(Constrained by the VTL Memory unit capacity)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Waveform inspection shows ideal (100%) FPU utilization in the inner loop (2:4 format)</a:t>
            </a:r>
          </a:p>
          <a:p>
            <a:pPr lvl="2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Reason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With loop unrolling + Gustavson’s algorithm, the weight vector and its index vector are </a:t>
            </a:r>
            <a:r>
              <a:rPr lang="en-US" altLang="zh-CN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reused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across multiple activation elements.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0C18D65-7E80-1ED5-54E7-1B7FC08D9DD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47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6700-531A-180F-7CF4-ECE6E50D0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A81E-4CFC-FD17-5C2B-2F5F3924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50D29-8123-4609-C5B5-1707F2144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1892-BE71-9CCF-9DEB-DE07408F7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6" y="628031"/>
            <a:ext cx="4696786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Baseline implementation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Scatter and gather using VSLDU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Theoretical VPU utilization is </a:t>
            </a:r>
            <a:r>
              <a:rPr lang="en-US" altLang="zh-CN" sz="1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40%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measured utilization is </a:t>
            </a:r>
            <a:r>
              <a:rPr lang="en-US" altLang="zh-CN" sz="1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23%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considering control overheads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Unroll x2 SpMM kernel achieves ~2x AI comparing with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</a:p>
          <a:p>
            <a:pPr lvl="1"/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Performance is constrained by VSLDU-to-VRF halved throughput with inefficient scatter/gather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394738-2AAE-C936-19CA-E65D447E443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60162557-1EB8-B817-08F1-D7466E10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651" y="915496"/>
            <a:ext cx="4313349" cy="31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7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9F60-7BAC-A1AF-8380-CD85B0E8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FCFFD-7EE9-40C0-087A-351901AC8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78908-AF13-6C71-6E0B-42F43A2F8E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6BCE6-2297-E93F-00AE-92E7A409F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6" y="628031"/>
            <a:ext cx="4696786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Scatter/Gather with Ventaglio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Pushed the VPU utilization to the roofline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With 2:4 format, N=64, P=64</a:t>
            </a:r>
          </a:p>
          <a:p>
            <a:pPr lvl="2"/>
            <a:r>
              <a:rPr lang="en-US" altLang="zh-CN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86.3%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VPU utilization under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</a:t>
            </a:r>
          </a:p>
          <a:p>
            <a:pPr lvl="2"/>
            <a:r>
              <a:rPr lang="en-US" altLang="zh-CN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93.1%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VPU utilization under SpMM workload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Memory-bound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Cycles for loading indices cannot hide behind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computaition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C42EE6-35A3-1E9A-236A-4CF8B0FA13E7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FBC6DC-13FD-0FC0-242D-35BBA4006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1" y="915496"/>
            <a:ext cx="4313349" cy="3163122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51214143-E940-52B7-F01D-8C87E8969CFB}"/>
              </a:ext>
            </a:extLst>
          </p:cNvPr>
          <p:cNvSpPr/>
          <p:nvPr/>
        </p:nvSpPr>
        <p:spPr>
          <a:xfrm rot="10800000">
            <a:off x="6369889" y="1888006"/>
            <a:ext cx="164461" cy="789410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0D6402DC-F765-0020-DE5D-78734DC0A7F9}"/>
              </a:ext>
            </a:extLst>
          </p:cNvPr>
          <p:cNvSpPr/>
          <p:nvPr/>
        </p:nvSpPr>
        <p:spPr>
          <a:xfrm rot="10800000">
            <a:off x="7541943" y="1756437"/>
            <a:ext cx="164461" cy="920979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77D6D-3B1C-7B4C-0D7A-E9935158AA7E}"/>
              </a:ext>
            </a:extLst>
          </p:cNvPr>
          <p:cNvSpPr txBox="1"/>
          <p:nvPr/>
        </p:nvSpPr>
        <p:spPr>
          <a:xfrm>
            <a:off x="6599643" y="2128117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i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3.7x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87527-E109-D082-6F79-7332354DA113}"/>
              </a:ext>
            </a:extLst>
          </p:cNvPr>
          <p:cNvSpPr txBox="1"/>
          <p:nvPr/>
        </p:nvSpPr>
        <p:spPr>
          <a:xfrm>
            <a:off x="7740883" y="1914317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000" b="1" i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.1x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B46E9B-1AE7-DFE0-74F0-99CFE4F5D8D0}"/>
              </a:ext>
            </a:extLst>
          </p:cNvPr>
          <p:cNvSpPr txBox="1"/>
          <p:nvPr/>
        </p:nvSpPr>
        <p:spPr>
          <a:xfrm>
            <a:off x="6002989" y="1367213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86.3%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0066A8-70DC-8A53-5E91-A9B0DAC8875D}"/>
              </a:ext>
            </a:extLst>
          </p:cNvPr>
          <p:cNvSpPr txBox="1"/>
          <p:nvPr/>
        </p:nvSpPr>
        <p:spPr>
          <a:xfrm>
            <a:off x="7477933" y="1375983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93.1%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42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7A9D9-E8DA-3F00-244C-A0C4D35C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8714-8222-A655-D2BF-AA6B00A4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A870E-0088-D952-CDC5-240A404858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A0054-D882-044E-2F6D-88A5808E8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6" y="628031"/>
            <a:ext cx="4696786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Scatter/Gather with Ventaglio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Pushed the VPU utilization to the roofline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With 2:4 format, N=64, P=64</a:t>
            </a:r>
          </a:p>
          <a:p>
            <a:pPr lvl="2"/>
            <a:r>
              <a:rPr lang="en-US" altLang="zh-CN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86.3%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VPU utilization under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</a:t>
            </a:r>
          </a:p>
          <a:p>
            <a:pPr lvl="2"/>
            <a:r>
              <a:rPr lang="en-US" altLang="zh-CN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93.1%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VPU utilization under SpMM workload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Memory-bound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Cycles for loading indices cannot hide behind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computaition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Utilization improves with larger N-dimension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Mid-/Outer-loop control overhead becomes easier to amortize. 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Performance is </a:t>
            </a:r>
            <a:r>
              <a:rPr lang="en-US" altLang="zh-CN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comparable with the dense workload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8D730A-6347-DB29-71E5-35FA51A3CF5B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502A9D-F2E5-1EB7-93A3-B381B0D2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1" y="915496"/>
            <a:ext cx="4313348" cy="3163122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F076C421-9306-5138-DEB5-B9FD967CA128}"/>
              </a:ext>
            </a:extLst>
          </p:cNvPr>
          <p:cNvSpPr/>
          <p:nvPr/>
        </p:nvSpPr>
        <p:spPr>
          <a:xfrm rot="14958059">
            <a:off x="6366724" y="1760941"/>
            <a:ext cx="164461" cy="244361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53F4CEA2-19F5-CAC9-4AA3-771DC90DF65C}"/>
              </a:ext>
            </a:extLst>
          </p:cNvPr>
          <p:cNvSpPr/>
          <p:nvPr/>
        </p:nvSpPr>
        <p:spPr>
          <a:xfrm rot="14634121">
            <a:off x="7507651" y="1693077"/>
            <a:ext cx="164461" cy="204143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E524B-610C-0429-C35F-8D5EABD9B622}"/>
              </a:ext>
            </a:extLst>
          </p:cNvPr>
          <p:cNvSpPr txBox="1"/>
          <p:nvPr/>
        </p:nvSpPr>
        <p:spPr>
          <a:xfrm>
            <a:off x="6231743" y="1367212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87.5%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31548C-0D87-174E-E5CF-ABCACCB26A96}"/>
              </a:ext>
            </a:extLst>
          </p:cNvPr>
          <p:cNvSpPr txBox="1"/>
          <p:nvPr/>
        </p:nvSpPr>
        <p:spPr>
          <a:xfrm>
            <a:off x="7523038" y="1366113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97.9%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48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6E62-3326-680C-D826-9C91E849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AC11-A852-F94C-8DC3-C3823B74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9C1F9-E345-6433-C180-E31B0973B9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DE439-0D12-BDC7-9FFD-D337F2C64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6" y="628031"/>
            <a:ext cx="4696786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Scatter/Gather with Ventaglio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With </a:t>
            </a:r>
            <a:r>
              <a:rPr lang="en-US" altLang="zh-CN" sz="1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1:4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format, N=64, P=64</a:t>
            </a:r>
          </a:p>
          <a:p>
            <a:pPr lvl="2"/>
            <a:r>
              <a:rPr lang="en-US" altLang="zh-CN" sz="1213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remains at the roofline. Index loading overhead is comparably larger than 2:4 format</a:t>
            </a:r>
          </a:p>
          <a:p>
            <a:pPr lvl="2"/>
            <a:r>
              <a:rPr lang="en-US" altLang="zh-CN" sz="1213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SpMM performance drops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Reason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VTL memory-unit capacity + Unrolling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For dense GEMM, a common latency-hiding technique: more unrolling (e.g., 2× → 4×)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For Ventaglio + Gustavson, this becomes expensive</a:t>
            </a:r>
            <a:b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must hold temporal accumulations in the VTL memory unit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Unrolling along M-dimension requires multiple accumulation vectors resident simultaneously.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With sparsity, the accumulation vector can expand relative to the weight vector</a:t>
            </a:r>
            <a:b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13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zh-CN" sz="1213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Lower LMUL supported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4D1B7F-5018-EEAA-5BF3-9A3668DE94EB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36C34-DAD3-FED8-7025-9ACF5D5DA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1" y="915496"/>
            <a:ext cx="4313348" cy="31631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3FF5DD-EA76-8D75-17DA-8AC867032053}"/>
              </a:ext>
            </a:extLst>
          </p:cNvPr>
          <p:cNvSpPr txBox="1"/>
          <p:nvPr/>
        </p:nvSpPr>
        <p:spPr>
          <a:xfrm>
            <a:off x="5929136" y="1851139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84.1%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D09EF-4F8B-78D8-C320-CE206B8E499B}"/>
              </a:ext>
            </a:extLst>
          </p:cNvPr>
          <p:cNvSpPr txBox="1"/>
          <p:nvPr/>
        </p:nvSpPr>
        <p:spPr>
          <a:xfrm>
            <a:off x="7632834" y="2005732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60.1%</a:t>
            </a:r>
            <a:endParaRPr lang="en-US" sz="2000" b="1" i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0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BF43-188B-30A9-7B55-1242C9A5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54B8-9352-3FF2-15E4-97D3CE65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1E2F1-089C-1C67-9277-C41F776E93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10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92168-0020-2BBE-B9E2-11D0235F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6" y="628031"/>
            <a:ext cx="4696786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Current supported settings (SEW=32, unroll=2×):</a:t>
            </a:r>
          </a:p>
          <a:p>
            <a:pPr lvl="1"/>
            <a:r>
              <a:rPr lang="en-US" altLang="zh-CN" sz="1282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LMUL=2 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@ 1:4 sparsity format</a:t>
            </a:r>
          </a:p>
          <a:p>
            <a:pPr lvl="1"/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 unit capacity: </a:t>
            </a:r>
            <a:r>
              <a:rPr lang="en-US" altLang="zh-CN" sz="1282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8192-bit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adding </a:t>
            </a:r>
            <a:r>
              <a:rPr lang="en-US" altLang="zh-CN" sz="1282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~8%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area </a:t>
            </a:r>
            <a:b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@ Spatz core level.</a:t>
            </a:r>
          </a:p>
          <a:p>
            <a:pPr lvl="1"/>
            <a:r>
              <a:rPr lang="en-US" altLang="zh-CN" sz="1282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Cannot fully hide control overhead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Solutions:</a:t>
            </a:r>
          </a:p>
          <a:p>
            <a:pPr lvl="1"/>
            <a:r>
              <a:rPr lang="en-US" altLang="zh-CN" sz="1282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</a:t>
            </a:r>
            <a:r>
              <a:rPr lang="en-US" altLang="zh-CN" sz="1282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ncrease memory-unit capacity, trading off area</a:t>
            </a:r>
          </a:p>
          <a:p>
            <a:pPr lvl="1"/>
            <a:r>
              <a:rPr lang="en-US" altLang="zh-CN" sz="1282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Introduce ‘post-increment’ semantics into RVV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7C3C30-C5DE-0E34-E325-80083BE52897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1D324-2710-57C1-1CE2-B72FD9FE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1" y="915496"/>
            <a:ext cx="4313348" cy="31631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FD55CF-2124-A322-EC0D-BCD58BB0D109}"/>
              </a:ext>
            </a:extLst>
          </p:cNvPr>
          <p:cNvSpPr txBox="1"/>
          <p:nvPr/>
        </p:nvSpPr>
        <p:spPr>
          <a:xfrm>
            <a:off x="5929136" y="1851139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84.1%</a:t>
            </a:r>
            <a:endParaRPr lang="en-US" sz="2000" b="1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10D03-A731-BB4F-74C3-833EAFF5F658}"/>
              </a:ext>
            </a:extLst>
          </p:cNvPr>
          <p:cNvSpPr txBox="1"/>
          <p:nvPr/>
        </p:nvSpPr>
        <p:spPr>
          <a:xfrm>
            <a:off x="7632834" y="2005732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60.1%</a:t>
            </a:r>
            <a:endParaRPr lang="en-US" sz="2000" b="1" i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6D04D7F0-1456-0B0D-4F10-DCE5474F2AFF}"/>
              </a:ext>
            </a:extLst>
          </p:cNvPr>
          <p:cNvSpPr/>
          <p:nvPr/>
        </p:nvSpPr>
        <p:spPr>
          <a:xfrm rot="10800000">
            <a:off x="7343494" y="1683937"/>
            <a:ext cx="164461" cy="236961"/>
          </a:xfrm>
          <a:prstGeom prst="down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9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E29C-A8F7-9215-FA1A-179D7E32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3736-3C5F-79A0-6E3D-4D048BF2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Ventaglio: Status and Next Step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CCC81-E19E-2101-DAB2-0D82C7A44C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11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6313B-FEF6-8DAE-4AE4-931F3B81D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28031"/>
            <a:ext cx="7062923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Status: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RTL wrap-up;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Roofline model for performance analysis;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Backend results analysis, area breakdown.</a:t>
            </a:r>
            <a:endParaRPr lang="en-US" altLang="zh-CN" sz="14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Remaining tasks: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Design cleanup, back to GVSoC</a:t>
            </a:r>
          </a:p>
          <a:p>
            <a:pPr marL="596890" lvl="1" indent="0">
              <a:buNone/>
            </a:pPr>
            <a:endParaRPr lang="en-US" altLang="zh-CN" sz="1082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8EA69A-8431-A405-60F2-7579225D29D3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50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4C7F-E7B1-E158-169C-37CE97FA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Systolic GEMM on Cluster-Stacked System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508E4-3442-9879-A4B5-3D6E08652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2"/>
            <a:ext cx="4240055" cy="3980418"/>
          </a:xfrm>
        </p:spPr>
        <p:txBody>
          <a:bodyPr/>
          <a:lstStyle/>
          <a:p>
            <a:pPr marL="358775" indent="-238125"/>
            <a:r>
              <a:rPr lang="en-US" sz="1700" dirty="0"/>
              <a:t>Worked on 3D variant of systolic GEMM</a:t>
            </a:r>
          </a:p>
          <a:p>
            <a:pPr marL="358775" indent="-238125"/>
            <a:r>
              <a:rPr lang="en-US" sz="1700" dirty="0"/>
              <a:t>Current assumptions:</a:t>
            </a:r>
          </a:p>
          <a:p>
            <a:pPr marL="815967" lvl="1" indent="-238125"/>
            <a:r>
              <a:rPr lang="en-US" sz="1400" dirty="0"/>
              <a:t>HBM still planar (attached on two base edges)</a:t>
            </a:r>
          </a:p>
          <a:p>
            <a:pPr marL="815967" lvl="1" indent="-238125"/>
            <a:r>
              <a:rPr lang="en-US" sz="1400" dirty="0"/>
              <a:t>Vertical links have same BW as planar ones</a:t>
            </a:r>
          </a:p>
          <a:p>
            <a:pPr marL="815967" lvl="1" indent="-238125"/>
            <a:r>
              <a:rPr lang="en-US" sz="1400" dirty="0"/>
              <a:t>For now: use RedMulE as compute </a:t>
            </a:r>
            <a:br>
              <a:rPr lang="en-US" sz="1400" dirty="0"/>
            </a:br>
            <a:r>
              <a:rPr lang="en-US" sz="1400" dirty="0"/>
              <a:t>(comparable to 2D SoftHier baseline)</a:t>
            </a:r>
          </a:p>
          <a:p>
            <a:pPr marL="358775" indent="-238125"/>
            <a:r>
              <a:rPr lang="en-US" sz="1718" dirty="0"/>
              <a:t>In-layer flow remains the same</a:t>
            </a:r>
          </a:p>
          <a:p>
            <a:pPr marL="815967" lvl="1" indent="-238125"/>
            <a:r>
              <a:rPr lang="en-US" sz="1400" dirty="0"/>
              <a:t>Inputs (</a:t>
            </a:r>
            <a:r>
              <a:rPr lang="en-US" sz="1400" i="1" dirty="0"/>
              <a:t>X</a:t>
            </a:r>
            <a:r>
              <a:rPr lang="en-US" sz="1400" dirty="0"/>
              <a:t>) are streamed west to east,</a:t>
            </a:r>
            <a:br>
              <a:rPr lang="en-US" sz="1400" dirty="0"/>
            </a:br>
            <a:r>
              <a:rPr lang="en-US" sz="1400" dirty="0"/>
              <a:t>weights (</a:t>
            </a:r>
            <a:r>
              <a:rPr lang="en-US" sz="1400" i="1" dirty="0"/>
              <a:t>W) </a:t>
            </a:r>
            <a:r>
              <a:rPr lang="en-US" sz="1400" dirty="0"/>
              <a:t>south to north</a:t>
            </a:r>
          </a:p>
          <a:p>
            <a:pPr marL="815967" lvl="1" indent="-238125"/>
            <a:r>
              <a:rPr lang="en-US" sz="1400" dirty="0"/>
              <a:t>Output (</a:t>
            </a:r>
            <a:r>
              <a:rPr lang="en-US" sz="1400" i="1" dirty="0"/>
              <a:t>Y) </a:t>
            </a:r>
            <a:r>
              <a:rPr lang="en-US" sz="1400" dirty="0"/>
              <a:t>tiles</a:t>
            </a:r>
            <a:r>
              <a:rPr lang="en-US" sz="1400" i="1" dirty="0"/>
              <a:t> </a:t>
            </a:r>
            <a:r>
              <a:rPr lang="en-US" sz="1400" dirty="0"/>
              <a:t>are stationary, stored </a:t>
            </a:r>
            <a:br>
              <a:rPr lang="en-US" sz="1400" dirty="0"/>
            </a:br>
            <a:r>
              <a:rPr lang="en-US" sz="1400" dirty="0"/>
              <a:t>in south HBM once complete</a:t>
            </a:r>
          </a:p>
          <a:p>
            <a:pPr marL="815967" lvl="1" indent="-238125"/>
            <a:r>
              <a:rPr lang="en-US" sz="1400" dirty="0"/>
              <a:t>X, W are double-buffered in TCDM</a:t>
            </a:r>
          </a:p>
          <a:p>
            <a:pPr marL="815967" lvl="1" indent="-238125"/>
            <a:endParaRPr lang="en-US" sz="1400" i="1" dirty="0"/>
          </a:p>
          <a:p>
            <a:pPr marL="815967" lvl="1" indent="-238125"/>
            <a:endParaRPr lang="en-US" sz="1400" dirty="0"/>
          </a:p>
          <a:p>
            <a:pPr marL="815967" lvl="1" indent="-238125"/>
            <a:endParaRPr lang="de-CH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E1135-39E3-B02E-FED0-4DE52F99D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 dirty="0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86B89BE-1C47-E496-B587-2317774F17BC}"/>
              </a:ext>
            </a:extLst>
          </p:cNvPr>
          <p:cNvGrpSpPr/>
          <p:nvPr/>
        </p:nvGrpSpPr>
        <p:grpSpPr>
          <a:xfrm>
            <a:off x="6233689" y="900611"/>
            <a:ext cx="2672936" cy="1206462"/>
            <a:chOff x="5123934" y="984150"/>
            <a:chExt cx="3240000" cy="1616158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E9D29E52-7ABD-F44C-EA87-970DD30CE536}"/>
                </a:ext>
              </a:extLst>
            </p:cNvPr>
            <p:cNvGrpSpPr/>
            <p:nvPr/>
          </p:nvGrpSpPr>
          <p:grpSpPr>
            <a:xfrm>
              <a:off x="5123934" y="984150"/>
              <a:ext cx="3240000" cy="1587600"/>
              <a:chOff x="5591489" y="1202838"/>
              <a:chExt cx="2507275" cy="1231445"/>
            </a:xfrm>
          </p:grpSpPr>
          <p:sp>
            <p:nvSpPr>
              <p:cNvPr id="86" name="Parallelogram 85">
                <a:extLst>
                  <a:ext uri="{FF2B5EF4-FFF2-40B4-BE49-F238E27FC236}">
                    <a16:creationId xmlns:a16="http://schemas.microsoft.com/office/drawing/2014/main" id="{A70A3145-8892-7F63-BB2A-853E8515EA82}"/>
                  </a:ext>
                </a:extLst>
              </p:cNvPr>
              <p:cNvSpPr/>
              <p:nvPr/>
            </p:nvSpPr>
            <p:spPr>
              <a:xfrm>
                <a:off x="5591489" y="2001795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87" name="Parallelogram 86">
                <a:extLst>
                  <a:ext uri="{FF2B5EF4-FFF2-40B4-BE49-F238E27FC236}">
                    <a16:creationId xmlns:a16="http://schemas.microsoft.com/office/drawing/2014/main" id="{AC2EE888-F541-88D5-EF04-BFE9B86923D4}"/>
                  </a:ext>
                </a:extLst>
              </p:cNvPr>
              <p:cNvSpPr/>
              <p:nvPr/>
            </p:nvSpPr>
            <p:spPr>
              <a:xfrm>
                <a:off x="6017797" y="2001794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CE6F341B-C43E-24FD-4FCA-3D1CECA7E77F}"/>
                  </a:ext>
                </a:extLst>
              </p:cNvPr>
              <p:cNvSpPr/>
              <p:nvPr/>
            </p:nvSpPr>
            <p:spPr>
              <a:xfrm>
                <a:off x="6444105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2" name="Parallelogram 91">
                <a:extLst>
                  <a:ext uri="{FF2B5EF4-FFF2-40B4-BE49-F238E27FC236}">
                    <a16:creationId xmlns:a16="http://schemas.microsoft.com/office/drawing/2014/main" id="{C12EFECC-06D2-F733-2986-60ECF119A6A9}"/>
                  </a:ext>
                </a:extLst>
              </p:cNvPr>
              <p:cNvSpPr/>
              <p:nvPr/>
            </p:nvSpPr>
            <p:spPr>
              <a:xfrm>
                <a:off x="6870413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4CEAEFA0-3AE2-2A17-107C-5D3A8997A387}"/>
                  </a:ext>
                </a:extLst>
              </p:cNvPr>
              <p:cNvSpPr/>
              <p:nvPr/>
            </p:nvSpPr>
            <p:spPr>
              <a:xfrm>
                <a:off x="7296721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86AF3911-2746-AD92-EEE2-8B5538217551}"/>
                  </a:ext>
                </a:extLst>
              </p:cNvPr>
              <p:cNvSpPr/>
              <p:nvPr/>
            </p:nvSpPr>
            <p:spPr>
              <a:xfrm>
                <a:off x="5778782" y="17422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87E14DAB-3B57-E426-2C99-8432EC60F6B6}"/>
                  </a:ext>
                </a:extLst>
              </p:cNvPr>
              <p:cNvSpPr/>
              <p:nvPr/>
            </p:nvSpPr>
            <p:spPr>
              <a:xfrm>
                <a:off x="6205090" y="174229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6" name="Parallelogram 95">
                <a:extLst>
                  <a:ext uri="{FF2B5EF4-FFF2-40B4-BE49-F238E27FC236}">
                    <a16:creationId xmlns:a16="http://schemas.microsoft.com/office/drawing/2014/main" id="{52B9E20C-202B-4A17-F467-7E25DA53F9AF}"/>
                  </a:ext>
                </a:extLst>
              </p:cNvPr>
              <p:cNvSpPr/>
              <p:nvPr/>
            </p:nvSpPr>
            <p:spPr>
              <a:xfrm>
                <a:off x="6631398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7" name="Parallelogram 96">
                <a:extLst>
                  <a:ext uri="{FF2B5EF4-FFF2-40B4-BE49-F238E27FC236}">
                    <a16:creationId xmlns:a16="http://schemas.microsoft.com/office/drawing/2014/main" id="{C30F6F21-4A2C-A5EA-BA74-1B684FA5498E}"/>
                  </a:ext>
                </a:extLst>
              </p:cNvPr>
              <p:cNvSpPr/>
              <p:nvPr/>
            </p:nvSpPr>
            <p:spPr>
              <a:xfrm>
                <a:off x="7057706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8" name="Parallelogram 97">
                <a:extLst>
                  <a:ext uri="{FF2B5EF4-FFF2-40B4-BE49-F238E27FC236}">
                    <a16:creationId xmlns:a16="http://schemas.microsoft.com/office/drawing/2014/main" id="{97237790-161A-16C8-4AA0-525B5C5AE0E2}"/>
                  </a:ext>
                </a:extLst>
              </p:cNvPr>
              <p:cNvSpPr/>
              <p:nvPr/>
            </p:nvSpPr>
            <p:spPr>
              <a:xfrm>
                <a:off x="7484014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01DF4A46-90E1-38DD-2705-83FB3A411137}"/>
                  </a:ext>
                </a:extLst>
              </p:cNvPr>
              <p:cNvSpPr/>
              <p:nvPr/>
            </p:nvSpPr>
            <p:spPr>
              <a:xfrm>
                <a:off x="5967224" y="14828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221E4F88-8873-6BB2-7512-3EAA2182B196}"/>
                  </a:ext>
                </a:extLst>
              </p:cNvPr>
              <p:cNvSpPr/>
              <p:nvPr/>
            </p:nvSpPr>
            <p:spPr>
              <a:xfrm>
                <a:off x="6393532" y="14828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1" name="Parallelogram 100">
                <a:extLst>
                  <a:ext uri="{FF2B5EF4-FFF2-40B4-BE49-F238E27FC236}">
                    <a16:creationId xmlns:a16="http://schemas.microsoft.com/office/drawing/2014/main" id="{E1960433-3F19-EAE0-9D90-E83AD8ADCEF2}"/>
                  </a:ext>
                </a:extLst>
              </p:cNvPr>
              <p:cNvSpPr/>
              <p:nvPr/>
            </p:nvSpPr>
            <p:spPr>
              <a:xfrm>
                <a:off x="6819840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2" name="Parallelogram 101">
                <a:extLst>
                  <a:ext uri="{FF2B5EF4-FFF2-40B4-BE49-F238E27FC236}">
                    <a16:creationId xmlns:a16="http://schemas.microsoft.com/office/drawing/2014/main" id="{0493DF23-B66E-7307-D429-C6AA1E4687E9}"/>
                  </a:ext>
                </a:extLst>
              </p:cNvPr>
              <p:cNvSpPr/>
              <p:nvPr/>
            </p:nvSpPr>
            <p:spPr>
              <a:xfrm>
                <a:off x="7246148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3" name="Parallelogram 102">
                <a:extLst>
                  <a:ext uri="{FF2B5EF4-FFF2-40B4-BE49-F238E27FC236}">
                    <a16:creationId xmlns:a16="http://schemas.microsoft.com/office/drawing/2014/main" id="{0CFD0D64-CB3C-E7D7-2E3B-3BE881833437}"/>
                  </a:ext>
                </a:extLst>
              </p:cNvPr>
              <p:cNvSpPr/>
              <p:nvPr/>
            </p:nvSpPr>
            <p:spPr>
              <a:xfrm>
                <a:off x="7672456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5" name="Parallelogram 104">
                <a:extLst>
                  <a:ext uri="{FF2B5EF4-FFF2-40B4-BE49-F238E27FC236}">
                    <a16:creationId xmlns:a16="http://schemas.microsoft.com/office/drawing/2014/main" id="{3CE9CB49-3350-3222-C8E8-6C11E73D3517}"/>
                  </a:ext>
                </a:extLst>
              </p:cNvPr>
              <p:cNvSpPr/>
              <p:nvPr/>
            </p:nvSpPr>
            <p:spPr>
              <a:xfrm>
                <a:off x="6594330" y="12233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6" name="Parallelogram 105">
                <a:extLst>
                  <a:ext uri="{FF2B5EF4-FFF2-40B4-BE49-F238E27FC236}">
                    <a16:creationId xmlns:a16="http://schemas.microsoft.com/office/drawing/2014/main" id="{976E86AE-1F4F-D317-A206-5004DF5908FB}"/>
                  </a:ext>
                </a:extLst>
              </p:cNvPr>
              <p:cNvSpPr/>
              <p:nvPr/>
            </p:nvSpPr>
            <p:spPr>
              <a:xfrm>
                <a:off x="7020638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7" name="Parallelogram 106">
                <a:extLst>
                  <a:ext uri="{FF2B5EF4-FFF2-40B4-BE49-F238E27FC236}">
                    <a16:creationId xmlns:a16="http://schemas.microsoft.com/office/drawing/2014/main" id="{EA3D53BD-EC76-7E55-B04E-06406B5F420D}"/>
                  </a:ext>
                </a:extLst>
              </p:cNvPr>
              <p:cNvSpPr/>
              <p:nvPr/>
            </p:nvSpPr>
            <p:spPr>
              <a:xfrm>
                <a:off x="7446946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9" name="Parallelogram 108">
                <a:extLst>
                  <a:ext uri="{FF2B5EF4-FFF2-40B4-BE49-F238E27FC236}">
                    <a16:creationId xmlns:a16="http://schemas.microsoft.com/office/drawing/2014/main" id="{6A2E3C55-A276-6E5F-AEA5-D37AE55539AB}"/>
                  </a:ext>
                </a:extLst>
              </p:cNvPr>
              <p:cNvSpPr/>
              <p:nvPr/>
            </p:nvSpPr>
            <p:spPr>
              <a:xfrm>
                <a:off x="5829355" y="226128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0" name="Parallelogram 109">
                <a:extLst>
                  <a:ext uri="{FF2B5EF4-FFF2-40B4-BE49-F238E27FC236}">
                    <a16:creationId xmlns:a16="http://schemas.microsoft.com/office/drawing/2014/main" id="{947FCD12-4104-7A62-9552-00CC11C6AAF8}"/>
                  </a:ext>
                </a:extLst>
              </p:cNvPr>
              <p:cNvSpPr/>
              <p:nvPr/>
            </p:nvSpPr>
            <p:spPr>
              <a:xfrm>
                <a:off x="6255663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1" name="Parallelogram 110">
                <a:extLst>
                  <a:ext uri="{FF2B5EF4-FFF2-40B4-BE49-F238E27FC236}">
                    <a16:creationId xmlns:a16="http://schemas.microsoft.com/office/drawing/2014/main" id="{A1D5A5AF-45B0-1F52-E570-5E29B2ED12CC}"/>
                  </a:ext>
                </a:extLst>
              </p:cNvPr>
              <p:cNvSpPr/>
              <p:nvPr/>
            </p:nvSpPr>
            <p:spPr>
              <a:xfrm>
                <a:off x="6681971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8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30046D0-176F-E7C6-19DA-341BDB85E3B9}"/>
                  </a:ext>
                </a:extLst>
              </p:cNvPr>
              <p:cNvGrpSpPr/>
              <p:nvPr/>
            </p:nvGrpSpPr>
            <p:grpSpPr>
              <a:xfrm>
                <a:off x="6043083" y="1342819"/>
                <a:ext cx="1654659" cy="691990"/>
                <a:chOff x="6373907" y="2355556"/>
                <a:chExt cx="1654659" cy="691990"/>
              </a:xfrm>
            </p:grpSpPr>
            <p:sp>
              <p:nvSpPr>
                <p:cNvPr id="121" name="Parallelogram 120">
                  <a:extLst>
                    <a:ext uri="{FF2B5EF4-FFF2-40B4-BE49-F238E27FC236}">
                      <a16:creationId xmlns:a16="http://schemas.microsoft.com/office/drawing/2014/main" id="{55267643-6859-CBD8-A287-B4A577A2529D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2" name="Parallelogram 121">
                  <a:extLst>
                    <a:ext uri="{FF2B5EF4-FFF2-40B4-BE49-F238E27FC236}">
                      <a16:creationId xmlns:a16="http://schemas.microsoft.com/office/drawing/2014/main" id="{87BBC0D0-31D6-A996-061B-42BB106FC84A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3" name="Parallelogram 122">
                  <a:extLst>
                    <a:ext uri="{FF2B5EF4-FFF2-40B4-BE49-F238E27FC236}">
                      <a16:creationId xmlns:a16="http://schemas.microsoft.com/office/drawing/2014/main" id="{2E6466A4-EAF2-F971-3DF8-86C5C7CA0BD7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4" name="Parallelogram 123">
                  <a:extLst>
                    <a:ext uri="{FF2B5EF4-FFF2-40B4-BE49-F238E27FC236}">
                      <a16:creationId xmlns:a16="http://schemas.microsoft.com/office/drawing/2014/main" id="{52CD19E6-820B-6752-B92D-308720A5C3BB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5" name="Parallelogram 124">
                  <a:extLst>
                    <a:ext uri="{FF2B5EF4-FFF2-40B4-BE49-F238E27FC236}">
                      <a16:creationId xmlns:a16="http://schemas.microsoft.com/office/drawing/2014/main" id="{A94C204A-7F9B-E65A-5D1C-2DE76B5DA994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6" name="Parallelogram 125">
                  <a:extLst>
                    <a:ext uri="{FF2B5EF4-FFF2-40B4-BE49-F238E27FC236}">
                      <a16:creationId xmlns:a16="http://schemas.microsoft.com/office/drawing/2014/main" id="{8D7A2ADE-CF00-5DE7-BDDF-087EA1EF4AFC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7" name="Parallelogram 126">
                  <a:extLst>
                    <a:ext uri="{FF2B5EF4-FFF2-40B4-BE49-F238E27FC236}">
                      <a16:creationId xmlns:a16="http://schemas.microsoft.com/office/drawing/2014/main" id="{EE3A84D0-FE64-4F7A-01D8-B3CF9E3303FE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8" name="Parallelogram 127">
                  <a:extLst>
                    <a:ext uri="{FF2B5EF4-FFF2-40B4-BE49-F238E27FC236}">
                      <a16:creationId xmlns:a16="http://schemas.microsoft.com/office/drawing/2014/main" id="{BCFA430C-E94D-0753-FA70-E0CE5006D216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9" name="Parallelogram 128">
                  <a:extLst>
                    <a:ext uri="{FF2B5EF4-FFF2-40B4-BE49-F238E27FC236}">
                      <a16:creationId xmlns:a16="http://schemas.microsoft.com/office/drawing/2014/main" id="{79FFAF33-4B25-E356-F032-EB2133641B0B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7F922BAA-FB82-A340-9203-AE2BE0D8276B}"/>
                  </a:ext>
                </a:extLst>
              </p:cNvPr>
              <p:cNvGrpSpPr/>
              <p:nvPr/>
            </p:nvGrpSpPr>
            <p:grpSpPr>
              <a:xfrm>
                <a:off x="6044509" y="1202838"/>
                <a:ext cx="1654659" cy="691990"/>
                <a:chOff x="6373907" y="2355556"/>
                <a:chExt cx="1654659" cy="691990"/>
              </a:xfrm>
            </p:grpSpPr>
            <p:sp>
              <p:nvSpPr>
                <p:cNvPr id="132" name="Parallelogram 131">
                  <a:extLst>
                    <a:ext uri="{FF2B5EF4-FFF2-40B4-BE49-F238E27FC236}">
                      <a16:creationId xmlns:a16="http://schemas.microsoft.com/office/drawing/2014/main" id="{3E929092-71DD-4D59-A945-50B899589A64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3" name="Parallelogram 132">
                  <a:extLst>
                    <a:ext uri="{FF2B5EF4-FFF2-40B4-BE49-F238E27FC236}">
                      <a16:creationId xmlns:a16="http://schemas.microsoft.com/office/drawing/2014/main" id="{95937C32-6A13-D4F0-4C8D-678A348E88DE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4" name="Parallelogram 133">
                  <a:extLst>
                    <a:ext uri="{FF2B5EF4-FFF2-40B4-BE49-F238E27FC236}">
                      <a16:creationId xmlns:a16="http://schemas.microsoft.com/office/drawing/2014/main" id="{538D2E0E-8D70-1EE8-5D26-AB93266321E2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5" name="Parallelogram 134">
                  <a:extLst>
                    <a:ext uri="{FF2B5EF4-FFF2-40B4-BE49-F238E27FC236}">
                      <a16:creationId xmlns:a16="http://schemas.microsoft.com/office/drawing/2014/main" id="{841C68BF-FFE5-5CA5-DCC4-0ED38D668A44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6" name="Parallelogram 135">
                  <a:extLst>
                    <a:ext uri="{FF2B5EF4-FFF2-40B4-BE49-F238E27FC236}">
                      <a16:creationId xmlns:a16="http://schemas.microsoft.com/office/drawing/2014/main" id="{9E6105E4-AB13-6E5D-E2BA-D7B190EBA579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7" name="Parallelogram 136">
                  <a:extLst>
                    <a:ext uri="{FF2B5EF4-FFF2-40B4-BE49-F238E27FC236}">
                      <a16:creationId xmlns:a16="http://schemas.microsoft.com/office/drawing/2014/main" id="{38A82349-D3CC-99FA-3039-4176C362B106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8" name="Parallelogram 137">
                  <a:extLst>
                    <a:ext uri="{FF2B5EF4-FFF2-40B4-BE49-F238E27FC236}">
                      <a16:creationId xmlns:a16="http://schemas.microsoft.com/office/drawing/2014/main" id="{615B374A-F26C-7058-A2B8-3CACAF19734F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9" name="Parallelogram 138">
                  <a:extLst>
                    <a:ext uri="{FF2B5EF4-FFF2-40B4-BE49-F238E27FC236}">
                      <a16:creationId xmlns:a16="http://schemas.microsoft.com/office/drawing/2014/main" id="{523A20BE-3A33-244A-A03A-5D8D3609A45E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40" name="Parallelogram 139">
                  <a:extLst>
                    <a:ext uri="{FF2B5EF4-FFF2-40B4-BE49-F238E27FC236}">
                      <a16:creationId xmlns:a16="http://schemas.microsoft.com/office/drawing/2014/main" id="{61CE9D61-752E-B8EC-8050-6B657F4BEC83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sz="8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783EF5F-2E6F-94DF-2109-87F01603DC0B}"/>
                </a:ext>
              </a:extLst>
            </p:cNvPr>
            <p:cNvSpPr txBox="1"/>
            <p:nvPr/>
          </p:nvSpPr>
          <p:spPr>
            <a:xfrm>
              <a:off x="6688985" y="237727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C05E484-2724-B44B-6197-DE40129A1686}"/>
                </a:ext>
              </a:extLst>
            </p:cNvPr>
            <p:cNvSpPr txBox="1"/>
            <p:nvPr/>
          </p:nvSpPr>
          <p:spPr>
            <a:xfrm>
              <a:off x="6154060" y="2368801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727FBD8-E242-CF37-CDE5-E1F2F4AEB847}"/>
                </a:ext>
              </a:extLst>
            </p:cNvPr>
            <p:cNvSpPr txBox="1"/>
            <p:nvPr/>
          </p:nvSpPr>
          <p:spPr>
            <a:xfrm>
              <a:off x="5603168" y="2368800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CFF792D-994B-3AA3-661F-4E64103DCBC8}"/>
                </a:ext>
              </a:extLst>
            </p:cNvPr>
            <p:cNvSpPr txBox="1"/>
            <p:nvPr/>
          </p:nvSpPr>
          <p:spPr>
            <a:xfrm>
              <a:off x="749132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F5DD315-5723-468F-F83E-09CBDEFDC5FF}"/>
                </a:ext>
              </a:extLst>
            </p:cNvPr>
            <p:cNvSpPr txBox="1"/>
            <p:nvPr/>
          </p:nvSpPr>
          <p:spPr>
            <a:xfrm>
              <a:off x="7735251" y="170311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47A4677-B675-80F1-4FDF-2A708140342A}"/>
                </a:ext>
              </a:extLst>
            </p:cNvPr>
            <p:cNvSpPr txBox="1"/>
            <p:nvPr/>
          </p:nvSpPr>
          <p:spPr>
            <a:xfrm>
              <a:off x="7975070" y="136856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17D8AD3-A428-44CA-B9A6-847A26C9ADF1}"/>
                </a:ext>
              </a:extLst>
            </p:cNvPr>
            <p:cNvSpPr txBox="1"/>
            <p:nvPr/>
          </p:nvSpPr>
          <p:spPr>
            <a:xfrm>
              <a:off x="528260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AE101CF-6F13-32B3-5E1A-4794D90CB9AA}"/>
                </a:ext>
              </a:extLst>
            </p:cNvPr>
            <p:cNvSpPr txBox="1"/>
            <p:nvPr/>
          </p:nvSpPr>
          <p:spPr>
            <a:xfrm>
              <a:off x="5530107" y="168693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E67BD39-40C8-F6CA-A866-4C0B6BF8CD4F}"/>
                </a:ext>
              </a:extLst>
            </p:cNvPr>
            <p:cNvSpPr txBox="1"/>
            <p:nvPr/>
          </p:nvSpPr>
          <p:spPr>
            <a:xfrm>
              <a:off x="5757002" y="135968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8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8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2E316D9-74F0-9ECC-E542-DA75BC2DD2E4}"/>
              </a:ext>
            </a:extLst>
          </p:cNvPr>
          <p:cNvGrpSpPr/>
          <p:nvPr/>
        </p:nvGrpSpPr>
        <p:grpSpPr>
          <a:xfrm>
            <a:off x="4480284" y="1106487"/>
            <a:ext cx="4216143" cy="3718818"/>
            <a:chOff x="462724" y="1327676"/>
            <a:chExt cx="5703842" cy="505219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3FC6ED0-7C43-095E-699F-C1E57BCA3783}"/>
                </a:ext>
              </a:extLst>
            </p:cNvPr>
            <p:cNvGrpSpPr/>
            <p:nvPr/>
          </p:nvGrpSpPr>
          <p:grpSpPr>
            <a:xfrm>
              <a:off x="1362832" y="1327676"/>
              <a:ext cx="4443608" cy="4514189"/>
              <a:chOff x="1652392" y="1204334"/>
              <a:chExt cx="4214373" cy="4329523"/>
            </a:xfrm>
          </p:grpSpPr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3D019CF4-D49F-9A62-7B6A-377DF69599EA}"/>
                  </a:ext>
                </a:extLst>
              </p:cNvPr>
              <p:cNvSpPr/>
              <p:nvPr/>
            </p:nvSpPr>
            <p:spPr>
              <a:xfrm>
                <a:off x="1652392" y="1204334"/>
                <a:ext cx="1783908" cy="1837249"/>
              </a:xfrm>
              <a:prstGeom prst="triangle">
                <a:avLst>
                  <a:gd name="adj" fmla="val 0"/>
                </a:avLst>
              </a:prstGeom>
              <a:solidFill>
                <a:srgbClr val="156082">
                  <a:lumMod val="40000"/>
                  <a:lumOff val="60000"/>
                  <a:alpha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7" name="Isosceles Triangle 56">
                <a:extLst>
                  <a:ext uri="{FF2B5EF4-FFF2-40B4-BE49-F238E27FC236}">
                    <a16:creationId xmlns:a16="http://schemas.microsoft.com/office/drawing/2014/main" id="{E9589548-C7E1-1C60-44A7-5B768F9C585A}"/>
                  </a:ext>
                </a:extLst>
              </p:cNvPr>
              <p:cNvSpPr/>
              <p:nvPr/>
            </p:nvSpPr>
            <p:spPr>
              <a:xfrm>
                <a:off x="4082857" y="3696607"/>
                <a:ext cx="1783908" cy="1837249"/>
              </a:xfrm>
              <a:prstGeom prst="triangle">
                <a:avLst>
                  <a:gd name="adj" fmla="val 0"/>
                </a:avLst>
              </a:prstGeom>
              <a:solidFill>
                <a:srgbClr val="156082">
                  <a:lumMod val="40000"/>
                  <a:lumOff val="60000"/>
                  <a:alpha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D515E31-82CE-F5BC-82ED-5C51A8E4F39C}"/>
                  </a:ext>
                </a:extLst>
              </p:cNvPr>
              <p:cNvSpPr/>
              <p:nvPr/>
            </p:nvSpPr>
            <p:spPr>
              <a:xfrm>
                <a:off x="1652393" y="3695145"/>
                <a:ext cx="2430464" cy="1838712"/>
              </a:xfrm>
              <a:prstGeom prst="rect">
                <a:avLst/>
              </a:prstGeom>
              <a:solidFill>
                <a:srgbClr val="156082">
                  <a:lumMod val="40000"/>
                  <a:lumOff val="60000"/>
                  <a:alpha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95DA934-58F6-C20F-0152-6EC437169572}"/>
                  </a:ext>
                </a:extLst>
              </p:cNvPr>
              <p:cNvSpPr/>
              <p:nvPr/>
            </p:nvSpPr>
            <p:spPr>
              <a:xfrm>
                <a:off x="1652392" y="3041583"/>
                <a:ext cx="1783908" cy="655023"/>
              </a:xfrm>
              <a:prstGeom prst="rect">
                <a:avLst/>
              </a:prstGeom>
              <a:solidFill>
                <a:srgbClr val="156082">
                  <a:lumMod val="40000"/>
                  <a:lumOff val="60000"/>
                  <a:alpha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FD87E21C-9C56-5048-61F0-BE4D1163713C}"/>
                  </a:ext>
                </a:extLst>
              </p:cNvPr>
              <p:cNvSpPr/>
              <p:nvPr/>
            </p:nvSpPr>
            <p:spPr>
              <a:xfrm>
                <a:off x="3436300" y="3040121"/>
                <a:ext cx="646556" cy="655023"/>
              </a:xfrm>
              <a:prstGeom prst="triangle">
                <a:avLst>
                  <a:gd name="adj" fmla="val 0"/>
                </a:avLst>
              </a:prstGeom>
              <a:solidFill>
                <a:srgbClr val="156082">
                  <a:lumMod val="40000"/>
                  <a:lumOff val="60000"/>
                  <a:alpha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240FA2B-FF01-4027-6816-64DCDD19D1EC}"/>
                </a:ext>
              </a:extLst>
            </p:cNvPr>
            <p:cNvGrpSpPr/>
            <p:nvPr/>
          </p:nvGrpSpPr>
          <p:grpSpPr>
            <a:xfrm>
              <a:off x="1362834" y="3349591"/>
              <a:ext cx="2430463" cy="2492274"/>
              <a:chOff x="1286634" y="3349591"/>
              <a:chExt cx="2430463" cy="2492274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4D935CC-A324-98FC-EE73-5D21EB06EB55}"/>
                  </a:ext>
                </a:extLst>
              </p:cNvPr>
              <p:cNvSpPr/>
              <p:nvPr/>
            </p:nvSpPr>
            <p:spPr>
              <a:xfrm>
                <a:off x="1286634" y="3349591"/>
                <a:ext cx="2430463" cy="249227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A02F11B-6160-6810-F073-0954CEE5C826}"/>
                  </a:ext>
                </a:extLst>
              </p:cNvPr>
              <p:cNvGrpSpPr/>
              <p:nvPr/>
            </p:nvGrpSpPr>
            <p:grpSpPr>
              <a:xfrm>
                <a:off x="1332797" y="3398412"/>
                <a:ext cx="388137" cy="2362942"/>
                <a:chOff x="1332797" y="3398412"/>
                <a:chExt cx="388137" cy="2362942"/>
              </a:xfrm>
            </p:grpSpPr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D73CE33B-D248-D0EE-1CA1-A3AB315EBE53}"/>
                    </a:ext>
                  </a:extLst>
                </p:cNvPr>
                <p:cNvSpPr/>
                <p:nvPr/>
              </p:nvSpPr>
              <p:spPr>
                <a:xfrm>
                  <a:off x="1334348" y="5368704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BBB8CC17-24AC-697A-CCD6-01F84E81E75F}"/>
                    </a:ext>
                  </a:extLst>
                </p:cNvPr>
                <p:cNvSpPr/>
                <p:nvPr/>
              </p:nvSpPr>
              <p:spPr>
                <a:xfrm>
                  <a:off x="1332797" y="4703995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0463C241-C01C-31F2-6CAE-02B6C15BA08E}"/>
                    </a:ext>
                  </a:extLst>
                </p:cNvPr>
                <p:cNvSpPr/>
                <p:nvPr/>
              </p:nvSpPr>
              <p:spPr>
                <a:xfrm>
                  <a:off x="1343946" y="4056446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4C8A4B50-2D13-001E-7907-E2595BD004BB}"/>
                    </a:ext>
                  </a:extLst>
                </p:cNvPr>
                <p:cNvSpPr/>
                <p:nvPr/>
              </p:nvSpPr>
              <p:spPr>
                <a:xfrm>
                  <a:off x="1343946" y="3398412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6C6B1F5-31B6-122F-3325-2D926F101BD1}"/>
                  </a:ext>
                </a:extLst>
              </p:cNvPr>
              <p:cNvGrpSpPr/>
              <p:nvPr/>
            </p:nvGrpSpPr>
            <p:grpSpPr>
              <a:xfrm>
                <a:off x="1965856" y="3407431"/>
                <a:ext cx="388137" cy="2362942"/>
                <a:chOff x="1332797" y="3398412"/>
                <a:chExt cx="388137" cy="2362942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A5FB8E0-682D-8916-EF28-0E35D1237217}"/>
                    </a:ext>
                  </a:extLst>
                </p:cNvPr>
                <p:cNvSpPr/>
                <p:nvPr/>
              </p:nvSpPr>
              <p:spPr>
                <a:xfrm>
                  <a:off x="1334348" y="5368704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1ED76297-B123-EFDC-C305-3D0CBD846173}"/>
                    </a:ext>
                  </a:extLst>
                </p:cNvPr>
                <p:cNvSpPr/>
                <p:nvPr/>
              </p:nvSpPr>
              <p:spPr>
                <a:xfrm>
                  <a:off x="1332797" y="4703995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C46DF591-C7F7-3C1E-A3E1-C0B79E9D2E62}"/>
                    </a:ext>
                  </a:extLst>
                </p:cNvPr>
                <p:cNvSpPr/>
                <p:nvPr/>
              </p:nvSpPr>
              <p:spPr>
                <a:xfrm>
                  <a:off x="1343946" y="4056446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E912892-9183-C065-1CAE-04E10D0117D9}"/>
                    </a:ext>
                  </a:extLst>
                </p:cNvPr>
                <p:cNvSpPr/>
                <p:nvPr/>
              </p:nvSpPr>
              <p:spPr>
                <a:xfrm>
                  <a:off x="1343946" y="3398412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9344DCC-D4E8-833E-9597-8598025C9BC7}"/>
                  </a:ext>
                </a:extLst>
              </p:cNvPr>
              <p:cNvGrpSpPr/>
              <p:nvPr/>
            </p:nvGrpSpPr>
            <p:grpSpPr>
              <a:xfrm>
                <a:off x="2628449" y="3415121"/>
                <a:ext cx="388137" cy="2362942"/>
                <a:chOff x="1332797" y="3398412"/>
                <a:chExt cx="388137" cy="2362942"/>
              </a:xfrm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C82740B-9714-CBDB-45C9-1D1D9B713170}"/>
                    </a:ext>
                  </a:extLst>
                </p:cNvPr>
                <p:cNvSpPr/>
                <p:nvPr/>
              </p:nvSpPr>
              <p:spPr>
                <a:xfrm>
                  <a:off x="1334348" y="5368704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D0D069ED-9872-D5F1-97B5-1A41B3802E2D}"/>
                    </a:ext>
                  </a:extLst>
                </p:cNvPr>
                <p:cNvSpPr/>
                <p:nvPr/>
              </p:nvSpPr>
              <p:spPr>
                <a:xfrm>
                  <a:off x="1332797" y="4703995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38E12752-A037-F526-4FC9-F9EC9D14AF0C}"/>
                    </a:ext>
                  </a:extLst>
                </p:cNvPr>
                <p:cNvSpPr/>
                <p:nvPr/>
              </p:nvSpPr>
              <p:spPr>
                <a:xfrm>
                  <a:off x="1343946" y="4056446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7E67FD5C-70F8-70C2-9317-5D2AAED5510B}"/>
                    </a:ext>
                  </a:extLst>
                </p:cNvPr>
                <p:cNvSpPr/>
                <p:nvPr/>
              </p:nvSpPr>
              <p:spPr>
                <a:xfrm>
                  <a:off x="1343946" y="3398412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02B938E1-1F14-B773-BDB9-DF05A9E8D0E0}"/>
                  </a:ext>
                </a:extLst>
              </p:cNvPr>
              <p:cNvGrpSpPr/>
              <p:nvPr/>
            </p:nvGrpSpPr>
            <p:grpSpPr>
              <a:xfrm>
                <a:off x="3282820" y="3414257"/>
                <a:ext cx="388137" cy="2362942"/>
                <a:chOff x="1332797" y="3398412"/>
                <a:chExt cx="388137" cy="2362942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5B8F9E90-B9E1-10D3-03D2-46864A42DD42}"/>
                    </a:ext>
                  </a:extLst>
                </p:cNvPr>
                <p:cNvSpPr/>
                <p:nvPr/>
              </p:nvSpPr>
              <p:spPr>
                <a:xfrm>
                  <a:off x="1334348" y="5368704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6B4A8A49-CF9F-4D6C-9FA2-481ACCE5BB37}"/>
                    </a:ext>
                  </a:extLst>
                </p:cNvPr>
                <p:cNvSpPr/>
                <p:nvPr/>
              </p:nvSpPr>
              <p:spPr>
                <a:xfrm>
                  <a:off x="1332797" y="4703995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47ED60A-3EFD-32C3-A59D-1234B0C90D62}"/>
                    </a:ext>
                  </a:extLst>
                </p:cNvPr>
                <p:cNvSpPr/>
                <p:nvPr/>
              </p:nvSpPr>
              <p:spPr>
                <a:xfrm>
                  <a:off x="1343946" y="4056446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E48AC54-79D5-DDDF-3FF9-5877ED184EAE}"/>
                    </a:ext>
                  </a:extLst>
                </p:cNvPr>
                <p:cNvSpPr/>
                <p:nvPr/>
              </p:nvSpPr>
              <p:spPr>
                <a:xfrm>
                  <a:off x="1343946" y="3398412"/>
                  <a:ext cx="376988" cy="392650"/>
                </a:xfrm>
                <a:prstGeom prst="rect">
                  <a:avLst/>
                </a:prstGeom>
                <a:solidFill>
                  <a:srgbClr val="E97132">
                    <a:lumMod val="40000"/>
                    <a:lumOff val="6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C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4E0D5E5-F305-D954-4773-473DD0818621}"/>
                </a:ext>
              </a:extLst>
            </p:cNvPr>
            <p:cNvGrpSpPr/>
            <p:nvPr/>
          </p:nvGrpSpPr>
          <p:grpSpPr>
            <a:xfrm>
              <a:off x="775631" y="3349592"/>
              <a:ext cx="366170" cy="2492274"/>
              <a:chOff x="1065191" y="3041584"/>
              <a:chExt cx="366170" cy="2492274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552D52F-EE43-811F-1662-3235C1F86E63}"/>
                  </a:ext>
                </a:extLst>
              </p:cNvPr>
              <p:cNvSpPr/>
              <p:nvPr/>
            </p:nvSpPr>
            <p:spPr>
              <a:xfrm rot="5400000">
                <a:off x="999663" y="3107114"/>
                <a:ext cx="497227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DAA6501E-24D8-8E63-E4EE-B34D968228A3}"/>
                  </a:ext>
                </a:extLst>
              </p:cNvPr>
              <p:cNvSpPr/>
              <p:nvPr/>
            </p:nvSpPr>
            <p:spPr>
              <a:xfrm rot="5400000">
                <a:off x="999662" y="3762137"/>
                <a:ext cx="497226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1C2C5F0-FF16-D091-AD57-3E541C46937F}"/>
                  </a:ext>
                </a:extLst>
              </p:cNvPr>
              <p:cNvSpPr/>
              <p:nvPr/>
            </p:nvSpPr>
            <p:spPr>
              <a:xfrm rot="5400000">
                <a:off x="999662" y="4439161"/>
                <a:ext cx="497227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A233833B-6AF1-F8C1-7D81-FDA9F91972B4}"/>
                  </a:ext>
                </a:extLst>
              </p:cNvPr>
              <p:cNvSpPr/>
              <p:nvPr/>
            </p:nvSpPr>
            <p:spPr>
              <a:xfrm rot="5400000">
                <a:off x="999662" y="5102161"/>
                <a:ext cx="497226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113B317-D428-5108-5553-A690091EC16E}"/>
                </a:ext>
              </a:extLst>
            </p:cNvPr>
            <p:cNvSpPr txBox="1"/>
            <p:nvPr/>
          </p:nvSpPr>
          <p:spPr>
            <a:xfrm>
              <a:off x="462724" y="4447644"/>
              <a:ext cx="24878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900" i="1" kern="1200" dirty="0">
                  <a:solidFill>
                    <a:prstClr val="black"/>
                  </a:solidFill>
                  <a:latin typeface="Aptos" panose="02110004020202020204"/>
                  <a:ea typeface="+mn-ea"/>
                  <a:cs typeface="+mn-cs"/>
                </a:rPr>
                <a:t>X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D6E92ED8-DDF9-7458-5F6E-8FBA485A11F5}"/>
                </a:ext>
              </a:extLst>
            </p:cNvPr>
            <p:cNvGrpSpPr/>
            <p:nvPr/>
          </p:nvGrpSpPr>
          <p:grpSpPr>
            <a:xfrm>
              <a:off x="1605283" y="1556418"/>
              <a:ext cx="1945567" cy="4454873"/>
              <a:chOff x="1894843" y="1248108"/>
              <a:chExt cx="1945567" cy="4543281"/>
            </a:xfrm>
          </p:grpSpPr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37CE9916-8343-6920-D686-7F60245235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94843" y="1248108"/>
                <a:ext cx="0" cy="454328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C1779900-9B81-B2C8-2B8F-F3CE168BD7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3620" y="1914858"/>
                <a:ext cx="1" cy="387653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BB05FF0D-31F2-844F-6100-6236869870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93654" y="2581608"/>
                <a:ext cx="199" cy="320978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05988A04-3650-1294-C2B7-F2D3E3957F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40137" y="3279206"/>
                <a:ext cx="273" cy="2512183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9EB3BC2F-7EFD-8146-CF71-1C881D823717}"/>
                </a:ext>
              </a:extLst>
            </p:cNvPr>
            <p:cNvGrpSpPr/>
            <p:nvPr/>
          </p:nvGrpSpPr>
          <p:grpSpPr>
            <a:xfrm rot="16200000" flipV="1">
              <a:off x="2347395" y="2392608"/>
              <a:ext cx="1945567" cy="4356762"/>
              <a:chOff x="6573523" y="476469"/>
              <a:chExt cx="1945567" cy="4543281"/>
            </a:xfrm>
          </p:grpSpPr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4FD5A488-A2C9-C9A1-CE0E-4D06CC5843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73523" y="476469"/>
                <a:ext cx="0" cy="454328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36435E1-4943-E40B-9621-11ED313D01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12300" y="1143219"/>
                <a:ext cx="1" cy="387653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3E8C89B9-62BF-5784-D120-C315B4F735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72334" y="1809969"/>
                <a:ext cx="199" cy="320978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13718CE2-060B-2382-E155-546CF5654E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17551" y="2455813"/>
                <a:ext cx="1539" cy="2563937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EB47C0F-3AA9-28B5-E9ED-BE816274C29F}"/>
                </a:ext>
              </a:extLst>
            </p:cNvPr>
            <p:cNvGrpSpPr/>
            <p:nvPr/>
          </p:nvGrpSpPr>
          <p:grpSpPr>
            <a:xfrm rot="16200000">
              <a:off x="2393441" y="4983087"/>
              <a:ext cx="366170" cy="2427387"/>
              <a:chOff x="1065191" y="3041584"/>
              <a:chExt cx="366170" cy="2492274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0EB6FCF-45CD-14FA-94F1-0AD3E28AC646}"/>
                  </a:ext>
                </a:extLst>
              </p:cNvPr>
              <p:cNvSpPr/>
              <p:nvPr/>
            </p:nvSpPr>
            <p:spPr>
              <a:xfrm rot="5400000">
                <a:off x="999663" y="3107114"/>
                <a:ext cx="497227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94841EA-F429-FF21-E82A-DF2E60531F4C}"/>
                  </a:ext>
                </a:extLst>
              </p:cNvPr>
              <p:cNvSpPr/>
              <p:nvPr/>
            </p:nvSpPr>
            <p:spPr>
              <a:xfrm rot="5400000">
                <a:off x="999662" y="3762137"/>
                <a:ext cx="497226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AFABFAD-7237-2217-5F7D-FDF4C632D2F0}"/>
                  </a:ext>
                </a:extLst>
              </p:cNvPr>
              <p:cNvSpPr/>
              <p:nvPr/>
            </p:nvSpPr>
            <p:spPr>
              <a:xfrm rot="5400000">
                <a:off x="999662" y="4439161"/>
                <a:ext cx="497227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A76D52AF-2F38-D432-44B0-C5B072C11C85}"/>
                  </a:ext>
                </a:extLst>
              </p:cNvPr>
              <p:cNvSpPr/>
              <p:nvPr/>
            </p:nvSpPr>
            <p:spPr>
              <a:xfrm rot="5400000">
                <a:off x="999662" y="5102161"/>
                <a:ext cx="497226" cy="366168"/>
              </a:xfrm>
              <a:prstGeom prst="rect">
                <a:avLst/>
              </a:prstGeom>
              <a:solidFill>
                <a:srgbClr val="15608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lIns="54000" rIns="5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HBM</a:t>
                </a:r>
                <a:endParaRPr kumimoji="0" lang="de-CH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4FCCDC93-7C95-D7A8-AFAF-A9EA65E3155E}"/>
                </a:ext>
              </a:extLst>
            </p:cNvPr>
            <p:cNvSpPr txBox="1"/>
            <p:nvPr/>
          </p:nvSpPr>
          <p:spPr>
            <a:xfrm>
              <a:off x="3925166" y="2957550"/>
              <a:ext cx="2241400" cy="1066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900" b="1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z = 0 (base layer) view:</a:t>
              </a:r>
            </a:p>
            <a:p>
              <a:pPr>
                <a:buClrTx/>
                <a:buFontTx/>
                <a:buNone/>
              </a:pPr>
              <a: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Like 2D systolic GEMM, but</a:t>
              </a:r>
              <a:b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narrower W, Y tiles: distributed</a:t>
              </a:r>
              <a:b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among stacked clusters.</a:t>
              </a:r>
              <a:b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en-US" sz="900" kern="120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Output Y is stationary.</a:t>
              </a: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AE34D28A-AA6D-2C0C-A037-9C383954EC06}"/>
              </a:ext>
            </a:extLst>
          </p:cNvPr>
          <p:cNvSpPr txBox="1"/>
          <p:nvPr/>
        </p:nvSpPr>
        <p:spPr>
          <a:xfrm>
            <a:off x="5900265" y="4813244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900" i="1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05688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A0DF-2B46-C2BC-9549-A2B97E0D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3554-B096-2B45-8FF7-9BCEDB72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Systolic GEMM: Vertical Dataflow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2BBCA-96D4-5628-050D-C3C77B695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1"/>
            <a:ext cx="4075133" cy="4143263"/>
          </a:xfrm>
        </p:spPr>
        <p:txBody>
          <a:bodyPr/>
          <a:lstStyle/>
          <a:p>
            <a:pPr marL="361950" indent="-241300"/>
            <a:r>
              <a:rPr lang="en-US" sz="1700" dirty="0"/>
              <a:t>Partition </a:t>
            </a:r>
            <a:r>
              <a:rPr lang="en-US" sz="1700" i="1" dirty="0"/>
              <a:t>W</a:t>
            </a:r>
            <a:r>
              <a:rPr lang="en-US" sz="1700" dirty="0"/>
              <a:t> tiles among layers</a:t>
            </a:r>
          </a:p>
          <a:p>
            <a:pPr marL="715963" lvl="1" indent="-139700"/>
            <a:r>
              <a:rPr lang="en-US" sz="1400" dirty="0"/>
              <a:t>South-edge clusters “pull up” tiles</a:t>
            </a:r>
            <a:br>
              <a:rPr lang="en-US" sz="1400" dirty="0"/>
            </a:br>
            <a:r>
              <a:rPr lang="en-US" sz="1400" dirty="0"/>
              <a:t>fetched from HBM in base layer</a:t>
            </a:r>
          </a:p>
          <a:p>
            <a:pPr marL="715963" lvl="1" indent="-139700"/>
            <a:r>
              <a:rPr lang="en-US" sz="1400" dirty="0"/>
              <a:t>Only used subtiles are moved / kept</a:t>
            </a:r>
          </a:p>
          <a:p>
            <a:pPr marL="715963" lvl="1" indent="-139700"/>
            <a:r>
              <a:rPr lang="en-US" sz="1400" dirty="0"/>
              <a:t>Local subtile is streamed north</a:t>
            </a:r>
          </a:p>
          <a:p>
            <a:pPr marL="358775" indent="-239713"/>
            <a:r>
              <a:rPr lang="en-US" sz="1700" dirty="0"/>
              <a:t>Full </a:t>
            </a:r>
            <a:r>
              <a:rPr lang="en-US" sz="1700" i="1" dirty="0"/>
              <a:t>X</a:t>
            </a:r>
            <a:r>
              <a:rPr lang="en-US" sz="1700" dirty="0"/>
              <a:t> tiles reused among layers</a:t>
            </a:r>
          </a:p>
          <a:p>
            <a:pPr marL="717550" lvl="1" indent="-177800"/>
            <a:r>
              <a:rPr lang="en-US" sz="1400" dirty="0"/>
              <a:t>West edge “pulls up” full X tiles </a:t>
            </a:r>
            <a:r>
              <a:rPr lang="en-US" sz="1400" dirty="0">
                <a:sym typeface="Wingdings" panose="05000000000000000000" pitchFamily="2" charset="2"/>
              </a:rPr>
              <a:t> reuse</a:t>
            </a:r>
            <a:endParaRPr lang="en-US" sz="1400" dirty="0"/>
          </a:p>
          <a:p>
            <a:pPr marL="717550" lvl="1" indent="-177800"/>
            <a:r>
              <a:rPr lang="en-US" sz="1400" dirty="0"/>
              <a:t>Tiles then streamed west as in 2D</a:t>
            </a:r>
          </a:p>
          <a:p>
            <a:pPr marL="358775" indent="-228600"/>
            <a:r>
              <a:rPr lang="en-US" sz="1718" dirty="0"/>
              <a:t>Finished </a:t>
            </a:r>
            <a:r>
              <a:rPr lang="en-US" sz="1718" i="1" dirty="0"/>
              <a:t>Y</a:t>
            </a:r>
            <a:r>
              <a:rPr lang="en-US" sz="1718" dirty="0"/>
              <a:t> tiles written back directly</a:t>
            </a:r>
          </a:p>
          <a:p>
            <a:pPr marL="715963" lvl="1" indent="-177800"/>
            <a:r>
              <a:rPr lang="en-US" sz="1400" dirty="0"/>
              <a:t>As in 2D, clusters close to HBM start and</a:t>
            </a:r>
            <a:br>
              <a:rPr lang="en-US" sz="1400" dirty="0"/>
            </a:br>
            <a:r>
              <a:rPr lang="en-US" sz="1400" dirty="0"/>
              <a:t>finish first </a:t>
            </a:r>
            <a:r>
              <a:rPr lang="en-US" sz="1400" dirty="0">
                <a:sym typeface="Wingdings" panose="05000000000000000000" pitchFamily="2" charset="2"/>
              </a:rPr>
              <a:t> low contention</a:t>
            </a:r>
            <a:endParaRPr lang="en-US" sz="1400" dirty="0"/>
          </a:p>
        </p:txBody>
      </p:sp>
      <p:grpSp>
        <p:nvGrpSpPr>
          <p:cNvPr id="751" name="Group 750">
            <a:extLst>
              <a:ext uri="{FF2B5EF4-FFF2-40B4-BE49-F238E27FC236}">
                <a16:creationId xmlns:a16="http://schemas.microsoft.com/office/drawing/2014/main" id="{72A0D9DD-4004-A2EE-8D4E-F0843E1703B3}"/>
              </a:ext>
            </a:extLst>
          </p:cNvPr>
          <p:cNvGrpSpPr/>
          <p:nvPr/>
        </p:nvGrpSpPr>
        <p:grpSpPr>
          <a:xfrm>
            <a:off x="4897492" y="919149"/>
            <a:ext cx="3659768" cy="1652601"/>
            <a:chOff x="4897492" y="919149"/>
            <a:chExt cx="3659768" cy="1652601"/>
          </a:xfrm>
        </p:grpSpPr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CC7B914F-E1F4-773D-8330-BCB98BDF9502}"/>
                </a:ext>
              </a:extLst>
            </p:cNvPr>
            <p:cNvSpPr/>
            <p:nvPr/>
          </p:nvSpPr>
          <p:spPr>
            <a:xfrm>
              <a:off x="4897492" y="2225170"/>
              <a:ext cx="828340" cy="277907"/>
            </a:xfrm>
            <a:prstGeom prst="rect">
              <a:avLst/>
            </a:prstGeom>
            <a:solidFill>
              <a:srgbClr val="15608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54000" r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HBM</a:t>
              </a:r>
              <a:endPara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80CB041A-3449-46BC-FF8B-413C4A6601EB}"/>
                </a:ext>
              </a:extLst>
            </p:cNvPr>
            <p:cNvSpPr/>
            <p:nvPr/>
          </p:nvSpPr>
          <p:spPr>
            <a:xfrm>
              <a:off x="5910442" y="919149"/>
              <a:ext cx="2646818" cy="165260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61B84252-E630-99B6-34BA-EF193D0A3EA5}"/>
                </a:ext>
              </a:extLst>
            </p:cNvPr>
            <p:cNvGrpSpPr/>
            <p:nvPr/>
          </p:nvGrpSpPr>
          <p:grpSpPr>
            <a:xfrm>
              <a:off x="5945563" y="951522"/>
              <a:ext cx="991802" cy="1566842"/>
              <a:chOff x="1332797" y="3398412"/>
              <a:chExt cx="382489" cy="2362942"/>
            </a:xfrm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6E1CCEDD-172D-0EE0-D21D-8B117E884738}"/>
                  </a:ext>
                </a:extLst>
              </p:cNvPr>
              <p:cNvSpPr/>
              <p:nvPr/>
            </p:nvSpPr>
            <p:spPr>
              <a:xfrm>
                <a:off x="1334348" y="5368704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9EEEFD7B-DBE4-C39D-E86F-EDB6BD1BC754}"/>
                  </a:ext>
                </a:extLst>
              </p:cNvPr>
              <p:cNvSpPr/>
              <p:nvPr/>
            </p:nvSpPr>
            <p:spPr>
              <a:xfrm>
                <a:off x="1332797" y="4703995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97233DFB-0075-FCDB-076A-E6462EE32600}"/>
                  </a:ext>
                </a:extLst>
              </p:cNvPr>
              <p:cNvSpPr/>
              <p:nvPr/>
            </p:nvSpPr>
            <p:spPr>
              <a:xfrm>
                <a:off x="1335474" y="4056446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AFCA1F3A-A972-1D92-16CD-F8A32C77EF10}"/>
                  </a:ext>
                </a:extLst>
              </p:cNvPr>
              <p:cNvSpPr/>
              <p:nvPr/>
            </p:nvSpPr>
            <p:spPr>
              <a:xfrm>
                <a:off x="1338298" y="3398412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39" name="Isosceles Triangle 538">
              <a:extLst>
                <a:ext uri="{FF2B5EF4-FFF2-40B4-BE49-F238E27FC236}">
                  <a16:creationId xmlns:a16="http://schemas.microsoft.com/office/drawing/2014/main" id="{BDC933E1-2680-E67A-7D54-7E48E68D6B8B}"/>
                </a:ext>
              </a:extLst>
            </p:cNvPr>
            <p:cNvSpPr/>
            <p:nvPr/>
          </p:nvSpPr>
          <p:spPr>
            <a:xfrm>
              <a:off x="7009196" y="951522"/>
              <a:ext cx="1431030" cy="1566842"/>
            </a:xfrm>
            <a:prstGeom prst="triangle">
              <a:avLst>
                <a:gd name="adj" fmla="val 0"/>
              </a:avLst>
            </a:prstGeom>
            <a:solidFill>
              <a:srgbClr val="156082">
                <a:lumMod val="40000"/>
                <a:lumOff val="6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87D6E4D5-FB1B-0121-4E9C-367453193F60}"/>
                </a:ext>
              </a:extLst>
            </p:cNvPr>
            <p:cNvSpPr/>
            <p:nvPr/>
          </p:nvSpPr>
          <p:spPr>
            <a:xfrm>
              <a:off x="5988214" y="2314420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8A7D58A4-6221-588C-9740-27EC31947258}"/>
                </a:ext>
              </a:extLst>
            </p:cNvPr>
            <p:cNvSpPr txBox="1"/>
            <p:nvPr/>
          </p:nvSpPr>
          <p:spPr>
            <a:xfrm>
              <a:off x="5956423" y="2274369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E3F4FB5B-4AEB-56C2-4632-1342DE8718B9}"/>
                </a:ext>
              </a:extLst>
            </p:cNvPr>
            <p:cNvSpPr/>
            <p:nvPr/>
          </p:nvSpPr>
          <p:spPr>
            <a:xfrm>
              <a:off x="6204616" y="2314420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8B2D45EE-D297-132C-012A-8E02B66BA901}"/>
                </a:ext>
              </a:extLst>
            </p:cNvPr>
            <p:cNvSpPr txBox="1"/>
            <p:nvPr/>
          </p:nvSpPr>
          <p:spPr>
            <a:xfrm>
              <a:off x="6172825" y="2274369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8F083585-0B27-3D7F-5604-CE8008582B6F}"/>
                </a:ext>
              </a:extLst>
            </p:cNvPr>
            <p:cNvSpPr/>
            <p:nvPr/>
          </p:nvSpPr>
          <p:spPr>
            <a:xfrm>
              <a:off x="6419970" y="2314420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F4866F1A-C783-42E9-BBE6-AF4313CEC916}"/>
                </a:ext>
              </a:extLst>
            </p:cNvPr>
            <p:cNvSpPr txBox="1"/>
            <p:nvPr/>
          </p:nvSpPr>
          <p:spPr>
            <a:xfrm>
              <a:off x="6388179" y="2274369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B3DE5F09-F0E4-F5E8-339E-051C891283D0}"/>
                </a:ext>
              </a:extLst>
            </p:cNvPr>
            <p:cNvSpPr/>
            <p:nvPr/>
          </p:nvSpPr>
          <p:spPr>
            <a:xfrm>
              <a:off x="6636372" y="2314420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8937001A-384E-865B-DD1E-FF526603ED5E}"/>
                </a:ext>
              </a:extLst>
            </p:cNvPr>
            <p:cNvSpPr txBox="1"/>
            <p:nvPr/>
          </p:nvSpPr>
          <p:spPr>
            <a:xfrm>
              <a:off x="6604581" y="2274369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2463BB86-49F7-75FF-D72A-B5752A133CA8}"/>
                </a:ext>
              </a:extLst>
            </p:cNvPr>
            <p:cNvSpPr/>
            <p:nvPr/>
          </p:nvSpPr>
          <p:spPr>
            <a:xfrm>
              <a:off x="5995388" y="1874294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7383EEF8-27E8-DED8-6A49-671F71FCBB49}"/>
                </a:ext>
              </a:extLst>
            </p:cNvPr>
            <p:cNvSpPr txBox="1"/>
            <p:nvPr/>
          </p:nvSpPr>
          <p:spPr>
            <a:xfrm>
              <a:off x="5963597" y="1831862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51C3A4DF-F196-7D2A-2496-1C0392650D2D}"/>
                </a:ext>
              </a:extLst>
            </p:cNvPr>
            <p:cNvSpPr/>
            <p:nvPr/>
          </p:nvSpPr>
          <p:spPr>
            <a:xfrm>
              <a:off x="6210742" y="1874294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448791EB-2EF3-DFB8-0359-39ACA44372D6}"/>
                </a:ext>
              </a:extLst>
            </p:cNvPr>
            <p:cNvSpPr txBox="1"/>
            <p:nvPr/>
          </p:nvSpPr>
          <p:spPr>
            <a:xfrm>
              <a:off x="6178951" y="1831862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9ECE3578-6856-927A-0917-877F327AE474}"/>
                </a:ext>
              </a:extLst>
            </p:cNvPr>
            <p:cNvSpPr/>
            <p:nvPr/>
          </p:nvSpPr>
          <p:spPr>
            <a:xfrm>
              <a:off x="6427144" y="1874294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965495A2-AEF4-F435-9A79-7274C8AC362D}"/>
                </a:ext>
              </a:extLst>
            </p:cNvPr>
            <p:cNvSpPr txBox="1"/>
            <p:nvPr/>
          </p:nvSpPr>
          <p:spPr>
            <a:xfrm>
              <a:off x="6395353" y="1834243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855AC35-366C-DED9-D2BA-DCE93DF6BC56}"/>
                </a:ext>
              </a:extLst>
            </p:cNvPr>
            <p:cNvSpPr/>
            <p:nvPr/>
          </p:nvSpPr>
          <p:spPr>
            <a:xfrm>
              <a:off x="6000172" y="1438801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id="{040ABE55-4053-7E15-DE8D-D9E38D0D68D6}"/>
                </a:ext>
              </a:extLst>
            </p:cNvPr>
            <p:cNvSpPr txBox="1"/>
            <p:nvPr/>
          </p:nvSpPr>
          <p:spPr>
            <a:xfrm>
              <a:off x="5968381" y="1396369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AF702F9B-1FD3-AC57-BB84-2C957A46BC0C}"/>
                </a:ext>
              </a:extLst>
            </p:cNvPr>
            <p:cNvSpPr/>
            <p:nvPr/>
          </p:nvSpPr>
          <p:spPr>
            <a:xfrm>
              <a:off x="6216574" y="1438801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EC4C83DD-3A56-07A0-A174-3DA348A7C770}"/>
                </a:ext>
              </a:extLst>
            </p:cNvPr>
            <p:cNvSpPr txBox="1"/>
            <p:nvPr/>
          </p:nvSpPr>
          <p:spPr>
            <a:xfrm>
              <a:off x="6184783" y="1396369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97B1A386-0F0A-1442-B3F9-9A099D030A27}"/>
                </a:ext>
              </a:extLst>
            </p:cNvPr>
            <p:cNvSpPr/>
            <p:nvPr/>
          </p:nvSpPr>
          <p:spPr>
            <a:xfrm>
              <a:off x="6004379" y="1004992"/>
              <a:ext cx="215354" cy="158831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952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BA9EA6B7-EBD7-44D4-1565-381EB1EF9390}"/>
                </a:ext>
              </a:extLst>
            </p:cNvPr>
            <p:cNvSpPr txBox="1"/>
            <p:nvPr/>
          </p:nvSpPr>
          <p:spPr>
            <a:xfrm>
              <a:off x="5972588" y="962560"/>
              <a:ext cx="401695" cy="184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</a:t>
              </a:r>
              <a:r>
                <a: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cxnSp>
          <p:nvCxnSpPr>
            <p:cNvPr id="544" name="Straight Arrow Connector 543">
              <a:extLst>
                <a:ext uri="{FF2B5EF4-FFF2-40B4-BE49-F238E27FC236}">
                  <a16:creationId xmlns:a16="http://schemas.microsoft.com/office/drawing/2014/main" id="{AD739F09-C519-9D32-3406-7ABB99C77523}"/>
                </a:ext>
              </a:extLst>
            </p:cNvPr>
            <p:cNvCxnSpPr>
              <a:cxnSpLocks/>
              <a:stCxn id="536" idx="3"/>
            </p:cNvCxnSpPr>
            <p:nvPr/>
          </p:nvCxnSpPr>
          <p:spPr>
            <a:xfrm flipV="1">
              <a:off x="5725832" y="2362864"/>
              <a:ext cx="264409" cy="1259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4C9B1A04-B7B5-C87C-F364-23991A212E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83" y="2040378"/>
              <a:ext cx="218628" cy="27168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46" name="Straight Arrow Connector 545">
              <a:extLst>
                <a:ext uri="{FF2B5EF4-FFF2-40B4-BE49-F238E27FC236}">
                  <a16:creationId xmlns:a16="http://schemas.microsoft.com/office/drawing/2014/main" id="{01D53B19-CC25-3478-4465-2C79CE8E65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2482" y="2040378"/>
              <a:ext cx="218628" cy="27168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374149B-1C09-AFB5-AADB-83C8203924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3184" y="2040378"/>
              <a:ext cx="218628" cy="27168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B5004AD-72B5-6E28-D83E-62927CDEFC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83" y="1164463"/>
              <a:ext cx="218628" cy="27168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49" name="Straight Arrow Connector 548">
              <a:extLst>
                <a:ext uri="{FF2B5EF4-FFF2-40B4-BE49-F238E27FC236}">
                  <a16:creationId xmlns:a16="http://schemas.microsoft.com/office/drawing/2014/main" id="{0554555C-180F-890E-6CC8-93F26AF4E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3649" y="1602334"/>
              <a:ext cx="218628" cy="27168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0" name="Straight Arrow Connector 549">
              <a:extLst>
                <a:ext uri="{FF2B5EF4-FFF2-40B4-BE49-F238E27FC236}">
                  <a16:creationId xmlns:a16="http://schemas.microsoft.com/office/drawing/2014/main" id="{E63978F3-1624-B7D8-F95C-3EC5C385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4351" y="1602334"/>
              <a:ext cx="218628" cy="271683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1" name="Straight Arrow Connector 550">
              <a:extLst>
                <a:ext uri="{FF2B5EF4-FFF2-40B4-BE49-F238E27FC236}">
                  <a16:creationId xmlns:a16="http://schemas.microsoft.com/office/drawing/2014/main" id="{3A38FE5A-8029-DDD0-9E39-BF9DC6C7EFFF}"/>
                </a:ext>
              </a:extLst>
            </p:cNvPr>
            <p:cNvCxnSpPr>
              <a:cxnSpLocks/>
            </p:cNvCxnSpPr>
            <p:nvPr/>
          </p:nvCxnSpPr>
          <p:spPr>
            <a:xfrm>
              <a:off x="6229170" y="1087665"/>
              <a:ext cx="88700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DEE2B50-9305-237C-86A6-775564BEBCEF}"/>
                </a:ext>
              </a:extLst>
            </p:cNvPr>
            <p:cNvCxnSpPr>
              <a:cxnSpLocks/>
            </p:cNvCxnSpPr>
            <p:nvPr/>
          </p:nvCxnSpPr>
          <p:spPr>
            <a:xfrm>
              <a:off x="6219733" y="1483865"/>
              <a:ext cx="128061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3" name="Straight Arrow Connector 552">
              <a:extLst>
                <a:ext uri="{FF2B5EF4-FFF2-40B4-BE49-F238E27FC236}">
                  <a16:creationId xmlns:a16="http://schemas.microsoft.com/office/drawing/2014/main" id="{C43D9260-648A-3BA5-2DCD-1B6948EDDD55}"/>
                </a:ext>
              </a:extLst>
            </p:cNvPr>
            <p:cNvCxnSpPr>
              <a:cxnSpLocks/>
            </p:cNvCxnSpPr>
            <p:nvPr/>
          </p:nvCxnSpPr>
          <p:spPr>
            <a:xfrm>
              <a:off x="6219733" y="1916119"/>
              <a:ext cx="166323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4" name="Straight Arrow Connector 553">
              <a:extLst>
                <a:ext uri="{FF2B5EF4-FFF2-40B4-BE49-F238E27FC236}">
                  <a16:creationId xmlns:a16="http://schemas.microsoft.com/office/drawing/2014/main" id="{12956A7B-9938-19DB-7B39-39AA58140FEE}"/>
                </a:ext>
              </a:extLst>
            </p:cNvPr>
            <p:cNvCxnSpPr>
              <a:cxnSpLocks/>
            </p:cNvCxnSpPr>
            <p:nvPr/>
          </p:nvCxnSpPr>
          <p:spPr>
            <a:xfrm>
              <a:off x="6206595" y="2352143"/>
              <a:ext cx="2082187" cy="10721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7A0B5F97-D1E7-53CE-1D75-358DDE445612}"/>
                </a:ext>
              </a:extLst>
            </p:cNvPr>
            <p:cNvGrpSpPr/>
            <p:nvPr/>
          </p:nvGrpSpPr>
          <p:grpSpPr>
            <a:xfrm>
              <a:off x="4953447" y="951522"/>
              <a:ext cx="586940" cy="572078"/>
              <a:chOff x="370325" y="5870316"/>
              <a:chExt cx="771472" cy="765394"/>
            </a:xfrm>
          </p:grpSpPr>
          <p:cxnSp>
            <p:nvCxnSpPr>
              <p:cNvPr id="556" name="Straight Arrow Connector 555">
                <a:extLst>
                  <a:ext uri="{FF2B5EF4-FFF2-40B4-BE49-F238E27FC236}">
                    <a16:creationId xmlns:a16="http://schemas.microsoft.com/office/drawing/2014/main" id="{86D52A86-0F6A-D9F9-AEA2-C880703569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0729" y="5917647"/>
                <a:ext cx="0" cy="558265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07568310-5E6F-A9A5-F731-B5C333F0E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063" y="6466491"/>
                <a:ext cx="508734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58" name="TextBox 557">
                <a:extLst>
                  <a:ext uri="{FF2B5EF4-FFF2-40B4-BE49-F238E27FC236}">
                    <a16:creationId xmlns:a16="http://schemas.microsoft.com/office/drawing/2014/main" id="{A2043F0B-C724-2DFA-95F2-1E1C2EB0C255}"/>
                  </a:ext>
                </a:extLst>
              </p:cNvPr>
              <p:cNvSpPr txBox="1"/>
              <p:nvPr/>
            </p:nvSpPr>
            <p:spPr>
              <a:xfrm>
                <a:off x="370325" y="5870316"/>
                <a:ext cx="24077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57C26F2F-3DA8-E912-825D-7DE3A034950B}"/>
                  </a:ext>
                </a:extLst>
              </p:cNvPr>
              <p:cNvSpPr txBox="1"/>
              <p:nvPr/>
            </p:nvSpPr>
            <p:spPr>
              <a:xfrm>
                <a:off x="881961" y="6389489"/>
                <a:ext cx="24237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y</a:t>
                </a:r>
              </a:p>
            </p:txBody>
          </p:sp>
        </p:grpSp>
      </p:grpSp>
      <p:grpSp>
        <p:nvGrpSpPr>
          <p:cNvPr id="750" name="Group 749">
            <a:extLst>
              <a:ext uri="{FF2B5EF4-FFF2-40B4-BE49-F238E27FC236}">
                <a16:creationId xmlns:a16="http://schemas.microsoft.com/office/drawing/2014/main" id="{83CCFB98-4C9B-C37C-9F7D-915057C1BF61}"/>
              </a:ext>
            </a:extLst>
          </p:cNvPr>
          <p:cNvGrpSpPr/>
          <p:nvPr/>
        </p:nvGrpSpPr>
        <p:grpSpPr>
          <a:xfrm>
            <a:off x="4897492" y="2870239"/>
            <a:ext cx="3659768" cy="1652601"/>
            <a:chOff x="4897492" y="2870239"/>
            <a:chExt cx="3659768" cy="1652601"/>
          </a:xfrm>
        </p:grpSpPr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49AA3AA7-F41C-6AFB-BE69-B1DC992AA94D}"/>
                </a:ext>
              </a:extLst>
            </p:cNvPr>
            <p:cNvSpPr/>
            <p:nvPr/>
          </p:nvSpPr>
          <p:spPr>
            <a:xfrm>
              <a:off x="4897492" y="4176260"/>
              <a:ext cx="828340" cy="277907"/>
            </a:xfrm>
            <a:prstGeom prst="rect">
              <a:avLst/>
            </a:prstGeom>
            <a:solidFill>
              <a:srgbClr val="15608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54000" r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HBM</a:t>
              </a:r>
              <a:endPara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7A3751F4-BC86-D6A0-939A-5A98BBECBDE9}"/>
                </a:ext>
              </a:extLst>
            </p:cNvPr>
            <p:cNvSpPr/>
            <p:nvPr/>
          </p:nvSpPr>
          <p:spPr>
            <a:xfrm>
              <a:off x="5910442" y="2870239"/>
              <a:ext cx="2646818" cy="165260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72" name="Group 671">
              <a:extLst>
                <a:ext uri="{FF2B5EF4-FFF2-40B4-BE49-F238E27FC236}">
                  <a16:creationId xmlns:a16="http://schemas.microsoft.com/office/drawing/2014/main" id="{2B349377-5E13-422D-3F84-81FC4F305E43}"/>
                </a:ext>
              </a:extLst>
            </p:cNvPr>
            <p:cNvGrpSpPr/>
            <p:nvPr/>
          </p:nvGrpSpPr>
          <p:grpSpPr>
            <a:xfrm>
              <a:off x="5945563" y="2902612"/>
              <a:ext cx="991802" cy="1566842"/>
              <a:chOff x="1332797" y="3398412"/>
              <a:chExt cx="382489" cy="2362942"/>
            </a:xfrm>
          </p:grpSpPr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9CB2C81B-E87E-B838-0275-43A408C3AF5B}"/>
                  </a:ext>
                </a:extLst>
              </p:cNvPr>
              <p:cNvSpPr/>
              <p:nvPr/>
            </p:nvSpPr>
            <p:spPr>
              <a:xfrm>
                <a:off x="1334348" y="5368704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33132935-D694-CF37-467B-4C26ED633E1B}"/>
                  </a:ext>
                </a:extLst>
              </p:cNvPr>
              <p:cNvSpPr/>
              <p:nvPr/>
            </p:nvSpPr>
            <p:spPr>
              <a:xfrm>
                <a:off x="1332797" y="4703995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FCB1B464-0722-B290-2975-87BC0F2D2402}"/>
                  </a:ext>
                </a:extLst>
              </p:cNvPr>
              <p:cNvSpPr/>
              <p:nvPr/>
            </p:nvSpPr>
            <p:spPr>
              <a:xfrm>
                <a:off x="1335474" y="4056446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97C8478C-1FDE-E6C2-E7C7-0A2B95201062}"/>
                  </a:ext>
                </a:extLst>
              </p:cNvPr>
              <p:cNvSpPr/>
              <p:nvPr/>
            </p:nvSpPr>
            <p:spPr>
              <a:xfrm>
                <a:off x="1338298" y="3398412"/>
                <a:ext cx="376988" cy="392650"/>
              </a:xfrm>
              <a:prstGeom prst="rect">
                <a:avLst/>
              </a:prstGeom>
              <a:solidFill>
                <a:srgbClr val="E97132">
                  <a:lumMod val="40000"/>
                  <a:lumOff val="6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77" name="Isosceles Triangle 676">
              <a:extLst>
                <a:ext uri="{FF2B5EF4-FFF2-40B4-BE49-F238E27FC236}">
                  <a16:creationId xmlns:a16="http://schemas.microsoft.com/office/drawing/2014/main" id="{280AC232-A7FB-F689-7B87-90D1BF432B3F}"/>
                </a:ext>
              </a:extLst>
            </p:cNvPr>
            <p:cNvSpPr/>
            <p:nvPr/>
          </p:nvSpPr>
          <p:spPr>
            <a:xfrm>
              <a:off x="7009196" y="2902612"/>
              <a:ext cx="1431030" cy="1566842"/>
            </a:xfrm>
            <a:prstGeom prst="triangle">
              <a:avLst>
                <a:gd name="adj" fmla="val 0"/>
              </a:avLst>
            </a:prstGeom>
            <a:solidFill>
              <a:srgbClr val="156082">
                <a:lumMod val="40000"/>
                <a:lumOff val="60000"/>
                <a:alpha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698" name="Straight Arrow Connector 697">
              <a:extLst>
                <a:ext uri="{FF2B5EF4-FFF2-40B4-BE49-F238E27FC236}">
                  <a16:creationId xmlns:a16="http://schemas.microsoft.com/office/drawing/2014/main" id="{26D67B2C-C3DD-9664-2B92-F20D6429E1C5}"/>
                </a:ext>
              </a:extLst>
            </p:cNvPr>
            <p:cNvCxnSpPr>
              <a:cxnSpLocks/>
              <a:stCxn id="670" idx="3"/>
            </p:cNvCxnSpPr>
            <p:nvPr/>
          </p:nvCxnSpPr>
          <p:spPr>
            <a:xfrm flipV="1">
              <a:off x="5725832" y="4313954"/>
              <a:ext cx="264409" cy="1259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05" name="Straight Arrow Connector 704">
              <a:extLst>
                <a:ext uri="{FF2B5EF4-FFF2-40B4-BE49-F238E27FC236}">
                  <a16:creationId xmlns:a16="http://schemas.microsoft.com/office/drawing/2014/main" id="{269D239C-B58E-FB5F-3B94-3C9BFD9DD973}"/>
                </a:ext>
              </a:extLst>
            </p:cNvPr>
            <p:cNvCxnSpPr>
              <a:cxnSpLocks/>
            </p:cNvCxnSpPr>
            <p:nvPr/>
          </p:nvCxnSpPr>
          <p:spPr>
            <a:xfrm>
              <a:off x="6800223" y="3035580"/>
              <a:ext cx="31913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06" name="Straight Arrow Connector 705">
              <a:extLst>
                <a:ext uri="{FF2B5EF4-FFF2-40B4-BE49-F238E27FC236}">
                  <a16:creationId xmlns:a16="http://schemas.microsoft.com/office/drawing/2014/main" id="{C7C8A0BE-16F7-613E-E8D2-80DF0F17C26B}"/>
                </a:ext>
              </a:extLst>
            </p:cNvPr>
            <p:cNvCxnSpPr>
              <a:cxnSpLocks/>
            </p:cNvCxnSpPr>
            <p:nvPr/>
          </p:nvCxnSpPr>
          <p:spPr>
            <a:xfrm>
              <a:off x="6797048" y="3474690"/>
              <a:ext cx="72869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709" name="Group 708">
              <a:extLst>
                <a:ext uri="{FF2B5EF4-FFF2-40B4-BE49-F238E27FC236}">
                  <a16:creationId xmlns:a16="http://schemas.microsoft.com/office/drawing/2014/main" id="{BB933DF2-C324-46C9-4477-76FC24BB3686}"/>
                </a:ext>
              </a:extLst>
            </p:cNvPr>
            <p:cNvGrpSpPr/>
            <p:nvPr/>
          </p:nvGrpSpPr>
          <p:grpSpPr>
            <a:xfrm>
              <a:off x="4953447" y="2902612"/>
              <a:ext cx="586940" cy="572078"/>
              <a:chOff x="370325" y="5870316"/>
              <a:chExt cx="771472" cy="765394"/>
            </a:xfrm>
          </p:grpSpPr>
          <p:cxnSp>
            <p:nvCxnSpPr>
              <p:cNvPr id="710" name="Straight Arrow Connector 709">
                <a:extLst>
                  <a:ext uri="{FF2B5EF4-FFF2-40B4-BE49-F238E27FC236}">
                    <a16:creationId xmlns:a16="http://schemas.microsoft.com/office/drawing/2014/main" id="{2E8FF5F2-4688-1FAB-B460-E58A45B6F9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0729" y="5917647"/>
                <a:ext cx="0" cy="558265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711" name="Straight Arrow Connector 710">
                <a:extLst>
                  <a:ext uri="{FF2B5EF4-FFF2-40B4-BE49-F238E27FC236}">
                    <a16:creationId xmlns:a16="http://schemas.microsoft.com/office/drawing/2014/main" id="{0676450B-FAFC-547E-C118-0D15E19B1D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063" y="6466491"/>
                <a:ext cx="508734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712" name="TextBox 711">
                <a:extLst>
                  <a:ext uri="{FF2B5EF4-FFF2-40B4-BE49-F238E27FC236}">
                    <a16:creationId xmlns:a16="http://schemas.microsoft.com/office/drawing/2014/main" id="{150DB2D3-3E3C-9771-3EDF-772B6A7678DB}"/>
                  </a:ext>
                </a:extLst>
              </p:cNvPr>
              <p:cNvSpPr txBox="1"/>
              <p:nvPr/>
            </p:nvSpPr>
            <p:spPr>
              <a:xfrm>
                <a:off x="370325" y="5870316"/>
                <a:ext cx="24077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93DA8A28-4376-7287-3733-8A4F2C4B0F25}"/>
                  </a:ext>
                </a:extLst>
              </p:cNvPr>
              <p:cNvSpPr txBox="1"/>
              <p:nvPr/>
            </p:nvSpPr>
            <p:spPr>
              <a:xfrm>
                <a:off x="881961" y="6389489"/>
                <a:ext cx="24237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y</a:t>
                </a:r>
              </a:p>
            </p:txBody>
          </p:sp>
        </p:grpSp>
        <p:cxnSp>
          <p:nvCxnSpPr>
            <p:cNvPr id="719" name="Straight Arrow Connector 718">
              <a:extLst>
                <a:ext uri="{FF2B5EF4-FFF2-40B4-BE49-F238E27FC236}">
                  <a16:creationId xmlns:a16="http://schemas.microsoft.com/office/drawing/2014/main" id="{6FB9747D-FEE5-81A7-0C1A-F8C8C670BAF6}"/>
                </a:ext>
              </a:extLst>
            </p:cNvPr>
            <p:cNvCxnSpPr>
              <a:cxnSpLocks/>
            </p:cNvCxnSpPr>
            <p:nvPr/>
          </p:nvCxnSpPr>
          <p:spPr>
            <a:xfrm>
              <a:off x="6822448" y="3901680"/>
              <a:ext cx="108965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23" name="Straight Arrow Connector 722">
              <a:extLst>
                <a:ext uri="{FF2B5EF4-FFF2-40B4-BE49-F238E27FC236}">
                  <a16:creationId xmlns:a16="http://schemas.microsoft.com/office/drawing/2014/main" id="{D453DBAC-8376-6B42-C0EC-C60DD02567D6}"/>
                </a:ext>
              </a:extLst>
            </p:cNvPr>
            <p:cNvCxnSpPr>
              <a:cxnSpLocks/>
            </p:cNvCxnSpPr>
            <p:nvPr/>
          </p:nvCxnSpPr>
          <p:spPr>
            <a:xfrm>
              <a:off x="6819976" y="4324624"/>
              <a:ext cx="148582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727" name="Group 726">
              <a:extLst>
                <a:ext uri="{FF2B5EF4-FFF2-40B4-BE49-F238E27FC236}">
                  <a16:creationId xmlns:a16="http://schemas.microsoft.com/office/drawing/2014/main" id="{6F584763-9972-BB78-13A3-96540131D2D0}"/>
                </a:ext>
              </a:extLst>
            </p:cNvPr>
            <p:cNvGrpSpPr/>
            <p:nvPr/>
          </p:nvGrpSpPr>
          <p:grpSpPr>
            <a:xfrm>
              <a:off x="5988215" y="4209817"/>
              <a:ext cx="830366" cy="246221"/>
              <a:chOff x="5988215" y="4382807"/>
              <a:chExt cx="830366" cy="246221"/>
            </a:xfrm>
          </p:grpSpPr>
          <p:sp>
            <p:nvSpPr>
              <p:cNvPr id="725" name="Rectangle 724">
                <a:extLst>
                  <a:ext uri="{FF2B5EF4-FFF2-40B4-BE49-F238E27FC236}">
                    <a16:creationId xmlns:a16="http://schemas.microsoft.com/office/drawing/2014/main" id="{63E75A1C-B901-6D79-B5B9-16EB9B108E35}"/>
                  </a:ext>
                </a:extLst>
              </p:cNvPr>
              <p:cNvSpPr/>
              <p:nvPr/>
            </p:nvSpPr>
            <p:spPr>
              <a:xfrm>
                <a:off x="5988215" y="4431803"/>
                <a:ext cx="830366" cy="158831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26" name="TextBox 725">
                <a:extLst>
                  <a:ext uri="{FF2B5EF4-FFF2-40B4-BE49-F238E27FC236}">
                    <a16:creationId xmlns:a16="http://schemas.microsoft.com/office/drawing/2014/main" id="{320B4F0E-E4B7-0BB8-C73E-DFF881FBC993}"/>
                  </a:ext>
                </a:extLst>
              </p:cNvPr>
              <p:cNvSpPr txBox="1"/>
              <p:nvPr/>
            </p:nvSpPr>
            <p:spPr>
              <a:xfrm>
                <a:off x="6298073" y="4382807"/>
                <a:ext cx="23303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x</a:t>
                </a:r>
                <a:endPara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28" name="Group 727">
              <a:extLst>
                <a:ext uri="{FF2B5EF4-FFF2-40B4-BE49-F238E27FC236}">
                  <a16:creationId xmlns:a16="http://schemas.microsoft.com/office/drawing/2014/main" id="{708F0153-1B0A-E0FC-0A0F-49DB6530B0BC}"/>
                </a:ext>
              </a:extLst>
            </p:cNvPr>
            <p:cNvGrpSpPr/>
            <p:nvPr/>
          </p:nvGrpSpPr>
          <p:grpSpPr>
            <a:xfrm>
              <a:off x="5990263" y="3772225"/>
              <a:ext cx="830366" cy="246221"/>
              <a:chOff x="5988215" y="4382807"/>
              <a:chExt cx="830366" cy="246221"/>
            </a:xfrm>
          </p:grpSpPr>
          <p:sp>
            <p:nvSpPr>
              <p:cNvPr id="729" name="Rectangle 728">
                <a:extLst>
                  <a:ext uri="{FF2B5EF4-FFF2-40B4-BE49-F238E27FC236}">
                    <a16:creationId xmlns:a16="http://schemas.microsoft.com/office/drawing/2014/main" id="{BFF00C35-96DB-7FB1-9D7B-1141276C8B85}"/>
                  </a:ext>
                </a:extLst>
              </p:cNvPr>
              <p:cNvSpPr/>
              <p:nvPr/>
            </p:nvSpPr>
            <p:spPr>
              <a:xfrm>
                <a:off x="5988215" y="4431803"/>
                <a:ext cx="830366" cy="158831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30" name="TextBox 729">
                <a:extLst>
                  <a:ext uri="{FF2B5EF4-FFF2-40B4-BE49-F238E27FC236}">
                    <a16:creationId xmlns:a16="http://schemas.microsoft.com/office/drawing/2014/main" id="{C66DFA7C-F687-6CF7-4791-64855F661552}"/>
                  </a:ext>
                </a:extLst>
              </p:cNvPr>
              <p:cNvSpPr txBox="1"/>
              <p:nvPr/>
            </p:nvSpPr>
            <p:spPr>
              <a:xfrm>
                <a:off x="6298073" y="4382807"/>
                <a:ext cx="23303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x</a:t>
                </a:r>
                <a:endPara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31" name="Group 730">
              <a:extLst>
                <a:ext uri="{FF2B5EF4-FFF2-40B4-BE49-F238E27FC236}">
                  <a16:creationId xmlns:a16="http://schemas.microsoft.com/office/drawing/2014/main" id="{C529E5D5-16DF-7E41-3266-EAC799E7577B}"/>
                </a:ext>
              </a:extLst>
            </p:cNvPr>
            <p:cNvGrpSpPr/>
            <p:nvPr/>
          </p:nvGrpSpPr>
          <p:grpSpPr>
            <a:xfrm>
              <a:off x="5985761" y="3345875"/>
              <a:ext cx="830366" cy="246221"/>
              <a:chOff x="5988215" y="4382807"/>
              <a:chExt cx="830366" cy="246221"/>
            </a:xfrm>
          </p:grpSpPr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49AC1878-F0CB-4CD2-5208-1229667ABC71}"/>
                  </a:ext>
                </a:extLst>
              </p:cNvPr>
              <p:cNvSpPr/>
              <p:nvPr/>
            </p:nvSpPr>
            <p:spPr>
              <a:xfrm>
                <a:off x="5988215" y="4431803"/>
                <a:ext cx="830366" cy="158831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33" name="TextBox 732">
                <a:extLst>
                  <a:ext uri="{FF2B5EF4-FFF2-40B4-BE49-F238E27FC236}">
                    <a16:creationId xmlns:a16="http://schemas.microsoft.com/office/drawing/2014/main" id="{AA2EAC25-63AB-67D3-8D5C-F73FD7747C45}"/>
                  </a:ext>
                </a:extLst>
              </p:cNvPr>
              <p:cNvSpPr txBox="1"/>
              <p:nvPr/>
            </p:nvSpPr>
            <p:spPr>
              <a:xfrm>
                <a:off x="6298073" y="4382807"/>
                <a:ext cx="23303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x</a:t>
                </a:r>
                <a:endPara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34" name="Group 733">
              <a:extLst>
                <a:ext uri="{FF2B5EF4-FFF2-40B4-BE49-F238E27FC236}">
                  <a16:creationId xmlns:a16="http://schemas.microsoft.com/office/drawing/2014/main" id="{484629F0-3004-F957-31AB-E92A1358F717}"/>
                </a:ext>
              </a:extLst>
            </p:cNvPr>
            <p:cNvGrpSpPr/>
            <p:nvPr/>
          </p:nvGrpSpPr>
          <p:grpSpPr>
            <a:xfrm>
              <a:off x="5995388" y="2901814"/>
              <a:ext cx="830366" cy="246221"/>
              <a:chOff x="5988215" y="4382807"/>
              <a:chExt cx="830366" cy="246221"/>
            </a:xfrm>
          </p:grpSpPr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4A34EBFA-2711-E807-9361-6AA041B07390}"/>
                  </a:ext>
                </a:extLst>
              </p:cNvPr>
              <p:cNvSpPr/>
              <p:nvPr/>
            </p:nvSpPr>
            <p:spPr>
              <a:xfrm>
                <a:off x="5988215" y="4431803"/>
                <a:ext cx="830366" cy="158831"/>
              </a:xfrm>
              <a:prstGeom prst="rect">
                <a:avLst/>
              </a:prstGeom>
              <a:solidFill>
                <a:srgbClr val="4EA72E">
                  <a:lumMod val="60000"/>
                  <a:lumOff val="40000"/>
                </a:srgbClr>
              </a:solidFill>
              <a:ln w="9525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36" name="TextBox 735">
                <a:extLst>
                  <a:ext uri="{FF2B5EF4-FFF2-40B4-BE49-F238E27FC236}">
                    <a16:creationId xmlns:a16="http://schemas.microsoft.com/office/drawing/2014/main" id="{D073AAF7-A40A-8C8D-F1E6-E909294CC889}"/>
                  </a:ext>
                </a:extLst>
              </p:cNvPr>
              <p:cNvSpPr txBox="1"/>
              <p:nvPr/>
            </p:nvSpPr>
            <p:spPr>
              <a:xfrm>
                <a:off x="6298073" y="4382807"/>
                <a:ext cx="23303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x</a:t>
                </a:r>
                <a:endParaRPr kumimoji="0" lang="en-US" sz="1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737" name="Straight Arrow Connector 736">
              <a:extLst>
                <a:ext uri="{FF2B5EF4-FFF2-40B4-BE49-F238E27FC236}">
                  <a16:creationId xmlns:a16="http://schemas.microsoft.com/office/drawing/2014/main" id="{E037D647-593D-74AA-104A-8B63326DFD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3025" y="3983085"/>
              <a:ext cx="4267" cy="274357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41" name="Straight Arrow Connector 740">
              <a:extLst>
                <a:ext uri="{FF2B5EF4-FFF2-40B4-BE49-F238E27FC236}">
                  <a16:creationId xmlns:a16="http://schemas.microsoft.com/office/drawing/2014/main" id="{43B7600E-63E5-D6B5-6A89-7FA34E6CF3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921" y="3551196"/>
              <a:ext cx="4267" cy="274357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45" name="Straight Arrow Connector 744">
              <a:extLst>
                <a:ext uri="{FF2B5EF4-FFF2-40B4-BE49-F238E27FC236}">
                  <a16:creationId xmlns:a16="http://schemas.microsoft.com/office/drawing/2014/main" id="{36E57E8F-85AB-8128-8354-D232129E30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4101" y="3119750"/>
              <a:ext cx="4267" cy="274357"/>
            </a:xfrm>
            <a:prstGeom prst="straightConnector1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746" name="Slide Number Placeholder 4">
            <a:extLst>
              <a:ext uri="{FF2B5EF4-FFF2-40B4-BE49-F238E27FC236}">
                <a16:creationId xmlns:a16="http://schemas.microsoft.com/office/drawing/2014/main" id="{FAC36EF8-F5C9-073E-6C0C-9E09C817280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86142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33CC-E7C6-B613-53FA-43D4E601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Systolic GEMM: Status and Next Steps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C3CCA-A5B0-B3C6-CCA3-6A7EEE25C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Current status:</a:t>
            </a:r>
          </a:p>
          <a:p>
            <a:pPr lvl="1"/>
            <a:r>
              <a:rPr lang="en-US" sz="1400" dirty="0"/>
              <a:t>Implemented first version of 3D kernel</a:t>
            </a:r>
          </a:p>
          <a:p>
            <a:pPr lvl="1"/>
            <a:r>
              <a:rPr lang="en-US" sz="1400" dirty="0"/>
              <a:t>Debugging implementation in GVSoC</a:t>
            </a:r>
          </a:p>
          <a:p>
            <a:r>
              <a:rPr lang="en-US" sz="1718" dirty="0"/>
              <a:t>Next steps:</a:t>
            </a:r>
          </a:p>
          <a:p>
            <a:pPr lvl="1"/>
            <a:r>
              <a:rPr lang="de-CH" sz="1400" dirty="0"/>
              <a:t>Measure performance benefits of 3D stacking vs. 2D SoftHier</a:t>
            </a:r>
          </a:p>
          <a:p>
            <a:pPr lvl="1"/>
            <a:r>
              <a:rPr lang="de-CH" sz="1400" dirty="0"/>
              <a:t>Analyze layer scaling and optimize implementation</a:t>
            </a:r>
          </a:p>
          <a:p>
            <a:pPr lvl="1"/>
            <a:r>
              <a:rPr lang="de-CH" sz="1400" dirty="0"/>
              <a:t>Implement further kernels (e.g. Attention)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8F88-484B-40C4-1BC7-6EE3DA2EC0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BE2E-C02F-2B75-515B-DBBC8DC8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736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10570</TotalTime>
  <Words>1048</Words>
  <Application>Microsoft Macintosh PowerPoint</Application>
  <PresentationFormat>On-screen Show (16:9)</PresentationFormat>
  <Paragraphs>181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 Narrow</vt:lpstr>
      <vt:lpstr>Consolas</vt:lpstr>
      <vt:lpstr>Aptos</vt:lpstr>
      <vt:lpstr>Calibri</vt:lpstr>
      <vt:lpstr>Arial</vt:lpstr>
      <vt:lpstr>Wingdings</vt:lpstr>
      <vt:lpstr>Calibri Light</vt:lpstr>
      <vt:lpstr>Simple Light</vt:lpstr>
      <vt:lpstr>PULP Triangle</vt:lpstr>
      <vt:lpstr>1_PULP Triangle</vt:lpstr>
      <vt:lpstr>QuantSparse 3D Biweekly 2026-02-12</vt:lpstr>
      <vt:lpstr>Agenda</vt:lpstr>
      <vt:lpstr>Status Recap</vt:lpstr>
      <vt:lpstr>Extending Ventaglio Supported Format</vt:lpstr>
      <vt:lpstr>Loop-Unrolled SpMM Kernel</vt:lpstr>
      <vt:lpstr>Performance Analysis</vt:lpstr>
      <vt:lpstr>Performance Analysis</vt:lpstr>
      <vt:lpstr>Performance Analysis</vt:lpstr>
      <vt:lpstr>Performance Analysis</vt:lpstr>
      <vt:lpstr>Performance Analysis</vt:lpstr>
      <vt:lpstr>Ventaglio: Status and Next Step</vt:lpstr>
      <vt:lpstr>3D Systolic GEMM on Cluster-Stacked System</vt:lpstr>
      <vt:lpstr>3D Systolic GEMM: Vertical Dataflow</vt:lpstr>
      <vt:lpstr>3D Systolic GEMM: Status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1206</cp:revision>
  <dcterms:modified xsi:type="dcterms:W3CDTF">2026-02-12T07:14:14Z</dcterms:modified>
</cp:coreProperties>
</file>